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59"/>
  </p:notesMasterIdLst>
  <p:sldIdLst>
    <p:sldId id="256" r:id="rId3"/>
    <p:sldId id="257" r:id="rId4"/>
    <p:sldId id="367" r:id="rId5"/>
    <p:sldId id="258" r:id="rId6"/>
    <p:sldId id="259"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373"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68" r:id="rId54"/>
    <p:sldId id="369" r:id="rId55"/>
    <p:sldId id="370" r:id="rId56"/>
    <p:sldId id="371" r:id="rId57"/>
    <p:sldId id="372" r:id="rId58"/>
  </p:sldIdLst>
  <p:sldSz cx="12192000" cy="6858000"/>
  <p:notesSz cx="6858000" cy="9144000"/>
  <p:embeddedFontLst>
    <p:embeddedFont>
      <p:font typeface="Google Sans" pitchFamily="2" charset="0"/>
      <p:regular r:id="rId60"/>
      <p:bold r:id="rId61"/>
      <p:italic r:id="rId62"/>
      <p:boldItalic r:id="rId63"/>
    </p:embeddedFont>
    <p:embeddedFont>
      <p:font typeface="Play" pitchFamily="2" charset="0"/>
      <p:regular r:id="rId64"/>
      <p:bold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64665724-5406-42F6-B28B-C1FFF2030B87}">
          <p14:sldIdLst>
            <p14:sldId id="256"/>
            <p14:sldId id="257"/>
            <p14:sldId id="367"/>
            <p14:sldId id="258"/>
            <p14:sldId id="259"/>
            <p14:sldId id="262"/>
            <p14:sldId id="263"/>
            <p14:sldId id="264"/>
            <p14:sldId id="265"/>
            <p14:sldId id="266"/>
            <p14:sldId id="267"/>
            <p14:sldId id="268"/>
            <p14:sldId id="269"/>
            <p14:sldId id="270"/>
            <p14:sldId id="271"/>
            <p14:sldId id="272"/>
            <p14:sldId id="273"/>
            <p14:sldId id="274"/>
            <p14:sldId id="275"/>
            <p14:sldId id="276"/>
            <p14:sldId id="277"/>
            <p14:sldId id="279"/>
            <p14:sldId id="280"/>
            <p14:sldId id="281"/>
            <p14:sldId id="282"/>
            <p14:sldId id="283"/>
            <p14:sldId id="284"/>
            <p14:sldId id="285"/>
            <p14:sldId id="373"/>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68"/>
            <p14:sldId id="369"/>
            <p14:sldId id="370"/>
            <p14:sldId id="371"/>
            <p14:sldId id="372"/>
          </p14:sldIdLst>
        </p14:section>
        <p14:section name="Sección sin título" id="{942AE025-B427-4D81-B3F9-9DE859A93ACA}">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jkNEVMXYutMepM2uYgMSBn/KjV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79"/>
  </p:normalViewPr>
  <p:slideViewPr>
    <p:cSldViewPr snapToGrid="0">
      <p:cViewPr varScale="1">
        <p:scale>
          <a:sx n="88" d="100"/>
          <a:sy n="88" d="100"/>
        </p:scale>
        <p:origin x="2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4.fntdata"/><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customschemas.google.com/relationships/presentationmetadata" Target="metadata"/><Relationship Id="rId5" Type="http://schemas.openxmlformats.org/officeDocument/2006/relationships/slide" Target="slides/slide3.xml"/><Relationship Id="rId61"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5.fntdata"/><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3.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2811B9E1-FC45-E137-0186-F12E05563CDE}"/>
            </a:ext>
          </a:extLst>
        </p:cNvPr>
        <p:cNvGrpSpPr/>
        <p:nvPr/>
      </p:nvGrpSpPr>
      <p:grpSpPr>
        <a:xfrm>
          <a:off x="0" y="0"/>
          <a:ext cx="0" cy="0"/>
          <a:chOff x="0" y="0"/>
          <a:chExt cx="0" cy="0"/>
        </a:xfrm>
      </p:grpSpPr>
      <p:sp>
        <p:nvSpPr>
          <p:cNvPr id="163" name="Google Shape;163;p2:notes">
            <a:extLst>
              <a:ext uri="{FF2B5EF4-FFF2-40B4-BE49-F238E27FC236}">
                <a16:creationId xmlns:a16="http://schemas.microsoft.com/office/drawing/2014/main" id="{E98D851D-300B-398B-7C2D-8096192B44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2:notes">
            <a:extLst>
              <a:ext uri="{FF2B5EF4-FFF2-40B4-BE49-F238E27FC236}">
                <a16:creationId xmlns:a16="http://schemas.microsoft.com/office/drawing/2014/main" id="{2F00D512-B498-1F85-E087-C682B10A68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6320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961b1f3ed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g3961b1f3ed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961b1f3ed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g3961b1f3ed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961b1f3ed6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3961b1f3ed6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961b1f3ed6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g3961b1f3ed6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961b1f3ed6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3961b1f3ed6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961b9e4146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g3961b9e4146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961b9e4146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961b9e4146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961b9e4146_1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g3961b9e4146_1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961b9e4146_1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g3961b9e4146_1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961b9e4146_1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0" name="Google Shape;360;g3961b9e4146_1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961b9e4146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g3961b9e4146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961b9e4146_1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4" name="Google Shape;374;g3961b9e4146_1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961b9e4146_1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g3961b9e4146_1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961b9e4146_1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g3961b9e4146_1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961b9e4146_1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4" name="Google Shape;394;g3961b9e4146_1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5" name="Google Shape;41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3" name="Google Shape;44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d07f13bfb2_1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0" name="Google Shape;450;g3d07f13bfb2_1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d07f13bfb2_12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g3d07f13bfb2_12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d07f13bfb2_12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g3d07f13bfb2_12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d07f13bfb2_12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g3d07f13bfb2_12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d07f13bfb2_12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5" name="Google Shape;475;g3d07f13bfb2_12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d07f13bfb2_12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 name="Google Shape;482;g3d07f13bfb2_12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d07f13bfb2_12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g3d07f13bfb2_12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d07f13bfb2_12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g3d07f13bfb2_12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d07f13bfb2_12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1" name="Google Shape;501;g3d07f13bfb2_12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d07f13bfb2_12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g3d07f13bfb2_12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1"/>
        <p:cNvGrpSpPr/>
        <p:nvPr/>
      </p:nvGrpSpPr>
      <p:grpSpPr>
        <a:xfrm>
          <a:off x="0" y="0"/>
          <a:ext cx="0" cy="0"/>
          <a:chOff x="0" y="0"/>
          <a:chExt cx="0" cy="0"/>
        </a:xfrm>
      </p:grpSpPr>
      <p:sp>
        <p:nvSpPr>
          <p:cNvPr id="12" name="Google Shape;12;g3d07f13bfb2_12_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g3d07f13bfb2_12_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g3d07f13bfb2_12_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g3d07f13bfb2_12_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g3d07f13bfb2_12_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7"/>
        <p:cNvGrpSpPr/>
        <p:nvPr/>
      </p:nvGrpSpPr>
      <p:grpSpPr>
        <a:xfrm>
          <a:off x="0" y="0"/>
          <a:ext cx="0" cy="0"/>
          <a:chOff x="0" y="0"/>
          <a:chExt cx="0" cy="0"/>
        </a:xfrm>
      </p:grpSpPr>
      <p:sp>
        <p:nvSpPr>
          <p:cNvPr id="18" name="Google Shape;18;g3d07f13bfb2_12_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g3d07f13bfb2_12_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g3d07f13bfb2_12_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g3d07f13bfb2_12_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g3d07f13bfb2_12_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g3d07f13bfb2_12_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g3d07f13bfb2_12_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g3d07f13bfb2_12_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g3d07f13bfb2_12_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g3d07f13bfb2_12_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g3d07f13bfb2_12_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g3d07f13bfb2_12_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g3d07f13bfb2_12_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g3d07f13bfb2_12_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g3d07f13bfb2_12_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g3d07f13bfb2_12_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g3d07f13bfb2_12_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g3d07f13bfb2_12_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g3d07f13bfb2_12_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g3d07f13bfb2_12_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g3d07f13bfb2_12_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g3d07f13bfb2_12_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g3d07f13bfb2_12_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g3d07f13bfb2_12_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g3d07f13bfb2_12_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g3d07f13bfb2_12_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g3d07f13bfb2_12_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g3d07f13bfb2_12_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g3d07f13bfb2_12_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g3d07f13bfb2_12_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g3d07f13bfb2_12_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g3d07f13bfb2_12_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g3d07f13bfb2_12_4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g3d07f13bfb2_12_4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g3d07f13bfb2_12_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g3d07f13bfb2_12_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g3d07f13bfb2_12_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g3d07f13bfb2_12_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g3d07f13bfb2_12_56"/>
          <p:cNvSpPr>
            <a:spLocks noGrp="1"/>
          </p:cNvSpPr>
          <p:nvPr>
            <p:ph type="pic" idx="2"/>
          </p:nvPr>
        </p:nvSpPr>
        <p:spPr>
          <a:xfrm>
            <a:off x="5183188" y="987425"/>
            <a:ext cx="6172200" cy="4873625"/>
          </a:xfrm>
          <a:prstGeom prst="rect">
            <a:avLst/>
          </a:prstGeom>
          <a:noFill/>
          <a:ln>
            <a:noFill/>
          </a:ln>
        </p:spPr>
      </p:sp>
      <p:sp>
        <p:nvSpPr>
          <p:cNvPr id="64" name="Google Shape;64;g3d07f13bfb2_12_5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g3d07f13bfb2_12_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g3d07f13bfb2_12_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g3d07f13bfb2_12_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g3d07f13bfb2_12_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g3d07f13bfb2_12_6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g3d07f13bfb2_12_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g3d07f13bfb2_12_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g3d07f13bfb2_12_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g3d07f13bfb2_12_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g3d07f13bfb2_12_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g3d07f13bfb2_12_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g3d07f13bfb2_12_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g3d07f13bfb2_12_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86"/>
        <p:cNvGrpSpPr/>
        <p:nvPr/>
      </p:nvGrpSpPr>
      <p:grpSpPr>
        <a:xfrm>
          <a:off x="0" y="0"/>
          <a:ext cx="0" cy="0"/>
          <a:chOff x="0" y="0"/>
          <a:chExt cx="0" cy="0"/>
        </a:xfrm>
      </p:grpSpPr>
      <p:sp>
        <p:nvSpPr>
          <p:cNvPr id="87" name="Google Shape;87;g3961b9e4146_1_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g3961b9e4146_1_6"/>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9" name="Google Shape;89;g3961b9e4146_1_6"/>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g3961b9e4146_1_6"/>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g3961b9e4146_1_6"/>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2"/>
        <p:cNvGrpSpPr/>
        <p:nvPr/>
      </p:nvGrpSpPr>
      <p:grpSpPr>
        <a:xfrm>
          <a:off x="0" y="0"/>
          <a:ext cx="0" cy="0"/>
          <a:chOff x="0" y="0"/>
          <a:chExt cx="0" cy="0"/>
        </a:xfrm>
      </p:grpSpPr>
      <p:sp>
        <p:nvSpPr>
          <p:cNvPr id="93" name="Google Shape;93;g3961b9e4146_1_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g3961b9e4146_1_12"/>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g3961b9e4146_1_12"/>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g3961b9e4146_1_12"/>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g3961b9e4146_1_12"/>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98"/>
        <p:cNvGrpSpPr/>
        <p:nvPr/>
      </p:nvGrpSpPr>
      <p:grpSpPr>
        <a:xfrm>
          <a:off x="0" y="0"/>
          <a:ext cx="0" cy="0"/>
          <a:chOff x="0" y="0"/>
          <a:chExt cx="0" cy="0"/>
        </a:xfrm>
      </p:grpSpPr>
      <p:sp>
        <p:nvSpPr>
          <p:cNvPr id="99" name="Google Shape;99;g3961b9e4146_1_18"/>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g3961b9e4146_1_18"/>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1" name="Google Shape;101;g3961b9e4146_1_18"/>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g3961b9e4146_1_18"/>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g3961b9e4146_1_18"/>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4"/>
        <p:cNvGrpSpPr/>
        <p:nvPr/>
      </p:nvGrpSpPr>
      <p:grpSpPr>
        <a:xfrm>
          <a:off x="0" y="0"/>
          <a:ext cx="0" cy="0"/>
          <a:chOff x="0" y="0"/>
          <a:chExt cx="0" cy="0"/>
        </a:xfrm>
      </p:grpSpPr>
      <p:sp>
        <p:nvSpPr>
          <p:cNvPr id="105" name="Google Shape;105;g3961b9e4146_1_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g3961b9e4146_1_24"/>
          <p:cNvSpPr txBox="1">
            <a:spLocks noGrp="1"/>
          </p:cNvSpPr>
          <p:nvPr>
            <p:ph type="body" idx="1"/>
          </p:nvPr>
        </p:nvSpPr>
        <p:spPr>
          <a:xfrm>
            <a:off x="838200" y="1825625"/>
            <a:ext cx="5181600" cy="435133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g3961b9e4146_1_24"/>
          <p:cNvSpPr txBox="1">
            <a:spLocks noGrp="1"/>
          </p:cNvSpPr>
          <p:nvPr>
            <p:ph type="body" idx="2"/>
          </p:nvPr>
        </p:nvSpPr>
        <p:spPr>
          <a:xfrm>
            <a:off x="6172200" y="1825625"/>
            <a:ext cx="5181600" cy="435133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g3961b9e4146_1_2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g3961b9e4146_1_2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g3961b9e4146_1_2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1"/>
        <p:cNvGrpSpPr/>
        <p:nvPr/>
      </p:nvGrpSpPr>
      <p:grpSpPr>
        <a:xfrm>
          <a:off x="0" y="0"/>
          <a:ext cx="0" cy="0"/>
          <a:chOff x="0" y="0"/>
          <a:chExt cx="0" cy="0"/>
        </a:xfrm>
      </p:grpSpPr>
      <p:sp>
        <p:nvSpPr>
          <p:cNvPr id="112" name="Google Shape;112;g3961b9e4146_1_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g3961b9e4146_1_31"/>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4" name="Google Shape;114;g3961b9e4146_1_31"/>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g3961b9e4146_1_31"/>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6" name="Google Shape;116;g3961b9e4146_1_31"/>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g3961b9e4146_1_31"/>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g3961b9e4146_1_31"/>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g3961b9e4146_1_31"/>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0"/>
        <p:cNvGrpSpPr/>
        <p:nvPr/>
      </p:nvGrpSpPr>
      <p:grpSpPr>
        <a:xfrm>
          <a:off x="0" y="0"/>
          <a:ext cx="0" cy="0"/>
          <a:chOff x="0" y="0"/>
          <a:chExt cx="0" cy="0"/>
        </a:xfrm>
      </p:grpSpPr>
      <p:sp>
        <p:nvSpPr>
          <p:cNvPr id="121" name="Google Shape;121;g3961b9e4146_1_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g3961b9e4146_1_40"/>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g3961b9e4146_1_40"/>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961b9e4146_1_40"/>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5"/>
        <p:cNvGrpSpPr/>
        <p:nvPr/>
      </p:nvGrpSpPr>
      <p:grpSpPr>
        <a:xfrm>
          <a:off x="0" y="0"/>
          <a:ext cx="0" cy="0"/>
          <a:chOff x="0" y="0"/>
          <a:chExt cx="0" cy="0"/>
        </a:xfrm>
      </p:grpSpPr>
      <p:sp>
        <p:nvSpPr>
          <p:cNvPr id="126" name="Google Shape;126;g3961b9e4146_1_4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g3961b9e4146_1_4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g3961b9e4146_1_4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29"/>
        <p:cNvGrpSpPr/>
        <p:nvPr/>
      </p:nvGrpSpPr>
      <p:grpSpPr>
        <a:xfrm>
          <a:off x="0" y="0"/>
          <a:ext cx="0" cy="0"/>
          <a:chOff x="0" y="0"/>
          <a:chExt cx="0" cy="0"/>
        </a:xfrm>
      </p:grpSpPr>
      <p:sp>
        <p:nvSpPr>
          <p:cNvPr id="130" name="Google Shape;130;g3961b9e4146_1_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g3961b9e4146_1_49"/>
          <p:cNvSpPr txBox="1">
            <a:spLocks noGrp="1"/>
          </p:cNvSpPr>
          <p:nvPr>
            <p:ph type="body" idx="1"/>
          </p:nvPr>
        </p:nvSpPr>
        <p:spPr>
          <a:xfrm>
            <a:off x="5183188" y="987426"/>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2" name="Google Shape;132;g3961b9e4146_1_49"/>
          <p:cNvSpPr txBox="1">
            <a:spLocks noGrp="1"/>
          </p:cNvSpPr>
          <p:nvPr>
            <p:ph type="body" idx="2"/>
          </p:nvPr>
        </p:nvSpPr>
        <p:spPr>
          <a:xfrm>
            <a:off x="839788" y="2057401"/>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3" name="Google Shape;133;g3961b9e4146_1_49"/>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g3961b9e4146_1_49"/>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g3961b9e4146_1_49"/>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36"/>
        <p:cNvGrpSpPr/>
        <p:nvPr/>
      </p:nvGrpSpPr>
      <p:grpSpPr>
        <a:xfrm>
          <a:off x="0" y="0"/>
          <a:ext cx="0" cy="0"/>
          <a:chOff x="0" y="0"/>
          <a:chExt cx="0" cy="0"/>
        </a:xfrm>
      </p:grpSpPr>
      <p:sp>
        <p:nvSpPr>
          <p:cNvPr id="137" name="Google Shape;137;g3961b9e4146_1_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g3961b9e4146_1_56"/>
          <p:cNvSpPr>
            <a:spLocks noGrp="1"/>
          </p:cNvSpPr>
          <p:nvPr>
            <p:ph type="pic" idx="2"/>
          </p:nvPr>
        </p:nvSpPr>
        <p:spPr>
          <a:xfrm>
            <a:off x="5183188" y="987426"/>
            <a:ext cx="6172200" cy="4873625"/>
          </a:xfrm>
          <a:prstGeom prst="rect">
            <a:avLst/>
          </a:prstGeom>
          <a:noFill/>
          <a:ln>
            <a:noFill/>
          </a:ln>
        </p:spPr>
      </p:sp>
      <p:sp>
        <p:nvSpPr>
          <p:cNvPr id="139" name="Google Shape;139;g3961b9e4146_1_56"/>
          <p:cNvSpPr txBox="1">
            <a:spLocks noGrp="1"/>
          </p:cNvSpPr>
          <p:nvPr>
            <p:ph type="body" idx="1"/>
          </p:nvPr>
        </p:nvSpPr>
        <p:spPr>
          <a:xfrm>
            <a:off x="839788" y="2057401"/>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0" name="Google Shape;140;g3961b9e4146_1_56"/>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g3961b9e4146_1_56"/>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g3961b9e4146_1_56"/>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3"/>
        <p:cNvGrpSpPr/>
        <p:nvPr/>
      </p:nvGrpSpPr>
      <p:grpSpPr>
        <a:xfrm>
          <a:off x="0" y="0"/>
          <a:ext cx="0" cy="0"/>
          <a:chOff x="0" y="0"/>
          <a:chExt cx="0" cy="0"/>
        </a:xfrm>
      </p:grpSpPr>
      <p:sp>
        <p:nvSpPr>
          <p:cNvPr id="144" name="Google Shape;144;g3961b9e4146_1_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g3961b9e4146_1_63"/>
          <p:cNvSpPr txBox="1">
            <a:spLocks noGrp="1"/>
          </p:cNvSpPr>
          <p:nvPr>
            <p:ph type="body" idx="1"/>
          </p:nvPr>
        </p:nvSpPr>
        <p:spPr>
          <a:xfrm rot="5400000">
            <a:off x="3920331" y="-1256505"/>
            <a:ext cx="4351339"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g3961b9e4146_1_6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g3961b9e4146_1_6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g3961b9e4146_1_6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49"/>
        <p:cNvGrpSpPr/>
        <p:nvPr/>
      </p:nvGrpSpPr>
      <p:grpSpPr>
        <a:xfrm>
          <a:off x="0" y="0"/>
          <a:ext cx="0" cy="0"/>
          <a:chOff x="0" y="0"/>
          <a:chExt cx="0" cy="0"/>
        </a:xfrm>
      </p:grpSpPr>
      <p:sp>
        <p:nvSpPr>
          <p:cNvPr id="150" name="Google Shape;150;g3961b9e4146_1_69"/>
          <p:cNvSpPr txBox="1">
            <a:spLocks noGrp="1"/>
          </p:cNvSpPr>
          <p:nvPr>
            <p:ph type="title"/>
          </p:nvPr>
        </p:nvSpPr>
        <p:spPr>
          <a:xfrm rot="5400000">
            <a:off x="7133432" y="1956596"/>
            <a:ext cx="5811839"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g3961b9e4146_1_69"/>
          <p:cNvSpPr txBox="1">
            <a:spLocks noGrp="1"/>
          </p:cNvSpPr>
          <p:nvPr>
            <p:ph type="body" idx="1"/>
          </p:nvPr>
        </p:nvSpPr>
        <p:spPr>
          <a:xfrm rot="5400000">
            <a:off x="1799431" y="-596104"/>
            <a:ext cx="5811839"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g3961b9e4146_1_69"/>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g3961b9e4146_1_69"/>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g3961b9e4146_1_69"/>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blip>
          <a:srcRect/>
          <a:stretch>
            <a:fillRect/>
          </a:stretch>
        </a:blipFill>
        <a:effectLst/>
      </p:bgPr>
    </p:bg>
    <p:spTree>
      <p:nvGrpSpPr>
        <p:cNvPr id="1" name="Shape 5"/>
        <p:cNvGrpSpPr/>
        <p:nvPr/>
      </p:nvGrpSpPr>
      <p:grpSpPr>
        <a:xfrm>
          <a:off x="0" y="0"/>
          <a:ext cx="0" cy="0"/>
          <a:chOff x="0" y="0"/>
          <a:chExt cx="0" cy="0"/>
        </a:xfrm>
      </p:grpSpPr>
      <p:sp>
        <p:nvSpPr>
          <p:cNvPr id="6" name="Google Shape;6;g3d07f13bfb2_12_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g3d07f13bfb2_12_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g3d07f13bfb2_12_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g3d07f13bfb2_12_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g3d07f13bfb2_12_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blip>
          <a:srcRect/>
          <a:stretch>
            <a:fillRect/>
          </a:stretch>
        </a:blipFill>
        <a:effectLst/>
      </p:bgPr>
    </p:bg>
    <p:spTree>
      <p:nvGrpSpPr>
        <p:cNvPr id="1" name="Shape 80"/>
        <p:cNvGrpSpPr/>
        <p:nvPr/>
      </p:nvGrpSpPr>
      <p:grpSpPr>
        <a:xfrm>
          <a:off x="0" y="0"/>
          <a:ext cx="0" cy="0"/>
          <a:chOff x="0" y="0"/>
          <a:chExt cx="0" cy="0"/>
        </a:xfrm>
      </p:grpSpPr>
      <p:sp>
        <p:nvSpPr>
          <p:cNvPr id="81" name="Google Shape;81;g3961b9e4146_1_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g3961b9e4146_1_0"/>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g3961b9e4146_1_0"/>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4" name="Google Shape;84;g3961b9e4146_1_0"/>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5" name="Google Shape;85;g3961b9e4146_1_0"/>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7.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
          <p:cNvSpPr txBox="1">
            <a:spLocks noGrp="1"/>
          </p:cNvSpPr>
          <p:nvPr>
            <p:ph type="ctrTitle"/>
          </p:nvPr>
        </p:nvSpPr>
        <p:spPr>
          <a:xfrm>
            <a:off x="3225007" y="1006743"/>
            <a:ext cx="7538720" cy="902292"/>
          </a:xfrm>
          <a:prstGeom prst="rect">
            <a:avLst/>
          </a:prstGeom>
          <a:noFill/>
          <a:ln>
            <a:noFill/>
          </a:ln>
        </p:spPr>
        <p:txBody>
          <a:bodyPr spcFirstLastPara="1" wrap="square" lIns="91425" tIns="45700" rIns="91425" bIns="45700" anchor="b" anchorCtr="0">
            <a:noAutofit/>
          </a:bodyPr>
          <a:lstStyle/>
          <a:p>
            <a:pPr marL="0" lvl="0" indent="0" algn="ctr" rtl="0">
              <a:lnSpc>
                <a:spcPct val="107000"/>
              </a:lnSpc>
              <a:spcBef>
                <a:spcPts val="0"/>
              </a:spcBef>
              <a:spcAft>
                <a:spcPts val="0"/>
              </a:spcAft>
              <a:buClr>
                <a:schemeClr val="dk1"/>
              </a:buClr>
              <a:buSzPts val="3600"/>
              <a:buFont typeface="Calibri"/>
              <a:buNone/>
            </a:pPr>
            <a:r>
              <a:rPr lang="es-CO" sz="4800" b="1" dirty="0">
                <a:latin typeface="Calibri"/>
                <a:ea typeface="Calibri"/>
                <a:cs typeface="Calibri"/>
                <a:sym typeface="Calibri"/>
              </a:rPr>
              <a:t>REVISION CASO CLINICO MORTALIDAD NEONATAL  </a:t>
            </a:r>
            <a:endParaRPr sz="4800" dirty="0">
              <a:latin typeface="Calibri"/>
              <a:ea typeface="Calibri"/>
              <a:cs typeface="Calibri"/>
              <a:sym typeface="Calibri"/>
            </a:endParaRPr>
          </a:p>
        </p:txBody>
      </p:sp>
      <p:sp>
        <p:nvSpPr>
          <p:cNvPr id="160" name="Google Shape;160;p1"/>
          <p:cNvSpPr txBox="1"/>
          <p:nvPr/>
        </p:nvSpPr>
        <p:spPr>
          <a:xfrm>
            <a:off x="2668783" y="1909035"/>
            <a:ext cx="7538720" cy="27237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CO" sz="3200" b="1" i="0" u="none" strike="noStrike" cap="none" dirty="0">
                <a:solidFill>
                  <a:srgbClr val="3C4043"/>
                </a:solidFill>
                <a:latin typeface="Google Sans"/>
                <a:ea typeface="Google Sans"/>
                <a:cs typeface="Google Sans"/>
                <a:sym typeface="Google Sans"/>
              </a:rPr>
              <a:t>Viviana Inés Méndez Fandiño</a:t>
            </a:r>
            <a:endParaRPr sz="2000" dirty="0"/>
          </a:p>
          <a:p>
            <a:pPr marL="0" marR="0" lvl="0" indent="0" algn="l" rtl="0">
              <a:lnSpc>
                <a:spcPct val="100000"/>
              </a:lnSpc>
              <a:spcBef>
                <a:spcPts val="0"/>
              </a:spcBef>
              <a:spcAft>
                <a:spcPts val="0"/>
              </a:spcAft>
              <a:buNone/>
            </a:pPr>
            <a:r>
              <a:rPr lang="es-CO" sz="3200" b="1" i="0" u="none" strike="noStrike" cap="none" dirty="0">
                <a:solidFill>
                  <a:srgbClr val="3C4043"/>
                </a:solidFill>
                <a:latin typeface="Google Sans"/>
                <a:ea typeface="Google Sans"/>
                <a:cs typeface="Google Sans"/>
                <a:sym typeface="Google Sans"/>
              </a:rPr>
              <a:t>Edward Camilo Vela Vargas</a:t>
            </a:r>
            <a:endParaRPr sz="3200" b="1" i="0" u="none" strike="noStrike" cap="none" dirty="0">
              <a:solidFill>
                <a:srgbClr val="3C4043"/>
              </a:solidFill>
              <a:latin typeface="Google Sans"/>
              <a:ea typeface="Google Sans"/>
              <a:cs typeface="Google Sans"/>
              <a:sym typeface="Google Sans"/>
            </a:endParaRPr>
          </a:p>
          <a:p>
            <a:pPr marL="0" marR="0" lvl="0" indent="0" algn="l" rtl="0">
              <a:lnSpc>
                <a:spcPct val="100000"/>
              </a:lnSpc>
              <a:spcBef>
                <a:spcPts val="0"/>
              </a:spcBef>
              <a:spcAft>
                <a:spcPts val="0"/>
              </a:spcAft>
              <a:buNone/>
            </a:pPr>
            <a:r>
              <a:rPr lang="es-CO" sz="3200" b="1" dirty="0">
                <a:solidFill>
                  <a:srgbClr val="3C4043"/>
                </a:solidFill>
                <a:latin typeface="Google Sans"/>
                <a:ea typeface="Google Sans"/>
                <a:cs typeface="Google Sans"/>
                <a:sym typeface="Google Sans"/>
              </a:rPr>
              <a:t>Kevin Andrei </a:t>
            </a:r>
            <a:r>
              <a:rPr lang="es-CO" sz="3200" b="1" dirty="0" err="1">
                <a:solidFill>
                  <a:srgbClr val="3C4043"/>
                </a:solidFill>
                <a:latin typeface="Google Sans"/>
                <a:ea typeface="Google Sans"/>
                <a:cs typeface="Google Sans"/>
                <a:sym typeface="Google Sans"/>
              </a:rPr>
              <a:t>Lopez</a:t>
            </a:r>
            <a:r>
              <a:rPr lang="es-CO" sz="3200" b="1" dirty="0">
                <a:solidFill>
                  <a:srgbClr val="3C4043"/>
                </a:solidFill>
                <a:latin typeface="Google Sans"/>
                <a:ea typeface="Google Sans"/>
                <a:cs typeface="Google Sans"/>
                <a:sym typeface="Google Sans"/>
              </a:rPr>
              <a:t> Esteban</a:t>
            </a:r>
          </a:p>
          <a:p>
            <a:pPr marL="0" marR="0" lvl="0" indent="0" algn="l" rtl="0">
              <a:lnSpc>
                <a:spcPct val="100000"/>
              </a:lnSpc>
              <a:spcBef>
                <a:spcPts val="0"/>
              </a:spcBef>
              <a:spcAft>
                <a:spcPts val="0"/>
              </a:spcAft>
              <a:buNone/>
            </a:pPr>
            <a:r>
              <a:rPr lang="es-CO" sz="3200" b="1" dirty="0">
                <a:solidFill>
                  <a:srgbClr val="3C4043"/>
                </a:solidFill>
                <a:latin typeface="Google Sans"/>
                <a:ea typeface="Google Sans"/>
                <a:cs typeface="Google Sans"/>
                <a:sym typeface="Google Sans"/>
              </a:rPr>
              <a:t>Sharon acuña </a:t>
            </a:r>
            <a:r>
              <a:rPr lang="es-CO" sz="3200" b="1" dirty="0" err="1">
                <a:solidFill>
                  <a:srgbClr val="3C4043"/>
                </a:solidFill>
                <a:latin typeface="Google Sans"/>
                <a:ea typeface="Google Sans"/>
                <a:cs typeface="Google Sans"/>
                <a:sym typeface="Google Sans"/>
              </a:rPr>
              <a:t>Ginecologa</a:t>
            </a:r>
            <a:r>
              <a:rPr lang="es-CO" sz="3200" b="1" dirty="0">
                <a:solidFill>
                  <a:srgbClr val="3C4043"/>
                </a:solidFill>
                <a:latin typeface="Google Sans"/>
                <a:ea typeface="Google Sans"/>
                <a:cs typeface="Google Sans"/>
                <a:sym typeface="Google Sans"/>
              </a:rPr>
              <a:t> HRM </a:t>
            </a:r>
            <a:endParaRPr sz="3200" b="1" dirty="0">
              <a:solidFill>
                <a:srgbClr val="3C4043"/>
              </a:solidFill>
              <a:latin typeface="Google Sans"/>
              <a:ea typeface="Google Sans"/>
              <a:cs typeface="Google Sans"/>
              <a:sym typeface="Google Sans"/>
            </a:endParaRPr>
          </a:p>
          <a:p>
            <a:pPr marL="0" marR="0" lvl="0" indent="0" algn="l" rtl="0">
              <a:lnSpc>
                <a:spcPct val="100000"/>
              </a:lnSpc>
              <a:spcBef>
                <a:spcPts val="0"/>
              </a:spcBef>
              <a:spcAft>
                <a:spcPts val="0"/>
              </a:spcAft>
              <a:buNone/>
            </a:pPr>
            <a:endParaRPr sz="1100" b="1" i="0" u="none" strike="noStrike" cap="none" dirty="0">
              <a:solidFill>
                <a:srgbClr val="3C4043"/>
              </a:solidFill>
              <a:latin typeface="Google Sans"/>
              <a:ea typeface="Google Sans"/>
              <a:cs typeface="Google Sans"/>
              <a:sym typeface="Google Sans"/>
            </a:endParaRPr>
          </a:p>
          <a:p>
            <a:pPr marL="0" marR="0" lvl="0" indent="0" algn="l" rtl="0">
              <a:lnSpc>
                <a:spcPct val="100000"/>
              </a:lnSpc>
              <a:spcBef>
                <a:spcPts val="0"/>
              </a:spcBef>
              <a:spcAft>
                <a:spcPts val="0"/>
              </a:spcAft>
              <a:buNone/>
            </a:pPr>
            <a:r>
              <a:rPr lang="es-CO" sz="3200" b="0" i="0" u="none" strike="noStrike" cap="none" dirty="0">
                <a:solidFill>
                  <a:srgbClr val="3C4043"/>
                </a:solidFill>
                <a:latin typeface="Google Sans"/>
                <a:ea typeface="Google Sans"/>
                <a:cs typeface="Google Sans"/>
                <a:sym typeface="Google Sans"/>
              </a:rPr>
              <a:t>RESIDENTES MEDICINA FAMILIAR  </a:t>
            </a:r>
            <a:endParaRPr sz="3200" b="0" i="0" u="none" strike="noStrike" cap="none" dirty="0">
              <a:solidFill>
                <a:srgbClr val="000000"/>
              </a:solidFill>
              <a:latin typeface="Calibri"/>
              <a:ea typeface="Calibri"/>
              <a:cs typeface="Calibri"/>
              <a:sym typeface="Calibri"/>
            </a:endParaRPr>
          </a:p>
        </p:txBody>
      </p:sp>
      <p:pic>
        <p:nvPicPr>
          <p:cNvPr id="161" name="Google Shape;161;p1" descr="Especialización en Medicina Familiar', en la UPTC-Tunja | El Diario de Salud"/>
          <p:cNvPicPr preferRelativeResize="0"/>
          <p:nvPr/>
        </p:nvPicPr>
        <p:blipFill rotWithShape="1">
          <a:blip r:embed="rId3">
            <a:alphaModFix/>
          </a:blip>
          <a:srcRect t="11504" b="27946"/>
          <a:stretch/>
        </p:blipFill>
        <p:spPr>
          <a:xfrm>
            <a:off x="218045" y="5057269"/>
            <a:ext cx="5058291" cy="16043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
          <p:cNvSpPr txBox="1">
            <a:spLocks noGrp="1"/>
          </p:cNvSpPr>
          <p:nvPr>
            <p:ph type="title"/>
          </p:nvPr>
        </p:nvSpPr>
        <p:spPr>
          <a:xfrm>
            <a:off x="2533227" y="593367"/>
            <a:ext cx="9243173" cy="763600"/>
          </a:xfrm>
          <a:prstGeom prst="rect">
            <a:avLst/>
          </a:prstGeom>
          <a:noFill/>
          <a:ln>
            <a:noFill/>
          </a:ln>
        </p:spPr>
        <p:txBody>
          <a:bodyPr spcFirstLastPara="1" wrap="square" lIns="121900" tIns="121900" rIns="121900" bIns="121900" anchor="t"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s-CO" b="1"/>
              <a:t>DATOS IDENTIFICACION </a:t>
            </a:r>
            <a:endParaRPr b="1"/>
          </a:p>
        </p:txBody>
      </p:sp>
      <p:sp>
        <p:nvSpPr>
          <p:cNvPr id="167" name="Google Shape;167;p2"/>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68" name="Google Shape;168;p2"/>
          <p:cNvSpPr txBox="1"/>
          <p:nvPr/>
        </p:nvSpPr>
        <p:spPr>
          <a:xfrm>
            <a:off x="1469813" y="2390074"/>
            <a:ext cx="8629227"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Nombre Paciente: </a:t>
            </a:r>
            <a:r>
              <a:rPr lang="es-CO" sz="2400" b="0" i="0" u="none" strike="noStrike" cap="none" dirty="0">
                <a:solidFill>
                  <a:srgbClr val="000000"/>
                </a:solidFill>
                <a:latin typeface="Arial"/>
                <a:ea typeface="Arial"/>
                <a:cs typeface="Arial"/>
                <a:sym typeface="Arial"/>
              </a:rPr>
              <a:t>R P A S</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Identificación:  CC </a:t>
            </a:r>
            <a:r>
              <a:rPr lang="es-CO" sz="2400" b="0" i="0" u="none" strike="noStrike" cap="none" dirty="0">
                <a:solidFill>
                  <a:srgbClr val="000000"/>
                </a:solidFill>
                <a:latin typeface="Arial"/>
                <a:ea typeface="Arial"/>
                <a:cs typeface="Arial"/>
                <a:sym typeface="Arial"/>
              </a:rPr>
              <a:t>1002367</a:t>
            </a:r>
            <a:r>
              <a:rPr lang="es-CO" sz="2400" dirty="0"/>
              <a:t>XXX</a:t>
            </a:r>
            <a:r>
              <a:rPr lang="es-CO" sz="2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Fecha Nacimiento: </a:t>
            </a:r>
            <a:r>
              <a:rPr lang="es-CO" sz="2400" b="0" i="0" u="none" strike="noStrike" cap="none" dirty="0">
                <a:solidFill>
                  <a:srgbClr val="000000"/>
                </a:solidFill>
                <a:latin typeface="Arial"/>
                <a:ea typeface="Arial"/>
                <a:cs typeface="Arial"/>
                <a:sym typeface="Arial"/>
              </a:rPr>
              <a:t>08/07/2003 </a:t>
            </a:r>
            <a:endParaRPr dirty="0"/>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Edad Actual</a:t>
            </a:r>
            <a:r>
              <a:rPr lang="es-CO" sz="2400" b="0" i="0" u="none" strike="noStrike" cap="none" dirty="0">
                <a:solidFill>
                  <a:srgbClr val="000000"/>
                </a:solidFill>
                <a:latin typeface="Arial"/>
                <a:ea typeface="Arial"/>
                <a:cs typeface="Arial"/>
                <a:sym typeface="Arial"/>
              </a:rPr>
              <a:t>: 22 años</a:t>
            </a:r>
            <a:endParaRPr dirty="0"/>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Estado Civil:</a:t>
            </a:r>
            <a:r>
              <a:rPr lang="es-CO" sz="2400" b="0" i="0" u="none" strike="noStrike" cap="none" dirty="0">
                <a:solidFill>
                  <a:srgbClr val="000000"/>
                </a:solidFill>
                <a:latin typeface="Arial"/>
                <a:ea typeface="Arial"/>
                <a:cs typeface="Arial"/>
                <a:sym typeface="Arial"/>
              </a:rPr>
              <a:t> Unión libre</a:t>
            </a:r>
            <a:endParaRPr dirty="0"/>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Dirección: </a:t>
            </a:r>
            <a:r>
              <a:rPr lang="es-CO" sz="2400" b="0" i="0" u="none" strike="noStrike" cap="none" dirty="0">
                <a:solidFill>
                  <a:srgbClr val="000000"/>
                </a:solidFill>
                <a:latin typeface="Arial"/>
                <a:ea typeface="Arial"/>
                <a:cs typeface="Arial"/>
                <a:sym typeface="Arial"/>
              </a:rPr>
              <a:t>CARRERA 18 8 80</a:t>
            </a:r>
            <a:endParaRPr dirty="0"/>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Sexo: </a:t>
            </a:r>
            <a:r>
              <a:rPr lang="es-CO" sz="2400" b="0" i="0" u="none" strike="noStrike" cap="none" dirty="0">
                <a:solidFill>
                  <a:srgbClr val="000000"/>
                </a:solidFill>
                <a:latin typeface="Arial"/>
                <a:ea typeface="Arial"/>
                <a:cs typeface="Arial"/>
                <a:sym typeface="Arial"/>
              </a:rPr>
              <a:t>Femenino </a:t>
            </a:r>
            <a:endParaRPr dirty="0"/>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Procedencia: </a:t>
            </a:r>
            <a:r>
              <a:rPr lang="es-CO" sz="2400" b="0" i="0" u="none" strike="noStrike" cap="none" dirty="0" err="1">
                <a:solidFill>
                  <a:srgbClr val="000000"/>
                </a:solidFill>
                <a:latin typeface="Arial"/>
                <a:ea typeface="Arial"/>
                <a:cs typeface="Arial"/>
                <a:sym typeface="Arial"/>
              </a:rPr>
              <a:t>MONIQUIRA</a:t>
            </a:r>
            <a:r>
              <a:rPr lang="es-CO" sz="2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EPS: </a:t>
            </a:r>
            <a:r>
              <a:rPr lang="es-CO" sz="2400" b="0" i="0" u="none" strike="noStrike" cap="none" dirty="0" err="1">
                <a:solidFill>
                  <a:srgbClr val="000000"/>
                </a:solidFill>
                <a:latin typeface="Arial"/>
                <a:ea typeface="Arial"/>
                <a:cs typeface="Arial"/>
                <a:sym typeface="Arial"/>
              </a:rPr>
              <a:t>NEPS</a:t>
            </a:r>
            <a:r>
              <a:rPr lang="es-CO" sz="2400" b="0" i="0" u="none" strike="noStrike" cap="none" dirty="0">
                <a:solidFill>
                  <a:srgbClr val="000000"/>
                </a:solidFill>
                <a:latin typeface="Arial"/>
                <a:ea typeface="Arial"/>
                <a:cs typeface="Arial"/>
                <a:sym typeface="Arial"/>
              </a:rPr>
              <a:t> - Subsidiado </a:t>
            </a:r>
            <a:endParaRPr dirty="0"/>
          </a:p>
          <a:p>
            <a:pPr marL="0" marR="0" lvl="0" indent="0" algn="l" rtl="0">
              <a:lnSpc>
                <a:spcPct val="100000"/>
              </a:lnSpc>
              <a:spcBef>
                <a:spcPts val="0"/>
              </a:spcBef>
              <a:spcAft>
                <a:spcPts val="0"/>
              </a:spcAft>
              <a:buNone/>
            </a:pPr>
            <a:r>
              <a:rPr lang="es-CO" sz="2400" b="1" i="0" u="none" strike="noStrike" cap="none" dirty="0">
                <a:solidFill>
                  <a:srgbClr val="000000"/>
                </a:solidFill>
                <a:latin typeface="Arial"/>
                <a:ea typeface="Arial"/>
                <a:cs typeface="Arial"/>
                <a:sym typeface="Arial"/>
              </a:rPr>
              <a:t>Estrato: </a:t>
            </a:r>
            <a:r>
              <a:rPr lang="es-CO" sz="2400" b="0" i="0" u="none" strike="noStrike" cap="none" dirty="0">
                <a:solidFill>
                  <a:srgbClr val="000000"/>
                </a:solidFill>
                <a:latin typeface="Arial"/>
                <a:ea typeface="Arial"/>
                <a:cs typeface="Arial"/>
                <a:sym typeface="Arial"/>
              </a:rPr>
              <a:t>1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5E03159C-212A-EB22-68A6-3664243AE326}"/>
            </a:ext>
          </a:extLst>
        </p:cNvPr>
        <p:cNvGrpSpPr/>
        <p:nvPr/>
      </p:nvGrpSpPr>
      <p:grpSpPr>
        <a:xfrm>
          <a:off x="0" y="0"/>
          <a:ext cx="0" cy="0"/>
          <a:chOff x="0" y="0"/>
          <a:chExt cx="0" cy="0"/>
        </a:xfrm>
      </p:grpSpPr>
      <p:sp>
        <p:nvSpPr>
          <p:cNvPr id="166" name="Google Shape;166;p2">
            <a:extLst>
              <a:ext uri="{FF2B5EF4-FFF2-40B4-BE49-F238E27FC236}">
                <a16:creationId xmlns:a16="http://schemas.microsoft.com/office/drawing/2014/main" id="{F739E75C-3DBD-F0FF-D787-54F32B08AC7F}"/>
              </a:ext>
            </a:extLst>
          </p:cNvPr>
          <p:cNvSpPr txBox="1">
            <a:spLocks noGrp="1"/>
          </p:cNvSpPr>
          <p:nvPr>
            <p:ph type="title"/>
          </p:nvPr>
        </p:nvSpPr>
        <p:spPr>
          <a:xfrm>
            <a:off x="2533227" y="593367"/>
            <a:ext cx="9243173" cy="7636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ct val="100000"/>
              <a:buFont typeface="Calibri"/>
              <a:buNone/>
            </a:pPr>
            <a:r>
              <a:rPr lang="es-CO" sz="3200" b="1" dirty="0">
                <a:latin typeface="+mn-lt"/>
              </a:rPr>
              <a:t>ANTECEDENTES</a:t>
            </a:r>
            <a:endParaRPr sz="3200" b="1" dirty="0">
              <a:latin typeface="+mn-lt"/>
            </a:endParaRPr>
          </a:p>
        </p:txBody>
      </p:sp>
      <p:sp>
        <p:nvSpPr>
          <p:cNvPr id="167" name="Google Shape;167;p2">
            <a:extLst>
              <a:ext uri="{FF2B5EF4-FFF2-40B4-BE49-F238E27FC236}">
                <a16:creationId xmlns:a16="http://schemas.microsoft.com/office/drawing/2014/main" id="{FCD00DF8-F78D-9BF6-92BF-F8BDB03809FB}"/>
              </a:ext>
            </a:extLst>
          </p:cNvPr>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68" name="Google Shape;168;p2">
            <a:extLst>
              <a:ext uri="{FF2B5EF4-FFF2-40B4-BE49-F238E27FC236}">
                <a16:creationId xmlns:a16="http://schemas.microsoft.com/office/drawing/2014/main" id="{09B85084-ADC4-AE5D-179E-B2BD214F4E09}"/>
              </a:ext>
            </a:extLst>
          </p:cNvPr>
          <p:cNvSpPr txBox="1"/>
          <p:nvPr/>
        </p:nvSpPr>
        <p:spPr>
          <a:xfrm>
            <a:off x="735981" y="2071586"/>
            <a:ext cx="9229245" cy="4524275"/>
          </a:xfrm>
          <a:prstGeom prst="rect">
            <a:avLst/>
          </a:prstGeom>
          <a:noFill/>
          <a:ln>
            <a:noFill/>
          </a:ln>
        </p:spPr>
        <p:txBody>
          <a:bodyPr spcFirstLastPara="1" wrap="square" lIns="91425" tIns="45700" rIns="91425" bIns="45700" anchor="t" anchorCtr="0">
            <a:spAutoFit/>
          </a:bodyPr>
          <a:lstStyle/>
          <a:p>
            <a:r>
              <a:rPr lang="es-CO" sz="2400" dirty="0">
                <a:latin typeface="Arial" panose="020B0604020202020204" pitchFamily="34" charset="0"/>
                <a:cs typeface="Arial" panose="020B0604020202020204" pitchFamily="34" charset="0"/>
              </a:rPr>
              <a:t>PATOLÓGICOS: NIEGA</a:t>
            </a:r>
          </a:p>
          <a:p>
            <a:r>
              <a:rPr lang="es-CO" sz="2400" dirty="0">
                <a:latin typeface="Arial" panose="020B0604020202020204" pitchFamily="34" charset="0"/>
                <a:cs typeface="Arial" panose="020B0604020202020204" pitchFamily="34" charset="0"/>
              </a:rPr>
              <a:t>QUIRÚRGICOS: NIEGA</a:t>
            </a:r>
          </a:p>
          <a:p>
            <a:r>
              <a:rPr lang="es-CO" sz="2400" dirty="0">
                <a:latin typeface="Arial" panose="020B0604020202020204" pitchFamily="34" charset="0"/>
                <a:cs typeface="Arial" panose="020B0604020202020204" pitchFamily="34" charset="0"/>
              </a:rPr>
              <a:t>FARMACOLÓGICOS: GESTAVIT</a:t>
            </a:r>
          </a:p>
          <a:p>
            <a:r>
              <a:rPr lang="es-CO" sz="2400" dirty="0">
                <a:latin typeface="Arial" panose="020B0604020202020204" pitchFamily="34" charset="0"/>
                <a:cs typeface="Arial" panose="020B0604020202020204" pitchFamily="34" charset="0"/>
              </a:rPr>
              <a:t>ALÉRGICOS: NIEGA</a:t>
            </a:r>
          </a:p>
          <a:p>
            <a:r>
              <a:rPr lang="es-CO" sz="2400" dirty="0">
                <a:latin typeface="Arial" panose="020B0604020202020204" pitchFamily="34" charset="0"/>
                <a:cs typeface="Arial" panose="020B0604020202020204" pitchFamily="34" charset="0"/>
              </a:rPr>
              <a:t>HOSPITALARIOS: NIEGA</a:t>
            </a:r>
          </a:p>
          <a:p>
            <a:r>
              <a:rPr lang="es-CO" sz="2400" dirty="0">
                <a:latin typeface="Arial" panose="020B0604020202020204" pitchFamily="34" charset="0"/>
                <a:cs typeface="Arial" panose="020B0604020202020204" pitchFamily="34" charset="0"/>
              </a:rPr>
              <a:t>TÓXICO: NIEGA CONSUMO DE SUSTANCIA PSICOACTIVAS, CIGARRILLO O LICOR</a:t>
            </a:r>
          </a:p>
          <a:p>
            <a:r>
              <a:rPr lang="es-CO" sz="2400" dirty="0">
                <a:latin typeface="Arial" panose="020B0604020202020204" pitchFamily="34" charset="0"/>
                <a:cs typeface="Arial" panose="020B0604020202020204" pitchFamily="34" charset="0"/>
              </a:rPr>
              <a:t>FAMILIARES: NIEGA</a:t>
            </a:r>
          </a:p>
          <a:p>
            <a:r>
              <a:rPr lang="pt-BR" sz="2400" dirty="0">
                <a:latin typeface="Arial" panose="020B0604020202020204" pitchFamily="34" charset="0"/>
                <a:cs typeface="Arial" panose="020B0604020202020204" pitchFamily="34" charset="0"/>
              </a:rPr>
              <a:t>ANTECEDENTE DE PREECLAMPSIA MADRE O HERMANA : NIEGA</a:t>
            </a:r>
          </a:p>
          <a:p>
            <a:r>
              <a:rPr lang="es-ES" sz="2400" dirty="0">
                <a:latin typeface="Arial" panose="020B0604020202020204" pitchFamily="34" charset="0"/>
                <a:cs typeface="Arial" panose="020B0604020202020204" pitchFamily="34" charset="0"/>
              </a:rPr>
              <a:t>HISTORIA DE CÁNCER HEREDOFAMILIAR MADRE CÁNCER DE MAMA - EN EL MOMENTO EN REMISIÓN</a:t>
            </a:r>
          </a:p>
        </p:txBody>
      </p:sp>
    </p:spTree>
    <p:extLst>
      <p:ext uri="{BB962C8B-B14F-4D97-AF65-F5344CB8AC3E}">
        <p14:creationId xmlns:p14="http://schemas.microsoft.com/office/powerpoint/2010/main" val="841358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961b1f3ed6_0_5"/>
          <p:cNvSpPr txBox="1">
            <a:spLocks noGrp="1"/>
          </p:cNvSpPr>
          <p:nvPr>
            <p:ph type="title"/>
          </p:nvPr>
        </p:nvSpPr>
        <p:spPr>
          <a:xfrm>
            <a:off x="838200" y="365125"/>
            <a:ext cx="10515600" cy="13257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dirty="0"/>
              <a:t>ANTECEDENTES </a:t>
            </a:r>
            <a:endParaRPr b="1" dirty="0"/>
          </a:p>
        </p:txBody>
      </p:sp>
      <p:sp>
        <p:nvSpPr>
          <p:cNvPr id="174" name="Google Shape;174;g3961b1f3ed6_0_5"/>
          <p:cNvSpPr txBox="1">
            <a:spLocks noGrp="1"/>
          </p:cNvSpPr>
          <p:nvPr>
            <p:ph type="body" idx="1"/>
          </p:nvPr>
        </p:nvSpPr>
        <p:spPr>
          <a:xfrm>
            <a:off x="748990" y="2062976"/>
            <a:ext cx="10515600" cy="4429800"/>
          </a:xfrm>
          <a:prstGeom prst="rect">
            <a:avLst/>
          </a:prstGeom>
          <a:noFill/>
          <a:ln>
            <a:noFill/>
          </a:ln>
        </p:spPr>
        <p:txBody>
          <a:bodyPr spcFirstLastPara="1" wrap="square" lIns="91425" tIns="45700" rIns="91425" bIns="45700" anchor="t" anchorCtr="0">
            <a:noAutofit/>
          </a:bodyPr>
          <a:lstStyle/>
          <a:p>
            <a:pPr marL="228593" lvl="0" indent="-228593" algn="l" rtl="0">
              <a:lnSpc>
                <a:spcPct val="90000"/>
              </a:lnSpc>
              <a:spcBef>
                <a:spcPts val="0"/>
              </a:spcBef>
              <a:spcAft>
                <a:spcPts val="0"/>
              </a:spcAft>
              <a:buClr>
                <a:schemeClr val="dk1"/>
              </a:buClr>
              <a:buSzPts val="2400"/>
              <a:buChar char="•"/>
            </a:pPr>
            <a:r>
              <a:rPr lang="es-CO" sz="2400">
                <a:latin typeface="Arial"/>
                <a:ea typeface="Arial"/>
                <a:cs typeface="Arial"/>
                <a:sym typeface="Arial"/>
              </a:rPr>
              <a:t>MÉTODO ANTICONCEPTIVO PREVIO: NO</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PLANIFICACIÓN POST PARTO: PENDIENTE</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ITS: NIEGA</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TAMIZACIÓN DE CÁNCER DE CUELLO UTERINO: AÑO PASADO NORMAL - PENDIENTE REPORTE</a:t>
            </a:r>
            <a:endParaRPr/>
          </a:p>
          <a:p>
            <a:pPr marL="0" lvl="0" indent="0" algn="l" rtl="0">
              <a:lnSpc>
                <a:spcPct val="90000"/>
              </a:lnSpc>
              <a:spcBef>
                <a:spcPts val="1000"/>
              </a:spcBef>
              <a:spcAft>
                <a:spcPts val="0"/>
              </a:spcAft>
              <a:buClr>
                <a:schemeClr val="dk1"/>
              </a:buClr>
              <a:buSzPts val="2400"/>
              <a:buNone/>
            </a:pPr>
            <a:r>
              <a:rPr lang="es-CO" sz="2400">
                <a:latin typeface="Arial"/>
                <a:ea typeface="Arial"/>
                <a:cs typeface="Arial"/>
                <a:sym typeface="Arial"/>
              </a:rPr>
              <a:t>OBSTÉTRICOS</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FÓRMULA OBSTÉTRICA: G2A1</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VALORACIÓN PRECONCEPCIONL: NO</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HISTORIA OBSTÈTRICA:</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G1 : 2024 ABORTO ESPONTANEA - GESTACION TEMP0RANA</a:t>
            </a:r>
            <a:endParaRPr/>
          </a:p>
          <a:p>
            <a:pPr marL="228593" lvl="0" indent="-76193" algn="l" rtl="0">
              <a:lnSpc>
                <a:spcPct val="90000"/>
              </a:lnSpc>
              <a:spcBef>
                <a:spcPts val="1000"/>
              </a:spcBef>
              <a:spcAft>
                <a:spcPts val="0"/>
              </a:spcAft>
              <a:buClr>
                <a:schemeClr val="dk1"/>
              </a:buClr>
              <a:buSzPts val="2400"/>
              <a:buNone/>
            </a:pPr>
            <a:endParaRPr sz="2400">
              <a:latin typeface="Arial"/>
              <a:ea typeface="Arial"/>
              <a:cs typeface="Arial"/>
              <a:sym typeface="Arial"/>
            </a:endParaRPr>
          </a:p>
        </p:txBody>
      </p:sp>
      <p:sp>
        <p:nvSpPr>
          <p:cNvPr id="175" name="Google Shape;175;g3961b1f3ed6_0_5"/>
          <p:cNvSpPr txBox="1"/>
          <p:nvPr/>
        </p:nvSpPr>
        <p:spPr>
          <a:xfrm>
            <a:off x="606417" y="1406069"/>
            <a:ext cx="11360700" cy="4618356"/>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961b1f3ed6_0_16"/>
          <p:cNvSpPr txBox="1">
            <a:spLocks noGrp="1"/>
          </p:cNvSpPr>
          <p:nvPr>
            <p:ph type="title"/>
          </p:nvPr>
        </p:nvSpPr>
        <p:spPr>
          <a:xfrm>
            <a:off x="838200" y="365125"/>
            <a:ext cx="10515600" cy="13257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ANTECEDENTES </a:t>
            </a:r>
            <a:endParaRPr b="1"/>
          </a:p>
        </p:txBody>
      </p:sp>
      <p:sp>
        <p:nvSpPr>
          <p:cNvPr id="181" name="Google Shape;181;g3961b1f3ed6_0_16"/>
          <p:cNvSpPr txBox="1">
            <a:spLocks noGrp="1"/>
          </p:cNvSpPr>
          <p:nvPr>
            <p:ph type="body" idx="1"/>
          </p:nvPr>
        </p:nvSpPr>
        <p:spPr>
          <a:xfrm>
            <a:off x="748990" y="2062976"/>
            <a:ext cx="10515600" cy="4429800"/>
          </a:xfrm>
          <a:prstGeom prst="rect">
            <a:avLst/>
          </a:prstGeom>
          <a:noFill/>
          <a:ln>
            <a:noFill/>
          </a:ln>
        </p:spPr>
        <p:txBody>
          <a:bodyPr spcFirstLastPara="1" wrap="square" lIns="91425" tIns="45700" rIns="91425" bIns="45700" anchor="t" anchorCtr="0">
            <a:noAutofit/>
          </a:bodyPr>
          <a:lstStyle/>
          <a:p>
            <a:pPr marL="228593" lvl="0" indent="-228593" algn="l" rtl="0">
              <a:lnSpc>
                <a:spcPct val="90000"/>
              </a:lnSpc>
              <a:spcBef>
                <a:spcPts val="0"/>
              </a:spcBef>
              <a:spcAft>
                <a:spcPts val="0"/>
              </a:spcAft>
              <a:buClr>
                <a:schemeClr val="dk1"/>
              </a:buClr>
              <a:buSzPts val="2400"/>
              <a:buChar char="•"/>
            </a:pPr>
            <a:r>
              <a:rPr lang="es-CO" sz="2400">
                <a:latin typeface="Arial"/>
                <a:ea typeface="Arial"/>
                <a:cs typeface="Arial"/>
                <a:sym typeface="Arial"/>
              </a:rPr>
              <a:t>TRANSFUSIONALES: NIEGA</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HEMOCLASIFICACIÓN MATERNA: O+ - PAREJA O+</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TRAUMÁTICOS: FISURA DE CODO ??</a:t>
            </a:r>
            <a:endParaRPr/>
          </a:p>
          <a:p>
            <a:pPr marL="0" lvl="0" indent="0" algn="l" rtl="0">
              <a:lnSpc>
                <a:spcPct val="90000"/>
              </a:lnSpc>
              <a:spcBef>
                <a:spcPts val="1000"/>
              </a:spcBef>
              <a:spcAft>
                <a:spcPts val="0"/>
              </a:spcAft>
              <a:buClr>
                <a:schemeClr val="dk1"/>
              </a:buClr>
              <a:buSzPts val="2400"/>
              <a:buNone/>
            </a:pPr>
            <a:r>
              <a:rPr lang="es-CO" sz="2400">
                <a:latin typeface="Arial"/>
                <a:ea typeface="Arial"/>
                <a:cs typeface="Arial"/>
                <a:sym typeface="Arial"/>
              </a:rPr>
              <a:t>GINECOLÓGICOS:</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MENARQUIA: 11 AÑOS</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COMPAÑEROS SEXUALES: 4</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INICIO</a:t>
            </a:r>
            <a:r>
              <a:rPr lang="es-CO" sz="2400"/>
              <a:t> DE VIDA SEXUAL: 17 AÑOS</a:t>
            </a:r>
            <a:endParaRPr/>
          </a:p>
          <a:p>
            <a:pPr marL="228593" lvl="0" indent="-228593" algn="l" rtl="0">
              <a:lnSpc>
                <a:spcPct val="90000"/>
              </a:lnSpc>
              <a:spcBef>
                <a:spcPts val="1000"/>
              </a:spcBef>
              <a:spcAft>
                <a:spcPts val="0"/>
              </a:spcAft>
              <a:buClr>
                <a:schemeClr val="dk1"/>
              </a:buClr>
              <a:buSzPts val="2400"/>
              <a:buChar char="•"/>
            </a:pPr>
            <a:r>
              <a:rPr lang="es-CO" sz="2400">
                <a:latin typeface="Arial"/>
                <a:ea typeface="Arial"/>
                <a:cs typeface="Arial"/>
                <a:sym typeface="Arial"/>
              </a:rPr>
              <a:t>CICLOS: REGULAR</a:t>
            </a:r>
            <a:endParaRPr/>
          </a:p>
          <a:p>
            <a:pPr marL="228593" lvl="0" indent="-76193" algn="l" rtl="0">
              <a:lnSpc>
                <a:spcPct val="90000"/>
              </a:lnSpc>
              <a:spcBef>
                <a:spcPts val="1000"/>
              </a:spcBef>
              <a:spcAft>
                <a:spcPts val="0"/>
              </a:spcAft>
              <a:buClr>
                <a:schemeClr val="dk1"/>
              </a:buClr>
              <a:buSzPts val="2400"/>
              <a:buNone/>
            </a:pPr>
            <a:endParaRPr sz="2400">
              <a:latin typeface="Arial"/>
              <a:ea typeface="Arial"/>
              <a:cs typeface="Arial"/>
              <a:sym typeface="Arial"/>
            </a:endParaRPr>
          </a:p>
        </p:txBody>
      </p:sp>
      <p:sp>
        <p:nvSpPr>
          <p:cNvPr id="182" name="Google Shape;182;g3961b1f3ed6_0_16"/>
          <p:cNvSpPr txBox="1"/>
          <p:nvPr/>
        </p:nvSpPr>
        <p:spPr>
          <a:xfrm>
            <a:off x="415600" y="2390073"/>
            <a:ext cx="11360700" cy="4213200"/>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961b1f3ed6_0_44"/>
          <p:cNvSpPr txBox="1">
            <a:spLocks noGrp="1"/>
          </p:cNvSpPr>
          <p:nvPr>
            <p:ph type="title"/>
          </p:nvPr>
        </p:nvSpPr>
        <p:spPr>
          <a:xfrm>
            <a:off x="838200" y="365125"/>
            <a:ext cx="10515600" cy="13257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PARACLINICOS </a:t>
            </a:r>
            <a:endParaRPr b="1"/>
          </a:p>
        </p:txBody>
      </p:sp>
      <p:sp>
        <p:nvSpPr>
          <p:cNvPr id="202" name="Google Shape;202;g3961b1f3ed6_0_44"/>
          <p:cNvSpPr txBox="1">
            <a:spLocks noGrp="1"/>
          </p:cNvSpPr>
          <p:nvPr>
            <p:ph type="body" idx="1"/>
          </p:nvPr>
        </p:nvSpPr>
        <p:spPr>
          <a:xfrm>
            <a:off x="748990" y="2062976"/>
            <a:ext cx="10515600" cy="4429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s-CO" sz="2400" b="1"/>
              <a:t>ECOGRAFÍAS</a:t>
            </a:r>
            <a:endParaRPr/>
          </a:p>
          <a:p>
            <a:pPr marL="228593" lvl="0" indent="-228593" algn="l" rtl="0">
              <a:lnSpc>
                <a:spcPct val="90000"/>
              </a:lnSpc>
              <a:spcBef>
                <a:spcPts val="1000"/>
              </a:spcBef>
              <a:spcAft>
                <a:spcPts val="0"/>
              </a:spcAft>
              <a:buClr>
                <a:schemeClr val="dk1"/>
              </a:buClr>
              <a:buSzPts val="2400"/>
              <a:buChar char="•"/>
            </a:pPr>
            <a:r>
              <a:rPr lang="es-CO" sz="2400"/>
              <a:t>15/09/2025: EMBARAZO DE 9 SEMANAS</a:t>
            </a:r>
            <a:endParaRPr/>
          </a:p>
          <a:p>
            <a:pPr marL="228593" lvl="0" indent="-228593" algn="l" rtl="0">
              <a:lnSpc>
                <a:spcPct val="90000"/>
              </a:lnSpc>
              <a:spcBef>
                <a:spcPts val="1000"/>
              </a:spcBef>
              <a:spcAft>
                <a:spcPts val="0"/>
              </a:spcAft>
              <a:buClr>
                <a:schemeClr val="dk1"/>
              </a:buClr>
              <a:buSzPts val="2400"/>
              <a:buChar char="•"/>
            </a:pPr>
            <a:r>
              <a:rPr lang="es-CO" sz="2400"/>
              <a:t>29/9/2025 ECOGRAFÍA DE TAMIZAJE : GESTACIÓN 11+4 SEM POR BIOMÉTRICO SIN SIGNOS DE ANEUPLOIDÍA</a:t>
            </a:r>
            <a:endParaRPr/>
          </a:p>
          <a:p>
            <a:pPr marL="228593" lvl="0" indent="-228593" algn="l" rtl="0">
              <a:lnSpc>
                <a:spcPct val="90000"/>
              </a:lnSpc>
              <a:spcBef>
                <a:spcPts val="1000"/>
              </a:spcBef>
              <a:spcAft>
                <a:spcPts val="0"/>
              </a:spcAft>
              <a:buClr>
                <a:schemeClr val="dk1"/>
              </a:buClr>
              <a:buSzPts val="2400"/>
              <a:buChar char="•"/>
            </a:pPr>
            <a:r>
              <a:rPr lang="es-CO" sz="2400"/>
              <a:t>10/12/2025 DETALLE ANATOMICO EMB 22.2 SEM SIN ALTERACIONES ESTRUCTURALES. (DR REYES PARTICULAR)</a:t>
            </a:r>
            <a:endParaRPr/>
          </a:p>
        </p:txBody>
      </p:sp>
      <p:sp>
        <p:nvSpPr>
          <p:cNvPr id="203" name="Google Shape;203;g3961b1f3ed6_0_44"/>
          <p:cNvSpPr txBox="1"/>
          <p:nvPr/>
        </p:nvSpPr>
        <p:spPr>
          <a:xfrm>
            <a:off x="415600" y="2390073"/>
            <a:ext cx="11360700" cy="4213200"/>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961b1f3ed6_0_50"/>
          <p:cNvSpPr txBox="1">
            <a:spLocks noGrp="1"/>
          </p:cNvSpPr>
          <p:nvPr>
            <p:ph type="title"/>
          </p:nvPr>
        </p:nvSpPr>
        <p:spPr>
          <a:xfrm>
            <a:off x="838200" y="365125"/>
            <a:ext cx="10515600" cy="1325700"/>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endParaRPr b="1"/>
          </a:p>
        </p:txBody>
      </p:sp>
      <p:sp>
        <p:nvSpPr>
          <p:cNvPr id="209" name="Google Shape;209;g3961b1f3ed6_0_5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s-CO" sz="2400" b="1"/>
              <a:t>LABORATORIOS (25/8/2025)</a:t>
            </a:r>
            <a:r>
              <a:rPr lang="es-CO" sz="2400"/>
              <a:t> :</a:t>
            </a:r>
            <a:endParaRPr/>
          </a:p>
          <a:p>
            <a:pPr marL="228593" lvl="0" indent="-228593" algn="l" rtl="0">
              <a:lnSpc>
                <a:spcPct val="90000"/>
              </a:lnSpc>
              <a:spcBef>
                <a:spcPts val="1000"/>
              </a:spcBef>
              <a:spcAft>
                <a:spcPts val="0"/>
              </a:spcAft>
              <a:buClr>
                <a:schemeClr val="dk1"/>
              </a:buClr>
              <a:buSzPts val="2800"/>
              <a:buChar char="•"/>
            </a:pPr>
            <a:r>
              <a:rPr lang="es-CO"/>
              <a:t>HB 13.7 HTO 33.1 PLAQUETAS 237.000</a:t>
            </a:r>
            <a:endParaRPr/>
          </a:p>
          <a:p>
            <a:pPr marL="228593" lvl="0" indent="-228593" algn="l" rtl="0">
              <a:lnSpc>
                <a:spcPct val="90000"/>
              </a:lnSpc>
              <a:spcBef>
                <a:spcPts val="1000"/>
              </a:spcBef>
              <a:spcAft>
                <a:spcPts val="0"/>
              </a:spcAft>
              <a:buClr>
                <a:schemeClr val="dk1"/>
              </a:buClr>
              <a:buSzPts val="2800"/>
              <a:buChar char="•"/>
            </a:pPr>
            <a:r>
              <a:rPr lang="es-CO"/>
              <a:t>UROANÁLISIS : NO SUGESTIVO DE IVU</a:t>
            </a:r>
            <a:endParaRPr/>
          </a:p>
          <a:p>
            <a:pPr marL="228593" lvl="0" indent="-228593" algn="l" rtl="0">
              <a:lnSpc>
                <a:spcPct val="90000"/>
              </a:lnSpc>
              <a:spcBef>
                <a:spcPts val="1000"/>
              </a:spcBef>
              <a:spcAft>
                <a:spcPts val="0"/>
              </a:spcAft>
              <a:buClr>
                <a:schemeClr val="dk1"/>
              </a:buClr>
              <a:buSzPts val="2800"/>
              <a:buChar char="•"/>
            </a:pPr>
            <a:r>
              <a:rPr lang="es-CO"/>
              <a:t>TREPONEMA NEGATIVO VIH NEGATIVO CHAGAS NEGATIVO</a:t>
            </a:r>
            <a:endParaRPr/>
          </a:p>
          <a:p>
            <a:pPr marL="228593" lvl="0" indent="-228593" algn="l" rtl="0">
              <a:lnSpc>
                <a:spcPct val="90000"/>
              </a:lnSpc>
              <a:spcBef>
                <a:spcPts val="1000"/>
              </a:spcBef>
              <a:spcAft>
                <a:spcPts val="0"/>
              </a:spcAft>
              <a:buClr>
                <a:schemeClr val="dk1"/>
              </a:buClr>
              <a:buSzPts val="2800"/>
              <a:buChar char="•"/>
            </a:pPr>
            <a:r>
              <a:rPr lang="es-CO"/>
              <a:t>TSH 1.2</a:t>
            </a:r>
            <a:endParaRPr/>
          </a:p>
          <a:p>
            <a:pPr marL="228593" lvl="0" indent="-228593" algn="l" rtl="0">
              <a:lnSpc>
                <a:spcPct val="90000"/>
              </a:lnSpc>
              <a:spcBef>
                <a:spcPts val="1000"/>
              </a:spcBef>
              <a:spcAft>
                <a:spcPts val="0"/>
              </a:spcAft>
              <a:buClr>
                <a:schemeClr val="dk1"/>
              </a:buClr>
              <a:buSzPts val="2800"/>
              <a:buChar char="•"/>
            </a:pPr>
            <a:r>
              <a:rPr lang="es-CO"/>
              <a:t>CTM IG M NEGATIVO / RUBEOLA IG G POSITIVA, RUBEOLA IG M NEGATIVO TOXOPLASMA IG M NEGATIVO</a:t>
            </a:r>
            <a:endParaRPr/>
          </a:p>
          <a:p>
            <a:pPr marL="228593" lvl="0" indent="-228593" algn="l" rtl="0">
              <a:lnSpc>
                <a:spcPct val="90000"/>
              </a:lnSpc>
              <a:spcBef>
                <a:spcPts val="1000"/>
              </a:spcBef>
              <a:spcAft>
                <a:spcPts val="0"/>
              </a:spcAft>
              <a:buClr>
                <a:schemeClr val="dk1"/>
              </a:buClr>
              <a:buSzPts val="2800"/>
              <a:buChar char="•"/>
            </a:pPr>
            <a:r>
              <a:rPr lang="es-CO"/>
              <a:t>IG, CTM IG G POSITIVO</a:t>
            </a:r>
            <a:endParaRPr sz="2400"/>
          </a:p>
        </p:txBody>
      </p:sp>
      <p:sp>
        <p:nvSpPr>
          <p:cNvPr id="210" name="Google Shape;210;g3961b1f3ed6_0_50"/>
          <p:cNvSpPr txBox="1"/>
          <p:nvPr/>
        </p:nvSpPr>
        <p:spPr>
          <a:xfrm>
            <a:off x="415600" y="2390073"/>
            <a:ext cx="11360700" cy="4213200"/>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961b1f3ed6_0_56"/>
          <p:cNvSpPr txBox="1">
            <a:spLocks noGrp="1"/>
          </p:cNvSpPr>
          <p:nvPr>
            <p:ph type="title"/>
          </p:nvPr>
        </p:nvSpPr>
        <p:spPr>
          <a:xfrm>
            <a:off x="2644876" y="365125"/>
            <a:ext cx="8708923" cy="1325700"/>
          </a:xfrm>
          <a:prstGeom prst="rect">
            <a:avLst/>
          </a:prstGeom>
          <a:noFill/>
          <a:ln>
            <a:noFill/>
          </a:ln>
        </p:spPr>
        <p:txBody>
          <a:bodyPr spcFirstLastPara="1" wrap="square" lIns="91425" tIns="45700" rIns="91425" bIns="45700" anchor="ctr" anchorCtr="0">
            <a:normAutofit/>
          </a:bodyPr>
          <a:lstStyle/>
          <a:p>
            <a:pPr>
              <a:buSzPts val="4400"/>
            </a:pPr>
            <a:r>
              <a:rPr lang="es-CO" b="1" dirty="0"/>
              <a:t>24/10/2025:</a:t>
            </a:r>
            <a:br>
              <a:rPr lang="es-CO" dirty="0"/>
            </a:br>
            <a:endParaRPr dirty="0"/>
          </a:p>
        </p:txBody>
      </p:sp>
      <p:sp>
        <p:nvSpPr>
          <p:cNvPr id="216" name="Google Shape;216;g3961b1f3ed6_0_5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92500" lnSpcReduction="20000"/>
          </a:bodyPr>
          <a:lstStyle/>
          <a:p>
            <a:pPr marL="228593" lvl="0" indent="-228593" algn="l" rtl="0">
              <a:lnSpc>
                <a:spcPct val="90000"/>
              </a:lnSpc>
              <a:spcBef>
                <a:spcPts val="1000"/>
              </a:spcBef>
              <a:spcAft>
                <a:spcPts val="0"/>
              </a:spcAft>
              <a:buClr>
                <a:schemeClr val="dk1"/>
              </a:buClr>
              <a:buSzPct val="100000"/>
              <a:buChar char="•"/>
            </a:pPr>
            <a:r>
              <a:rPr lang="es-CO" dirty="0"/>
              <a:t>TOXOPLASMA IGM NEGATIVO IGG NEGATIVO </a:t>
            </a:r>
            <a:endParaRPr dirty="0"/>
          </a:p>
          <a:p>
            <a:pPr marL="228593" lvl="0" indent="-228593" algn="l" rtl="0">
              <a:lnSpc>
                <a:spcPct val="90000"/>
              </a:lnSpc>
              <a:spcBef>
                <a:spcPts val="1000"/>
              </a:spcBef>
              <a:spcAft>
                <a:spcPts val="0"/>
              </a:spcAft>
              <a:buClr>
                <a:schemeClr val="dk1"/>
              </a:buClr>
              <a:buSzPct val="100000"/>
              <a:buChar char="•"/>
            </a:pPr>
            <a:r>
              <a:rPr lang="es-CO" dirty="0"/>
              <a:t>HBSAG </a:t>
            </a:r>
            <a:r>
              <a:rPr lang="es-CO" dirty="0" err="1"/>
              <a:t>NEGATIVIO</a:t>
            </a:r>
            <a:r>
              <a:rPr lang="es-CO" dirty="0"/>
              <a:t> - O POSITIVO </a:t>
            </a:r>
            <a:endParaRPr dirty="0"/>
          </a:p>
          <a:p>
            <a:pPr marL="228593" lvl="0" indent="-228593" algn="l" rtl="0">
              <a:lnSpc>
                <a:spcPct val="90000"/>
              </a:lnSpc>
              <a:spcBef>
                <a:spcPts val="1000"/>
              </a:spcBef>
              <a:spcAft>
                <a:spcPts val="0"/>
              </a:spcAft>
              <a:buClr>
                <a:schemeClr val="dk1"/>
              </a:buClr>
              <a:buSzPct val="100000"/>
              <a:buChar char="•"/>
            </a:pPr>
            <a:r>
              <a:rPr lang="es-CO" dirty="0" err="1"/>
              <a:t>TSH</a:t>
            </a:r>
            <a:r>
              <a:rPr lang="es-CO" dirty="0"/>
              <a:t> 1.3 </a:t>
            </a:r>
            <a:endParaRPr dirty="0"/>
          </a:p>
          <a:p>
            <a:pPr marL="228593" lvl="0" indent="-228593" algn="l" rtl="0">
              <a:lnSpc>
                <a:spcPct val="90000"/>
              </a:lnSpc>
              <a:spcBef>
                <a:spcPts val="1000"/>
              </a:spcBef>
              <a:spcAft>
                <a:spcPts val="0"/>
              </a:spcAft>
              <a:buClr>
                <a:schemeClr val="dk1"/>
              </a:buClr>
              <a:buSzPct val="100000"/>
              <a:buChar char="•"/>
            </a:pPr>
            <a:r>
              <a:rPr lang="es-CO" dirty="0" err="1"/>
              <a:t>GLICMIEA</a:t>
            </a:r>
            <a:r>
              <a:rPr lang="es-CO" dirty="0"/>
              <a:t> 69</a:t>
            </a:r>
            <a:endParaRPr dirty="0"/>
          </a:p>
          <a:p>
            <a:pPr marL="228593" lvl="0" indent="-228593" algn="l" rtl="0">
              <a:lnSpc>
                <a:spcPct val="90000"/>
              </a:lnSpc>
              <a:spcBef>
                <a:spcPts val="1000"/>
              </a:spcBef>
              <a:spcAft>
                <a:spcPts val="0"/>
              </a:spcAft>
              <a:buClr>
                <a:schemeClr val="dk1"/>
              </a:buClr>
              <a:buSzPct val="100000"/>
              <a:buChar char="•"/>
            </a:pPr>
            <a:r>
              <a:rPr lang="es-CO" dirty="0" err="1"/>
              <a:t>FFV</a:t>
            </a:r>
            <a:r>
              <a:rPr lang="es-CO" dirty="0"/>
              <a:t>: POSITIVO PARA VAGINOSIS MIXTA </a:t>
            </a:r>
            <a:endParaRPr dirty="0"/>
          </a:p>
          <a:p>
            <a:pPr marL="228593" lvl="0" indent="-228593" algn="l" rtl="0">
              <a:lnSpc>
                <a:spcPct val="90000"/>
              </a:lnSpc>
              <a:spcBef>
                <a:spcPts val="1000"/>
              </a:spcBef>
              <a:spcAft>
                <a:spcPts val="0"/>
              </a:spcAft>
              <a:buClr>
                <a:schemeClr val="dk1"/>
              </a:buClr>
              <a:buSzPct val="100000"/>
              <a:buChar char="•"/>
            </a:pPr>
            <a:r>
              <a:rPr lang="es-CO" dirty="0" err="1"/>
              <a:t>HEMORGAMA</a:t>
            </a:r>
            <a:r>
              <a:rPr lang="es-CO" dirty="0"/>
              <a:t> HB 14.9 </a:t>
            </a:r>
            <a:r>
              <a:rPr lang="es-CO" dirty="0" err="1"/>
              <a:t>PLT</a:t>
            </a:r>
            <a:r>
              <a:rPr lang="es-CO" dirty="0"/>
              <a:t>: 188.000 </a:t>
            </a:r>
            <a:endParaRPr dirty="0"/>
          </a:p>
          <a:p>
            <a:pPr marL="228593" lvl="0" indent="-228593" algn="l" rtl="0">
              <a:lnSpc>
                <a:spcPct val="90000"/>
              </a:lnSpc>
              <a:spcBef>
                <a:spcPts val="1000"/>
              </a:spcBef>
              <a:spcAft>
                <a:spcPts val="0"/>
              </a:spcAft>
              <a:buClr>
                <a:schemeClr val="dk1"/>
              </a:buClr>
              <a:buSzPct val="100000"/>
              <a:buChar char="•"/>
            </a:pPr>
            <a:r>
              <a:rPr lang="es-CO" dirty="0"/>
              <a:t>UROCULTIVO NEGATIVO. </a:t>
            </a:r>
            <a:endParaRPr dirty="0"/>
          </a:p>
          <a:p>
            <a:pPr marL="228593" lvl="0" indent="-228593" algn="l" rtl="0">
              <a:lnSpc>
                <a:spcPct val="90000"/>
              </a:lnSpc>
              <a:spcBef>
                <a:spcPts val="1000"/>
              </a:spcBef>
              <a:spcAft>
                <a:spcPts val="0"/>
              </a:spcAft>
              <a:buClr>
                <a:schemeClr val="dk1"/>
              </a:buClr>
              <a:buSzPct val="100000"/>
              <a:buChar char="•"/>
            </a:pPr>
            <a:r>
              <a:rPr lang="es-CO" dirty="0"/>
              <a:t>VIH NEGATIVO</a:t>
            </a:r>
            <a:endParaRPr dirty="0"/>
          </a:p>
          <a:p>
            <a:pPr marL="0" lvl="0" indent="0" algn="l" rtl="0">
              <a:lnSpc>
                <a:spcPct val="90000"/>
              </a:lnSpc>
              <a:spcBef>
                <a:spcPts val="1000"/>
              </a:spcBef>
              <a:spcAft>
                <a:spcPts val="0"/>
              </a:spcAft>
              <a:buClr>
                <a:schemeClr val="dk1"/>
              </a:buClr>
              <a:buSzPct val="100000"/>
              <a:buNone/>
            </a:pPr>
            <a:r>
              <a:rPr lang="es-CO" b="1" dirty="0"/>
              <a:t>20/01/2026</a:t>
            </a:r>
            <a:r>
              <a:rPr lang="es-CO" dirty="0"/>
              <a:t> </a:t>
            </a:r>
            <a:r>
              <a:rPr lang="es-CO" dirty="0" err="1"/>
              <a:t>CTOG</a:t>
            </a:r>
            <a:r>
              <a:rPr lang="es-CO" dirty="0"/>
              <a:t>: 80 / 167 / 95 CARGA DE 75. PRUEBA </a:t>
            </a:r>
            <a:r>
              <a:rPr lang="es-CO" dirty="0" err="1"/>
              <a:t>TREPONEMICA</a:t>
            </a:r>
            <a:r>
              <a:rPr lang="es-CO" dirty="0"/>
              <a:t> </a:t>
            </a:r>
            <a:r>
              <a:rPr lang="es-CO" dirty="0" err="1"/>
              <a:t>RAPIDA</a:t>
            </a:r>
            <a:r>
              <a:rPr lang="es-CO" dirty="0"/>
              <a:t> NEGATIVA.</a:t>
            </a:r>
            <a:endParaRPr dirty="0"/>
          </a:p>
        </p:txBody>
      </p:sp>
      <p:sp>
        <p:nvSpPr>
          <p:cNvPr id="217" name="Google Shape;217;g3961b1f3ed6_0_56"/>
          <p:cNvSpPr txBox="1"/>
          <p:nvPr/>
        </p:nvSpPr>
        <p:spPr>
          <a:xfrm>
            <a:off x="415600" y="2390073"/>
            <a:ext cx="11360700" cy="4213200"/>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fontScale="90000"/>
          </a:bodyPr>
          <a:lstStyle/>
          <a:p>
            <a:pPr marL="0" lvl="0" indent="0" algn="ctr" rtl="0">
              <a:lnSpc>
                <a:spcPct val="90000"/>
              </a:lnSpc>
              <a:spcBef>
                <a:spcPts val="0"/>
              </a:spcBef>
              <a:spcAft>
                <a:spcPts val="0"/>
              </a:spcAft>
              <a:buClr>
                <a:schemeClr val="dk1"/>
              </a:buClr>
              <a:buSzPct val="100000"/>
              <a:buFont typeface="Arial"/>
              <a:buNone/>
            </a:pPr>
            <a:r>
              <a:rPr lang="es-CO">
                <a:latin typeface="Arial"/>
                <a:ea typeface="Arial"/>
                <a:cs typeface="Arial"/>
                <a:sym typeface="Arial"/>
              </a:rPr>
              <a:t>CONSULTA  EXTERNA-MEDICINA GENERAL(17/10/2025)</a:t>
            </a:r>
            <a:endParaRPr b="1"/>
          </a:p>
        </p:txBody>
      </p:sp>
      <p:sp>
        <p:nvSpPr>
          <p:cNvPr id="223" name="Google Shape;223;p3"/>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s-CO" b="1">
                <a:latin typeface="Arial"/>
                <a:ea typeface="Arial"/>
                <a:cs typeface="Arial"/>
                <a:sym typeface="Arial"/>
              </a:rPr>
              <a:t>MOTIVO DE CONSULTA:</a:t>
            </a:r>
            <a:endParaRPr/>
          </a:p>
          <a:p>
            <a:pPr marL="228594" lvl="0" indent="-215259" algn="l" rtl="0">
              <a:lnSpc>
                <a:spcPct val="90000"/>
              </a:lnSpc>
              <a:spcBef>
                <a:spcPts val="1000"/>
              </a:spcBef>
              <a:spcAft>
                <a:spcPts val="0"/>
              </a:spcAft>
              <a:buClr>
                <a:schemeClr val="dk1"/>
              </a:buClr>
              <a:buSzPct val="100000"/>
              <a:buChar char="•"/>
            </a:pPr>
            <a:r>
              <a:rPr lang="es-CO">
                <a:latin typeface="Arial"/>
                <a:ea typeface="Arial"/>
                <a:cs typeface="Arial"/>
                <a:sym typeface="Arial"/>
              </a:rPr>
              <a:t>CONTROL PRENATAL # 1.</a:t>
            </a:r>
            <a:endParaRPr/>
          </a:p>
          <a:p>
            <a:pPr marL="228594" lvl="0" indent="-215259" algn="l" rtl="0">
              <a:lnSpc>
                <a:spcPct val="90000"/>
              </a:lnSpc>
              <a:spcBef>
                <a:spcPts val="1000"/>
              </a:spcBef>
              <a:spcAft>
                <a:spcPts val="0"/>
              </a:spcAft>
              <a:buClr>
                <a:schemeClr val="dk1"/>
              </a:buClr>
              <a:buSzPct val="100000"/>
              <a:buChar char="•"/>
            </a:pPr>
            <a:r>
              <a:rPr lang="es-CO">
                <a:latin typeface="Arial"/>
                <a:ea typeface="Arial"/>
                <a:cs typeface="Arial"/>
                <a:sym typeface="Arial"/>
              </a:rPr>
              <a:t>G2A1</a:t>
            </a:r>
            <a:endParaRPr/>
          </a:p>
          <a:p>
            <a:pPr marL="228594" lvl="0" indent="-215259" algn="l" rtl="0">
              <a:lnSpc>
                <a:spcPct val="90000"/>
              </a:lnSpc>
              <a:spcBef>
                <a:spcPts val="1000"/>
              </a:spcBef>
              <a:spcAft>
                <a:spcPts val="0"/>
              </a:spcAft>
              <a:buClr>
                <a:schemeClr val="dk1"/>
              </a:buClr>
              <a:buSzPct val="100000"/>
              <a:buChar char="•"/>
            </a:pPr>
            <a:r>
              <a:rPr lang="es-CO">
                <a:latin typeface="Arial"/>
                <a:ea typeface="Arial"/>
                <a:cs typeface="Arial"/>
                <a:sym typeface="Arial"/>
              </a:rPr>
              <a:t>FUM: 21/ JUNIO /2025</a:t>
            </a:r>
            <a:endParaRPr/>
          </a:p>
          <a:p>
            <a:pPr marL="228594" lvl="0" indent="-215259" algn="l" rtl="0">
              <a:lnSpc>
                <a:spcPct val="90000"/>
              </a:lnSpc>
              <a:spcBef>
                <a:spcPts val="1000"/>
              </a:spcBef>
              <a:spcAft>
                <a:spcPts val="0"/>
              </a:spcAft>
              <a:buClr>
                <a:schemeClr val="dk1"/>
              </a:buClr>
              <a:buSzPct val="100000"/>
              <a:buChar char="•"/>
            </a:pPr>
            <a:r>
              <a:rPr lang="es-CO">
                <a:latin typeface="Arial"/>
                <a:ea typeface="Arial"/>
                <a:cs typeface="Arial"/>
                <a:sym typeface="Arial"/>
              </a:rPr>
              <a:t>ACOMPAÑANTE : JEISON GONZALEZ PAREJA</a:t>
            </a:r>
            <a:endParaRPr/>
          </a:p>
          <a:p>
            <a:pPr marL="0" lvl="0" indent="0" algn="l" rtl="0">
              <a:lnSpc>
                <a:spcPct val="90000"/>
              </a:lnSpc>
              <a:spcBef>
                <a:spcPts val="1000"/>
              </a:spcBef>
              <a:spcAft>
                <a:spcPts val="0"/>
              </a:spcAft>
              <a:buClr>
                <a:schemeClr val="dk1"/>
              </a:buClr>
              <a:buSzPct val="100000"/>
              <a:buNone/>
            </a:pPr>
            <a:r>
              <a:rPr lang="es-CO" b="1"/>
              <a:t>ENFERMEDAD ACTUAL :</a:t>
            </a:r>
            <a:endParaRPr/>
          </a:p>
          <a:p>
            <a:pPr marL="0" lvl="0" indent="0" algn="just" rtl="0">
              <a:lnSpc>
                <a:spcPct val="90000"/>
              </a:lnSpc>
              <a:spcBef>
                <a:spcPts val="1000"/>
              </a:spcBef>
              <a:spcAft>
                <a:spcPts val="0"/>
              </a:spcAft>
              <a:buClr>
                <a:schemeClr val="dk1"/>
              </a:buClr>
              <a:buSzPct val="100000"/>
              <a:buNone/>
            </a:pPr>
            <a:endParaRPr>
              <a:latin typeface="Arial"/>
              <a:ea typeface="Arial"/>
              <a:cs typeface="Arial"/>
              <a:sym typeface="Arial"/>
            </a:endParaRPr>
          </a:p>
          <a:p>
            <a:pPr marL="0" lvl="0" indent="0" algn="just" rtl="0">
              <a:lnSpc>
                <a:spcPct val="90000"/>
              </a:lnSpc>
              <a:spcBef>
                <a:spcPts val="1000"/>
              </a:spcBef>
              <a:spcAft>
                <a:spcPts val="0"/>
              </a:spcAft>
              <a:buClr>
                <a:schemeClr val="dk1"/>
              </a:buClr>
              <a:buSzPct val="100000"/>
              <a:buNone/>
            </a:pPr>
            <a:r>
              <a:rPr lang="es-CO">
                <a:latin typeface="Arial"/>
                <a:ea typeface="Arial"/>
                <a:cs typeface="Arial"/>
                <a:sym typeface="Arial"/>
              </a:rPr>
              <a:t>PACIENTE DE 22 AÑOS CON EMBARAZO DE 14+1 SEM POR ECOGRAFÍA DE TAMIZAJE ( DR REYES ) QUIEN ACUDE A SU PRIMER CONTROL PRENATAL, PACIENTE REFIERE BUENA TOLERANCIA DE MICRONUTRIENTES GESTAVIT, NIEGA PÉRDIDAS VAGINALES NIEGA OTRA SINTOMATOLOGÍA ASOCIADO.INGRESO A URGENCIAS / HOSPITALIZACION : NIEGA</a:t>
            </a:r>
            <a:endParaRPr/>
          </a:p>
          <a:p>
            <a:pPr marL="228594" lvl="0" indent="-77464" algn="l" rtl="0">
              <a:lnSpc>
                <a:spcPct val="90000"/>
              </a:lnSpc>
              <a:spcBef>
                <a:spcPts val="1000"/>
              </a:spcBef>
              <a:spcAft>
                <a:spcPts val="0"/>
              </a:spcAft>
              <a:buClr>
                <a:schemeClr val="dk1"/>
              </a:buClr>
              <a:buSzPct val="100000"/>
              <a:buNone/>
            </a:pPr>
            <a:endParaRPr/>
          </a:p>
        </p:txBody>
      </p:sp>
      <p:sp>
        <p:nvSpPr>
          <p:cNvPr id="224" name="Google Shape;224;p3"/>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EXAMEN FÍSICO </a:t>
            </a:r>
            <a:r>
              <a:rPr lang="es-CO">
                <a:latin typeface="Arial"/>
                <a:ea typeface="Arial"/>
                <a:cs typeface="Arial"/>
                <a:sym typeface="Arial"/>
              </a:rPr>
              <a:t>(17/10/2025)</a:t>
            </a:r>
            <a:endParaRPr b="1"/>
          </a:p>
        </p:txBody>
      </p:sp>
      <p:sp>
        <p:nvSpPr>
          <p:cNvPr id="230" name="Google Shape;230;p4"/>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fontScale="70000" lnSpcReduction="20000"/>
          </a:bodyPr>
          <a:lstStyle/>
          <a:p>
            <a:pPr marL="228594" lvl="0" indent="-205734" algn="just" rtl="0">
              <a:lnSpc>
                <a:spcPct val="90000"/>
              </a:lnSpc>
              <a:spcBef>
                <a:spcPts val="0"/>
              </a:spcBef>
              <a:spcAft>
                <a:spcPts val="0"/>
              </a:spcAft>
              <a:buClr>
                <a:schemeClr val="dk1"/>
              </a:buClr>
              <a:buSzPct val="100000"/>
              <a:buChar char="•"/>
            </a:pPr>
            <a:r>
              <a:rPr lang="es-CO" sz="2400" b="1">
                <a:latin typeface="Arial"/>
                <a:ea typeface="Arial"/>
                <a:cs typeface="Arial"/>
                <a:sym typeface="Arial"/>
              </a:rPr>
              <a:t>TAS: </a:t>
            </a:r>
            <a:r>
              <a:rPr lang="es-CO" sz="2400">
                <a:latin typeface="Arial"/>
                <a:ea typeface="Arial"/>
                <a:cs typeface="Arial"/>
                <a:sym typeface="Arial"/>
              </a:rPr>
              <a:t>100 </a:t>
            </a:r>
            <a:r>
              <a:rPr lang="es-CO" sz="2400" b="1">
                <a:latin typeface="Arial"/>
                <a:ea typeface="Arial"/>
                <a:cs typeface="Arial"/>
                <a:sym typeface="Arial"/>
              </a:rPr>
              <a:t>TAD: </a:t>
            </a:r>
            <a:r>
              <a:rPr lang="es-CO" sz="2400">
                <a:latin typeface="Arial"/>
                <a:ea typeface="Arial"/>
                <a:cs typeface="Arial"/>
                <a:sym typeface="Arial"/>
              </a:rPr>
              <a:t>60 </a:t>
            </a:r>
            <a:r>
              <a:rPr lang="es-CO" sz="2400" b="1">
                <a:latin typeface="Arial"/>
                <a:ea typeface="Arial"/>
                <a:cs typeface="Arial"/>
                <a:sym typeface="Arial"/>
              </a:rPr>
              <a:t>TAM: </a:t>
            </a:r>
            <a:r>
              <a:rPr lang="es-CO" sz="2400">
                <a:latin typeface="Arial"/>
                <a:ea typeface="Arial"/>
                <a:cs typeface="Arial"/>
                <a:sym typeface="Arial"/>
              </a:rPr>
              <a:t>73 </a:t>
            </a:r>
            <a:r>
              <a:rPr lang="es-CO" sz="2400" b="1">
                <a:latin typeface="Arial"/>
                <a:ea typeface="Arial"/>
                <a:cs typeface="Arial"/>
                <a:sym typeface="Arial"/>
              </a:rPr>
              <a:t>F.C.: </a:t>
            </a:r>
            <a:r>
              <a:rPr lang="es-CO" sz="2400">
                <a:latin typeface="Arial"/>
                <a:ea typeface="Arial"/>
                <a:cs typeface="Arial"/>
                <a:sym typeface="Arial"/>
              </a:rPr>
              <a:t>85 </a:t>
            </a:r>
            <a:r>
              <a:rPr lang="es-CO" sz="2400" b="1">
                <a:latin typeface="Arial"/>
                <a:ea typeface="Arial"/>
                <a:cs typeface="Arial"/>
                <a:sym typeface="Arial"/>
              </a:rPr>
              <a:t>F.R.: </a:t>
            </a:r>
            <a:r>
              <a:rPr lang="es-CO" sz="2400">
                <a:latin typeface="Arial"/>
                <a:ea typeface="Arial"/>
                <a:cs typeface="Arial"/>
                <a:sym typeface="Arial"/>
              </a:rPr>
              <a:t>18, </a:t>
            </a:r>
            <a:r>
              <a:rPr lang="es-CO" sz="2400" b="1">
                <a:latin typeface="Arial"/>
                <a:ea typeface="Arial"/>
                <a:cs typeface="Arial"/>
                <a:sym typeface="Arial"/>
              </a:rPr>
              <a:t>T°: </a:t>
            </a:r>
            <a:r>
              <a:rPr lang="es-CO" sz="2400">
                <a:latin typeface="Arial"/>
                <a:ea typeface="Arial"/>
                <a:cs typeface="Arial"/>
                <a:sym typeface="Arial"/>
              </a:rPr>
              <a:t>37 </a:t>
            </a:r>
            <a:r>
              <a:rPr lang="es-CO" sz="2400" b="1">
                <a:latin typeface="Arial"/>
                <a:ea typeface="Arial"/>
                <a:cs typeface="Arial"/>
                <a:sym typeface="Arial"/>
              </a:rPr>
              <a:t>SO2: </a:t>
            </a:r>
            <a:r>
              <a:rPr lang="es-CO" sz="2400">
                <a:latin typeface="Arial"/>
                <a:ea typeface="Arial"/>
                <a:cs typeface="Arial"/>
                <a:sym typeface="Arial"/>
              </a:rPr>
              <a:t>95 </a:t>
            </a:r>
            <a:r>
              <a:rPr lang="es-CO" sz="2400" b="1">
                <a:latin typeface="Arial"/>
                <a:ea typeface="Arial"/>
                <a:cs typeface="Arial"/>
                <a:sym typeface="Arial"/>
              </a:rPr>
              <a:t>PERFUSION: </a:t>
            </a:r>
            <a:r>
              <a:rPr lang="es-CO" sz="2400">
                <a:latin typeface="Arial"/>
                <a:ea typeface="Arial"/>
                <a:cs typeface="Arial"/>
                <a:sym typeface="Arial"/>
              </a:rPr>
              <a:t>&lt;2 </a:t>
            </a:r>
            <a:r>
              <a:rPr lang="es-CO" sz="2400" b="1">
                <a:latin typeface="Arial"/>
                <a:ea typeface="Arial"/>
                <a:cs typeface="Arial"/>
                <a:sym typeface="Arial"/>
              </a:rPr>
              <a:t>CONCIENCIA: </a:t>
            </a:r>
            <a:r>
              <a:rPr lang="es-CO" sz="2400">
                <a:latin typeface="Arial"/>
                <a:ea typeface="Arial"/>
                <a:cs typeface="Arial"/>
                <a:sym typeface="Arial"/>
              </a:rPr>
              <a:t>Alerta </a:t>
            </a:r>
            <a:r>
              <a:rPr lang="es-CO" sz="2400" b="1">
                <a:latin typeface="Arial"/>
                <a:ea typeface="Arial"/>
                <a:cs typeface="Arial"/>
                <a:sym typeface="Arial"/>
              </a:rPr>
              <a:t>APERTURA OCULAR: </a:t>
            </a:r>
            <a:r>
              <a:rPr lang="es-CO" sz="2400">
                <a:latin typeface="Arial"/>
                <a:ea typeface="Arial"/>
                <a:cs typeface="Arial"/>
                <a:sym typeface="Arial"/>
              </a:rPr>
              <a:t>Espontánea </a:t>
            </a:r>
            <a:r>
              <a:rPr lang="es-CO" sz="2400" b="1">
                <a:latin typeface="Arial"/>
                <a:ea typeface="Arial"/>
                <a:cs typeface="Arial"/>
                <a:sym typeface="Arial"/>
              </a:rPr>
              <a:t>RESPUESTA VERBAL: </a:t>
            </a:r>
            <a:r>
              <a:rPr lang="es-CO" sz="2400">
                <a:latin typeface="Arial"/>
                <a:ea typeface="Arial"/>
                <a:cs typeface="Arial"/>
                <a:sym typeface="Arial"/>
              </a:rPr>
              <a:t>Orientación </a:t>
            </a:r>
            <a:r>
              <a:rPr lang="es-CO" sz="2400" b="1">
                <a:latin typeface="Arial"/>
                <a:ea typeface="Arial"/>
                <a:cs typeface="Arial"/>
                <a:sym typeface="Arial"/>
              </a:rPr>
              <a:t>RESPUESTA MOTORA: </a:t>
            </a:r>
            <a:r>
              <a:rPr lang="es-CO" sz="2400">
                <a:latin typeface="Arial"/>
                <a:ea typeface="Arial"/>
                <a:cs typeface="Arial"/>
                <a:sym typeface="Arial"/>
              </a:rPr>
              <a:t>Obedece Ordenes </a:t>
            </a:r>
            <a:r>
              <a:rPr lang="es-CO" sz="2400" b="1">
                <a:latin typeface="Arial"/>
                <a:ea typeface="Arial"/>
                <a:cs typeface="Arial"/>
                <a:sym typeface="Arial"/>
              </a:rPr>
              <a:t>GLASGOW: </a:t>
            </a:r>
            <a:r>
              <a:rPr lang="es-CO" sz="2400">
                <a:latin typeface="Arial"/>
                <a:ea typeface="Arial"/>
                <a:cs typeface="Arial"/>
                <a:sym typeface="Arial"/>
              </a:rPr>
              <a:t>15 </a:t>
            </a:r>
            <a:r>
              <a:rPr lang="es-CO" sz="2400" b="1">
                <a:latin typeface="Arial"/>
                <a:ea typeface="Arial"/>
                <a:cs typeface="Arial"/>
                <a:sym typeface="Arial"/>
              </a:rPr>
              <a:t>PESO: </a:t>
            </a:r>
            <a:r>
              <a:rPr lang="es-CO" sz="2400">
                <a:latin typeface="Arial"/>
                <a:ea typeface="Arial"/>
                <a:cs typeface="Arial"/>
                <a:sym typeface="Arial"/>
              </a:rPr>
              <a:t>72,00 </a:t>
            </a:r>
            <a:r>
              <a:rPr lang="es-CO" sz="2400" b="1">
                <a:latin typeface="Arial"/>
                <a:ea typeface="Arial"/>
                <a:cs typeface="Arial"/>
                <a:sym typeface="Arial"/>
              </a:rPr>
              <a:t>TALLA: </a:t>
            </a:r>
            <a:r>
              <a:rPr lang="es-CO" sz="2400">
                <a:latin typeface="Arial"/>
                <a:ea typeface="Arial"/>
                <a:cs typeface="Arial"/>
                <a:sym typeface="Arial"/>
              </a:rPr>
              <a:t>1,55 </a:t>
            </a:r>
            <a:r>
              <a:rPr lang="es-CO" sz="2400" b="1">
                <a:latin typeface="Arial"/>
                <a:ea typeface="Arial"/>
                <a:cs typeface="Arial"/>
                <a:sym typeface="Arial"/>
              </a:rPr>
              <a:t>I.M.C.: </a:t>
            </a:r>
            <a:r>
              <a:rPr lang="es-CO" sz="2400">
                <a:latin typeface="Arial"/>
                <a:ea typeface="Arial"/>
                <a:cs typeface="Arial"/>
                <a:sym typeface="Arial"/>
              </a:rPr>
              <a:t>29,97</a:t>
            </a:r>
            <a:endParaRPr/>
          </a:p>
          <a:p>
            <a:pPr marL="228594" lvl="0" indent="-110483" algn="just" rtl="0">
              <a:lnSpc>
                <a:spcPct val="90000"/>
              </a:lnSpc>
              <a:spcBef>
                <a:spcPts val="1000"/>
              </a:spcBef>
              <a:spcAft>
                <a:spcPts val="0"/>
              </a:spcAft>
              <a:buClr>
                <a:schemeClr val="dk1"/>
              </a:buClr>
              <a:buSzPct val="100000"/>
              <a:buNone/>
            </a:pPr>
            <a:endParaRPr sz="2400">
              <a:latin typeface="Arial"/>
              <a:ea typeface="Arial"/>
              <a:cs typeface="Arial"/>
              <a:sym typeface="Arial"/>
            </a:endParaRPr>
          </a:p>
          <a:p>
            <a:pPr marL="228594" lvl="0" indent="-201923" algn="just" rtl="0">
              <a:lnSpc>
                <a:spcPct val="90000"/>
              </a:lnSpc>
              <a:spcBef>
                <a:spcPts val="1000"/>
              </a:spcBef>
              <a:spcAft>
                <a:spcPts val="0"/>
              </a:spcAft>
              <a:buClr>
                <a:schemeClr val="dk1"/>
              </a:buClr>
              <a:buSzPct val="100000"/>
              <a:buChar char="•"/>
            </a:pPr>
            <a:r>
              <a:rPr lang="es-CO" b="1"/>
              <a:t>ASPECTO GENERAL: </a:t>
            </a:r>
            <a:r>
              <a:rPr lang="es-CO"/>
              <a:t>PACIENTE EN BUEN ESTADO GENERAL INGRESA CAMINANDO POR SUS PROPIOS MEDIOS</a:t>
            </a:r>
            <a:endParaRPr/>
          </a:p>
          <a:p>
            <a:pPr marL="228594" lvl="0" indent="-201923" algn="just" rtl="0">
              <a:lnSpc>
                <a:spcPct val="90000"/>
              </a:lnSpc>
              <a:spcBef>
                <a:spcPts val="1000"/>
              </a:spcBef>
              <a:spcAft>
                <a:spcPts val="0"/>
              </a:spcAft>
              <a:buClr>
                <a:schemeClr val="dk1"/>
              </a:buClr>
              <a:buSzPct val="100000"/>
              <a:buChar char="•"/>
            </a:pPr>
            <a:r>
              <a:rPr lang="es-CO" b="1"/>
              <a:t>CABEZA Y CUELLO </a:t>
            </a:r>
            <a:r>
              <a:rPr lang="es-CO"/>
              <a:t>CONJUNTIVA NORMOCRÓMICA ESCLERA ANICTÉRICA MUCOSA ORAL HÚMEDA, CUELLO</a:t>
            </a:r>
            <a:endParaRPr/>
          </a:p>
          <a:p>
            <a:pPr marL="228594" lvl="0" indent="-201923" algn="just" rtl="0">
              <a:lnSpc>
                <a:spcPct val="90000"/>
              </a:lnSpc>
              <a:spcBef>
                <a:spcPts val="1000"/>
              </a:spcBef>
              <a:spcAft>
                <a:spcPts val="0"/>
              </a:spcAft>
              <a:buClr>
                <a:schemeClr val="dk1"/>
              </a:buClr>
              <a:buSzPct val="100000"/>
              <a:buChar char="•"/>
            </a:pPr>
            <a:r>
              <a:rPr lang="es-CO"/>
              <a:t>MÓVIL SIN MASAS SIN ADENOPATÍAS , MUCOSA ORAL HÚMEDA</a:t>
            </a:r>
            <a:endParaRPr/>
          </a:p>
          <a:p>
            <a:pPr marL="228594" lvl="0" indent="-201923" algn="just" rtl="0">
              <a:lnSpc>
                <a:spcPct val="90000"/>
              </a:lnSpc>
              <a:spcBef>
                <a:spcPts val="1000"/>
              </a:spcBef>
              <a:spcAft>
                <a:spcPts val="0"/>
              </a:spcAft>
              <a:buClr>
                <a:schemeClr val="dk1"/>
              </a:buClr>
              <a:buSzPct val="100000"/>
              <a:buChar char="•"/>
            </a:pPr>
            <a:r>
              <a:rPr lang="es-CO" b="1"/>
              <a:t>CARDIOPULMONAR: </a:t>
            </a:r>
            <a:r>
              <a:rPr lang="es-CO"/>
              <a:t>RUIDOS CARDIACOS RÍTMICOS NO MASAS NO MEGALIAS, RUIDOS RESPIRATORIOS SIN AGREGADOS, NO PRESENTA SIGNOS DE DIFICULTAD RESPIRATORIA</a:t>
            </a:r>
            <a:endParaRPr/>
          </a:p>
          <a:p>
            <a:pPr marL="228594" lvl="0" indent="-201923" algn="just" rtl="0">
              <a:lnSpc>
                <a:spcPct val="90000"/>
              </a:lnSpc>
              <a:spcBef>
                <a:spcPts val="1000"/>
              </a:spcBef>
              <a:spcAft>
                <a:spcPts val="0"/>
              </a:spcAft>
              <a:buClr>
                <a:schemeClr val="dk1"/>
              </a:buClr>
              <a:buSzPct val="100000"/>
              <a:buChar char="•"/>
            </a:pPr>
            <a:r>
              <a:rPr lang="es-CO" b="1"/>
              <a:t>ABDOMEN: </a:t>
            </a:r>
            <a:r>
              <a:rPr lang="es-CO"/>
              <a:t>BLANDO DEPRESIBLE NO DOLOR A LA PALPACIÓN SUPERFICIAL NI PROFUNDA, NO SE</a:t>
            </a:r>
            <a:endParaRPr/>
          </a:p>
          <a:p>
            <a:pPr marL="228594" lvl="0" indent="-201923" algn="just" rtl="0">
              <a:lnSpc>
                <a:spcPct val="90000"/>
              </a:lnSpc>
              <a:spcBef>
                <a:spcPts val="1000"/>
              </a:spcBef>
              <a:spcAft>
                <a:spcPts val="0"/>
              </a:spcAft>
              <a:buClr>
                <a:schemeClr val="dk1"/>
              </a:buClr>
              <a:buSzPct val="100000"/>
              <a:buChar char="•"/>
            </a:pPr>
            <a:r>
              <a:rPr lang="es-CO"/>
              <a:t>PALPAN VISCEROMEGALIAS, ÚTERO NO PALPABLE POR EDAD GESTACIONAL</a:t>
            </a:r>
            <a:endParaRPr/>
          </a:p>
          <a:p>
            <a:pPr marL="228594" lvl="0" indent="-90798" algn="just" rtl="0">
              <a:lnSpc>
                <a:spcPct val="90000"/>
              </a:lnSpc>
              <a:spcBef>
                <a:spcPts val="1000"/>
              </a:spcBef>
              <a:spcAft>
                <a:spcPts val="0"/>
              </a:spcAft>
              <a:buClr>
                <a:schemeClr val="dk1"/>
              </a:buClr>
              <a:buSzPct val="100000"/>
              <a:buNone/>
            </a:pPr>
            <a:endParaRPr/>
          </a:p>
          <a:p>
            <a:pPr marL="228594" lvl="0" indent="-90798" algn="just" rtl="0">
              <a:lnSpc>
                <a:spcPct val="90000"/>
              </a:lnSpc>
              <a:spcBef>
                <a:spcPts val="1000"/>
              </a:spcBef>
              <a:spcAft>
                <a:spcPts val="0"/>
              </a:spcAft>
              <a:buClr>
                <a:schemeClr val="dk1"/>
              </a:buClr>
              <a:buSzPct val="100000"/>
              <a:buNone/>
            </a:pPr>
            <a:endParaRPr/>
          </a:p>
        </p:txBody>
      </p:sp>
      <p:sp>
        <p:nvSpPr>
          <p:cNvPr id="231" name="Google Shape;231;p4"/>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CO" b="1"/>
              <a:t>EXAMEN FÍSICO </a:t>
            </a:r>
            <a:r>
              <a:rPr lang="es-CO">
                <a:latin typeface="Arial"/>
                <a:ea typeface="Arial"/>
                <a:cs typeface="Arial"/>
                <a:sym typeface="Arial"/>
              </a:rPr>
              <a:t>(17/10/2025)</a:t>
            </a:r>
            <a:endParaRPr b="1"/>
          </a:p>
          <a:p>
            <a:pPr marL="0" lvl="0" indent="0" algn="l" rtl="0">
              <a:lnSpc>
                <a:spcPct val="90000"/>
              </a:lnSpc>
              <a:spcBef>
                <a:spcPts val="0"/>
              </a:spcBef>
              <a:spcAft>
                <a:spcPts val="0"/>
              </a:spcAft>
              <a:buClr>
                <a:schemeClr val="dk1"/>
              </a:buClr>
              <a:buSzPts val="4400"/>
              <a:buFont typeface="Calibri"/>
              <a:buNone/>
            </a:pPr>
            <a:endParaRPr/>
          </a:p>
        </p:txBody>
      </p:sp>
      <p:sp>
        <p:nvSpPr>
          <p:cNvPr id="237" name="Google Shape;237;p5"/>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ts val="2800"/>
              <a:buChar char="•"/>
            </a:pPr>
            <a:r>
              <a:rPr lang="es-CO" b="1"/>
              <a:t>GENITOURINARIO: </a:t>
            </a:r>
            <a:r>
              <a:rPr lang="es-CO"/>
              <a:t>SE DIFIERE</a:t>
            </a:r>
            <a:endParaRPr/>
          </a:p>
          <a:p>
            <a:pPr marL="228594" lvl="0" indent="-228594" algn="just" rtl="0">
              <a:lnSpc>
                <a:spcPct val="90000"/>
              </a:lnSpc>
              <a:spcBef>
                <a:spcPts val="1000"/>
              </a:spcBef>
              <a:spcAft>
                <a:spcPts val="0"/>
              </a:spcAft>
              <a:buClr>
                <a:schemeClr val="dk1"/>
              </a:buClr>
              <a:buSzPts val="2800"/>
              <a:buChar char="•"/>
            </a:pPr>
            <a:r>
              <a:rPr lang="es-CO" b="1"/>
              <a:t>EXTREMIDADES: </a:t>
            </a:r>
            <a:r>
              <a:rPr lang="es-CO"/>
              <a:t>MÓVILES SIMÉTRICAS ADECUADA PERFUSIÓN DISTAL NO SE EVIDENCIAN EDEMAS</a:t>
            </a:r>
            <a:endParaRPr/>
          </a:p>
          <a:p>
            <a:pPr marL="228594" lvl="0" indent="-228594" algn="just" rtl="0">
              <a:lnSpc>
                <a:spcPct val="90000"/>
              </a:lnSpc>
              <a:spcBef>
                <a:spcPts val="1000"/>
              </a:spcBef>
              <a:spcAft>
                <a:spcPts val="0"/>
              </a:spcAft>
              <a:buClr>
                <a:schemeClr val="dk1"/>
              </a:buClr>
              <a:buSzPts val="2800"/>
              <a:buChar char="•"/>
            </a:pPr>
            <a:r>
              <a:rPr lang="es-CO" b="1"/>
              <a:t>NEUROLOGICO: </a:t>
            </a:r>
            <a:r>
              <a:rPr lang="es-CO"/>
              <a:t>PACIENTE CONSCIENTE ALERTA ORIENTADA FUERZA Y SENSIBILIDAD CONSERVADAS,</a:t>
            </a:r>
            <a:endParaRPr/>
          </a:p>
          <a:p>
            <a:pPr marL="228594" lvl="0" indent="-228594" algn="just" rtl="0">
              <a:lnSpc>
                <a:spcPct val="90000"/>
              </a:lnSpc>
              <a:spcBef>
                <a:spcPts val="1000"/>
              </a:spcBef>
              <a:spcAft>
                <a:spcPts val="0"/>
              </a:spcAft>
              <a:buClr>
                <a:schemeClr val="dk1"/>
              </a:buClr>
              <a:buSzPts val="2800"/>
              <a:buChar char="•"/>
            </a:pPr>
            <a:r>
              <a:rPr lang="es-CO"/>
              <a:t>NO DÉFICIT MOTOR NI SENSITIVO APARENTE</a:t>
            </a:r>
            <a:endParaRPr/>
          </a:p>
          <a:p>
            <a:pPr marL="0" lvl="0" indent="0" algn="just" rtl="0">
              <a:lnSpc>
                <a:spcPct val="90000"/>
              </a:lnSpc>
              <a:spcBef>
                <a:spcPts val="1000"/>
              </a:spcBef>
              <a:spcAft>
                <a:spcPts val="0"/>
              </a:spcAft>
              <a:buClr>
                <a:schemeClr val="dk1"/>
              </a:buClr>
              <a:buSzPts val="2800"/>
              <a:buNone/>
            </a:pPr>
            <a:endParaRPr/>
          </a:p>
          <a:p>
            <a:pPr marL="228594" lvl="0" indent="-50793" algn="l" rtl="0">
              <a:lnSpc>
                <a:spcPct val="90000"/>
              </a:lnSpc>
              <a:spcBef>
                <a:spcPts val="1000"/>
              </a:spcBef>
              <a:spcAft>
                <a:spcPts val="0"/>
              </a:spcAft>
              <a:buClr>
                <a:schemeClr val="dk1"/>
              </a:buClr>
              <a:buSzPts val="2800"/>
              <a:buNone/>
            </a:pPr>
            <a:endParaRPr/>
          </a:p>
        </p:txBody>
      </p:sp>
      <p:sp>
        <p:nvSpPr>
          <p:cNvPr id="238" name="Google Shape;238;p5"/>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 ANALISIS </a:t>
            </a:r>
            <a:r>
              <a:rPr lang="es-CO">
                <a:latin typeface="Arial"/>
                <a:ea typeface="Arial"/>
                <a:cs typeface="Arial"/>
                <a:sym typeface="Arial"/>
              </a:rPr>
              <a:t>(17/10/2025)</a:t>
            </a:r>
            <a:endParaRPr b="1"/>
          </a:p>
        </p:txBody>
      </p:sp>
      <p:sp>
        <p:nvSpPr>
          <p:cNvPr id="244" name="Google Shape;244;p6"/>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ts val="2800"/>
              <a:buChar char="•"/>
            </a:pPr>
            <a:r>
              <a:rPr lang="es-CO" dirty="0"/>
              <a:t>PACIENTE DE 22 AÑOS </a:t>
            </a:r>
            <a:r>
              <a:rPr lang="es-CO" b="1" dirty="0"/>
              <a:t>G2A1 CON EMBARAZO 14+1 SEM </a:t>
            </a:r>
            <a:r>
              <a:rPr lang="es-CO" dirty="0"/>
              <a:t>POR EOCGRAFIA DE TAMIZAJE QUIEN ASISTE ACONTROL PRIMER CONTROL PRENATAL, EN EL MOMENTO EN BUENAS CONDICIONES GENERALES,ASINTOMÁTICA </a:t>
            </a:r>
            <a:r>
              <a:rPr lang="es-CO" b="1" dirty="0"/>
              <a:t>IMC .30 </a:t>
            </a:r>
            <a:r>
              <a:rPr lang="es-CO" dirty="0"/>
              <a:t>ESTABLE HEMODINÁMICAMENTE, AL EXAMEN FÍSICO DENTRO DE PARÁMETROS NORMALES, NORMOTENSA, NO TAQUICARDICA APORTA EXAMENES DE </a:t>
            </a:r>
            <a:r>
              <a:rPr lang="es-CO" b="1" dirty="0"/>
              <a:t>PRIMER TRIMESTRE INCOMPLETOS</a:t>
            </a:r>
            <a:r>
              <a:rPr lang="es-CO" dirty="0"/>
              <a:t>, </a:t>
            </a:r>
            <a:r>
              <a:rPr lang="es-CO" b="1" dirty="0"/>
              <a:t>NEGATIVO CON MEMORIA PARA RUBEOLA Y CITOMEGALOVIRUS</a:t>
            </a:r>
            <a:r>
              <a:rPr lang="es-CO" dirty="0"/>
              <a:t>, </a:t>
            </a:r>
            <a:r>
              <a:rPr lang="es-CO" b="1" dirty="0"/>
              <a:t>ECOGRAFIA DE TAMIZAJE DR REYES EDENTOR DE LIMITES NROMALES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ANALISIS </a:t>
            </a:r>
            <a:r>
              <a:rPr lang="es-CO">
                <a:latin typeface="Arial"/>
                <a:ea typeface="Arial"/>
                <a:cs typeface="Arial"/>
                <a:sym typeface="Arial"/>
              </a:rPr>
              <a:t>(17/10/2025)</a:t>
            </a:r>
            <a:endParaRPr/>
          </a:p>
        </p:txBody>
      </p:sp>
      <p:sp>
        <p:nvSpPr>
          <p:cNvPr id="251" name="Google Shape;251;p7"/>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lnSpcReduction="10000"/>
          </a:bodyPr>
          <a:lstStyle/>
          <a:p>
            <a:pPr marL="228594" lvl="0" indent="-228594" algn="just" rtl="0">
              <a:lnSpc>
                <a:spcPct val="90000"/>
              </a:lnSpc>
              <a:spcBef>
                <a:spcPts val="0"/>
              </a:spcBef>
              <a:spcAft>
                <a:spcPts val="0"/>
              </a:spcAft>
              <a:buClr>
                <a:schemeClr val="dk1"/>
              </a:buClr>
              <a:buSzPts val="2400"/>
              <a:buChar char="•"/>
            </a:pPr>
            <a:r>
              <a:rPr lang="es-CO" sz="2400" dirty="0">
                <a:latin typeface="Arial"/>
                <a:ea typeface="Arial"/>
                <a:cs typeface="Arial"/>
                <a:sym typeface="Arial"/>
              </a:rPr>
              <a:t>SE REALIZA EVALUACIÓN DEL RIESGO SE CONSIDERA EMBARAZO DE </a:t>
            </a:r>
            <a:r>
              <a:rPr lang="es-CO" sz="2400" b="1" dirty="0">
                <a:latin typeface="Arial"/>
                <a:ea typeface="Arial"/>
                <a:cs typeface="Arial"/>
                <a:sym typeface="Arial"/>
              </a:rPr>
              <a:t>ALTO RIESGO</a:t>
            </a:r>
            <a:r>
              <a:rPr lang="es-CO" sz="2400" dirty="0">
                <a:latin typeface="Arial"/>
                <a:ea typeface="Arial"/>
                <a:cs typeface="Arial"/>
                <a:sym typeface="Arial"/>
              </a:rPr>
              <a:t> POR : </a:t>
            </a:r>
            <a:r>
              <a:rPr lang="es-CO" sz="2400" b="1" dirty="0">
                <a:latin typeface="Arial"/>
                <a:ea typeface="Arial"/>
                <a:cs typeface="Arial"/>
                <a:sym typeface="Arial"/>
              </a:rPr>
              <a:t>NULIPARIDAD Y OBSIDAD IMC DE 30 , RIESGO INTERMEDIO DE PREECLAMSIA</a:t>
            </a:r>
            <a:r>
              <a:rPr lang="es-CO" sz="2400" dirty="0">
                <a:latin typeface="Arial"/>
                <a:ea typeface="Arial"/>
                <a:cs typeface="Arial"/>
                <a:sym typeface="Arial"/>
              </a:rPr>
              <a:t> POR LO QUE SE INCIA PREVENSION PRIMARIA CON </a:t>
            </a:r>
            <a:r>
              <a:rPr lang="es-CO" sz="2400" b="1" dirty="0">
                <a:latin typeface="Arial"/>
                <a:ea typeface="Arial"/>
                <a:cs typeface="Arial"/>
                <a:sym typeface="Arial"/>
              </a:rPr>
              <a:t>ASA 100 MG VO Y CALCIO 1200 MG VO,</a:t>
            </a:r>
            <a:r>
              <a:rPr lang="es-CO" sz="2400" dirty="0">
                <a:latin typeface="Arial"/>
                <a:ea typeface="Arial"/>
                <a:cs typeface="Arial"/>
                <a:sym typeface="Arial"/>
              </a:rPr>
              <a:t> SE S</a:t>
            </a:r>
            <a:r>
              <a:rPr lang="es-CO" sz="2400" b="1" dirty="0">
                <a:latin typeface="Arial"/>
                <a:ea typeface="Arial"/>
                <a:cs typeface="Arial"/>
                <a:sym typeface="Arial"/>
              </a:rPr>
              <a:t>OLICITAN EXAMANES PENDIENTES DE PRIMER TRIMESTRE, JUNTO EOCGRAFIA DE DETALLE + DOPPLER DE AU + CERVICOMETRIA</a:t>
            </a:r>
            <a:r>
              <a:rPr lang="es-CO" sz="2400" dirty="0">
                <a:latin typeface="Arial"/>
                <a:ea typeface="Arial"/>
                <a:cs typeface="Arial"/>
                <a:sym typeface="Arial"/>
              </a:rPr>
              <a:t>, CON POSTERIOR </a:t>
            </a:r>
            <a:r>
              <a:rPr lang="es-CO" sz="2400" b="1" dirty="0">
                <a:latin typeface="Arial"/>
                <a:ea typeface="Arial"/>
                <a:cs typeface="Arial"/>
                <a:sym typeface="Arial"/>
              </a:rPr>
              <a:t>CONTROL POR GINECOLIGIA,</a:t>
            </a:r>
            <a:r>
              <a:rPr lang="es-CO" sz="2400" dirty="0">
                <a:latin typeface="Arial"/>
                <a:ea typeface="Arial"/>
                <a:cs typeface="Arial"/>
                <a:sym typeface="Arial"/>
              </a:rPr>
              <a:t> SE SOLICITAN , VALORACIONES MULTIDISCIPLINARIAS,( ODONTOLOGIA, NUTRICION , PSICOLOGIA, ASESORÍA DE PLANIFICACIÓN FAMILIAR) SE FORMULAN MICRONUTRIENTES CORRESPONDIENTES A EDAD GESTACIONAL, ( CALCIO ) , SE CITA A CONTROL PRENATAL EN UN MES; SE DAN RECOMENDACIONES GENERALES Y SIGNOS DE ALARMA, SE EXPLICA A PACIENTE QUIEN ENTIENDE Y ACEPTA.</a:t>
            </a:r>
            <a:endParaRPr sz="2400" dirty="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800"/>
              <a:buFont typeface="Arial"/>
              <a:buNone/>
            </a:pPr>
            <a:r>
              <a:rPr lang="es-CO" sz="2800" b="1">
                <a:latin typeface="Arial"/>
                <a:ea typeface="Arial"/>
                <a:cs typeface="Arial"/>
                <a:sym typeface="Arial"/>
              </a:rPr>
              <a:t>CONSULTA EXTERNA – GINECOLOGIA Y OBSTETRICIA (04/11/2025)</a:t>
            </a:r>
            <a:endParaRPr/>
          </a:p>
        </p:txBody>
      </p:sp>
      <p:sp>
        <p:nvSpPr>
          <p:cNvPr id="258" name="Google Shape;258;p8"/>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l" rtl="0">
              <a:lnSpc>
                <a:spcPct val="90000"/>
              </a:lnSpc>
              <a:spcBef>
                <a:spcPts val="0"/>
              </a:spcBef>
              <a:spcAft>
                <a:spcPts val="0"/>
              </a:spcAft>
              <a:buClr>
                <a:schemeClr val="dk1"/>
              </a:buClr>
              <a:buSzPts val="2800"/>
              <a:buChar char="•"/>
            </a:pPr>
            <a:r>
              <a:rPr lang="es-CO" b="1"/>
              <a:t>MOTIVO DE CONSULTA</a:t>
            </a:r>
            <a:endParaRPr/>
          </a:p>
          <a:p>
            <a:pPr marL="228594" lvl="0" indent="-228594" algn="l" rtl="0">
              <a:lnSpc>
                <a:spcPct val="90000"/>
              </a:lnSpc>
              <a:spcBef>
                <a:spcPts val="1000"/>
              </a:spcBef>
              <a:spcAft>
                <a:spcPts val="0"/>
              </a:spcAft>
              <a:buClr>
                <a:schemeClr val="dk1"/>
              </a:buClr>
              <a:buSzPts val="2800"/>
              <a:buChar char="•"/>
            </a:pPr>
            <a:r>
              <a:rPr lang="es-CO"/>
              <a:t>CONTROL PRENATAL # 2</a:t>
            </a:r>
            <a:endParaRPr/>
          </a:p>
          <a:p>
            <a:pPr marL="228594" lvl="0" indent="-228594" algn="l" rtl="0">
              <a:lnSpc>
                <a:spcPct val="90000"/>
              </a:lnSpc>
              <a:spcBef>
                <a:spcPts val="1000"/>
              </a:spcBef>
              <a:spcAft>
                <a:spcPts val="0"/>
              </a:spcAft>
              <a:buClr>
                <a:schemeClr val="dk1"/>
              </a:buClr>
              <a:buSzPts val="2800"/>
              <a:buChar char="•"/>
            </a:pPr>
            <a:r>
              <a:rPr lang="es-CO" b="1"/>
              <a:t>ENFERMEDAD ACTUAL</a:t>
            </a:r>
            <a:endParaRPr/>
          </a:p>
          <a:p>
            <a:pPr marL="228594" lvl="0" indent="-228594" algn="just" rtl="0">
              <a:lnSpc>
                <a:spcPct val="90000"/>
              </a:lnSpc>
              <a:spcBef>
                <a:spcPts val="1000"/>
              </a:spcBef>
              <a:spcAft>
                <a:spcPts val="0"/>
              </a:spcAft>
              <a:buClr>
                <a:schemeClr val="dk1"/>
              </a:buClr>
              <a:buSzPts val="2800"/>
              <a:buChar char="•"/>
            </a:pPr>
            <a:r>
              <a:rPr lang="es-CO"/>
              <a:t>PACIENTE DE 22 AÑOS CON EMBARAZO DE 16+5 SEM QUIEN ACUDE A SU SEGUNDO CONTROL PRENATAL CON GIONECOLOGIA , PACIENTE REFIERE BUENA TOLERANCIA DE MICRONUTRIENTES GESTAVIT, NIEGA PÉRDIDAS VAGINALES NIEGA OTRA SINTOMATOLOGÍA ASOCIADO.INGRESO A URGENCIAS / HOSPITALIZACION : NIEGA</a:t>
            </a:r>
            <a:endParaRPr/>
          </a:p>
        </p:txBody>
      </p:sp>
      <p:sp>
        <p:nvSpPr>
          <p:cNvPr id="259" name="Google Shape;259;p8"/>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EXAMEN FÍSICO </a:t>
            </a:r>
            <a:r>
              <a:rPr lang="es-CO" b="1">
                <a:latin typeface="Arial"/>
                <a:ea typeface="Arial"/>
                <a:cs typeface="Arial"/>
                <a:sym typeface="Arial"/>
              </a:rPr>
              <a:t>(04/11/2025)</a:t>
            </a:r>
            <a:endParaRPr/>
          </a:p>
        </p:txBody>
      </p:sp>
      <p:sp>
        <p:nvSpPr>
          <p:cNvPr id="265" name="Google Shape;265;p9"/>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ts val="2800"/>
              <a:buChar char="•"/>
            </a:pPr>
            <a:r>
              <a:rPr lang="es-CO" b="1"/>
              <a:t>TAS: </a:t>
            </a:r>
            <a:r>
              <a:rPr lang="es-CO"/>
              <a:t>100 </a:t>
            </a:r>
            <a:r>
              <a:rPr lang="es-CO" b="1"/>
              <a:t>TAD: </a:t>
            </a:r>
            <a:r>
              <a:rPr lang="es-CO"/>
              <a:t>60 </a:t>
            </a:r>
            <a:r>
              <a:rPr lang="es-CO" b="1"/>
              <a:t>TAM: </a:t>
            </a:r>
            <a:r>
              <a:rPr lang="es-CO"/>
              <a:t>73 </a:t>
            </a:r>
            <a:r>
              <a:rPr lang="es-CO" b="1"/>
              <a:t>F.C.: </a:t>
            </a:r>
            <a:r>
              <a:rPr lang="es-CO"/>
              <a:t>77 </a:t>
            </a:r>
            <a:r>
              <a:rPr lang="es-CO" b="1"/>
              <a:t>F.R.: </a:t>
            </a:r>
            <a:r>
              <a:rPr lang="es-CO"/>
              <a:t>18 </a:t>
            </a:r>
            <a:r>
              <a:rPr lang="es-CO" b="1"/>
              <a:t>T°: </a:t>
            </a:r>
            <a:r>
              <a:rPr lang="es-CO"/>
              <a:t>36 </a:t>
            </a:r>
            <a:r>
              <a:rPr lang="es-CO" b="1"/>
              <a:t>SO2: </a:t>
            </a:r>
            <a:r>
              <a:rPr lang="es-CO"/>
              <a:t>96 </a:t>
            </a:r>
            <a:r>
              <a:rPr lang="es-CO" b="1"/>
              <a:t>PERFUSION: CONCIENCIA: APERTURA OCULAR: </a:t>
            </a:r>
            <a:r>
              <a:rPr lang="es-CO"/>
              <a:t>Espontánea </a:t>
            </a:r>
            <a:r>
              <a:rPr lang="es-CO" b="1"/>
              <a:t>RESPUESTA VERBAL: </a:t>
            </a:r>
            <a:r>
              <a:rPr lang="es-CO"/>
              <a:t>Orientación </a:t>
            </a:r>
            <a:r>
              <a:rPr lang="es-CO" b="1"/>
              <a:t>RESPUESTA MOTORA: </a:t>
            </a:r>
            <a:r>
              <a:rPr lang="es-CO"/>
              <a:t>Obedece Ordenes </a:t>
            </a:r>
            <a:r>
              <a:rPr lang="es-CO" b="1"/>
              <a:t>GLASGOW: </a:t>
            </a:r>
            <a:r>
              <a:rPr lang="es-CO"/>
              <a:t>15 </a:t>
            </a:r>
            <a:r>
              <a:rPr lang="es-CO" b="1"/>
              <a:t>PESO: </a:t>
            </a:r>
            <a:r>
              <a:rPr lang="es-CO"/>
              <a:t>73,00 </a:t>
            </a:r>
            <a:r>
              <a:rPr lang="es-CO" b="1"/>
              <a:t>TALLA: </a:t>
            </a:r>
            <a:r>
              <a:rPr lang="es-CO"/>
              <a:t>155,00 </a:t>
            </a:r>
            <a:r>
              <a:rPr lang="es-CO" b="1"/>
              <a:t>.</a:t>
            </a:r>
            <a:endParaRPr/>
          </a:p>
          <a:p>
            <a:pPr marL="0" lvl="0" indent="0" algn="just" rtl="0">
              <a:lnSpc>
                <a:spcPct val="90000"/>
              </a:lnSpc>
              <a:spcBef>
                <a:spcPts val="1000"/>
              </a:spcBef>
              <a:spcAft>
                <a:spcPts val="0"/>
              </a:spcAft>
              <a:buClr>
                <a:schemeClr val="dk1"/>
              </a:buClr>
              <a:buSzPts val="2800"/>
              <a:buNone/>
            </a:pPr>
            <a:r>
              <a:rPr lang="es-CO" b="1"/>
              <a:t>SIN  HALLAZGOS  RELEVANTES AL EXAMEN  FISICO </a:t>
            </a:r>
            <a:endParaRPr/>
          </a:p>
        </p:txBody>
      </p:sp>
      <p:sp>
        <p:nvSpPr>
          <p:cNvPr id="266" name="Google Shape;266;p9"/>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0"/>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ANALISIS (04/11/2025)</a:t>
            </a:r>
            <a:endParaRPr sz="3200" b="1">
              <a:latin typeface="Arial"/>
              <a:ea typeface="Arial"/>
              <a:cs typeface="Arial"/>
              <a:sym typeface="Arial"/>
            </a:endParaRPr>
          </a:p>
        </p:txBody>
      </p:sp>
      <p:sp>
        <p:nvSpPr>
          <p:cNvPr id="272" name="Google Shape;272;p10"/>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fontScale="77500" lnSpcReduction="20000"/>
          </a:bodyPr>
          <a:lstStyle/>
          <a:p>
            <a:pPr marL="228594" lvl="0" indent="-215259" algn="just" rtl="0">
              <a:lnSpc>
                <a:spcPct val="90000"/>
              </a:lnSpc>
              <a:spcBef>
                <a:spcPts val="0"/>
              </a:spcBef>
              <a:spcAft>
                <a:spcPts val="0"/>
              </a:spcAft>
              <a:buClr>
                <a:schemeClr val="dk1"/>
              </a:buClr>
              <a:buSzPct val="100000"/>
              <a:buChar char="•"/>
            </a:pPr>
            <a:r>
              <a:rPr lang="es-CO" dirty="0"/>
              <a:t>PACIENTE DE 22 AÑOS G2A1 CON EMBARAZO 16+5 SEM POR EOCGRAFIA DE TAMIZAJE QUIEN ASISTE A CONTROL PRIMER CONTROL PRENATAL POR GINECOLOGIA , EN EL MOMENTO EN BUENAS CONDICIONES GENERALES, ASINTOMÁTICA IMC .30 ESTABLE HEMODINÁMICAMENTE, AL EXAMEN FÍSICO DENTRO DE PARÁMETROS NORMALES, NORMOTENSA, NO TAQUICARDICA APORTA EXMAANES DE PRIME RITMRESTRE COMPLETOS, Y NORMALES,SE REALIZA EVALUACIÓN DEL RIESGO SE CONSIDERA EMBARAZO DE ALTO RIESGO POR : NULIPARIDAD Y OBESIDAD IMC DE 30 , RIEGSO INTERMEDIO DE PREECLAMSIA POR LO QUE SE INICIA PREVENSION PRIMARIA CON ASA 100 MG VO Y CALCIO 1200 MG VO, JUNTO ECOGRAFIA DE DETALLE + DOPPLER DE AU +CERVICOMETRIA, VALORACIONES MULTIDISCIPLINARIAS,( ODONTOLOGIA, NUTRICION , PSICOLOGIA,ASESORÍA DE PLANIFICACIÓN FAMILIAR) SE FORMULAN MICRONUTRIENTES CORRESPONDIENTES A EDAD GESTACIONAL, ( CALCIO ) , SE CITA A CONTROL PRENATAL EN UN MES; SE DAN RECOMENDACIONES GENERALES Y SIGNOS DE ALARMA, SE EXPLICA A PACIENTE QUIEN ENTIENDE Y ACEPTA</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1"/>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PLAN</a:t>
            </a:r>
            <a:r>
              <a:rPr lang="es-CO" b="1">
                <a:latin typeface="Arial"/>
                <a:ea typeface="Arial"/>
                <a:cs typeface="Arial"/>
                <a:sym typeface="Arial"/>
              </a:rPr>
              <a:t> (04/11/2025)</a:t>
            </a:r>
            <a:endParaRPr b="1"/>
          </a:p>
        </p:txBody>
      </p:sp>
      <p:sp>
        <p:nvSpPr>
          <p:cNvPr id="279" name="Google Shape;279;p11"/>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s-CO"/>
              <a:t>SE SOLICITA</a:t>
            </a:r>
            <a:endParaRPr/>
          </a:p>
          <a:p>
            <a:pPr marL="228594" lvl="0" indent="-228594" algn="l" rtl="0">
              <a:lnSpc>
                <a:spcPct val="90000"/>
              </a:lnSpc>
              <a:spcBef>
                <a:spcPts val="1000"/>
              </a:spcBef>
              <a:spcAft>
                <a:spcPts val="0"/>
              </a:spcAft>
              <a:buClr>
                <a:schemeClr val="dk1"/>
              </a:buClr>
              <a:buSzPts val="2800"/>
              <a:buChar char="•"/>
            </a:pPr>
            <a:r>
              <a:rPr lang="es-CO"/>
              <a:t>SS// EOCGRAFIA DE DTEALLE ANATOMICO + DOPPLER DE AU + CERVICOMETRIA ( YA TIENE ORDEN )</a:t>
            </a:r>
            <a:endParaRPr/>
          </a:p>
          <a:p>
            <a:pPr marL="228594" lvl="0" indent="-228594" algn="l" rtl="0">
              <a:lnSpc>
                <a:spcPct val="90000"/>
              </a:lnSpc>
              <a:spcBef>
                <a:spcPts val="1000"/>
              </a:spcBef>
              <a:spcAft>
                <a:spcPts val="0"/>
              </a:spcAft>
              <a:buClr>
                <a:schemeClr val="dk1"/>
              </a:buClr>
              <a:buSzPts val="2800"/>
              <a:buChar char="•"/>
            </a:pPr>
            <a:r>
              <a:rPr lang="es-CO"/>
              <a:t>SS// CONTROL CON RESULTADOS POR GINECOLIGIA</a:t>
            </a:r>
            <a:endParaRPr/>
          </a:p>
          <a:p>
            <a:pPr marL="228594" lvl="0" indent="-228594" algn="l" rtl="0">
              <a:lnSpc>
                <a:spcPct val="90000"/>
              </a:lnSpc>
              <a:spcBef>
                <a:spcPts val="1000"/>
              </a:spcBef>
              <a:spcAft>
                <a:spcPts val="0"/>
              </a:spcAft>
              <a:buClr>
                <a:schemeClr val="dk1"/>
              </a:buClr>
              <a:buSzPts val="2800"/>
              <a:buChar char="•"/>
            </a:pPr>
            <a:r>
              <a:rPr lang="es-CO"/>
              <a:t>SS// TOXOPLASMA IGM</a:t>
            </a:r>
            <a:endParaRPr/>
          </a:p>
          <a:p>
            <a:pPr marL="228594" lvl="0" indent="-228594" algn="l" rtl="0">
              <a:lnSpc>
                <a:spcPct val="90000"/>
              </a:lnSpc>
              <a:spcBef>
                <a:spcPts val="1000"/>
              </a:spcBef>
              <a:spcAft>
                <a:spcPts val="0"/>
              </a:spcAft>
              <a:buClr>
                <a:schemeClr val="dk1"/>
              </a:buClr>
              <a:buSzPts val="2800"/>
              <a:buChar char="•"/>
            </a:pPr>
            <a:r>
              <a:rPr lang="es-CO"/>
              <a:t>METRONIDAZOL OVULOS 500MG DIA POR 7 DIAS</a:t>
            </a:r>
            <a:endParaRPr/>
          </a:p>
          <a:p>
            <a:pPr marL="228594" lvl="0" indent="-228594" algn="l" rtl="0">
              <a:lnSpc>
                <a:spcPct val="90000"/>
              </a:lnSpc>
              <a:spcBef>
                <a:spcPts val="1000"/>
              </a:spcBef>
              <a:spcAft>
                <a:spcPts val="0"/>
              </a:spcAft>
              <a:buClr>
                <a:schemeClr val="dk1"/>
              </a:buClr>
              <a:buSzPts val="2800"/>
              <a:buChar char="•"/>
            </a:pPr>
            <a:r>
              <a:rPr lang="es-CO"/>
              <a:t>CARBONATO DE CALCIO: TOMAR 2 TABLETAS DIARIAS : DOSIS 1200 MG DÍA</a:t>
            </a:r>
            <a:endParaRPr/>
          </a:p>
          <a:p>
            <a:pPr marL="228594" lvl="0" indent="-228594" algn="l" rtl="0">
              <a:lnSpc>
                <a:spcPct val="90000"/>
              </a:lnSpc>
              <a:spcBef>
                <a:spcPts val="1000"/>
              </a:spcBef>
              <a:spcAft>
                <a:spcPts val="0"/>
              </a:spcAft>
              <a:buClr>
                <a:schemeClr val="dk1"/>
              </a:buClr>
              <a:buSzPts val="2800"/>
              <a:buChar char="•"/>
            </a:pPr>
            <a:r>
              <a:rPr lang="es-CO"/>
              <a:t>ASA 100 MG VO EN LA NOCHE</a:t>
            </a:r>
            <a:endParaRPr/>
          </a:p>
        </p:txBody>
      </p:sp>
      <p:sp>
        <p:nvSpPr>
          <p:cNvPr id="280" name="Google Shape;280;p11"/>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Arial"/>
              <a:buNone/>
            </a:pPr>
            <a:r>
              <a:rPr lang="es-CO" sz="2400" b="1">
                <a:latin typeface="Arial"/>
                <a:ea typeface="Arial"/>
                <a:cs typeface="Arial"/>
                <a:sym typeface="Arial"/>
              </a:rPr>
              <a:t>INGRESO URGENCIAS GINECOOBSTETRICIA (07/11/2025)</a:t>
            </a:r>
            <a:endParaRPr/>
          </a:p>
        </p:txBody>
      </p:sp>
      <p:sp>
        <p:nvSpPr>
          <p:cNvPr id="286" name="Google Shape;286;p12"/>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lnSpcReduction="10000"/>
          </a:bodyPr>
          <a:lstStyle/>
          <a:p>
            <a:pPr marL="228594" lvl="0" indent="-215259" algn="l" rtl="0">
              <a:lnSpc>
                <a:spcPct val="90000"/>
              </a:lnSpc>
              <a:spcBef>
                <a:spcPts val="0"/>
              </a:spcBef>
              <a:spcAft>
                <a:spcPts val="0"/>
              </a:spcAft>
              <a:buClr>
                <a:schemeClr val="dk1"/>
              </a:buClr>
              <a:buSzPct val="100000"/>
              <a:buChar char="•"/>
            </a:pPr>
            <a:r>
              <a:rPr lang="es-CO" sz="2400" b="1" i="1" dirty="0"/>
              <a:t>MOTIVO DE LA CONSULTA: “</a:t>
            </a:r>
            <a:r>
              <a:rPr lang="es-CO" sz="2400" dirty="0"/>
              <a:t>ME DESMALLE”</a:t>
            </a:r>
            <a:endParaRPr sz="2400" dirty="0"/>
          </a:p>
          <a:p>
            <a:pPr marL="228594" lvl="0" indent="-215259" algn="l" rtl="0">
              <a:lnSpc>
                <a:spcPct val="90000"/>
              </a:lnSpc>
              <a:spcBef>
                <a:spcPts val="1000"/>
              </a:spcBef>
              <a:spcAft>
                <a:spcPts val="0"/>
              </a:spcAft>
              <a:buClr>
                <a:schemeClr val="dk1"/>
              </a:buClr>
              <a:buSzPct val="100000"/>
              <a:buChar char="•"/>
            </a:pPr>
            <a:r>
              <a:rPr lang="es-CO" sz="2400" b="1" i="1" dirty="0"/>
              <a:t>ENFERMEDA ACTUAL:</a:t>
            </a:r>
            <a:endParaRPr sz="2400" dirty="0"/>
          </a:p>
          <a:p>
            <a:pPr marL="228594" lvl="0" indent="-215259" algn="just" rtl="0">
              <a:lnSpc>
                <a:spcPct val="90000"/>
              </a:lnSpc>
              <a:spcBef>
                <a:spcPts val="1000"/>
              </a:spcBef>
              <a:spcAft>
                <a:spcPts val="0"/>
              </a:spcAft>
              <a:buClr>
                <a:schemeClr val="dk1"/>
              </a:buClr>
              <a:buSzPct val="100000"/>
              <a:buChar char="•"/>
            </a:pPr>
            <a:r>
              <a:rPr lang="es-CO" sz="2400" dirty="0"/>
              <a:t>PACIENTE DE 22 AÑOS G2P0A1V0 CON 29/9/2025 ECOGRAFÍA DE TAMIZAJE : GESTACIÓN 11+4 --- EDAD GESTACIONAL DE 17.2 SEMANAS, REFIERE CUADRO </a:t>
            </a:r>
            <a:r>
              <a:rPr lang="es-CO" sz="2400" b="1" dirty="0"/>
              <a:t>CLINICO DE DOS HORAS DE EVOLUCION CONSISTENTE EN LIPOTIMIA AL PARECER PERDIDA DEL TONO POSTURAL SIN PERDIDAS DE ESFINTERES SIN LESIONES EN LENGUA</a:t>
            </a:r>
            <a:r>
              <a:rPr lang="es-CO" sz="2400" dirty="0"/>
              <a:t>. </a:t>
            </a:r>
            <a:r>
              <a:rPr lang="es-CO" sz="2400" b="1" dirty="0"/>
              <a:t>REFIERE QUE CAE DE LADO SIN TRAUMA ABDOMINAL</a:t>
            </a:r>
            <a:r>
              <a:rPr lang="es-CO" sz="2400" dirty="0"/>
              <a:t>. MOVIMIENOS FETALES POSITIVOS. NIEGA SANGRADO VAGINAL, AMNIORREA, REFIERE CEFALEA DESDE HACE MAS DE 8 DIAS NIEGA FOSFENOSNO TINNITUS NO EPIGASTRALGIA REFIERE DIURESIS NORMAL DEPOSCION NORMAL NIEGA TOS</a:t>
            </a:r>
            <a:endParaRPr sz="2400" dirty="0"/>
          </a:p>
          <a:p>
            <a:pPr marL="228594" lvl="0" indent="-64128" algn="l" rtl="0">
              <a:lnSpc>
                <a:spcPct val="90000"/>
              </a:lnSpc>
              <a:spcBef>
                <a:spcPts val="1000"/>
              </a:spcBef>
              <a:spcAft>
                <a:spcPts val="0"/>
              </a:spcAft>
              <a:buClr>
                <a:schemeClr val="dk1"/>
              </a:buClr>
              <a:buSzPct val="100000"/>
              <a:buNone/>
            </a:pPr>
            <a:endParaRPr dirty="0"/>
          </a:p>
          <a:p>
            <a:pPr marL="228594" lvl="0" indent="-64128" algn="l" rtl="0">
              <a:lnSpc>
                <a:spcPct val="90000"/>
              </a:lnSpc>
              <a:spcBef>
                <a:spcPts val="1000"/>
              </a:spcBef>
              <a:spcAft>
                <a:spcPts val="0"/>
              </a:spcAft>
              <a:buClr>
                <a:schemeClr val="dk1"/>
              </a:buClr>
              <a:buSzPct val="100000"/>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EXAMEN  FISICO (07/11/2025)</a:t>
            </a:r>
            <a:endParaRPr/>
          </a:p>
        </p:txBody>
      </p:sp>
      <p:sp>
        <p:nvSpPr>
          <p:cNvPr id="293" name="Google Shape;293;p13"/>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ts val="2200"/>
              <a:buChar char="•"/>
            </a:pPr>
            <a:r>
              <a:rPr lang="es-CO" sz="2200" b="1" dirty="0">
                <a:latin typeface="Arial"/>
                <a:ea typeface="Arial"/>
                <a:cs typeface="Arial"/>
                <a:sym typeface="Arial"/>
              </a:rPr>
              <a:t>TENSIÓN ARTERIAL: </a:t>
            </a:r>
            <a:r>
              <a:rPr lang="es-CO" sz="2200" dirty="0">
                <a:latin typeface="Arial"/>
                <a:ea typeface="Arial"/>
                <a:cs typeface="Arial"/>
                <a:sym typeface="Arial"/>
              </a:rPr>
              <a:t>PAS 110 PAD 70,TALLA 155, PESO 73,SpO2 95 FRECUENCIA CARDIACA FETAL 145 FR 16,FC 75,FIO2 21% TEMP 36 ESTADO DE CONCIENCIA: ALERTA.</a:t>
            </a:r>
            <a:endParaRPr dirty="0"/>
          </a:p>
          <a:p>
            <a:pPr marL="228594" lvl="0" indent="-228594" algn="just" rtl="0">
              <a:lnSpc>
                <a:spcPct val="90000"/>
              </a:lnSpc>
              <a:spcBef>
                <a:spcPts val="1000"/>
              </a:spcBef>
              <a:spcAft>
                <a:spcPts val="0"/>
              </a:spcAft>
              <a:buClr>
                <a:schemeClr val="dk1"/>
              </a:buClr>
              <a:buSzPts val="2200"/>
              <a:buChar char="•"/>
            </a:pPr>
            <a:r>
              <a:rPr lang="es-CO" sz="2200" b="1" i="1" dirty="0">
                <a:latin typeface="Arial"/>
                <a:ea typeface="Arial"/>
                <a:cs typeface="Arial"/>
                <a:sym typeface="Arial"/>
              </a:rPr>
              <a:t>ESCALA DE GLASGOW: Apertura Ocular: </a:t>
            </a:r>
            <a:r>
              <a:rPr lang="es-CO" sz="2200" dirty="0">
                <a:latin typeface="Arial"/>
                <a:ea typeface="Arial"/>
                <a:cs typeface="Arial"/>
                <a:sym typeface="Arial"/>
              </a:rPr>
              <a:t>Espontanea 4</a:t>
            </a:r>
            <a:r>
              <a:rPr lang="es-CO" sz="2200" b="1" i="1" dirty="0">
                <a:latin typeface="Arial"/>
                <a:ea typeface="Arial"/>
                <a:cs typeface="Arial"/>
                <a:sym typeface="Arial"/>
              </a:rPr>
              <a:t> Respuesta Verbal: </a:t>
            </a:r>
            <a:r>
              <a:rPr lang="es-CO" sz="2200" dirty="0">
                <a:latin typeface="Arial"/>
                <a:ea typeface="Arial"/>
                <a:cs typeface="Arial"/>
                <a:sym typeface="Arial"/>
              </a:rPr>
              <a:t>Orientación 5 </a:t>
            </a:r>
            <a:r>
              <a:rPr lang="es-CO" sz="2200" b="1" i="1" dirty="0">
                <a:latin typeface="Arial"/>
                <a:ea typeface="Arial"/>
                <a:cs typeface="Arial"/>
                <a:sym typeface="Arial"/>
              </a:rPr>
              <a:t>Respuesta Motora: </a:t>
            </a:r>
            <a:r>
              <a:rPr lang="es-CO" sz="2200" dirty="0">
                <a:latin typeface="Arial"/>
                <a:ea typeface="Arial"/>
                <a:cs typeface="Arial"/>
                <a:sym typeface="Arial"/>
              </a:rPr>
              <a:t>Obedece Ordenes 6 </a:t>
            </a:r>
            <a:r>
              <a:rPr lang="es-CO" sz="2200" b="1" i="1" dirty="0">
                <a:latin typeface="Arial"/>
                <a:ea typeface="Arial"/>
                <a:cs typeface="Arial"/>
                <a:sym typeface="Arial"/>
              </a:rPr>
              <a:t>Escala de Glasgow  </a:t>
            </a:r>
            <a:r>
              <a:rPr lang="es-CO" sz="2200" dirty="0">
                <a:latin typeface="Arial"/>
                <a:ea typeface="Arial"/>
                <a:cs typeface="Arial"/>
                <a:sym typeface="Arial"/>
              </a:rPr>
              <a:t>15</a:t>
            </a:r>
            <a:endParaRPr dirty="0"/>
          </a:p>
          <a:p>
            <a:pPr marL="228594" lvl="0" indent="-228594" algn="just" rtl="0">
              <a:lnSpc>
                <a:spcPct val="90000"/>
              </a:lnSpc>
              <a:spcBef>
                <a:spcPts val="1000"/>
              </a:spcBef>
              <a:spcAft>
                <a:spcPts val="0"/>
              </a:spcAft>
              <a:buClr>
                <a:schemeClr val="dk1"/>
              </a:buClr>
              <a:buSzPts val="2200"/>
              <a:buChar char="•"/>
            </a:pPr>
            <a:r>
              <a:rPr lang="es-CO" sz="2200" b="1" i="1" dirty="0">
                <a:latin typeface="Arial"/>
                <a:ea typeface="Arial"/>
                <a:cs typeface="Arial"/>
                <a:sym typeface="Arial"/>
              </a:rPr>
              <a:t>Paciente Embarazada: </a:t>
            </a:r>
            <a:r>
              <a:rPr lang="es-CO" sz="2200" dirty="0">
                <a:latin typeface="Arial"/>
                <a:ea typeface="Arial"/>
                <a:cs typeface="Arial"/>
                <a:sym typeface="Arial"/>
              </a:rPr>
              <a:t>SI</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EXAMEN  FISICO (07/11/2025)</a:t>
            </a:r>
            <a:endParaRPr/>
          </a:p>
        </p:txBody>
      </p:sp>
      <p:sp>
        <p:nvSpPr>
          <p:cNvPr id="300" name="Google Shape;300;p14"/>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s-CO" sz="2200">
                <a:latin typeface="Arial"/>
                <a:ea typeface="Arial"/>
                <a:cs typeface="Arial"/>
                <a:sym typeface="Arial"/>
              </a:rPr>
              <a:t>ESTADO GENERAL</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PACIENTE EN BUENAS CONDICIONES GENERALES, INGRESA PACIENTE POR SUS PROPIOS MEDIOS</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CABEZA: ESCLERAS ANICTÉRICAS, CONJUNTIVAS NORMOCROMICAS, PUPILAS NORMORREACTIVAS,</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MUCOSA ORAL HÚMEDA, OROFARINGE NO CONGESTIVA. CUELLO: MÓVIL, NO DOLOROSO, SIN MASAS, NI</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ADENOPATÍAS.</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TÓRAX: SIMÉTRICO, RUIDOS CARDIACOS RÍTMICOS SIN SOPLOS, MURMULLO VESICULAR CONSERVADO, SIN AGREGADOS PULMONARES.</a:t>
            </a:r>
            <a:endParaRPr/>
          </a:p>
        </p:txBody>
      </p:sp>
      <p:sp>
        <p:nvSpPr>
          <p:cNvPr id="301" name="Google Shape;301;p14"/>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EXAMEN  FISICO (07/11/2025)</a:t>
            </a:r>
            <a:endParaRPr/>
          </a:p>
        </p:txBody>
      </p:sp>
      <p:sp>
        <p:nvSpPr>
          <p:cNvPr id="307" name="Google Shape;307;p15"/>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lnSpcReduction="10000"/>
          </a:bodyPr>
          <a:lstStyle/>
          <a:p>
            <a:pPr marL="228594" lvl="0" indent="-218116" algn="just" rtl="0">
              <a:lnSpc>
                <a:spcPct val="90000"/>
              </a:lnSpc>
              <a:spcBef>
                <a:spcPts val="0"/>
              </a:spcBef>
              <a:spcAft>
                <a:spcPts val="0"/>
              </a:spcAft>
              <a:buClr>
                <a:schemeClr val="dk1"/>
              </a:buClr>
              <a:buSzPct val="100000"/>
              <a:buChar char="•"/>
            </a:pPr>
            <a:r>
              <a:rPr lang="es-CO" sz="2200">
                <a:latin typeface="Arial"/>
                <a:ea typeface="Arial"/>
                <a:cs typeface="Arial"/>
                <a:sym typeface="Arial"/>
              </a:rPr>
              <a:t>ABDOMEN: GLOBOSO POR GRAVIDEZ, AU: 16 CM, FETO ÚNICO VIVO, PRESENTACIÓN: CEFÁLICO, LONGITUDINAL, DORSO DERECHO, CON FCF 145 LPM, AUSCULTADA CON DOPPLER ESCUCHADO POR PAREJA Y MATERNA ABDOMEN BLANDO DEPRESIBLE NO DOLOROSO PUÑO PERCUSIÓN NEG</a:t>
            </a:r>
            <a:endParaRPr/>
          </a:p>
          <a:p>
            <a:pPr marL="228594" lvl="0" indent="-218116" algn="just" rtl="0">
              <a:lnSpc>
                <a:spcPct val="90000"/>
              </a:lnSpc>
              <a:spcBef>
                <a:spcPts val="1000"/>
              </a:spcBef>
              <a:spcAft>
                <a:spcPts val="0"/>
              </a:spcAft>
              <a:buClr>
                <a:schemeClr val="dk1"/>
              </a:buClr>
              <a:buSzPct val="100000"/>
              <a:buChar char="•"/>
            </a:pPr>
            <a:r>
              <a:rPr lang="es-CO" sz="2200">
                <a:latin typeface="Arial"/>
                <a:ea typeface="Arial"/>
                <a:cs typeface="Arial"/>
                <a:sym typeface="Arial"/>
              </a:rPr>
              <a:t>G/U: GENITALES EXTERNOS NORMOCONFIGURADOS, TACTO VAGINAL: VAGINA NT/NE, CON CUELLO POSTERIOR LARGO DURO OCE CERRADO</a:t>
            </a:r>
            <a:endParaRPr/>
          </a:p>
          <a:p>
            <a:pPr marL="228594" lvl="0" indent="-218116" algn="just" rtl="0">
              <a:lnSpc>
                <a:spcPct val="90000"/>
              </a:lnSpc>
              <a:spcBef>
                <a:spcPts val="1000"/>
              </a:spcBef>
              <a:spcAft>
                <a:spcPts val="0"/>
              </a:spcAft>
              <a:buClr>
                <a:schemeClr val="dk1"/>
              </a:buClr>
              <a:buSzPct val="100000"/>
              <a:buChar char="•"/>
            </a:pPr>
            <a:r>
              <a:rPr lang="es-CO" sz="2200">
                <a:latin typeface="Arial"/>
                <a:ea typeface="Arial"/>
                <a:cs typeface="Arial"/>
                <a:sym typeface="Arial"/>
              </a:rPr>
              <a:t>EXT EUTRÓFICAS PULSOS PERIFÉRICOS POSITIVOS PARA LAS 4 EXTREMIDADES LLENADO CAPILAR</a:t>
            </a:r>
            <a:endParaRPr/>
          </a:p>
          <a:p>
            <a:pPr marL="228594" lvl="0" indent="-218116" algn="just" rtl="0">
              <a:lnSpc>
                <a:spcPct val="90000"/>
              </a:lnSpc>
              <a:spcBef>
                <a:spcPts val="1000"/>
              </a:spcBef>
              <a:spcAft>
                <a:spcPts val="0"/>
              </a:spcAft>
              <a:buClr>
                <a:schemeClr val="dk1"/>
              </a:buClr>
              <a:buSzPct val="100000"/>
              <a:buChar char="•"/>
            </a:pPr>
            <a:r>
              <a:rPr lang="es-CO" sz="2200">
                <a:latin typeface="Arial"/>
                <a:ea typeface="Arial"/>
                <a:cs typeface="Arial"/>
                <a:sym typeface="Arial"/>
              </a:rPr>
              <a:t>MENOR A 3 SEGUNDOS NO DOLOR NO EDEMAS</a:t>
            </a:r>
            <a:endParaRPr/>
          </a:p>
          <a:p>
            <a:pPr marL="228594" lvl="0" indent="-218116" algn="just" rtl="0">
              <a:lnSpc>
                <a:spcPct val="90000"/>
              </a:lnSpc>
              <a:spcBef>
                <a:spcPts val="1000"/>
              </a:spcBef>
              <a:spcAft>
                <a:spcPts val="0"/>
              </a:spcAft>
              <a:buClr>
                <a:schemeClr val="dk1"/>
              </a:buClr>
              <a:buSzPct val="100000"/>
              <a:buChar char="•"/>
            </a:pPr>
            <a:r>
              <a:rPr lang="es-CO" sz="2200">
                <a:latin typeface="Arial"/>
                <a:ea typeface="Arial"/>
                <a:cs typeface="Arial"/>
                <a:sym typeface="Arial"/>
              </a:rPr>
              <a:t>NEU CONCIENTE ORIENTADA EN LAS 3 ESFERAS PINRAL G 15/15 ROT ++/++++ FM 5/5 PARA LAS 4 VEXTREMIDADES</a:t>
            </a:r>
            <a:endParaRPr/>
          </a:p>
          <a:p>
            <a:pPr marL="228594" lvl="0" indent="-218116" algn="just" rtl="0">
              <a:lnSpc>
                <a:spcPct val="90000"/>
              </a:lnSpc>
              <a:spcBef>
                <a:spcPts val="1000"/>
              </a:spcBef>
              <a:spcAft>
                <a:spcPts val="0"/>
              </a:spcAft>
              <a:buClr>
                <a:schemeClr val="dk1"/>
              </a:buClr>
              <a:buSzPct val="100000"/>
              <a:buChar char="•"/>
            </a:pPr>
            <a:r>
              <a:rPr lang="es-CO" sz="2200">
                <a:latin typeface="Arial"/>
                <a:ea typeface="Arial"/>
                <a:cs typeface="Arial"/>
                <a:sym typeface="Arial"/>
              </a:rPr>
              <a:t>PIEL: SIN ALTERACIÓN POR LA PACIENTE.</a:t>
            </a:r>
            <a:endParaRPr sz="2200">
              <a:latin typeface="Arial"/>
              <a:ea typeface="Arial"/>
              <a:cs typeface="Arial"/>
              <a:sym typeface="Arial"/>
            </a:endParaRPr>
          </a:p>
          <a:p>
            <a:pPr marL="228594" lvl="0" indent="-88893" algn="just" rtl="0">
              <a:lnSpc>
                <a:spcPct val="90000"/>
              </a:lnSpc>
              <a:spcBef>
                <a:spcPts val="1000"/>
              </a:spcBef>
              <a:spcAft>
                <a:spcPts val="0"/>
              </a:spcAft>
              <a:buClr>
                <a:schemeClr val="dk1"/>
              </a:buClr>
              <a:buSzPct val="100000"/>
              <a:buNone/>
            </a:pPr>
            <a:endParaRPr sz="2200"/>
          </a:p>
          <a:p>
            <a:pPr marL="228594" lvl="0" indent="-88893" algn="just" rtl="0">
              <a:lnSpc>
                <a:spcPct val="90000"/>
              </a:lnSpc>
              <a:spcBef>
                <a:spcPts val="1000"/>
              </a:spcBef>
              <a:spcAft>
                <a:spcPts val="0"/>
              </a:spcAft>
              <a:buClr>
                <a:schemeClr val="dk1"/>
              </a:buClr>
              <a:buSzPct val="100000"/>
              <a:buNone/>
            </a:pPr>
            <a:endParaRPr sz="2200">
              <a:latin typeface="Arial"/>
              <a:ea typeface="Arial"/>
              <a:cs typeface="Arial"/>
              <a:sym typeface="Arial"/>
            </a:endParaRPr>
          </a:p>
        </p:txBody>
      </p:sp>
      <p:sp>
        <p:nvSpPr>
          <p:cNvPr id="308" name="Google Shape;308;p15"/>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ANALISIS (07/11/2025)</a:t>
            </a:r>
            <a:endParaRPr/>
          </a:p>
        </p:txBody>
      </p:sp>
      <p:sp>
        <p:nvSpPr>
          <p:cNvPr id="321" name="Google Shape;321;p17"/>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ts val="2200"/>
              <a:buChar char="•"/>
            </a:pPr>
            <a:r>
              <a:rPr lang="es-CO" sz="2200">
                <a:latin typeface="Arial"/>
                <a:ea typeface="Arial"/>
                <a:cs typeface="Arial"/>
                <a:sym typeface="Arial"/>
              </a:rPr>
              <a:t>PACIENTE CON EMBARAZO DE 17.2 SEM POR ECO DE TAMIZAJE CON LIPOTIMIA Y TRUAM, EN ESPALDA EN EL MOEMNTO CONCIENTE ORIENTADA EN LAS 3 ESFERAS SE DECARTA CONVULSION YA QUE REFIERE QUE LA RECUPERACION FUE INMEDIATA SE INGRESA PARA VERIFICACIOND E BIENESTAR FETAL CON ECO TOMA DE EKG ANALGESI HIDRATACION</a:t>
            </a:r>
            <a:endParaRPr/>
          </a:p>
        </p:txBody>
      </p:sp>
      <p:sp>
        <p:nvSpPr>
          <p:cNvPr id="322" name="Google Shape;322;p17"/>
          <p:cNvSpPr txBox="1"/>
          <p:nvPr/>
        </p:nvSpPr>
        <p:spPr>
          <a:xfrm>
            <a:off x="415600" y="1439173"/>
            <a:ext cx="11360700" cy="4213200"/>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PLAN (07/11/2025)</a:t>
            </a:r>
            <a:endParaRPr/>
          </a:p>
        </p:txBody>
      </p:sp>
      <p:sp>
        <p:nvSpPr>
          <p:cNvPr id="328" name="Google Shape;328;p18"/>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fontScale="92500" lnSpcReduction="10000"/>
          </a:bodyPr>
          <a:lstStyle/>
          <a:p>
            <a:pPr marL="228594" lvl="0" indent="-241928" algn="l" rtl="0">
              <a:lnSpc>
                <a:spcPct val="90000"/>
              </a:lnSpc>
              <a:spcBef>
                <a:spcPts val="0"/>
              </a:spcBef>
              <a:spcAft>
                <a:spcPts val="0"/>
              </a:spcAft>
              <a:buClr>
                <a:schemeClr val="dk1"/>
              </a:buClr>
              <a:buSzPts val="2800"/>
              <a:buChar char="•"/>
            </a:pPr>
            <a:r>
              <a:rPr lang="es-CO"/>
              <a:t>IDX:</a:t>
            </a:r>
            <a:endParaRPr/>
          </a:p>
          <a:p>
            <a:pPr marL="228594" lvl="0" indent="-241928" algn="l" rtl="0">
              <a:lnSpc>
                <a:spcPct val="90000"/>
              </a:lnSpc>
              <a:spcBef>
                <a:spcPts val="1000"/>
              </a:spcBef>
              <a:spcAft>
                <a:spcPts val="0"/>
              </a:spcAft>
              <a:buClr>
                <a:schemeClr val="dk1"/>
              </a:buClr>
              <a:buSzPts val="2800"/>
              <a:buChar char="•"/>
            </a:pPr>
            <a:r>
              <a:rPr lang="es-CO"/>
              <a:t>G2A1</a:t>
            </a:r>
            <a:endParaRPr/>
          </a:p>
          <a:p>
            <a:pPr marL="228594" lvl="0" indent="-241928" algn="l" rtl="0">
              <a:lnSpc>
                <a:spcPct val="90000"/>
              </a:lnSpc>
              <a:spcBef>
                <a:spcPts val="1000"/>
              </a:spcBef>
              <a:spcAft>
                <a:spcPts val="0"/>
              </a:spcAft>
              <a:buClr>
                <a:schemeClr val="dk1"/>
              </a:buClr>
              <a:buSzPts val="2800"/>
              <a:buChar char="•"/>
            </a:pPr>
            <a:r>
              <a:rPr lang="es-CO"/>
              <a:t>EMBARAZO DE 17/.2 SEM POR EOCGRAFIA DE TAMIZAJE</a:t>
            </a:r>
            <a:endParaRPr/>
          </a:p>
          <a:p>
            <a:pPr marL="228594" lvl="0" indent="-241928" algn="l" rtl="0">
              <a:lnSpc>
                <a:spcPct val="90000"/>
              </a:lnSpc>
              <a:spcBef>
                <a:spcPts val="1000"/>
              </a:spcBef>
              <a:spcAft>
                <a:spcPts val="0"/>
              </a:spcAft>
              <a:buClr>
                <a:schemeClr val="dk1"/>
              </a:buClr>
              <a:buSzPts val="2800"/>
              <a:buChar char="•"/>
            </a:pPr>
            <a:r>
              <a:rPr lang="es-CO"/>
              <a:t>LIPOTIMIA</a:t>
            </a:r>
            <a:endParaRPr/>
          </a:p>
          <a:p>
            <a:pPr marL="228594" lvl="0" indent="-99371" algn="l" rtl="0">
              <a:lnSpc>
                <a:spcPct val="90000"/>
              </a:lnSpc>
              <a:spcBef>
                <a:spcPts val="1000"/>
              </a:spcBef>
              <a:spcAft>
                <a:spcPts val="0"/>
              </a:spcAft>
              <a:buClr>
                <a:schemeClr val="dk1"/>
              </a:buClr>
              <a:buSzPts val="2200"/>
              <a:buNone/>
            </a:pPr>
            <a:endParaRPr sz="2200">
              <a:latin typeface="Arial"/>
              <a:ea typeface="Arial"/>
              <a:cs typeface="Arial"/>
              <a:sym typeface="Arial"/>
            </a:endParaRPr>
          </a:p>
          <a:p>
            <a:pPr marL="228594" lvl="0" indent="-241928" algn="l" rtl="0">
              <a:lnSpc>
                <a:spcPct val="90000"/>
              </a:lnSpc>
              <a:spcBef>
                <a:spcPts val="1000"/>
              </a:spcBef>
              <a:spcAft>
                <a:spcPts val="0"/>
              </a:spcAft>
              <a:buClr>
                <a:schemeClr val="dk1"/>
              </a:buClr>
              <a:buSzPts val="2800"/>
              <a:buChar char="•"/>
            </a:pPr>
            <a:r>
              <a:rPr lang="es-CO"/>
              <a:t>L RINGER BOLO DE 500 CC</a:t>
            </a:r>
            <a:endParaRPr/>
          </a:p>
          <a:p>
            <a:pPr marL="228594" lvl="0" indent="-241928" algn="l" rtl="0">
              <a:lnSpc>
                <a:spcPct val="90000"/>
              </a:lnSpc>
              <a:spcBef>
                <a:spcPts val="1000"/>
              </a:spcBef>
              <a:spcAft>
                <a:spcPts val="0"/>
              </a:spcAft>
              <a:buClr>
                <a:schemeClr val="dk1"/>
              </a:buClr>
              <a:buSzPts val="2800"/>
              <a:buChar char="•"/>
            </a:pPr>
            <a:r>
              <a:rPr lang="es-CO"/>
              <a:t>PARACETAMOL 1 GR IV</a:t>
            </a:r>
            <a:endParaRPr/>
          </a:p>
          <a:p>
            <a:pPr marL="228594" lvl="0" indent="-241928" algn="l" rtl="0">
              <a:lnSpc>
                <a:spcPct val="90000"/>
              </a:lnSpc>
              <a:spcBef>
                <a:spcPts val="1000"/>
              </a:spcBef>
              <a:spcAft>
                <a:spcPts val="0"/>
              </a:spcAft>
              <a:buClr>
                <a:schemeClr val="dk1"/>
              </a:buClr>
              <a:buSzPts val="2800"/>
              <a:buChar char="•"/>
            </a:pPr>
            <a:r>
              <a:rPr lang="es-CO"/>
              <a:t>S/S EKG</a:t>
            </a:r>
            <a:endParaRPr/>
          </a:p>
          <a:p>
            <a:pPr marL="228594" lvl="0" indent="-241928" algn="l" rtl="0">
              <a:lnSpc>
                <a:spcPct val="90000"/>
              </a:lnSpc>
              <a:spcBef>
                <a:spcPts val="1000"/>
              </a:spcBef>
              <a:spcAft>
                <a:spcPts val="0"/>
              </a:spcAft>
              <a:buClr>
                <a:schemeClr val="dk1"/>
              </a:buClr>
              <a:buSzPts val="2800"/>
              <a:buChar char="•"/>
            </a:pPr>
            <a:r>
              <a:rPr lang="es-CO"/>
              <a:t>S/S CH GLUCOSA</a:t>
            </a:r>
            <a:endParaRPr/>
          </a:p>
          <a:p>
            <a:pPr marL="228594" lvl="0" indent="-241928" algn="l" rtl="0">
              <a:lnSpc>
                <a:spcPct val="90000"/>
              </a:lnSpc>
              <a:spcBef>
                <a:spcPts val="1000"/>
              </a:spcBef>
              <a:spcAft>
                <a:spcPts val="0"/>
              </a:spcAft>
              <a:buClr>
                <a:schemeClr val="dk1"/>
              </a:buClr>
              <a:buSzPts val="2800"/>
              <a:buChar char="•"/>
            </a:pPr>
            <a:r>
              <a:rPr lang="es-CO"/>
              <a:t>S/S ECO OBSTETRICA</a:t>
            </a:r>
            <a:endParaRPr sz="2200">
              <a:latin typeface="Arial"/>
              <a:ea typeface="Arial"/>
              <a:cs typeface="Arial"/>
              <a:sym typeface="Arial"/>
            </a:endParaRPr>
          </a:p>
        </p:txBody>
      </p:sp>
      <p:sp>
        <p:nvSpPr>
          <p:cNvPr id="329" name="Google Shape;329;p18"/>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g3961b9e4146_1_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Valoracion Ginecologia y Obstetricia(15/12/2025)</a:t>
            </a:r>
            <a:endParaRPr/>
          </a:p>
        </p:txBody>
      </p:sp>
      <p:sp>
        <p:nvSpPr>
          <p:cNvPr id="335" name="Google Shape;335;g3961b9e4146_1_75"/>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s-CO" b="1"/>
              <a:t>MOTIVO DE CONSULTA</a:t>
            </a:r>
            <a:endParaRPr/>
          </a:p>
          <a:p>
            <a:pPr marL="0" lvl="0" indent="0" algn="l" rtl="0">
              <a:lnSpc>
                <a:spcPct val="90000"/>
              </a:lnSpc>
              <a:spcBef>
                <a:spcPts val="1000"/>
              </a:spcBef>
              <a:spcAft>
                <a:spcPts val="0"/>
              </a:spcAft>
              <a:buClr>
                <a:schemeClr val="dk1"/>
              </a:buClr>
              <a:buSzPct val="100000"/>
              <a:buNone/>
            </a:pPr>
            <a:r>
              <a:rPr lang="es-CO"/>
              <a:t>“CONSULTA GINECOLOGIA Y OBSTETRICIA # 2”</a:t>
            </a:r>
            <a:endParaRPr/>
          </a:p>
          <a:p>
            <a:pPr marL="0" lvl="0" indent="0" algn="l" rtl="0">
              <a:lnSpc>
                <a:spcPct val="90000"/>
              </a:lnSpc>
              <a:spcBef>
                <a:spcPts val="1000"/>
              </a:spcBef>
              <a:spcAft>
                <a:spcPts val="0"/>
              </a:spcAft>
              <a:buClr>
                <a:schemeClr val="dk1"/>
              </a:buClr>
              <a:buSzPct val="100000"/>
              <a:buNone/>
            </a:pPr>
            <a:endParaRPr sz="2200">
              <a:latin typeface="Arial"/>
              <a:ea typeface="Arial"/>
              <a:cs typeface="Arial"/>
              <a:sym typeface="Arial"/>
            </a:endParaRPr>
          </a:p>
          <a:p>
            <a:pPr marL="228594" lvl="0" indent="-228594" algn="l" rtl="0">
              <a:lnSpc>
                <a:spcPct val="90000"/>
              </a:lnSpc>
              <a:spcBef>
                <a:spcPts val="1000"/>
              </a:spcBef>
              <a:spcAft>
                <a:spcPts val="0"/>
              </a:spcAft>
              <a:buClr>
                <a:schemeClr val="dk1"/>
              </a:buClr>
              <a:buSzPct val="100000"/>
              <a:buChar char="•"/>
            </a:pPr>
            <a:r>
              <a:rPr lang="es-CO" b="1"/>
              <a:t>ENFERMEDAD ACTUAL</a:t>
            </a:r>
            <a:endParaRPr/>
          </a:p>
          <a:p>
            <a:pPr marL="228594" lvl="0" indent="-228594" algn="just" rtl="0">
              <a:lnSpc>
                <a:spcPct val="90000"/>
              </a:lnSpc>
              <a:spcBef>
                <a:spcPts val="1000"/>
              </a:spcBef>
              <a:spcAft>
                <a:spcPts val="0"/>
              </a:spcAft>
              <a:buClr>
                <a:schemeClr val="dk1"/>
              </a:buClr>
              <a:buSzPct val="127272"/>
              <a:buChar char="•"/>
            </a:pPr>
            <a:r>
              <a:rPr lang="es-CO"/>
              <a:t>PACIENTE DE 22 AÑOS CON EMBARAZO DE 22.3 SEM POR ECOGRAFÍA DE TAMIZAJE QUIEN ACUDE A SU PRIMER CONTROL PRENATAL CONGIONECOLOGIA , ASINTOMATICAL, NO ACTIVIDAD UTERINA,MOVIMIENTOSFETALES PERCIBIDOS NORMALES, NO PÉRDIDAS VAGINALES, NO CEFALEA, NO FOSFENOS, NO EPIGASTRALGIA,NO EDEMAS, NO SÍNTOMAS URINARIOS, NO SÍNTOMAS RESPIRATORIOS, NO OTROS SÍNTOMAS.</a:t>
            </a:r>
            <a:endParaRPr sz="2200">
              <a:latin typeface="Arial"/>
              <a:ea typeface="Arial"/>
              <a:cs typeface="Arial"/>
              <a:sym typeface="Arial"/>
            </a:endParaRPr>
          </a:p>
        </p:txBody>
      </p:sp>
      <p:sp>
        <p:nvSpPr>
          <p:cNvPr id="336" name="Google Shape;336;g3961b9e4146_1_75"/>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3961b9e4146_1_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EXAMEN FÍSICO(15/12/2025)</a:t>
            </a:r>
            <a:endParaRPr/>
          </a:p>
        </p:txBody>
      </p:sp>
      <p:sp>
        <p:nvSpPr>
          <p:cNvPr id="342" name="Google Shape;342;g3961b9e4146_1_82"/>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Autofit/>
          </a:bodyPr>
          <a:lstStyle/>
          <a:p>
            <a:pPr marL="228594" lvl="0" indent="-228594" algn="l" rtl="0">
              <a:lnSpc>
                <a:spcPct val="90000"/>
              </a:lnSpc>
              <a:spcBef>
                <a:spcPts val="0"/>
              </a:spcBef>
              <a:spcAft>
                <a:spcPts val="0"/>
              </a:spcAft>
              <a:buClr>
                <a:schemeClr val="dk1"/>
              </a:buClr>
              <a:buSzPts val="2200"/>
              <a:buChar char="•"/>
            </a:pPr>
            <a:r>
              <a:rPr lang="es-CO" sz="2200" b="1">
                <a:latin typeface="Arial"/>
                <a:ea typeface="Arial"/>
                <a:cs typeface="Arial"/>
                <a:sym typeface="Arial"/>
              </a:rPr>
              <a:t>TAS: </a:t>
            </a:r>
            <a:r>
              <a:rPr lang="es-CO" sz="2200">
                <a:latin typeface="Arial"/>
                <a:ea typeface="Arial"/>
                <a:cs typeface="Arial"/>
                <a:sym typeface="Arial"/>
              </a:rPr>
              <a:t>105 </a:t>
            </a:r>
            <a:r>
              <a:rPr lang="es-CO" sz="2200" b="1">
                <a:latin typeface="Arial"/>
                <a:ea typeface="Arial"/>
                <a:cs typeface="Arial"/>
                <a:sym typeface="Arial"/>
              </a:rPr>
              <a:t>TAD: </a:t>
            </a:r>
            <a:r>
              <a:rPr lang="es-CO" sz="2200">
                <a:latin typeface="Arial"/>
                <a:ea typeface="Arial"/>
                <a:cs typeface="Arial"/>
                <a:sym typeface="Arial"/>
              </a:rPr>
              <a:t>65 </a:t>
            </a:r>
            <a:r>
              <a:rPr lang="es-CO" sz="2200" b="1">
                <a:latin typeface="Arial"/>
                <a:ea typeface="Arial"/>
                <a:cs typeface="Arial"/>
                <a:sym typeface="Arial"/>
              </a:rPr>
              <a:t>TAM: </a:t>
            </a:r>
            <a:r>
              <a:rPr lang="es-CO" sz="2200">
                <a:latin typeface="Arial"/>
                <a:ea typeface="Arial"/>
                <a:cs typeface="Arial"/>
                <a:sym typeface="Arial"/>
              </a:rPr>
              <a:t>78 </a:t>
            </a:r>
            <a:r>
              <a:rPr lang="es-CO" sz="2200" b="1">
                <a:latin typeface="Arial"/>
                <a:ea typeface="Arial"/>
                <a:cs typeface="Arial"/>
                <a:sym typeface="Arial"/>
              </a:rPr>
              <a:t>F.C.: </a:t>
            </a:r>
            <a:r>
              <a:rPr lang="es-CO" sz="2200">
                <a:latin typeface="Arial"/>
                <a:ea typeface="Arial"/>
                <a:cs typeface="Arial"/>
                <a:sym typeface="Arial"/>
              </a:rPr>
              <a:t>80 </a:t>
            </a:r>
            <a:r>
              <a:rPr lang="es-CO" sz="2200" b="1">
                <a:latin typeface="Arial"/>
                <a:ea typeface="Arial"/>
                <a:cs typeface="Arial"/>
                <a:sym typeface="Arial"/>
              </a:rPr>
              <a:t>F.R.: </a:t>
            </a:r>
            <a:r>
              <a:rPr lang="es-CO" sz="2200">
                <a:latin typeface="Arial"/>
                <a:ea typeface="Arial"/>
                <a:cs typeface="Arial"/>
                <a:sym typeface="Arial"/>
              </a:rPr>
              <a:t>18 </a:t>
            </a:r>
            <a:r>
              <a:rPr lang="es-CO" sz="2200" b="1">
                <a:latin typeface="Arial"/>
                <a:ea typeface="Arial"/>
                <a:cs typeface="Arial"/>
                <a:sym typeface="Arial"/>
              </a:rPr>
              <a:t>T°: </a:t>
            </a:r>
            <a:r>
              <a:rPr lang="es-CO" sz="2200">
                <a:latin typeface="Arial"/>
                <a:ea typeface="Arial"/>
                <a:cs typeface="Arial"/>
                <a:sym typeface="Arial"/>
              </a:rPr>
              <a:t>36 </a:t>
            </a:r>
            <a:r>
              <a:rPr lang="es-CO" sz="2200" b="1">
                <a:latin typeface="Arial"/>
                <a:ea typeface="Arial"/>
                <a:cs typeface="Arial"/>
                <a:sym typeface="Arial"/>
              </a:rPr>
              <a:t>SO2: </a:t>
            </a:r>
            <a:r>
              <a:rPr lang="es-CO" sz="2200">
                <a:latin typeface="Arial"/>
                <a:ea typeface="Arial"/>
                <a:cs typeface="Arial"/>
                <a:sym typeface="Arial"/>
              </a:rPr>
              <a:t>96 </a:t>
            </a:r>
            <a:r>
              <a:rPr lang="es-CO" sz="2200" b="1">
                <a:latin typeface="Arial"/>
                <a:ea typeface="Arial"/>
                <a:cs typeface="Arial"/>
                <a:sym typeface="Arial"/>
              </a:rPr>
              <a:t>PERFUSION: CONCIENCIA: APERTURA OCULAR: </a:t>
            </a:r>
            <a:r>
              <a:rPr lang="es-CO" sz="2200">
                <a:latin typeface="Arial"/>
                <a:ea typeface="Arial"/>
                <a:cs typeface="Arial"/>
                <a:sym typeface="Arial"/>
              </a:rPr>
              <a:t>Espontánea </a:t>
            </a:r>
            <a:r>
              <a:rPr lang="es-CO" sz="2200" b="1">
                <a:latin typeface="Arial"/>
                <a:ea typeface="Arial"/>
                <a:cs typeface="Arial"/>
                <a:sym typeface="Arial"/>
              </a:rPr>
              <a:t>RESPUESTA VERBAL: </a:t>
            </a:r>
            <a:r>
              <a:rPr lang="es-CO" sz="2200">
                <a:latin typeface="Arial"/>
                <a:ea typeface="Arial"/>
                <a:cs typeface="Arial"/>
                <a:sym typeface="Arial"/>
              </a:rPr>
              <a:t>Orientación </a:t>
            </a:r>
            <a:r>
              <a:rPr lang="es-CO" sz="2200" b="1">
                <a:latin typeface="Arial"/>
                <a:ea typeface="Arial"/>
                <a:cs typeface="Arial"/>
                <a:sym typeface="Arial"/>
              </a:rPr>
              <a:t>RESPUESTA MOTORA: </a:t>
            </a:r>
            <a:r>
              <a:rPr lang="es-CO" sz="2200">
                <a:latin typeface="Arial"/>
                <a:ea typeface="Arial"/>
                <a:cs typeface="Arial"/>
                <a:sym typeface="Arial"/>
              </a:rPr>
              <a:t>Obedece Ordenes </a:t>
            </a:r>
            <a:r>
              <a:rPr lang="es-CO" sz="2200" b="1">
                <a:latin typeface="Arial"/>
                <a:ea typeface="Arial"/>
                <a:cs typeface="Arial"/>
                <a:sym typeface="Arial"/>
              </a:rPr>
              <a:t>GLASGOW: </a:t>
            </a:r>
            <a:r>
              <a:rPr lang="es-CO" sz="2200">
                <a:latin typeface="Arial"/>
                <a:ea typeface="Arial"/>
                <a:cs typeface="Arial"/>
                <a:sym typeface="Arial"/>
              </a:rPr>
              <a:t>15 </a:t>
            </a:r>
            <a:r>
              <a:rPr lang="es-CO" sz="2200" b="1">
                <a:latin typeface="Arial"/>
                <a:ea typeface="Arial"/>
                <a:cs typeface="Arial"/>
                <a:sym typeface="Arial"/>
              </a:rPr>
              <a:t>PESO: </a:t>
            </a:r>
            <a:r>
              <a:rPr lang="es-CO" sz="2200">
                <a:latin typeface="Arial"/>
                <a:ea typeface="Arial"/>
                <a:cs typeface="Arial"/>
                <a:sym typeface="Arial"/>
              </a:rPr>
              <a:t>73,00 </a:t>
            </a:r>
            <a:r>
              <a:rPr lang="es-CO" sz="2200" b="1">
                <a:latin typeface="Arial"/>
                <a:ea typeface="Arial"/>
                <a:cs typeface="Arial"/>
                <a:sym typeface="Arial"/>
              </a:rPr>
              <a:t>TALLA: </a:t>
            </a:r>
            <a:r>
              <a:rPr lang="es-CO" sz="2200">
                <a:latin typeface="Arial"/>
                <a:ea typeface="Arial"/>
                <a:cs typeface="Arial"/>
                <a:sym typeface="Arial"/>
              </a:rPr>
              <a:t>155,00</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ASPECTO GENERAL: </a:t>
            </a:r>
            <a:r>
              <a:rPr lang="es-CO" sz="2200">
                <a:latin typeface="Arial"/>
                <a:ea typeface="Arial"/>
                <a:cs typeface="Arial"/>
                <a:sym typeface="Arial"/>
              </a:rPr>
              <a:t>BUEN ESTADO GENEERAL.</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CABEZA Y CUELLO </a:t>
            </a:r>
            <a:r>
              <a:rPr lang="es-CO" sz="2200">
                <a:latin typeface="Arial"/>
                <a:ea typeface="Arial"/>
                <a:cs typeface="Arial"/>
                <a:sym typeface="Arial"/>
              </a:rPr>
              <a:t>NORMOCEFALO MUCOSA ORAL HUMEDA</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OTORRINO: </a:t>
            </a:r>
            <a:r>
              <a:rPr lang="es-CO" sz="2200">
                <a:latin typeface="Arial"/>
                <a:ea typeface="Arial"/>
                <a:cs typeface="Arial"/>
                <a:sym typeface="Arial"/>
              </a:rPr>
              <a:t>NORMAL</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OTOSCOPIA: </a:t>
            </a:r>
            <a:r>
              <a:rPr lang="es-CO" sz="2200">
                <a:latin typeface="Arial"/>
                <a:ea typeface="Arial"/>
                <a:cs typeface="Arial"/>
                <a:sym typeface="Arial"/>
              </a:rPr>
              <a:t>NORMAL</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CARDIOPULMONAR: </a:t>
            </a:r>
            <a:r>
              <a:rPr lang="es-CO" sz="2200">
                <a:latin typeface="Arial"/>
                <a:ea typeface="Arial"/>
                <a:cs typeface="Arial"/>
                <a:sym typeface="Arial"/>
              </a:rPr>
              <a:t>SIN SOPLOS CARDIACOS NI AGREGADOS PULMONARES</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ABDOMEN: UTERO GRAVIDO AU 23 CM FETO UNICO VIVO, FCF 148 LPM</a:t>
            </a:r>
            <a:endParaRPr/>
          </a:p>
        </p:txBody>
      </p:sp>
      <p:sp>
        <p:nvSpPr>
          <p:cNvPr id="343" name="Google Shape;343;g3961b9e4146_1_82"/>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3961b9e4146_1_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Arial"/>
              <a:buNone/>
            </a:pPr>
            <a:r>
              <a:rPr lang="es-CO" sz="3200" b="1">
                <a:latin typeface="Arial"/>
                <a:ea typeface="Arial"/>
                <a:cs typeface="Arial"/>
                <a:sym typeface="Arial"/>
              </a:rPr>
              <a:t>EXAMEN FÍSICO(15/12/2025)</a:t>
            </a:r>
            <a:endParaRPr sz="3200" b="1">
              <a:latin typeface="Arial"/>
              <a:ea typeface="Arial"/>
              <a:cs typeface="Arial"/>
              <a:sym typeface="Arial"/>
            </a:endParaRPr>
          </a:p>
        </p:txBody>
      </p:sp>
      <p:sp>
        <p:nvSpPr>
          <p:cNvPr id="349" name="Google Shape;349;g3961b9e4146_1_88"/>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l" rtl="0">
              <a:lnSpc>
                <a:spcPct val="90000"/>
              </a:lnSpc>
              <a:spcBef>
                <a:spcPts val="0"/>
              </a:spcBef>
              <a:spcAft>
                <a:spcPts val="0"/>
              </a:spcAft>
              <a:buClr>
                <a:schemeClr val="dk1"/>
              </a:buClr>
              <a:buSzPts val="2200"/>
              <a:buChar char="•"/>
            </a:pPr>
            <a:r>
              <a:rPr lang="es-CO" sz="2200" b="1">
                <a:latin typeface="Arial"/>
                <a:ea typeface="Arial"/>
                <a:cs typeface="Arial"/>
                <a:sym typeface="Arial"/>
              </a:rPr>
              <a:t>PELVIS: </a:t>
            </a:r>
            <a:r>
              <a:rPr lang="es-CO" sz="2200">
                <a:latin typeface="Arial"/>
                <a:ea typeface="Arial"/>
                <a:cs typeface="Arial"/>
                <a:sym typeface="Arial"/>
              </a:rPr>
              <a:t>NORMAL</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GENITOURINARIO: </a:t>
            </a:r>
            <a:r>
              <a:rPr lang="es-CO" sz="2200">
                <a:latin typeface="Arial"/>
                <a:ea typeface="Arial"/>
                <a:cs typeface="Arial"/>
                <a:sym typeface="Arial"/>
              </a:rPr>
              <a:t>SE OMITE TV</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EXTREMIDADES: </a:t>
            </a:r>
            <a:r>
              <a:rPr lang="es-CO" sz="2200">
                <a:latin typeface="Arial"/>
                <a:ea typeface="Arial"/>
                <a:cs typeface="Arial"/>
                <a:sym typeface="Arial"/>
              </a:rPr>
              <a:t>NO EDEMAS</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OSTEOMUSCULAR: </a:t>
            </a:r>
            <a:r>
              <a:rPr lang="es-CO" sz="2200">
                <a:latin typeface="Arial"/>
                <a:ea typeface="Arial"/>
                <a:cs typeface="Arial"/>
                <a:sym typeface="Arial"/>
              </a:rPr>
              <a:t>NORMAL</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NEUROLOGICO: </a:t>
            </a:r>
            <a:r>
              <a:rPr lang="es-CO" sz="2200">
                <a:latin typeface="Arial"/>
                <a:ea typeface="Arial"/>
                <a:cs typeface="Arial"/>
                <a:sym typeface="Arial"/>
              </a:rPr>
              <a:t>SIN DEFICIT FOCAL APARENTE.</a:t>
            </a:r>
            <a:endParaRPr/>
          </a:p>
          <a:p>
            <a:pPr marL="228594" lvl="0" indent="-228594" algn="l" rtl="0">
              <a:lnSpc>
                <a:spcPct val="90000"/>
              </a:lnSpc>
              <a:spcBef>
                <a:spcPts val="1000"/>
              </a:spcBef>
              <a:spcAft>
                <a:spcPts val="0"/>
              </a:spcAft>
              <a:buClr>
                <a:schemeClr val="dk1"/>
              </a:buClr>
              <a:buSzPts val="2200"/>
              <a:buChar char="•"/>
            </a:pPr>
            <a:r>
              <a:rPr lang="es-CO" sz="2200" b="1">
                <a:latin typeface="Arial"/>
                <a:ea typeface="Arial"/>
                <a:cs typeface="Arial"/>
                <a:sym typeface="Arial"/>
              </a:rPr>
              <a:t>PIEL: </a:t>
            </a:r>
            <a:r>
              <a:rPr lang="es-CO" sz="2200">
                <a:latin typeface="Arial"/>
                <a:ea typeface="Arial"/>
                <a:cs typeface="Arial"/>
                <a:sym typeface="Arial"/>
              </a:rPr>
              <a:t>NORMAL</a:t>
            </a:r>
            <a:endParaRPr/>
          </a:p>
        </p:txBody>
      </p:sp>
      <p:sp>
        <p:nvSpPr>
          <p:cNvPr id="350" name="Google Shape;350;g3961b9e4146_1_88"/>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3961b9e4146_1_9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ANALISIS(15/12/2025)</a:t>
            </a:r>
            <a:endParaRPr/>
          </a:p>
        </p:txBody>
      </p:sp>
      <p:sp>
        <p:nvSpPr>
          <p:cNvPr id="356" name="Google Shape;356;g3961b9e4146_1_94"/>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fontScale="77500" lnSpcReduction="20000"/>
          </a:bodyPr>
          <a:lstStyle/>
          <a:p>
            <a:pPr marL="228594" lvl="0" indent="-228594" algn="just" rtl="0">
              <a:lnSpc>
                <a:spcPct val="90000"/>
              </a:lnSpc>
              <a:spcBef>
                <a:spcPts val="0"/>
              </a:spcBef>
              <a:spcAft>
                <a:spcPts val="0"/>
              </a:spcAft>
              <a:buClr>
                <a:schemeClr val="dk1"/>
              </a:buClr>
              <a:buSzPct val="127272"/>
              <a:buChar char="•"/>
            </a:pPr>
            <a:r>
              <a:rPr lang="es-CO">
                <a:latin typeface="Arial"/>
                <a:ea typeface="Arial"/>
                <a:cs typeface="Arial"/>
                <a:sym typeface="Arial"/>
              </a:rPr>
              <a:t>PACIENTE DE 22 AÑOS CON DIAGNOSTICOS ANOTADOS, ASISTE A CONSULTA DE GINECOLOGIA, REFIERE SENTRISE BIEN, ASINTOMATICA. EN EL MOMENTO EN BUENAS CONDICIONES GENERALES, NORMOTENSA, NO TAQUICARDICA , AFEBRIL, SIN TAQUCIARIDA, ON BIENESATR FETAL POR FETOCARDIA AUDIBLE, </a:t>
            </a:r>
            <a:r>
              <a:rPr lang="es-CO" b="1">
                <a:latin typeface="Arial"/>
                <a:ea typeface="Arial"/>
                <a:cs typeface="Arial"/>
                <a:sym typeface="Arial"/>
              </a:rPr>
              <a:t>EXAMANES DE PRIMER TRIMRESTRE COMPLETO Y NORMALES, II TRIMESTRE INCOMPLETOS DENTRO DE PARAMETROS NORMALES. SS PTOG, NO TIENE TREPONEMA. ECOGRAFIAS CON BAJO RIESGO DE ANEUPLOIDIAS POR TN, ECO DE DDETALLE ANATOMICO NORMAL, NO TIENE DOPPLER DE UTERINAS (TIENE LA ORDEN) NI CERVICOMETRIA</a:t>
            </a:r>
            <a:r>
              <a:rPr lang="es-CO">
                <a:latin typeface="Arial"/>
                <a:ea typeface="Arial"/>
                <a:cs typeface="Arial"/>
                <a:sym typeface="Arial"/>
              </a:rPr>
              <a:t>, SE ENCUENTRA CON PREVENCION PRIMARIA PARA PREECLAMSIA CON </a:t>
            </a:r>
            <a:r>
              <a:rPr lang="es-CO" b="1">
                <a:latin typeface="Arial"/>
                <a:ea typeface="Arial"/>
                <a:cs typeface="Arial"/>
                <a:sym typeface="Arial"/>
              </a:rPr>
              <a:t>ASA 100 MG VO Y CALCIO 1200 MG VO</a:t>
            </a:r>
            <a:r>
              <a:rPr lang="es-CO">
                <a:latin typeface="Arial"/>
                <a:ea typeface="Arial"/>
                <a:cs typeface="Arial"/>
                <a:sym typeface="Arial"/>
              </a:rPr>
              <a:t>, SE INDICA CONTINUAR MICRONUTRIENTES CORRESPONDIENTES A EDAD GESTACIONAL, ( CALCIO ) , SE CITA ACONTROL EN UN MES; SE DAN RECOMENDACIONES GENERALES Y SIGNOS DE ALARMA, SE EXPLICA A PACIENTE QUIEN ENTIENDE Y ACEPTA. SS CERVICOMETRIA</a:t>
            </a:r>
            <a:endParaRPr sz="2200">
              <a:latin typeface="Arial"/>
              <a:ea typeface="Arial"/>
              <a:cs typeface="Arial"/>
              <a:sym typeface="Arial"/>
            </a:endParaRPr>
          </a:p>
        </p:txBody>
      </p:sp>
      <p:sp>
        <p:nvSpPr>
          <p:cNvPr id="357" name="Google Shape;357;g3961b9e4146_1_94"/>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g3961b9e4146_1_10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Arial"/>
              <a:buNone/>
            </a:pPr>
            <a:r>
              <a:rPr lang="es-CO" sz="3600" b="1">
                <a:latin typeface="Arial"/>
                <a:ea typeface="Arial"/>
                <a:cs typeface="Arial"/>
                <a:sym typeface="Arial"/>
              </a:rPr>
              <a:t>PLAN</a:t>
            </a:r>
            <a:r>
              <a:rPr lang="es-CO" sz="3200" b="1">
                <a:latin typeface="Arial"/>
                <a:ea typeface="Arial"/>
                <a:cs typeface="Arial"/>
                <a:sym typeface="Arial"/>
              </a:rPr>
              <a:t>(15/12/2025)</a:t>
            </a:r>
            <a:endParaRPr/>
          </a:p>
        </p:txBody>
      </p:sp>
      <p:sp>
        <p:nvSpPr>
          <p:cNvPr id="363" name="Google Shape;363;g3961b9e4146_1_100"/>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l" rtl="0">
              <a:lnSpc>
                <a:spcPct val="90000"/>
              </a:lnSpc>
              <a:spcBef>
                <a:spcPts val="0"/>
              </a:spcBef>
              <a:spcAft>
                <a:spcPts val="0"/>
              </a:spcAft>
              <a:buClr>
                <a:schemeClr val="dk1"/>
              </a:buClr>
              <a:buSzPts val="2200"/>
              <a:buChar char="•"/>
            </a:pPr>
            <a:r>
              <a:rPr lang="es-CO" sz="2200">
                <a:latin typeface="Arial"/>
                <a:ea typeface="Arial"/>
                <a:cs typeface="Arial"/>
                <a:sym typeface="Arial"/>
              </a:rPr>
              <a:t>SE SOLICITA CONTROL EN 1 MES</a:t>
            </a:r>
            <a:endParaRPr/>
          </a:p>
          <a:p>
            <a:pPr marL="228594" lvl="0" indent="-228594" algn="l" rtl="0">
              <a:lnSpc>
                <a:spcPct val="90000"/>
              </a:lnSpc>
              <a:spcBef>
                <a:spcPts val="1000"/>
              </a:spcBef>
              <a:spcAft>
                <a:spcPts val="0"/>
              </a:spcAft>
              <a:buClr>
                <a:schemeClr val="dk1"/>
              </a:buClr>
              <a:buSzPts val="2200"/>
              <a:buChar char="•"/>
            </a:pPr>
            <a:r>
              <a:rPr lang="es-CO" sz="2200">
                <a:latin typeface="Arial"/>
                <a:ea typeface="Arial"/>
                <a:cs typeface="Arial"/>
                <a:sym typeface="Arial"/>
              </a:rPr>
              <a:t>SS/ TREPONEMA, PTOG SEM 24-28,</a:t>
            </a:r>
            <a:endParaRPr/>
          </a:p>
          <a:p>
            <a:pPr marL="228594" lvl="0" indent="-228594" algn="l" rtl="0">
              <a:lnSpc>
                <a:spcPct val="90000"/>
              </a:lnSpc>
              <a:spcBef>
                <a:spcPts val="1000"/>
              </a:spcBef>
              <a:spcAft>
                <a:spcPts val="0"/>
              </a:spcAft>
              <a:buClr>
                <a:schemeClr val="dk1"/>
              </a:buClr>
              <a:buSzPts val="2200"/>
              <a:buChar char="•"/>
            </a:pPr>
            <a:r>
              <a:rPr lang="es-CO" sz="2200">
                <a:latin typeface="Arial"/>
                <a:ea typeface="Arial"/>
                <a:cs typeface="Arial"/>
                <a:sym typeface="Arial"/>
              </a:rPr>
              <a:t>SS CERVICOMETRIA</a:t>
            </a:r>
            <a:endParaRPr/>
          </a:p>
          <a:p>
            <a:pPr marL="228594" lvl="0" indent="-228594" algn="l" rtl="0">
              <a:lnSpc>
                <a:spcPct val="90000"/>
              </a:lnSpc>
              <a:spcBef>
                <a:spcPts val="1000"/>
              </a:spcBef>
              <a:spcAft>
                <a:spcPts val="0"/>
              </a:spcAft>
              <a:buClr>
                <a:schemeClr val="dk1"/>
              </a:buClr>
              <a:buSzPts val="2200"/>
              <a:buChar char="•"/>
            </a:pPr>
            <a:r>
              <a:rPr lang="es-CO" sz="2200">
                <a:latin typeface="Arial"/>
                <a:ea typeface="Arial"/>
                <a:cs typeface="Arial"/>
                <a:sym typeface="Arial"/>
              </a:rPr>
              <a:t>CARBONATO DE CALCIO: TOMAR 2 TABLETAS DIARIAS : DOSIS 1200 MG DÍA</a:t>
            </a:r>
            <a:endParaRPr/>
          </a:p>
          <a:p>
            <a:pPr marL="228594" lvl="0" indent="-228594" algn="l" rtl="0">
              <a:lnSpc>
                <a:spcPct val="90000"/>
              </a:lnSpc>
              <a:spcBef>
                <a:spcPts val="1000"/>
              </a:spcBef>
              <a:spcAft>
                <a:spcPts val="0"/>
              </a:spcAft>
              <a:buClr>
                <a:schemeClr val="dk1"/>
              </a:buClr>
              <a:buSzPts val="2200"/>
              <a:buChar char="•"/>
            </a:pPr>
            <a:r>
              <a:rPr lang="es-CO" sz="2200">
                <a:latin typeface="Arial"/>
                <a:ea typeface="Arial"/>
                <a:cs typeface="Arial"/>
                <a:sym typeface="Arial"/>
              </a:rPr>
              <a:t>ASA 100 MG VO EN LA NOCHE</a:t>
            </a:r>
            <a:endParaRPr/>
          </a:p>
          <a:p>
            <a:pPr marL="228594" lvl="0" indent="-228594" algn="l" rtl="0">
              <a:lnSpc>
                <a:spcPct val="90000"/>
              </a:lnSpc>
              <a:spcBef>
                <a:spcPts val="1000"/>
              </a:spcBef>
              <a:spcAft>
                <a:spcPts val="0"/>
              </a:spcAft>
              <a:buClr>
                <a:schemeClr val="dk1"/>
              </a:buClr>
              <a:buSzPts val="2200"/>
              <a:buChar char="•"/>
            </a:pPr>
            <a:r>
              <a:rPr lang="es-CO" sz="2200">
                <a:latin typeface="Arial"/>
                <a:ea typeface="Arial"/>
                <a:cs typeface="Arial"/>
                <a:sym typeface="Arial"/>
              </a:rPr>
              <a:t> PENDIENTE ECO DE DETALLE ANATOMIO Y DOPPLER DE UTERINAS.</a:t>
            </a:r>
            <a:endParaRPr/>
          </a:p>
          <a:p>
            <a:pPr marL="228594" lvl="0" indent="-228594" algn="l" rtl="0">
              <a:lnSpc>
                <a:spcPct val="90000"/>
              </a:lnSpc>
              <a:spcBef>
                <a:spcPts val="1000"/>
              </a:spcBef>
              <a:spcAft>
                <a:spcPts val="0"/>
              </a:spcAft>
              <a:buClr>
                <a:schemeClr val="dk1"/>
              </a:buClr>
              <a:buSzPts val="2200"/>
              <a:buChar char="•"/>
            </a:pPr>
            <a:r>
              <a:rPr lang="es-CO" sz="2200">
                <a:latin typeface="Arial"/>
                <a:ea typeface="Arial"/>
                <a:cs typeface="Arial"/>
                <a:sym typeface="Arial"/>
              </a:rPr>
              <a:t>´ PENDIENTE INICIO DE VACUNAS.</a:t>
            </a:r>
            <a:endParaRPr/>
          </a:p>
        </p:txBody>
      </p:sp>
      <p:sp>
        <p:nvSpPr>
          <p:cNvPr id="364" name="Google Shape;364;g3961b9e4146_1_100"/>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DD4FC7-A2CE-5D64-CA39-6233C4262D6C}"/>
              </a:ext>
            </a:extLst>
          </p:cNvPr>
          <p:cNvSpPr>
            <a:spLocks noGrp="1"/>
          </p:cNvSpPr>
          <p:nvPr>
            <p:ph type="title"/>
          </p:nvPr>
        </p:nvSpPr>
        <p:spPr/>
        <p:txBody>
          <a:bodyPr/>
          <a:lstStyle/>
          <a:p>
            <a:pPr algn="r"/>
            <a:r>
              <a:rPr lang="es-CO" dirty="0"/>
              <a:t>23/12/2025</a:t>
            </a:r>
          </a:p>
        </p:txBody>
      </p:sp>
      <p:sp>
        <p:nvSpPr>
          <p:cNvPr id="3" name="Marcador de texto 2">
            <a:extLst>
              <a:ext uri="{FF2B5EF4-FFF2-40B4-BE49-F238E27FC236}">
                <a16:creationId xmlns:a16="http://schemas.microsoft.com/office/drawing/2014/main" id="{044A32A8-FBDE-051C-6801-8DA8A23759D4}"/>
              </a:ext>
            </a:extLst>
          </p:cNvPr>
          <p:cNvSpPr>
            <a:spLocks noGrp="1"/>
          </p:cNvSpPr>
          <p:nvPr>
            <p:ph type="body" idx="1"/>
          </p:nvPr>
        </p:nvSpPr>
        <p:spPr/>
        <p:txBody>
          <a:bodyPr/>
          <a:lstStyle/>
          <a:p>
            <a:endParaRPr lang="es-CO" dirty="0"/>
          </a:p>
        </p:txBody>
      </p:sp>
      <p:pic>
        <p:nvPicPr>
          <p:cNvPr id="5" name="Imagen 4" descr="Una captura de pantalla de un celular&#10;&#10;El contenido generado por IA puede ser incorrecto.">
            <a:extLst>
              <a:ext uri="{FF2B5EF4-FFF2-40B4-BE49-F238E27FC236}">
                <a16:creationId xmlns:a16="http://schemas.microsoft.com/office/drawing/2014/main" id="{CF599451-2311-0517-6FE3-C855CAFC9F49}"/>
              </a:ext>
            </a:extLst>
          </p:cNvPr>
          <p:cNvPicPr>
            <a:picLocks noChangeAspect="1"/>
          </p:cNvPicPr>
          <p:nvPr/>
        </p:nvPicPr>
        <p:blipFill>
          <a:blip r:embed="rId2"/>
          <a:stretch>
            <a:fillRect/>
          </a:stretch>
        </p:blipFill>
        <p:spPr>
          <a:xfrm>
            <a:off x="358476" y="199574"/>
            <a:ext cx="7935432" cy="6458851"/>
          </a:xfrm>
          <a:prstGeom prst="rect">
            <a:avLst/>
          </a:prstGeom>
          <a:ln>
            <a:solidFill>
              <a:srgbClr val="FF0000"/>
            </a:solidFill>
          </a:ln>
        </p:spPr>
      </p:pic>
    </p:spTree>
    <p:extLst>
      <p:ext uri="{BB962C8B-B14F-4D97-AF65-F5344CB8AC3E}">
        <p14:creationId xmlns:p14="http://schemas.microsoft.com/office/powerpoint/2010/main" val="1498695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3961b9e4146_1_10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INGRESO GINECOOBSTETRICIA(28/12/2025)</a:t>
            </a:r>
            <a:endParaRPr/>
          </a:p>
        </p:txBody>
      </p:sp>
      <p:sp>
        <p:nvSpPr>
          <p:cNvPr id="370" name="Google Shape;370;g3961b9e4146_1_106"/>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s-CO" sz="2200" b="1" i="1">
                <a:latin typeface="Arial"/>
                <a:ea typeface="Arial"/>
                <a:cs typeface="Arial"/>
                <a:sym typeface="Arial"/>
              </a:rPr>
              <a:t>MOTIVO DE LA CONSULTA:”</a:t>
            </a:r>
            <a:r>
              <a:rPr lang="es-CO" sz="2200">
                <a:latin typeface="Arial"/>
                <a:ea typeface="Arial"/>
                <a:cs typeface="Arial"/>
                <a:sym typeface="Arial"/>
              </a:rPr>
              <a:t>TENGO DOLRO BAJITO”</a:t>
            </a:r>
            <a:endParaRPr/>
          </a:p>
          <a:p>
            <a:pPr marL="0" lvl="0" indent="0" algn="l" rtl="0">
              <a:lnSpc>
                <a:spcPct val="90000"/>
              </a:lnSpc>
              <a:spcBef>
                <a:spcPts val="1000"/>
              </a:spcBef>
              <a:spcAft>
                <a:spcPts val="0"/>
              </a:spcAft>
              <a:buClr>
                <a:schemeClr val="dk1"/>
              </a:buClr>
              <a:buSzPts val="2200"/>
              <a:buNone/>
            </a:pPr>
            <a:r>
              <a:rPr lang="es-CO" sz="2200" b="1" i="1">
                <a:latin typeface="Arial"/>
                <a:ea typeface="Arial"/>
                <a:cs typeface="Arial"/>
                <a:sym typeface="Arial"/>
              </a:rPr>
              <a:t>ENFERMEDA ACTUAL:</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PACIENTE DE 22 AÑOS G2P0A1V0 CON ECOGRAFÍA DE TAMIZAJE : GESTACIÓN (29/9/2025) 24.3 SEMANAS POR ECO -- INGRESA AL SERVICIO DE URGENCIAS DADO CUADRO CLINICO DE 10 HORAS DE EVOLUCION CONSISTENTE EN DOLOR ABDOMINAL TIPO COLICO , ASOCIADO A SINTOMATOLOGIA GASTROINETSTINAL, Y SENSACION DE DISURIA , NIEGA SANGRADO VAGINAL AMNIORREA, NIEGA FOSFENOS NO TINNITUS ,NO EPIGASTRALGIA REFIERE DIURESIS NORMAL DEPOSCION NORMAL NIEGA TOS</a:t>
            </a:r>
            <a:endParaRPr/>
          </a:p>
        </p:txBody>
      </p:sp>
      <p:sp>
        <p:nvSpPr>
          <p:cNvPr id="371" name="Google Shape;371;g3961b9e4146_1_106"/>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961b9e4146_1_1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EXAMEN FISICO(28/12/2025)</a:t>
            </a:r>
            <a:endParaRPr/>
          </a:p>
        </p:txBody>
      </p:sp>
      <p:pic>
        <p:nvPicPr>
          <p:cNvPr id="377" name="Google Shape;377;g3961b9e4146_1_112"/>
          <p:cNvPicPr preferRelativeResize="0"/>
          <p:nvPr/>
        </p:nvPicPr>
        <p:blipFill rotWithShape="1">
          <a:blip r:embed="rId3">
            <a:alphaModFix/>
          </a:blip>
          <a:srcRect/>
          <a:stretch/>
        </p:blipFill>
        <p:spPr>
          <a:xfrm>
            <a:off x="2528389" y="1614234"/>
            <a:ext cx="7135221" cy="362953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3961b9e4146_1_1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EXAMEN FISICO(28/12/2025)</a:t>
            </a:r>
            <a:endParaRPr/>
          </a:p>
        </p:txBody>
      </p:sp>
      <p:sp>
        <p:nvSpPr>
          <p:cNvPr id="383" name="Google Shape;383;g3961b9e4146_1_117"/>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Autofit/>
          </a:bodyPr>
          <a:lstStyle/>
          <a:p>
            <a:pPr marL="228594" lvl="0" indent="-228594" algn="just" rtl="0">
              <a:lnSpc>
                <a:spcPct val="90000"/>
              </a:lnSpc>
              <a:spcBef>
                <a:spcPts val="0"/>
              </a:spcBef>
              <a:spcAft>
                <a:spcPts val="0"/>
              </a:spcAft>
              <a:buClr>
                <a:schemeClr val="dk1"/>
              </a:buClr>
              <a:buSzPts val="2200"/>
              <a:buChar char="•"/>
            </a:pPr>
            <a:r>
              <a:rPr lang="es-CO" sz="2200">
                <a:latin typeface="Arial"/>
                <a:ea typeface="Arial"/>
                <a:cs typeface="Arial"/>
                <a:sym typeface="Arial"/>
              </a:rPr>
              <a:t>SE REALIZA VALORACIÓN CON ELEMENTOS DE PROTECCIÓN PERSONAL</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PACIENTE EN BUENAS CONDICIONES GENERALES, INGRESA PACIENTE POR SUS PROPIOS MEDIOS</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CABEZA: ESCLERAS ANICTÉRICAS, CONJUNTIVAS NORMOCROMICAS, PUPILAS NORMORREACTIVAS,MUCOSA ORAL HÚMEDA, OROFARINGE NO CONGESTIVA. CUELLO: MÓVIL, NO DOLOROSO, SIN MASAS, NIADENOPATÍAS.</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TÓRAX: SIMÉTRICO, RUIDOS CARDIACOS RÍTMICOS SIN SOPLOS, MURMULLO VESICULAR CONSERVADO,</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SIN AGREGADOS PULMONARES. </a:t>
            </a:r>
            <a:endParaRPr/>
          </a:p>
        </p:txBody>
      </p:sp>
      <p:sp>
        <p:nvSpPr>
          <p:cNvPr id="384" name="Google Shape;384;g3961b9e4146_1_117"/>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3961b9e4146_1_1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EXAMEN FISICO(28/12/2025)</a:t>
            </a:r>
            <a:endParaRPr/>
          </a:p>
        </p:txBody>
      </p:sp>
      <p:sp>
        <p:nvSpPr>
          <p:cNvPr id="390" name="Google Shape;390;g3961b9e4146_1_123"/>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lnSpcReduction="10000"/>
          </a:bodyPr>
          <a:lstStyle/>
          <a:p>
            <a:pPr marL="228594" lvl="0" indent="-228594" algn="just" rtl="0">
              <a:lnSpc>
                <a:spcPct val="90000"/>
              </a:lnSpc>
              <a:spcBef>
                <a:spcPts val="0"/>
              </a:spcBef>
              <a:spcAft>
                <a:spcPts val="0"/>
              </a:spcAft>
              <a:buClr>
                <a:schemeClr val="dk1"/>
              </a:buClr>
              <a:buSzPts val="2200"/>
              <a:buChar char="•"/>
            </a:pPr>
            <a:r>
              <a:rPr lang="es-CO" sz="2200">
                <a:latin typeface="Arial"/>
                <a:ea typeface="Arial"/>
                <a:cs typeface="Arial"/>
                <a:sym typeface="Arial"/>
              </a:rPr>
              <a:t>ABDOMEN: GLOBOSO POR GRAVIDEZ, </a:t>
            </a:r>
            <a:r>
              <a:rPr lang="es-CO" sz="2200" b="1">
                <a:latin typeface="Arial"/>
                <a:ea typeface="Arial"/>
                <a:cs typeface="Arial"/>
                <a:sym typeface="Arial"/>
              </a:rPr>
              <a:t>AU: 16 CM, FETO ÚNICO VIVO, PRESENTACIÓN: CEFÁLICO, LONGITUDINAL, DORSO DERECHO, CON FCF 145 LPM, AUSCULTADA CON DOPPLER ESCUCHADO POR PAREJA Y MATERNA ABDOMEN BLANDO DEPRESIBLE NO DOLOROSO PUÑO PERCUSIÓN NEG</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G/U: GENITALES EXTERNOS NORMOCONFIGURADOS, TACTO VAGINAL: VAGINA NT/NE, CON CUELLO POSTERIOR LARGO DURO OCE CERRADO</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EXTREMIDADES EUTRÓFICAS PULSOS PERIFÉRICOS POSITIVOS PARA LAS 4 EXTREMIDADES LLENADO CAPILAR MENOR A 3 SEGUNDOS NO DOLOR NO EDEMAS</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NEUROLOGIOCO CONCIENTE ORIENTADA EN LAS 3 ESFERAS PINRAL G 15/15 ROT ++/++++ FM 5/5 PARA LAS 4 EXTREMIDADES</a:t>
            </a:r>
            <a:endParaRPr/>
          </a:p>
          <a:p>
            <a:pPr marL="228594" lvl="0" indent="-228594" algn="just" rtl="0">
              <a:lnSpc>
                <a:spcPct val="90000"/>
              </a:lnSpc>
              <a:spcBef>
                <a:spcPts val="1000"/>
              </a:spcBef>
              <a:spcAft>
                <a:spcPts val="0"/>
              </a:spcAft>
              <a:buClr>
                <a:schemeClr val="dk1"/>
              </a:buClr>
              <a:buSzPts val="2200"/>
              <a:buChar char="•"/>
            </a:pPr>
            <a:r>
              <a:rPr lang="es-CO" sz="2200">
                <a:latin typeface="Arial"/>
                <a:ea typeface="Arial"/>
                <a:cs typeface="Arial"/>
                <a:sym typeface="Arial"/>
              </a:rPr>
              <a:t>PIEL: SIN ALTERACIÓN POR LA PACIENTE.</a:t>
            </a:r>
            <a:endParaRPr sz="2200">
              <a:latin typeface="Arial"/>
              <a:ea typeface="Arial"/>
              <a:cs typeface="Arial"/>
              <a:sym typeface="Arial"/>
            </a:endParaRPr>
          </a:p>
          <a:p>
            <a:pPr marL="228594" lvl="0" indent="-88893" algn="just" rtl="0">
              <a:lnSpc>
                <a:spcPct val="90000"/>
              </a:lnSpc>
              <a:spcBef>
                <a:spcPts val="1000"/>
              </a:spcBef>
              <a:spcAft>
                <a:spcPts val="0"/>
              </a:spcAft>
              <a:buClr>
                <a:schemeClr val="dk1"/>
              </a:buClr>
              <a:buSzPts val="2200"/>
              <a:buNone/>
            </a:pPr>
            <a:endParaRPr sz="2200">
              <a:latin typeface="Arial"/>
              <a:ea typeface="Arial"/>
              <a:cs typeface="Arial"/>
              <a:sym typeface="Arial"/>
            </a:endParaRPr>
          </a:p>
        </p:txBody>
      </p:sp>
      <p:sp>
        <p:nvSpPr>
          <p:cNvPr id="391" name="Google Shape;391;g3961b9e4146_1_123"/>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g3961b9e4146_1_1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Arial"/>
              <a:buNone/>
            </a:pPr>
            <a:r>
              <a:rPr lang="es-CO" sz="3200" b="1">
                <a:latin typeface="Arial"/>
                <a:ea typeface="Arial"/>
                <a:cs typeface="Arial"/>
                <a:sym typeface="Arial"/>
              </a:rPr>
              <a:t>ANALISIS(28/12/2025)</a:t>
            </a:r>
            <a:endParaRPr/>
          </a:p>
        </p:txBody>
      </p:sp>
      <p:sp>
        <p:nvSpPr>
          <p:cNvPr id="397" name="Google Shape;397;g3961b9e4146_1_129"/>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Autofit/>
          </a:bodyPr>
          <a:lstStyle/>
          <a:p>
            <a:pPr marL="228594" lvl="0" indent="-228594" algn="just" rtl="0">
              <a:lnSpc>
                <a:spcPct val="90000"/>
              </a:lnSpc>
              <a:spcBef>
                <a:spcPts val="0"/>
              </a:spcBef>
              <a:spcAft>
                <a:spcPts val="0"/>
              </a:spcAft>
              <a:buClr>
                <a:schemeClr val="dk1"/>
              </a:buClr>
              <a:buSzPts val="2200"/>
              <a:buChar char="•"/>
            </a:pPr>
            <a:r>
              <a:rPr lang="es-CO" sz="2200">
                <a:latin typeface="Arial"/>
                <a:ea typeface="Arial"/>
                <a:cs typeface="Arial"/>
                <a:sym typeface="Arial"/>
              </a:rPr>
              <a:t>PACIENTE DE 22 AÑOS G1P0 CON EMBARAZO DE 24.3 SEMANAS POR ECO I QUIEN INGRESA AL SERVICIO DE URGENCIAS DADO CUADRO CLINICO DE DOLOR ABDOMINAL TIPO COLICO ASOCIADO A DOLOR EN REGION LUMBAR Y SINTOMAS GASTROINETSTINALES EN EL MOMENTO EN BUENAS CONDICIONES GENERALES. ESTABLE  HEMODINÁMICAMENTE, </a:t>
            </a:r>
            <a:r>
              <a:rPr lang="es-CO" sz="2200" b="1">
                <a:latin typeface="Arial"/>
                <a:ea typeface="Arial"/>
                <a:cs typeface="Arial"/>
                <a:sym typeface="Arial"/>
              </a:rPr>
              <a:t>AL EXAMEN FÍSICO DENTRO DE PARÁMETROS NORMALES, NORMOTENSA, NO TAQUICARDICA</a:t>
            </a:r>
            <a:r>
              <a:rPr lang="es-CO" sz="2200">
                <a:latin typeface="Arial"/>
                <a:ea typeface="Arial"/>
                <a:cs typeface="Arial"/>
                <a:sym typeface="Arial"/>
              </a:rPr>
              <a:t>, SE REALIZA EVALUACIÓN DEL RIESGO SE CONSIDERA EMBARAZO DE ALTO POR : PRIMIGESTANTE SE INDICA IDX: GASTROENTERITIS </a:t>
            </a:r>
            <a:r>
              <a:rPr lang="es-CO" sz="2200" b="1">
                <a:latin typeface="Arial"/>
                <a:ea typeface="Arial"/>
                <a:cs typeface="Arial"/>
                <a:sym typeface="Arial"/>
              </a:rPr>
              <a:t>SE INDICA MANEJO ANALEGSICO, PARACLINICOS Y LIQUIDOS ENDOVENOSOS SE EXPLICA AMNEJO A PACIENTE,ACEPTA Y ENTIENDE MANEJO.</a:t>
            </a:r>
            <a:endParaRPr/>
          </a:p>
        </p:txBody>
      </p:sp>
      <p:sp>
        <p:nvSpPr>
          <p:cNvPr id="398" name="Google Shape;398;g3961b9e4146_1_129"/>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1"/>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s-CO" b="1"/>
              <a:t>CONSULTA – GINECOLOGIA Y OBSTETRICIA  24/01/2026</a:t>
            </a:r>
            <a:endParaRPr b="1"/>
          </a:p>
        </p:txBody>
      </p:sp>
      <p:sp>
        <p:nvSpPr>
          <p:cNvPr id="404" name="Google Shape;404;p21"/>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l" rtl="0">
              <a:lnSpc>
                <a:spcPct val="90000"/>
              </a:lnSpc>
              <a:spcBef>
                <a:spcPts val="0"/>
              </a:spcBef>
              <a:spcAft>
                <a:spcPts val="0"/>
              </a:spcAft>
              <a:buClr>
                <a:schemeClr val="dk1"/>
              </a:buClr>
              <a:buSzPts val="2400"/>
              <a:buChar char="•"/>
            </a:pPr>
            <a:r>
              <a:rPr lang="es-CO" sz="2400" b="1">
                <a:latin typeface="Arial"/>
                <a:ea typeface="Arial"/>
                <a:cs typeface="Arial"/>
                <a:sym typeface="Arial"/>
              </a:rPr>
              <a:t>MOTIVO DE CONSULTA:</a:t>
            </a:r>
            <a:endParaRPr/>
          </a:p>
          <a:p>
            <a:pPr marL="0" lvl="0" indent="0" algn="l" rtl="0">
              <a:lnSpc>
                <a:spcPct val="90000"/>
              </a:lnSpc>
              <a:spcBef>
                <a:spcPts val="1000"/>
              </a:spcBef>
              <a:spcAft>
                <a:spcPts val="0"/>
              </a:spcAft>
              <a:buClr>
                <a:schemeClr val="dk1"/>
              </a:buClr>
              <a:buSzPts val="2400"/>
              <a:buNone/>
            </a:pPr>
            <a:endParaRPr sz="2400" b="1">
              <a:latin typeface="Arial"/>
              <a:ea typeface="Arial"/>
              <a:cs typeface="Arial"/>
              <a:sym typeface="Arial"/>
            </a:endParaRPr>
          </a:p>
          <a:p>
            <a:pPr marL="0" lvl="0" indent="0" algn="l" rtl="0">
              <a:lnSpc>
                <a:spcPct val="90000"/>
              </a:lnSpc>
              <a:spcBef>
                <a:spcPts val="1000"/>
              </a:spcBef>
              <a:spcAft>
                <a:spcPts val="0"/>
              </a:spcAft>
              <a:buClr>
                <a:schemeClr val="dk1"/>
              </a:buClr>
              <a:buSzPts val="2400"/>
              <a:buNone/>
            </a:pPr>
            <a:r>
              <a:rPr lang="es-CO" sz="2400">
                <a:latin typeface="Arial"/>
                <a:ea typeface="Arial"/>
                <a:cs typeface="Arial"/>
                <a:sym typeface="Arial"/>
              </a:rPr>
              <a:t>“CONSULTA GINECOLOGIA Y OBSTETRICIA # 9,EMBARAZO DE 28.2 SEMANAS”</a:t>
            </a:r>
            <a:endParaRPr/>
          </a:p>
          <a:p>
            <a:pPr marL="228594" lvl="0" indent="-228594" algn="l" rtl="0">
              <a:lnSpc>
                <a:spcPct val="90000"/>
              </a:lnSpc>
              <a:spcBef>
                <a:spcPts val="1000"/>
              </a:spcBef>
              <a:spcAft>
                <a:spcPts val="0"/>
              </a:spcAft>
              <a:buClr>
                <a:schemeClr val="dk1"/>
              </a:buClr>
              <a:buSzPts val="2400"/>
              <a:buChar char="•"/>
            </a:pPr>
            <a:r>
              <a:rPr lang="es-CO" sz="2400">
                <a:latin typeface="Arial"/>
                <a:ea typeface="Arial"/>
                <a:cs typeface="Arial"/>
                <a:sym typeface="Arial"/>
              </a:rPr>
              <a:t>G2 A1</a:t>
            </a:r>
            <a:endParaRPr/>
          </a:p>
          <a:p>
            <a:pPr marL="228594" lvl="0" indent="-228594" algn="l" rtl="0">
              <a:lnSpc>
                <a:spcPct val="90000"/>
              </a:lnSpc>
              <a:spcBef>
                <a:spcPts val="1000"/>
              </a:spcBef>
              <a:spcAft>
                <a:spcPts val="0"/>
              </a:spcAft>
              <a:buClr>
                <a:schemeClr val="dk1"/>
              </a:buClr>
              <a:buSzPts val="2400"/>
              <a:buChar char="•"/>
            </a:pPr>
            <a:r>
              <a:rPr lang="es-CO" sz="2400">
                <a:latin typeface="Arial"/>
                <a:ea typeface="Arial"/>
                <a:cs typeface="Arial"/>
                <a:sym typeface="Arial"/>
              </a:rPr>
              <a:t>FUM: 21/ JUNIO /2025 - FURC: 10/07/2025</a:t>
            </a:r>
            <a:endParaRPr/>
          </a:p>
          <a:p>
            <a:pPr marL="228594" lvl="0" indent="-228594" algn="l" rtl="0">
              <a:lnSpc>
                <a:spcPct val="90000"/>
              </a:lnSpc>
              <a:spcBef>
                <a:spcPts val="1000"/>
              </a:spcBef>
              <a:spcAft>
                <a:spcPts val="0"/>
              </a:spcAft>
              <a:buClr>
                <a:schemeClr val="dk1"/>
              </a:buClr>
              <a:buSzPts val="2400"/>
              <a:buChar char="•"/>
            </a:pPr>
            <a:r>
              <a:rPr lang="es-CO" sz="2400">
                <a:latin typeface="Arial"/>
                <a:ea typeface="Arial"/>
                <a:cs typeface="Arial"/>
                <a:sym typeface="Arial"/>
              </a:rPr>
              <a:t>ACOMPAÑANTE : JEISON GONZALEZ - PAREJA</a:t>
            </a:r>
            <a:endParaRPr/>
          </a:p>
          <a:p>
            <a:pPr marL="228594" lvl="0" indent="-228594" algn="l" rtl="0">
              <a:lnSpc>
                <a:spcPct val="90000"/>
              </a:lnSpc>
              <a:spcBef>
                <a:spcPts val="1000"/>
              </a:spcBef>
              <a:spcAft>
                <a:spcPts val="0"/>
              </a:spcAft>
              <a:buClr>
                <a:schemeClr val="dk1"/>
              </a:buClr>
              <a:buSzPts val="2400"/>
              <a:buChar char="•"/>
            </a:pPr>
            <a:r>
              <a:rPr lang="es-CO" sz="2400">
                <a:latin typeface="Arial"/>
                <a:ea typeface="Arial"/>
                <a:cs typeface="Arial"/>
                <a:sym typeface="Arial"/>
              </a:rPr>
              <a:t>VALROACIONES MULTIDISCIPLINARIAS AL DIA</a:t>
            </a:r>
            <a:endParaRPr/>
          </a:p>
          <a:p>
            <a:pPr marL="228594" lvl="0" indent="-76193" algn="l" rtl="0">
              <a:lnSpc>
                <a:spcPct val="90000"/>
              </a:lnSpc>
              <a:spcBef>
                <a:spcPts val="1000"/>
              </a:spcBef>
              <a:spcAft>
                <a:spcPts val="0"/>
              </a:spcAft>
              <a:buClr>
                <a:schemeClr val="dk1"/>
              </a:buClr>
              <a:buSzPts val="2400"/>
              <a:buNone/>
            </a:pPr>
            <a:endParaRPr sz="2400">
              <a:latin typeface="Arial"/>
              <a:ea typeface="Arial"/>
              <a:cs typeface="Arial"/>
              <a:sym typeface="Arial"/>
            </a:endParaRPr>
          </a:p>
        </p:txBody>
      </p:sp>
      <p:sp>
        <p:nvSpPr>
          <p:cNvPr id="405" name="Google Shape;405;p21"/>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406" name="Google Shape;406;p21"/>
          <p:cNvSpPr txBox="1"/>
          <p:nvPr/>
        </p:nvSpPr>
        <p:spPr>
          <a:xfrm>
            <a:off x="1438827" y="2274849"/>
            <a:ext cx="571598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ENFERMEDAD ACTUAL</a:t>
            </a:r>
            <a:endParaRPr/>
          </a:p>
        </p:txBody>
      </p:sp>
      <p:sp>
        <p:nvSpPr>
          <p:cNvPr id="412" name="Google Shape;412;p22"/>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ts val="2800"/>
              <a:buChar char="•"/>
            </a:pPr>
            <a:r>
              <a:rPr lang="es-CO" sz="2200" dirty="0"/>
              <a:t>PACIENTE DE 22 AÑOS CON EMBARAZO DE 28.2 SEM POR ECOGRAFÍA DE TAMIZAJE, FUR: 10/07/2025, ASISTE A CONTROL CON GINECOLOGIA, HEMOCLASFICASCION O POITIVO PAREJA O POSITIVO. REFIERE DOLOR PELVICO DE MDOERADA INTENSIDAD TIPO PESO, NO ACTIVIDAD UTERINA, MOVIMIENTOS FETALES PERCIBIDOS NORMALES, NO PÉRDIDAS VAGINALES, NO CEFALEA, NO FOSFENOS, NO EPIGASTRALGIA, NO EDEMAS, NO SÍNTOMAS URINARIOS, NO SÍNTOMAS RESPIRATORIOS, NO OTROS SÍNTOMAS.REFEIRE INGRESO POR EL SERVICIO DE URGENCIAS POR GASTROENTERITIS. SIN COMPLICACIONES.</a:t>
            </a:r>
            <a:endParaRPr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0"/>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EXAMEN FÍSICO 24/01/2026</a:t>
            </a:r>
            <a:endParaRPr b="1"/>
          </a:p>
        </p:txBody>
      </p:sp>
      <p:sp>
        <p:nvSpPr>
          <p:cNvPr id="418" name="Google Shape;418;p30"/>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ts val="2400"/>
              <a:buChar char="•"/>
            </a:pPr>
            <a:r>
              <a:rPr lang="es-CO" sz="2400" b="1"/>
              <a:t>TAS: </a:t>
            </a:r>
            <a:r>
              <a:rPr lang="es-CO" sz="2400"/>
              <a:t>108 </a:t>
            </a:r>
            <a:r>
              <a:rPr lang="es-CO" sz="2400" b="1"/>
              <a:t>TAD: </a:t>
            </a:r>
            <a:r>
              <a:rPr lang="es-CO" sz="2400"/>
              <a:t>66 </a:t>
            </a:r>
            <a:r>
              <a:rPr lang="es-CO" sz="2400" b="1"/>
              <a:t>TAM: </a:t>
            </a:r>
            <a:r>
              <a:rPr lang="es-CO" sz="2400"/>
              <a:t>80 </a:t>
            </a:r>
            <a:r>
              <a:rPr lang="es-CO" sz="2400" b="1"/>
              <a:t>F.C.: </a:t>
            </a:r>
            <a:r>
              <a:rPr lang="es-CO" sz="2400"/>
              <a:t>80 </a:t>
            </a:r>
            <a:r>
              <a:rPr lang="es-CO" sz="2400" b="1"/>
              <a:t>F.R.: </a:t>
            </a:r>
            <a:r>
              <a:rPr lang="es-CO" sz="2400"/>
              <a:t>18 </a:t>
            </a:r>
            <a:r>
              <a:rPr lang="es-CO" sz="2400" b="1"/>
              <a:t>T°: </a:t>
            </a:r>
            <a:r>
              <a:rPr lang="es-CO" sz="2400"/>
              <a:t>36 </a:t>
            </a:r>
            <a:r>
              <a:rPr lang="es-CO" sz="2400" b="1"/>
              <a:t>SO2: </a:t>
            </a:r>
            <a:r>
              <a:rPr lang="es-CO" sz="2400"/>
              <a:t>96  </a:t>
            </a:r>
            <a:endParaRPr/>
          </a:p>
          <a:p>
            <a:pPr marL="228594" lvl="0" indent="-228594" algn="just" rtl="0">
              <a:lnSpc>
                <a:spcPct val="90000"/>
              </a:lnSpc>
              <a:spcBef>
                <a:spcPts val="1000"/>
              </a:spcBef>
              <a:spcAft>
                <a:spcPts val="0"/>
              </a:spcAft>
              <a:buClr>
                <a:schemeClr val="dk1"/>
              </a:buClr>
              <a:buSzPts val="2400"/>
              <a:buChar char="•"/>
            </a:pPr>
            <a:r>
              <a:rPr lang="es-CO" sz="2400" b="1"/>
              <a:t>APERTURA OCULAR: </a:t>
            </a:r>
            <a:r>
              <a:rPr lang="es-CO" sz="2400"/>
              <a:t>Espontánea </a:t>
            </a:r>
            <a:r>
              <a:rPr lang="es-CO" sz="2400" b="1"/>
              <a:t>RESPUESTA VERBAL: </a:t>
            </a:r>
            <a:r>
              <a:rPr lang="es-CO" sz="2400"/>
              <a:t>Orientación </a:t>
            </a:r>
            <a:r>
              <a:rPr lang="es-CO" sz="2400" b="1"/>
              <a:t>RESPUESTA MOTORA: </a:t>
            </a:r>
            <a:r>
              <a:rPr lang="es-CO" sz="2400"/>
              <a:t>Obedece Ordenes </a:t>
            </a:r>
            <a:r>
              <a:rPr lang="es-CO" sz="2400" b="1"/>
              <a:t>GLASGOW: </a:t>
            </a:r>
            <a:r>
              <a:rPr lang="es-CO" sz="2400"/>
              <a:t>15 </a:t>
            </a:r>
            <a:endParaRPr/>
          </a:p>
          <a:p>
            <a:pPr marL="228594" lvl="0" indent="-228594" algn="just" rtl="0">
              <a:lnSpc>
                <a:spcPct val="90000"/>
              </a:lnSpc>
              <a:spcBef>
                <a:spcPts val="1000"/>
              </a:spcBef>
              <a:spcAft>
                <a:spcPts val="0"/>
              </a:spcAft>
              <a:buClr>
                <a:schemeClr val="dk1"/>
              </a:buClr>
              <a:buSzPts val="2400"/>
              <a:buChar char="•"/>
            </a:pPr>
            <a:r>
              <a:rPr lang="es-CO" sz="2400" b="1"/>
              <a:t>PESO: </a:t>
            </a:r>
            <a:r>
              <a:rPr lang="es-CO" sz="2400"/>
              <a:t>78,80,</a:t>
            </a:r>
            <a:r>
              <a:rPr lang="es-CO" sz="2400" b="1"/>
              <a:t>TALLA: </a:t>
            </a:r>
            <a:r>
              <a:rPr lang="es-CO" sz="2400"/>
              <a:t>1,55 </a:t>
            </a:r>
            <a:r>
              <a:rPr lang="es-CO" sz="2400" b="1"/>
              <a:t>I.M.C: </a:t>
            </a:r>
            <a:r>
              <a:rPr lang="es-CO" sz="2400"/>
              <a:t>32,80</a:t>
            </a:r>
            <a:endParaRPr/>
          </a:p>
          <a:p>
            <a:pPr marL="228594" lvl="0" indent="-228594" algn="l" rtl="0">
              <a:lnSpc>
                <a:spcPct val="90000"/>
              </a:lnSpc>
              <a:spcBef>
                <a:spcPts val="1000"/>
              </a:spcBef>
              <a:spcAft>
                <a:spcPts val="0"/>
              </a:spcAft>
              <a:buClr>
                <a:schemeClr val="dk1"/>
              </a:buClr>
              <a:buSzPts val="2400"/>
              <a:buChar char="•"/>
            </a:pPr>
            <a:r>
              <a:rPr lang="es-CO" sz="2400" b="1"/>
              <a:t>ASPECTO GENERAL: </a:t>
            </a:r>
            <a:r>
              <a:rPr lang="es-CO" sz="2400"/>
              <a:t>BUEN ESTADO GENEERAL.</a:t>
            </a:r>
            <a:endParaRPr/>
          </a:p>
          <a:p>
            <a:pPr marL="228594" lvl="0" indent="-228594" algn="l" rtl="0">
              <a:lnSpc>
                <a:spcPct val="90000"/>
              </a:lnSpc>
              <a:spcBef>
                <a:spcPts val="1000"/>
              </a:spcBef>
              <a:spcAft>
                <a:spcPts val="0"/>
              </a:spcAft>
              <a:buClr>
                <a:schemeClr val="dk1"/>
              </a:buClr>
              <a:buSzPts val="2400"/>
              <a:buChar char="•"/>
            </a:pPr>
            <a:r>
              <a:rPr lang="es-CO" sz="2400" b="1"/>
              <a:t>CABEZA Y CUELLO </a:t>
            </a:r>
            <a:r>
              <a:rPr lang="es-CO" sz="2400"/>
              <a:t>NORMOCEFALO MUCOSA ORAL HUMEDA</a:t>
            </a:r>
            <a:endParaRPr/>
          </a:p>
          <a:p>
            <a:pPr marL="228594" lvl="0" indent="-228594" algn="l" rtl="0">
              <a:lnSpc>
                <a:spcPct val="90000"/>
              </a:lnSpc>
              <a:spcBef>
                <a:spcPts val="1000"/>
              </a:spcBef>
              <a:spcAft>
                <a:spcPts val="0"/>
              </a:spcAft>
              <a:buClr>
                <a:schemeClr val="dk1"/>
              </a:buClr>
              <a:buSzPts val="2400"/>
              <a:buChar char="•"/>
            </a:pPr>
            <a:r>
              <a:rPr lang="es-CO" sz="2400" b="1"/>
              <a:t>OTORRINO: </a:t>
            </a:r>
            <a:r>
              <a:rPr lang="es-CO" sz="2400"/>
              <a:t>NORMAL</a:t>
            </a:r>
            <a:endParaRPr/>
          </a:p>
          <a:p>
            <a:pPr marL="228594" lvl="0" indent="-228594" algn="l" rtl="0">
              <a:lnSpc>
                <a:spcPct val="90000"/>
              </a:lnSpc>
              <a:spcBef>
                <a:spcPts val="1000"/>
              </a:spcBef>
              <a:spcAft>
                <a:spcPts val="0"/>
              </a:spcAft>
              <a:buClr>
                <a:schemeClr val="dk1"/>
              </a:buClr>
              <a:buSzPts val="2400"/>
              <a:buChar char="•"/>
            </a:pPr>
            <a:r>
              <a:rPr lang="es-CO" sz="2400" b="1"/>
              <a:t>OTOSCOPIA: </a:t>
            </a:r>
            <a:r>
              <a:rPr lang="es-CO" sz="2400"/>
              <a:t>NORMAL</a:t>
            </a:r>
            <a:endParaRPr/>
          </a:p>
          <a:p>
            <a:pPr marL="228594" lvl="0" indent="-228594" algn="l" rtl="0">
              <a:lnSpc>
                <a:spcPct val="90000"/>
              </a:lnSpc>
              <a:spcBef>
                <a:spcPts val="1000"/>
              </a:spcBef>
              <a:spcAft>
                <a:spcPts val="0"/>
              </a:spcAft>
              <a:buClr>
                <a:schemeClr val="dk1"/>
              </a:buClr>
              <a:buSzPts val="2400"/>
              <a:buChar char="•"/>
            </a:pPr>
            <a:r>
              <a:rPr lang="es-CO" sz="2400" b="1"/>
              <a:t>CARDIOPULMONAR: </a:t>
            </a:r>
            <a:r>
              <a:rPr lang="es-CO" sz="2400"/>
              <a:t>SIN SOPLOS CARDIACOS NI AGREGADOS PULMONARES</a:t>
            </a:r>
            <a:endParaRPr/>
          </a:p>
        </p:txBody>
      </p:sp>
      <p:sp>
        <p:nvSpPr>
          <p:cNvPr id="419" name="Google Shape;419;p30"/>
          <p:cNvSpPr txBox="1"/>
          <p:nvPr/>
        </p:nvSpPr>
        <p:spPr>
          <a:xfrm>
            <a:off x="415600" y="2390073"/>
            <a:ext cx="11360800" cy="4213227"/>
          </a:xfrm>
          <a:prstGeom prst="rect">
            <a:avLst/>
          </a:prstGeom>
          <a:noFill/>
          <a:ln>
            <a:noFill/>
          </a:ln>
        </p:spPr>
        <p:txBody>
          <a:bodyPr spcFirstLastPara="1" wrap="square" lIns="121900" tIns="121900" rIns="121900" bIns="121900" anchor="t" anchorCtr="0">
            <a:norm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1"/>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EXAMEN FÍSICO 24/01/2026</a:t>
            </a:r>
            <a:endParaRPr b="1"/>
          </a:p>
        </p:txBody>
      </p:sp>
      <p:sp>
        <p:nvSpPr>
          <p:cNvPr id="425" name="Google Shape;425;p31"/>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ct val="100000"/>
              <a:buChar char="•"/>
            </a:pPr>
            <a:r>
              <a:rPr lang="es-CO" sz="2200" b="1" dirty="0"/>
              <a:t>ABDOMEN: </a:t>
            </a:r>
            <a:r>
              <a:rPr lang="es-CO" sz="2200" dirty="0"/>
              <a:t>BLANDO, NO DISTENDIDO, GLOBOSO POR UTERO GRAVIDO AU: 29 CM FETO UNICO VIVO CEFALICO DORSO ANTERIOR IZQUIERDO FCF 135 MOVIMIENTOS FETALES PERCEPTIBLES, NO ACTIVIDAD UTEIRNA, NO SIGNOS DE IRRITACION PERITONEAL</a:t>
            </a:r>
            <a:endParaRPr sz="2200" dirty="0"/>
          </a:p>
          <a:p>
            <a:pPr marL="228594" lvl="0" indent="-228594" algn="just" rtl="0">
              <a:lnSpc>
                <a:spcPct val="90000"/>
              </a:lnSpc>
              <a:spcBef>
                <a:spcPts val="1000"/>
              </a:spcBef>
              <a:spcAft>
                <a:spcPts val="0"/>
              </a:spcAft>
              <a:buClr>
                <a:schemeClr val="dk1"/>
              </a:buClr>
              <a:buSzPct val="100000"/>
              <a:buChar char="•"/>
            </a:pPr>
            <a:r>
              <a:rPr lang="es-CO" sz="2200" b="1" dirty="0"/>
              <a:t>PELVIS: </a:t>
            </a:r>
            <a:r>
              <a:rPr lang="es-CO" sz="2200" dirty="0"/>
              <a:t>NORMAL</a:t>
            </a:r>
            <a:endParaRPr sz="2200" dirty="0"/>
          </a:p>
          <a:p>
            <a:pPr marL="228594" lvl="0" indent="-228594" algn="just" rtl="0">
              <a:lnSpc>
                <a:spcPct val="90000"/>
              </a:lnSpc>
              <a:spcBef>
                <a:spcPts val="1000"/>
              </a:spcBef>
              <a:spcAft>
                <a:spcPts val="0"/>
              </a:spcAft>
              <a:buClr>
                <a:schemeClr val="dk1"/>
              </a:buClr>
              <a:buSzPct val="100000"/>
              <a:buChar char="•"/>
            </a:pPr>
            <a:r>
              <a:rPr lang="es-CO" sz="2200" b="1" dirty="0"/>
              <a:t>GENITOURINARIO: </a:t>
            </a:r>
            <a:r>
              <a:rPr lang="es-CO" sz="2200" dirty="0"/>
              <a:t>SE OMITE TV</a:t>
            </a:r>
            <a:endParaRPr sz="2200" dirty="0"/>
          </a:p>
          <a:p>
            <a:pPr marL="228594" lvl="0" indent="-228594" algn="just" rtl="0">
              <a:lnSpc>
                <a:spcPct val="90000"/>
              </a:lnSpc>
              <a:spcBef>
                <a:spcPts val="1000"/>
              </a:spcBef>
              <a:spcAft>
                <a:spcPts val="0"/>
              </a:spcAft>
              <a:buClr>
                <a:schemeClr val="dk1"/>
              </a:buClr>
              <a:buSzPct val="100000"/>
              <a:buChar char="•"/>
            </a:pPr>
            <a:r>
              <a:rPr lang="es-CO" sz="2200" b="1" dirty="0"/>
              <a:t>EXTREMIDADES: </a:t>
            </a:r>
            <a:r>
              <a:rPr lang="es-CO" sz="2200" dirty="0"/>
              <a:t>NO EDEMAS</a:t>
            </a:r>
            <a:endParaRPr sz="2200" dirty="0"/>
          </a:p>
          <a:p>
            <a:pPr marL="228594" lvl="0" indent="-228594" algn="just" rtl="0">
              <a:lnSpc>
                <a:spcPct val="90000"/>
              </a:lnSpc>
              <a:spcBef>
                <a:spcPts val="1000"/>
              </a:spcBef>
              <a:spcAft>
                <a:spcPts val="0"/>
              </a:spcAft>
              <a:buClr>
                <a:schemeClr val="dk1"/>
              </a:buClr>
              <a:buSzPct val="100000"/>
              <a:buChar char="•"/>
            </a:pPr>
            <a:r>
              <a:rPr lang="es-CO" sz="2200" b="1" dirty="0"/>
              <a:t>OSTEOMUSCULAR: </a:t>
            </a:r>
            <a:r>
              <a:rPr lang="es-CO" sz="2200" dirty="0"/>
              <a:t>NORMAL</a:t>
            </a:r>
            <a:endParaRPr sz="2200" dirty="0"/>
          </a:p>
          <a:p>
            <a:pPr marL="228594" lvl="0" indent="-228594" algn="just" rtl="0">
              <a:lnSpc>
                <a:spcPct val="90000"/>
              </a:lnSpc>
              <a:spcBef>
                <a:spcPts val="1000"/>
              </a:spcBef>
              <a:spcAft>
                <a:spcPts val="0"/>
              </a:spcAft>
              <a:buClr>
                <a:schemeClr val="dk1"/>
              </a:buClr>
              <a:buSzPct val="100000"/>
              <a:buChar char="•"/>
            </a:pPr>
            <a:r>
              <a:rPr lang="es-CO" sz="2200" b="1" dirty="0"/>
              <a:t>NEUROLOGICO: </a:t>
            </a:r>
            <a:r>
              <a:rPr lang="es-CO" sz="2200" dirty="0"/>
              <a:t>SIN DEFICIT FOCAL APARENTE.</a:t>
            </a:r>
            <a:endParaRPr sz="2200" dirty="0"/>
          </a:p>
          <a:p>
            <a:pPr marL="228594" lvl="0" indent="-228594" algn="just" rtl="0">
              <a:lnSpc>
                <a:spcPct val="90000"/>
              </a:lnSpc>
              <a:spcBef>
                <a:spcPts val="1000"/>
              </a:spcBef>
              <a:spcAft>
                <a:spcPts val="0"/>
              </a:spcAft>
              <a:buClr>
                <a:schemeClr val="dk1"/>
              </a:buClr>
              <a:buSzPct val="100000"/>
              <a:buChar char="•"/>
            </a:pPr>
            <a:r>
              <a:rPr lang="es-CO" sz="2200" b="1" dirty="0"/>
              <a:t>PIEL: </a:t>
            </a:r>
            <a:r>
              <a:rPr lang="es-CO" sz="2200" dirty="0"/>
              <a:t>NORMAL</a:t>
            </a:r>
            <a:endParaRPr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4"/>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b="1"/>
              <a:t>ANALISIS 24/01/2026</a:t>
            </a:r>
            <a:endParaRPr b="1"/>
          </a:p>
        </p:txBody>
      </p:sp>
      <p:sp>
        <p:nvSpPr>
          <p:cNvPr id="432" name="Google Shape;432;p34"/>
          <p:cNvSpPr txBox="1">
            <a:spLocks noGrp="1"/>
          </p:cNvSpPr>
          <p:nvPr>
            <p:ph type="body" idx="1"/>
          </p:nvPr>
        </p:nvSpPr>
        <p:spPr>
          <a:xfrm>
            <a:off x="838200" y="2713703"/>
            <a:ext cx="10515600" cy="3708583"/>
          </a:xfrm>
          <a:prstGeom prst="rect">
            <a:avLst/>
          </a:prstGeom>
          <a:noFill/>
          <a:ln>
            <a:noFill/>
          </a:ln>
        </p:spPr>
        <p:txBody>
          <a:bodyPr spcFirstLastPara="1" wrap="square" lIns="91425" tIns="45700" rIns="91425" bIns="45700" anchor="t" anchorCtr="0">
            <a:noAutofit/>
          </a:bodyPr>
          <a:lstStyle/>
          <a:p>
            <a:pPr marL="228594" lvl="0" indent="-228594" algn="just" rtl="0">
              <a:lnSpc>
                <a:spcPct val="90000"/>
              </a:lnSpc>
              <a:spcBef>
                <a:spcPts val="0"/>
              </a:spcBef>
              <a:spcAft>
                <a:spcPts val="0"/>
              </a:spcAft>
              <a:buClr>
                <a:schemeClr val="dk1"/>
              </a:buClr>
              <a:buSzPts val="2200"/>
              <a:buChar char="•"/>
            </a:pPr>
            <a:r>
              <a:rPr lang="es-CO" sz="1600" dirty="0">
                <a:latin typeface="Arial"/>
                <a:ea typeface="Arial"/>
                <a:cs typeface="Arial"/>
                <a:sym typeface="Arial"/>
              </a:rPr>
              <a:t>PACIENTE DE 22 AÑOS CON DIAGNOSTICOS ANOTADOS, ASISTE A CONSULTA DE GINECOLOGIA, REFIERE SENTRISE BIEN, ASINTOMATICA. EN EL MOMENTO EN BUENAS CONDICIONES GENERALES, NORMOTENSA, NO TAQUICARDICA , AFEBRIL, SIN TAQUCIARIDA, ON BIENESATR FETAL POR FETOCARDIA AUDIBLE, </a:t>
            </a:r>
            <a:r>
              <a:rPr lang="es-CO" sz="1600" b="1" dirty="0">
                <a:latin typeface="Arial"/>
                <a:ea typeface="Arial"/>
                <a:cs typeface="Arial"/>
                <a:sym typeface="Arial"/>
              </a:rPr>
              <a:t>EXAMANES DE PRIMER TRIMESTRE COMPLETO Y NORMALES, II TRIMESTRE INCOMPLETOS DENTRO DE PARAMETROS NORMALES. PRESENTA CTOG DENTRO DE LIMITES DE NORMALIDAD, TPR NEGATIVO, ECOGRAFIAS CON BAJO RIESGO DE ANEUPLOIDIAS POR TN, ECO DE DETALLE ANATOMICO NORMAL, CUENTA CON DOPPLER DE ARTERIAS UTERINAS CON BAJO RIESGO, NO HA REALIZADO CERVICOMETRIA SE ENCUENTRA PENDIENTE </a:t>
            </a:r>
            <a:r>
              <a:rPr lang="es-CO" sz="1600" dirty="0">
                <a:latin typeface="Arial"/>
                <a:ea typeface="Arial"/>
                <a:cs typeface="Arial"/>
                <a:sym typeface="Arial"/>
              </a:rPr>
              <a:t>, SE ENCUENTRA CON PREVENCION PRIMARIA PARA PREECLAMSIA CON ASA 100 MG VO Y CALCIO 1200 MG VO, SE INDICA CONTINUAR MICRONUTRIENTES CORRESPONDIENTES A EDAD GESTACIONAL, ( CALCIO )</a:t>
            </a:r>
            <a:endParaRPr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5"/>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ct val="100000"/>
              <a:buFont typeface="Calibri"/>
              <a:buNone/>
            </a:pPr>
            <a:r>
              <a:rPr lang="es-CO" b="1"/>
              <a:t>ANALISIS 24/01/2026</a:t>
            </a:r>
            <a:endParaRPr b="1"/>
          </a:p>
          <a:p>
            <a:pPr marL="0" lvl="0" indent="0" algn="ctr" rtl="0">
              <a:lnSpc>
                <a:spcPct val="90000"/>
              </a:lnSpc>
              <a:spcBef>
                <a:spcPts val="0"/>
              </a:spcBef>
              <a:spcAft>
                <a:spcPts val="0"/>
              </a:spcAft>
              <a:buClr>
                <a:schemeClr val="dk1"/>
              </a:buClr>
              <a:buSzPct val="100000"/>
              <a:buFont typeface="Calibri"/>
              <a:buNone/>
            </a:pPr>
            <a:endParaRPr b="1"/>
          </a:p>
        </p:txBody>
      </p:sp>
      <p:sp>
        <p:nvSpPr>
          <p:cNvPr id="439" name="Google Shape;439;p35"/>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a:bodyPr>
          <a:lstStyle/>
          <a:p>
            <a:pPr marL="228594" lvl="0" indent="-228594" algn="just" rtl="0">
              <a:lnSpc>
                <a:spcPct val="90000"/>
              </a:lnSpc>
              <a:spcBef>
                <a:spcPts val="0"/>
              </a:spcBef>
              <a:spcAft>
                <a:spcPts val="0"/>
              </a:spcAft>
              <a:buClr>
                <a:schemeClr val="dk1"/>
              </a:buClr>
              <a:buSzPts val="2800"/>
              <a:buChar char="•"/>
            </a:pPr>
            <a:r>
              <a:rPr lang="es-CO" sz="2200" dirty="0">
                <a:latin typeface="Arial"/>
                <a:ea typeface="Arial"/>
                <a:cs typeface="Arial"/>
                <a:sym typeface="Arial"/>
              </a:rPr>
              <a:t>SE CITA A CONTROL EN UN MES; SE DAN RECOMENDACIONES GENERALES Y SIGNOS DE ALARMA, SE EXPLICA A PACIENTE QUIEN ENTIENDE Y ACEPTA. SE IDNICA REALZIACION DE INFECCIOSOS.</a:t>
            </a:r>
            <a:endParaRPr sz="2200" dirty="0">
              <a:latin typeface="Arial"/>
              <a:ea typeface="Arial"/>
              <a:cs typeface="Arial"/>
              <a:sym typeface="Arial"/>
            </a:endParaRPr>
          </a:p>
          <a:p>
            <a:pPr marL="228594" lvl="0" indent="-50793"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6"/>
          <p:cNvSpPr txBox="1">
            <a:spLocks noGrp="1"/>
          </p:cNvSpPr>
          <p:nvPr>
            <p:ph type="title"/>
          </p:nvPr>
        </p:nvSpPr>
        <p:spPr>
          <a:xfrm>
            <a:off x="838200" y="365125"/>
            <a:ext cx="10515600" cy="1325563"/>
          </a:xfrm>
          <a:prstGeom prst="rect">
            <a:avLst/>
          </a:prstGeom>
          <a:noFill/>
          <a:ln>
            <a:noFill/>
          </a:ln>
        </p:spPr>
        <p:txBody>
          <a:bodyPr spcFirstLastPara="1" wrap="square" lIns="121900" tIns="121900" rIns="121900" bIns="121900" anchor="t" anchorCtr="0">
            <a:normAutofit/>
          </a:bodyPr>
          <a:lstStyle/>
          <a:p>
            <a:pPr marL="0" lvl="0" indent="0" algn="ctr" rtl="0">
              <a:lnSpc>
                <a:spcPct val="90000"/>
              </a:lnSpc>
              <a:spcBef>
                <a:spcPts val="0"/>
              </a:spcBef>
              <a:spcAft>
                <a:spcPts val="0"/>
              </a:spcAft>
              <a:buClr>
                <a:schemeClr val="dk1"/>
              </a:buClr>
              <a:buSzPts val="4400"/>
              <a:buFont typeface="Calibri"/>
              <a:buNone/>
            </a:pPr>
            <a:r>
              <a:rPr lang="es-CO" sz="3200" b="1" dirty="0">
                <a:latin typeface="+mj-lt"/>
              </a:rPr>
              <a:t>PLAN 24/01/2026</a:t>
            </a:r>
            <a:endParaRPr sz="3200" b="1" dirty="0">
              <a:latin typeface="+mj-lt"/>
            </a:endParaRPr>
          </a:p>
        </p:txBody>
      </p:sp>
      <p:sp>
        <p:nvSpPr>
          <p:cNvPr id="446" name="Google Shape;446;p36"/>
          <p:cNvSpPr txBox="1">
            <a:spLocks noGrp="1"/>
          </p:cNvSpPr>
          <p:nvPr>
            <p:ph type="body" idx="1"/>
          </p:nvPr>
        </p:nvSpPr>
        <p:spPr>
          <a:xfrm>
            <a:off x="838200" y="1825625"/>
            <a:ext cx="10515600" cy="4351339"/>
          </a:xfrm>
          <a:prstGeom prst="rect">
            <a:avLst/>
          </a:prstGeom>
          <a:noFill/>
          <a:ln>
            <a:noFill/>
          </a:ln>
        </p:spPr>
        <p:txBody>
          <a:bodyPr spcFirstLastPara="1" wrap="square" lIns="91425" tIns="45700" rIns="91425" bIns="45700" anchor="t" anchorCtr="0">
            <a:normAutofit lnSpcReduction="10000"/>
          </a:bodyPr>
          <a:lstStyle/>
          <a:p>
            <a:pPr marL="228594" lvl="0" indent="-50793" algn="l" rtl="0">
              <a:lnSpc>
                <a:spcPct val="90000"/>
              </a:lnSpc>
              <a:spcBef>
                <a:spcPts val="0"/>
              </a:spcBef>
              <a:spcAft>
                <a:spcPts val="0"/>
              </a:spcAft>
              <a:buClr>
                <a:schemeClr val="dk1"/>
              </a:buClr>
              <a:buSzPts val="2800"/>
              <a:buNone/>
            </a:pPr>
            <a:endParaRPr b="1" dirty="0"/>
          </a:p>
          <a:p>
            <a:pPr marL="228594" lvl="0" indent="-228594" algn="l" rtl="0">
              <a:lnSpc>
                <a:spcPct val="90000"/>
              </a:lnSpc>
              <a:spcBef>
                <a:spcPts val="1000"/>
              </a:spcBef>
              <a:spcAft>
                <a:spcPts val="0"/>
              </a:spcAft>
              <a:buClr>
                <a:schemeClr val="dk1"/>
              </a:buClr>
              <a:buSzPts val="2800"/>
              <a:buChar char="•"/>
            </a:pPr>
            <a:r>
              <a:rPr lang="es-CO" dirty="0"/>
              <a:t>SE SOLICITA CONTROL EN 1 MES</a:t>
            </a:r>
            <a:endParaRPr dirty="0"/>
          </a:p>
          <a:p>
            <a:pPr marL="228594" lvl="0" indent="-228594" algn="l" rtl="0">
              <a:lnSpc>
                <a:spcPct val="90000"/>
              </a:lnSpc>
              <a:spcBef>
                <a:spcPts val="1000"/>
              </a:spcBef>
              <a:spcAft>
                <a:spcPts val="0"/>
              </a:spcAft>
              <a:buClr>
                <a:schemeClr val="dk1"/>
              </a:buClr>
              <a:buSzPts val="2800"/>
              <a:buChar char="•"/>
            </a:pPr>
            <a:r>
              <a:rPr lang="es-CO" dirty="0"/>
              <a:t>SS: VIH, SEROLOGIA , TOXOPLASMA IGM</a:t>
            </a:r>
            <a:endParaRPr dirty="0"/>
          </a:p>
          <a:p>
            <a:pPr marL="228594" lvl="0" indent="-228594" algn="l" rtl="0">
              <a:lnSpc>
                <a:spcPct val="90000"/>
              </a:lnSpc>
              <a:spcBef>
                <a:spcPts val="1000"/>
              </a:spcBef>
              <a:spcAft>
                <a:spcPts val="0"/>
              </a:spcAft>
              <a:buClr>
                <a:schemeClr val="dk1"/>
              </a:buClr>
              <a:buSzPts val="2800"/>
              <a:buChar char="•"/>
            </a:pPr>
            <a:r>
              <a:rPr lang="es-CO" dirty="0"/>
              <a:t>PENDIENTE CERVICOMETRIA</a:t>
            </a:r>
            <a:endParaRPr dirty="0"/>
          </a:p>
          <a:p>
            <a:pPr marL="228594" lvl="0" indent="-228594" algn="l" rtl="0">
              <a:lnSpc>
                <a:spcPct val="90000"/>
              </a:lnSpc>
              <a:spcBef>
                <a:spcPts val="1000"/>
              </a:spcBef>
              <a:spcAft>
                <a:spcPts val="0"/>
              </a:spcAft>
              <a:buClr>
                <a:schemeClr val="dk1"/>
              </a:buClr>
              <a:buSzPts val="2800"/>
              <a:buChar char="•"/>
            </a:pPr>
            <a:r>
              <a:rPr lang="es-CO" dirty="0"/>
              <a:t>CARBONATO DE CALCIO: TOMAR 2 TABLETAS DIARIAS : DOSIS 1200 MG DÍA</a:t>
            </a:r>
            <a:endParaRPr dirty="0"/>
          </a:p>
          <a:p>
            <a:pPr marL="228594" lvl="0" indent="-228594" algn="l" rtl="0">
              <a:lnSpc>
                <a:spcPct val="90000"/>
              </a:lnSpc>
              <a:spcBef>
                <a:spcPts val="1000"/>
              </a:spcBef>
              <a:spcAft>
                <a:spcPts val="0"/>
              </a:spcAft>
              <a:buClr>
                <a:schemeClr val="dk1"/>
              </a:buClr>
              <a:buSzPts val="2800"/>
              <a:buChar char="•"/>
            </a:pPr>
            <a:r>
              <a:rPr lang="es-CO" dirty="0"/>
              <a:t>ASA 100 MG VO EN LA NOCHE</a:t>
            </a:r>
            <a:endParaRPr dirty="0"/>
          </a:p>
          <a:p>
            <a:pPr marL="228594" lvl="0" indent="-228594" algn="l" rtl="0">
              <a:lnSpc>
                <a:spcPct val="90000"/>
              </a:lnSpc>
              <a:spcBef>
                <a:spcPts val="1000"/>
              </a:spcBef>
              <a:spcAft>
                <a:spcPts val="0"/>
              </a:spcAft>
              <a:buClr>
                <a:schemeClr val="dk1"/>
              </a:buClr>
              <a:buSzPts val="2800"/>
              <a:buChar char="•"/>
            </a:pPr>
            <a:r>
              <a:rPr lang="es-CO" dirty="0"/>
              <a:t>CONTINUAR CONTROL PRENATAL</a:t>
            </a:r>
            <a:endParaRPr dirty="0"/>
          </a:p>
          <a:p>
            <a:pPr marL="228594" lvl="0" indent="-228594" algn="l" rtl="0">
              <a:lnSpc>
                <a:spcPct val="90000"/>
              </a:lnSpc>
              <a:spcBef>
                <a:spcPts val="1000"/>
              </a:spcBef>
              <a:spcAft>
                <a:spcPts val="0"/>
              </a:spcAft>
              <a:buClr>
                <a:schemeClr val="dk1"/>
              </a:buClr>
              <a:buSzPts val="2800"/>
              <a:buChar char="•"/>
            </a:pPr>
            <a:r>
              <a:rPr lang="es-CO" b="1" dirty="0"/>
              <a:t>RECOMENDACIONES</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g3d07f13bfb2_12_75"/>
          <p:cNvSpPr txBox="1">
            <a:spLocks noGrp="1"/>
          </p:cNvSpPr>
          <p:nvPr>
            <p:ph type="title"/>
          </p:nvPr>
        </p:nvSpPr>
        <p:spPr>
          <a:xfrm>
            <a:off x="838200" y="351325"/>
            <a:ext cx="10515600" cy="1325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3200"/>
              <a:buFont typeface="Play"/>
              <a:buNone/>
            </a:pPr>
            <a:r>
              <a:rPr lang="es-CO" sz="3200" dirty="0">
                <a:solidFill>
                  <a:schemeClr val="accent6"/>
                </a:solidFill>
              </a:rPr>
              <a:t>HISTORIA CLÍNICA</a:t>
            </a:r>
            <a:br>
              <a:rPr lang="es-CO" sz="3200" dirty="0">
                <a:solidFill>
                  <a:schemeClr val="accent6"/>
                </a:solidFill>
              </a:rPr>
            </a:br>
            <a:r>
              <a:rPr lang="es-CO" sz="3200" dirty="0">
                <a:solidFill>
                  <a:schemeClr val="accent6"/>
                </a:solidFill>
              </a:rPr>
              <a:t>INGRESO URGENCIAS GINECOOBSTETRICIA</a:t>
            </a:r>
            <a:br>
              <a:rPr lang="es-CO" sz="3200" dirty="0">
                <a:solidFill>
                  <a:schemeClr val="accent6"/>
                </a:solidFill>
              </a:rPr>
            </a:br>
            <a:r>
              <a:rPr lang="es-CO" sz="3200" dirty="0">
                <a:solidFill>
                  <a:schemeClr val="accent6"/>
                </a:solidFill>
              </a:rPr>
              <a:t>03/03/2026 7+48am</a:t>
            </a:r>
            <a:endParaRPr dirty="0">
              <a:solidFill>
                <a:schemeClr val="accent6"/>
              </a:solidFill>
            </a:endParaRPr>
          </a:p>
        </p:txBody>
      </p:sp>
      <p:pic>
        <p:nvPicPr>
          <p:cNvPr id="453" name="Google Shape;453;g3d07f13bfb2_12_75" descr="Interfaz de usuario gráfica, Texto, Aplicación, Correo electrónico&#10;&#10;El contenido generado por IA puede ser incorrecto."/>
          <p:cNvPicPr preferRelativeResize="0">
            <a:picLocks noGrp="1"/>
          </p:cNvPicPr>
          <p:nvPr>
            <p:ph type="body" idx="1"/>
          </p:nvPr>
        </p:nvPicPr>
        <p:blipFill rotWithShape="1">
          <a:blip r:embed="rId3">
            <a:alphaModFix/>
          </a:blip>
          <a:srcRect/>
          <a:stretch/>
        </p:blipFill>
        <p:spPr>
          <a:xfrm>
            <a:off x="491613" y="1799303"/>
            <a:ext cx="10235381" cy="4693572"/>
          </a:xfrm>
          <a:prstGeom prst="rect">
            <a:avLst/>
          </a:prstGeom>
          <a:noFill/>
          <a:ln w="28575" cap="flat" cmpd="sng">
            <a:solidFill>
              <a:schemeClr val="accent6"/>
            </a:solidFill>
            <a:prstDash val="solid"/>
            <a:round/>
            <a:headEnd type="none" w="sm" len="sm"/>
            <a:tailEnd type="none" w="sm" len="sm"/>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458" name="Google Shape;458;g3d07f13bfb2_12_81" descr="Interfaz de usuario gráfica, Texto, Aplicación, Correo electrónico&#10;&#10;El contenido generado por IA puede ser incorrecto."/>
          <p:cNvPicPr preferRelativeResize="0">
            <a:picLocks noGrp="1"/>
          </p:cNvPicPr>
          <p:nvPr>
            <p:ph type="body" idx="1"/>
          </p:nvPr>
        </p:nvPicPr>
        <p:blipFill rotWithShape="1">
          <a:blip r:embed="rId3">
            <a:alphaModFix/>
          </a:blip>
          <a:srcRect/>
          <a:stretch/>
        </p:blipFill>
        <p:spPr>
          <a:xfrm>
            <a:off x="1238366" y="1503875"/>
            <a:ext cx="9872086" cy="5175813"/>
          </a:xfrm>
          <a:prstGeom prst="rect">
            <a:avLst/>
          </a:prstGeom>
          <a:noFill/>
          <a:ln w="28575" cap="flat" cmpd="sng">
            <a:solidFill>
              <a:schemeClr val="accent6"/>
            </a:solidFill>
            <a:prstDash val="solid"/>
            <a:round/>
            <a:headEnd type="none" w="sm" len="sm"/>
            <a:tailEnd type="none" w="sm" len="sm"/>
          </a:ln>
        </p:spPr>
      </p:pic>
      <p:sp>
        <p:nvSpPr>
          <p:cNvPr id="459" name="Google Shape;459;g3d07f13bfb2_12_81"/>
          <p:cNvSpPr txBox="1">
            <a:spLocks noGrp="1"/>
          </p:cNvSpPr>
          <p:nvPr>
            <p:ph type="title"/>
          </p:nvPr>
        </p:nvSpPr>
        <p:spPr>
          <a:xfrm>
            <a:off x="1395681" y="178312"/>
            <a:ext cx="10515600" cy="1325563"/>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3200"/>
              <a:buFont typeface="Play"/>
              <a:buNone/>
            </a:pPr>
            <a:r>
              <a:rPr lang="es-CO" sz="3200" dirty="0">
                <a:solidFill>
                  <a:schemeClr val="accent6"/>
                </a:solidFill>
              </a:rPr>
              <a:t>HISTORIA CLÍNICA</a:t>
            </a:r>
            <a:br>
              <a:rPr lang="es-CO" sz="3200" dirty="0">
                <a:solidFill>
                  <a:schemeClr val="accent6"/>
                </a:solidFill>
              </a:rPr>
            </a:br>
            <a:r>
              <a:rPr lang="es-CO" sz="3200" dirty="0">
                <a:solidFill>
                  <a:schemeClr val="accent6"/>
                </a:solidFill>
              </a:rPr>
              <a:t>INGRESO URGENCIAS GINECOOBSTETRICIA</a:t>
            </a:r>
            <a:br>
              <a:rPr lang="es-CO" sz="3200" dirty="0">
                <a:solidFill>
                  <a:schemeClr val="accent6"/>
                </a:solidFill>
              </a:rPr>
            </a:br>
            <a:r>
              <a:rPr lang="es-CO" sz="3200" dirty="0">
                <a:solidFill>
                  <a:schemeClr val="accent6"/>
                </a:solidFill>
              </a:rPr>
              <a:t>03/03/2026</a:t>
            </a:r>
            <a:endParaRPr dirty="0">
              <a:solidFill>
                <a:schemeClr val="accent6"/>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g3d07f13bfb2_12_86" descr="Interfaz de usuario gráfica, Texto, Aplicación&#10;&#10;El contenido generado por IA puede ser incorrecto."/>
          <p:cNvPicPr preferRelativeResize="0">
            <a:picLocks noGrp="1"/>
          </p:cNvPicPr>
          <p:nvPr>
            <p:ph type="body" idx="1"/>
          </p:nvPr>
        </p:nvPicPr>
        <p:blipFill rotWithShape="1">
          <a:blip r:embed="rId3">
            <a:alphaModFix/>
          </a:blip>
          <a:srcRect/>
          <a:stretch/>
        </p:blipFill>
        <p:spPr>
          <a:xfrm>
            <a:off x="1024429" y="175444"/>
            <a:ext cx="9712397" cy="6665632"/>
          </a:xfrm>
          <a:prstGeom prst="rect">
            <a:avLst/>
          </a:prstGeom>
          <a:noFill/>
          <a:ln w="28575" cap="flat" cmpd="sng">
            <a:solidFill>
              <a:schemeClr val="accent6"/>
            </a:solidFill>
            <a:prstDash val="solid"/>
            <a:round/>
            <a:headEnd type="none" w="sm" len="sm"/>
            <a:tailEnd type="none" w="sm" len="sm"/>
          </a:ln>
        </p:spPr>
      </p:pic>
      <p:pic>
        <p:nvPicPr>
          <p:cNvPr id="465" name="Google Shape;465;g3d07f13bfb2_12_86" descr="Texto, Carta&#10;&#10;El contenido generado por IA puede ser incorrecto."/>
          <p:cNvPicPr preferRelativeResize="0"/>
          <p:nvPr/>
        </p:nvPicPr>
        <p:blipFill rotWithShape="1">
          <a:blip r:embed="rId4">
            <a:alphaModFix/>
          </a:blip>
          <a:srcRect/>
          <a:stretch/>
        </p:blipFill>
        <p:spPr>
          <a:xfrm>
            <a:off x="8270767" y="1361820"/>
            <a:ext cx="3557438" cy="4593148"/>
          </a:xfrm>
          <a:prstGeom prst="rect">
            <a:avLst/>
          </a:prstGeom>
          <a:noFill/>
          <a:ln w="38100" cap="flat" cmpd="sng">
            <a:solidFill>
              <a:schemeClr val="accent6"/>
            </a:solidFill>
            <a:prstDash val="solid"/>
            <a:round/>
            <a:headEnd type="none" w="sm" len="sm"/>
            <a:tailEnd type="none" w="sm" len="sm"/>
          </a:ln>
          <a:effectLst>
            <a:outerShdw blurRad="63500" sx="102000" sy="102000" algn="ctr" rotWithShape="0">
              <a:srgbClr val="000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5"/>
                                        </p:tgtEl>
                                        <p:attrNameLst>
                                          <p:attrName>style.visibility</p:attrName>
                                        </p:attrNameLst>
                                      </p:cBhvr>
                                      <p:to>
                                        <p:strVal val="visible"/>
                                      </p:to>
                                    </p:set>
                                    <p:animEffect transition="in" filter="fade">
                                      <p:cBhvr>
                                        <p:cTn id="7" dur="500"/>
                                        <p:tgtEl>
                                          <p:spTgt spid="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g3d07f13bfb2_12_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pic>
        <p:nvPicPr>
          <p:cNvPr id="471" name="Google Shape;471;g3d07f13bfb2_12_91" descr="Texto, Carta&#10;&#10;El contenido generado por IA puede ser incorrecto."/>
          <p:cNvPicPr preferRelativeResize="0">
            <a:picLocks noGrp="1"/>
          </p:cNvPicPr>
          <p:nvPr>
            <p:ph type="body" idx="1"/>
          </p:nvPr>
        </p:nvPicPr>
        <p:blipFill rotWithShape="1">
          <a:blip r:embed="rId3">
            <a:alphaModFix/>
          </a:blip>
          <a:srcRect r="7486" b="1995"/>
          <a:stretch/>
        </p:blipFill>
        <p:spPr>
          <a:xfrm>
            <a:off x="162617" y="117526"/>
            <a:ext cx="7103421" cy="3146323"/>
          </a:xfrm>
          <a:prstGeom prst="rect">
            <a:avLst/>
          </a:prstGeom>
          <a:noFill/>
          <a:ln w="28575" cap="flat" cmpd="sng">
            <a:solidFill>
              <a:schemeClr val="accent6"/>
            </a:solidFill>
            <a:prstDash val="solid"/>
            <a:round/>
            <a:headEnd type="none" w="sm" len="sm"/>
            <a:tailEnd type="none" w="sm" len="sm"/>
          </a:ln>
        </p:spPr>
      </p:pic>
      <p:pic>
        <p:nvPicPr>
          <p:cNvPr id="472" name="Google Shape;472;g3d07f13bfb2_12_91" descr="Texto&#10;&#10;El contenido generado por IA puede ser incorrecto."/>
          <p:cNvPicPr preferRelativeResize="0"/>
          <p:nvPr/>
        </p:nvPicPr>
        <p:blipFill rotWithShape="1">
          <a:blip r:embed="rId4">
            <a:alphaModFix/>
          </a:blip>
          <a:srcRect l="2886" t="2405" r="8423" b="3174"/>
          <a:stretch/>
        </p:blipFill>
        <p:spPr>
          <a:xfrm>
            <a:off x="4608485" y="948811"/>
            <a:ext cx="6666271" cy="5702711"/>
          </a:xfrm>
          <a:prstGeom prst="rect">
            <a:avLst/>
          </a:prstGeom>
          <a:noFill/>
          <a:ln w="28575" cap="flat" cmpd="sng">
            <a:solidFill>
              <a:schemeClr val="accent6"/>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2"/>
                                        </p:tgtEl>
                                        <p:attrNameLst>
                                          <p:attrName>style.visibility</p:attrName>
                                        </p:attrNameLst>
                                      </p:cBhvr>
                                      <p:to>
                                        <p:strVal val="visible"/>
                                      </p:to>
                                    </p:set>
                                    <p:animEffect transition="in" filter="fade">
                                      <p:cBhvr>
                                        <p:cTn id="7" dur="500"/>
                                        <p:tgtEl>
                                          <p:spTgt spid="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g3d07f13bfb2_12_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dk1"/>
              </a:buClr>
              <a:buSzPts val="4400"/>
              <a:buFont typeface="Play"/>
              <a:buNone/>
            </a:pPr>
            <a:r>
              <a:rPr lang="es-CO" dirty="0">
                <a:solidFill>
                  <a:schemeClr val="accent6"/>
                </a:solidFill>
              </a:rPr>
              <a:t>03/03/2026</a:t>
            </a:r>
            <a:br>
              <a:rPr lang="es-CO" dirty="0">
                <a:solidFill>
                  <a:schemeClr val="accent6"/>
                </a:solidFill>
              </a:rPr>
            </a:br>
            <a:r>
              <a:rPr lang="es-CO" dirty="0">
                <a:solidFill>
                  <a:schemeClr val="accent6"/>
                </a:solidFill>
              </a:rPr>
              <a:t>8+22</a:t>
            </a:r>
            <a:endParaRPr dirty="0">
              <a:solidFill>
                <a:schemeClr val="accent6"/>
              </a:solidFill>
            </a:endParaRPr>
          </a:p>
        </p:txBody>
      </p:sp>
      <p:sp>
        <p:nvSpPr>
          <p:cNvPr id="478" name="Google Shape;478;g3d07f13bfb2_12_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479" name="Google Shape;479;g3d07f13bfb2_12_97" descr="Interfaz de usuario gráfica, Texto&#10;&#10;El contenido generado por IA puede ser incorrecto."/>
          <p:cNvPicPr preferRelativeResize="0"/>
          <p:nvPr/>
        </p:nvPicPr>
        <p:blipFill rotWithShape="1">
          <a:blip r:embed="rId3">
            <a:alphaModFix/>
          </a:blip>
          <a:srcRect/>
          <a:stretch/>
        </p:blipFill>
        <p:spPr>
          <a:xfrm>
            <a:off x="169607" y="2270099"/>
            <a:ext cx="11506673" cy="3906864"/>
          </a:xfrm>
          <a:prstGeom prst="rect">
            <a:avLst/>
          </a:prstGeom>
          <a:noFill/>
          <a:ln w="28575" cap="flat" cmpd="sng">
            <a:solidFill>
              <a:schemeClr val="accent6"/>
            </a:solidFill>
            <a:prstDash val="solid"/>
            <a:round/>
            <a:headEnd type="none" w="sm" len="sm"/>
            <a:tailEnd type="none" w="sm" len="sm"/>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3d07f13bfb2_12_10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2800"/>
              <a:buFont typeface="Play"/>
              <a:buNone/>
            </a:pPr>
            <a:r>
              <a:rPr lang="es-CO" sz="2800" b="1" dirty="0">
                <a:solidFill>
                  <a:schemeClr val="accent6"/>
                </a:solidFill>
              </a:rPr>
              <a:t>FICHA DE ANESTESIA</a:t>
            </a:r>
            <a:br>
              <a:rPr lang="es-CO" sz="2800" b="1" dirty="0">
                <a:solidFill>
                  <a:schemeClr val="accent6"/>
                </a:solidFill>
              </a:rPr>
            </a:br>
            <a:r>
              <a:rPr lang="es-CO" sz="2800" b="1" dirty="0">
                <a:solidFill>
                  <a:schemeClr val="accent6"/>
                </a:solidFill>
              </a:rPr>
              <a:t>PROCEDIMIENTO (Intervenciones):</a:t>
            </a:r>
            <a:br>
              <a:rPr lang="es-CO" sz="2800" b="1" dirty="0">
                <a:solidFill>
                  <a:schemeClr val="accent6"/>
                </a:solidFill>
              </a:rPr>
            </a:br>
            <a:r>
              <a:rPr lang="es-CO" sz="2800" dirty="0" err="1">
                <a:solidFill>
                  <a:schemeClr val="accent6"/>
                </a:solidFill>
              </a:rPr>
              <a:t>CESAREA</a:t>
            </a:r>
            <a:r>
              <a:rPr lang="es-CO" sz="2800" dirty="0">
                <a:solidFill>
                  <a:schemeClr val="accent6"/>
                </a:solidFill>
              </a:rPr>
              <a:t> EMERGENTE 33 SS RPM</a:t>
            </a:r>
            <a:endParaRPr sz="2800" dirty="0">
              <a:solidFill>
                <a:schemeClr val="accent6"/>
              </a:solidFill>
            </a:endParaRPr>
          </a:p>
        </p:txBody>
      </p:sp>
      <p:pic>
        <p:nvPicPr>
          <p:cNvPr id="485" name="Google Shape;485;g3d07f13bfb2_12_103" descr="Texto&#10;&#10;El contenido generado por IA puede ser incorrecto."/>
          <p:cNvPicPr preferRelativeResize="0">
            <a:picLocks noGrp="1"/>
          </p:cNvPicPr>
          <p:nvPr>
            <p:ph type="body" idx="1"/>
          </p:nvPr>
        </p:nvPicPr>
        <p:blipFill rotWithShape="1">
          <a:blip r:embed="rId3">
            <a:alphaModFix/>
          </a:blip>
          <a:srcRect/>
          <a:stretch/>
        </p:blipFill>
        <p:spPr>
          <a:xfrm>
            <a:off x="766915" y="1690688"/>
            <a:ext cx="10776156" cy="4995247"/>
          </a:xfrm>
          <a:prstGeom prst="rect">
            <a:avLst/>
          </a:prstGeom>
          <a:noFill/>
          <a:ln w="28575" cap="flat" cmpd="sng">
            <a:solidFill>
              <a:schemeClr val="accent6"/>
            </a:solidFill>
            <a:prstDash val="solid"/>
            <a:round/>
            <a:headEnd type="none" w="sm" len="sm"/>
            <a:tailEnd type="none" w="sm" len="s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g3d07f13bfb2_12_108"/>
          <p:cNvSpPr txBox="1">
            <a:spLocks noGrp="1"/>
          </p:cNvSpPr>
          <p:nvPr>
            <p:ph type="title"/>
          </p:nvPr>
        </p:nvSpPr>
        <p:spPr>
          <a:xfrm>
            <a:off x="1676400" y="-224811"/>
            <a:ext cx="10515600" cy="132556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dk1"/>
              </a:buClr>
              <a:buSzPts val="3200"/>
              <a:buFont typeface="Play"/>
              <a:buNone/>
            </a:pPr>
            <a:r>
              <a:rPr lang="es-CO" sz="3200" dirty="0">
                <a:solidFill>
                  <a:schemeClr val="accent6"/>
                </a:solidFill>
              </a:rPr>
              <a:t>INFORME QUIRÚRGICO</a:t>
            </a:r>
            <a:endParaRPr dirty="0">
              <a:solidFill>
                <a:schemeClr val="accent6"/>
              </a:solidFill>
            </a:endParaRPr>
          </a:p>
        </p:txBody>
      </p:sp>
      <p:pic>
        <p:nvPicPr>
          <p:cNvPr id="491" name="Google Shape;491;g3d07f13bfb2_12_108"/>
          <p:cNvPicPr preferRelativeResize="0">
            <a:picLocks noGrp="1"/>
          </p:cNvPicPr>
          <p:nvPr>
            <p:ph type="body" idx="1"/>
          </p:nvPr>
        </p:nvPicPr>
        <p:blipFill rotWithShape="1">
          <a:blip r:embed="rId3">
            <a:alphaModFix/>
          </a:blip>
          <a:srcRect/>
          <a:stretch/>
        </p:blipFill>
        <p:spPr>
          <a:xfrm>
            <a:off x="456099" y="667915"/>
            <a:ext cx="6973273" cy="543001"/>
          </a:xfrm>
          <a:prstGeom prst="rect">
            <a:avLst/>
          </a:prstGeom>
          <a:noFill/>
          <a:ln w="28575" cap="flat" cmpd="sng">
            <a:solidFill>
              <a:schemeClr val="accent6"/>
            </a:solidFill>
            <a:prstDash val="solid"/>
            <a:round/>
            <a:headEnd type="none" w="sm" len="sm"/>
            <a:tailEnd type="none" w="sm" len="sm"/>
          </a:ln>
        </p:spPr>
      </p:pic>
      <p:pic>
        <p:nvPicPr>
          <p:cNvPr id="492" name="Google Shape;492;g3d07f13bfb2_12_108" descr="Interfaz de usuario gráfica, Texto, Aplicación&#10;&#10;El contenido generado por IA puede ser incorrecto."/>
          <p:cNvPicPr preferRelativeResize="0"/>
          <p:nvPr/>
        </p:nvPicPr>
        <p:blipFill rotWithShape="1">
          <a:blip r:embed="rId4">
            <a:alphaModFix/>
          </a:blip>
          <a:srcRect/>
          <a:stretch/>
        </p:blipFill>
        <p:spPr>
          <a:xfrm>
            <a:off x="478222" y="1588846"/>
            <a:ext cx="9183382" cy="4191585"/>
          </a:xfrm>
          <a:prstGeom prst="rect">
            <a:avLst/>
          </a:prstGeom>
          <a:noFill/>
          <a:ln w="28575" cap="flat" cmpd="sng">
            <a:solidFill>
              <a:schemeClr val="accent6"/>
            </a:solidFill>
            <a:prstDash val="solid"/>
            <a:round/>
            <a:headEnd type="none" w="sm" len="sm"/>
            <a:tailEnd type="none" w="sm" len="sm"/>
          </a:ln>
        </p:spPr>
      </p:pic>
      <p:pic>
        <p:nvPicPr>
          <p:cNvPr id="493" name="Google Shape;493;g3d07f13bfb2_12_108" descr="Texto&#10;&#10;El contenido generado por IA puede ser incorrecto."/>
          <p:cNvPicPr preferRelativeResize="0"/>
          <p:nvPr/>
        </p:nvPicPr>
        <p:blipFill rotWithShape="1">
          <a:blip r:embed="rId5">
            <a:alphaModFix/>
          </a:blip>
          <a:srcRect/>
          <a:stretch/>
        </p:blipFill>
        <p:spPr>
          <a:xfrm>
            <a:off x="3142266" y="798183"/>
            <a:ext cx="8335538" cy="5391902"/>
          </a:xfrm>
          <a:prstGeom prst="rect">
            <a:avLst/>
          </a:prstGeom>
          <a:noFill/>
          <a:ln w="28575" cap="flat" cmpd="sng">
            <a:solidFill>
              <a:schemeClr val="accent6"/>
            </a:solidFill>
            <a:prstDash val="solid"/>
            <a:round/>
            <a:headEnd type="none" w="sm" len="sm"/>
            <a:tailEnd type="none" w="sm" len="sm"/>
          </a:ln>
          <a:effectLst>
            <a:outerShdw blurRad="63500" sx="102000" sy="102000" algn="ctr" rotWithShape="0">
              <a:srgbClr val="000000">
                <a:alpha val="40000"/>
              </a:srgbClr>
            </a:outerShdw>
          </a:effectLst>
        </p:spPr>
      </p:pic>
      <p:sp>
        <p:nvSpPr>
          <p:cNvPr id="2" name="Flecha: hacia abajo 1">
            <a:extLst>
              <a:ext uri="{FF2B5EF4-FFF2-40B4-BE49-F238E27FC236}">
                <a16:creationId xmlns:a16="http://schemas.microsoft.com/office/drawing/2014/main" id="{51622E21-9737-57DD-B53E-D3FA0E7F7D2D}"/>
              </a:ext>
            </a:extLst>
          </p:cNvPr>
          <p:cNvSpPr/>
          <p:nvPr/>
        </p:nvSpPr>
        <p:spPr>
          <a:xfrm>
            <a:off x="4188542" y="2487561"/>
            <a:ext cx="304800" cy="6390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3"/>
                                        </p:tgtEl>
                                        <p:attrNameLst>
                                          <p:attrName>style.visibility</p:attrName>
                                        </p:attrNameLst>
                                      </p:cBhvr>
                                      <p:to>
                                        <p:strVal val="visible"/>
                                      </p:to>
                                    </p:set>
                                    <p:animEffect transition="in" filter="fade">
                                      <p:cBhvr>
                                        <p:cTn id="7" dur="500"/>
                                        <p:tgtEl>
                                          <p:spTgt spid="49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0" nodeType="clickEffect">
                                  <p:stCondLst>
                                    <p:cond delay="0"/>
                                  </p:stCondLst>
                                  <p:childTnLst>
                                    <p:anim calcmode="lin" valueType="num">
                                      <p:cBhvr additive="base">
                                        <p:cTn id="11" dur="500"/>
                                        <p:tgtEl>
                                          <p:spTgt spid="2"/>
                                        </p:tgtEl>
                                        <p:attrNameLst>
                                          <p:attrName>ppt_x</p:attrName>
                                        </p:attrNameLst>
                                      </p:cBhvr>
                                      <p:tavLst>
                                        <p:tav tm="0">
                                          <p:val>
                                            <p:strVal val="ppt_x"/>
                                          </p:val>
                                        </p:tav>
                                        <p:tav tm="100000">
                                          <p:val>
                                            <p:strVal val="ppt_x"/>
                                          </p:val>
                                        </p:tav>
                                      </p:tavLst>
                                    </p:anim>
                                    <p:anim calcmode="lin" valueType="num">
                                      <p:cBhvr additive="base">
                                        <p:cTn id="12" dur="500"/>
                                        <p:tgtEl>
                                          <p:spTgt spid="2"/>
                                        </p:tgtEl>
                                        <p:attrNameLst>
                                          <p:attrName>ppt_y</p:attrName>
                                        </p:attrNameLst>
                                      </p:cBhvr>
                                      <p:tavLst>
                                        <p:tav tm="0">
                                          <p:val>
                                            <p:strVal val="ppt_y"/>
                                          </p:val>
                                        </p:tav>
                                        <p:tav tm="100000">
                                          <p:val>
                                            <p:strVal val="1+ppt_h/2"/>
                                          </p:val>
                                        </p:tav>
                                      </p:tavLst>
                                    </p:anim>
                                    <p:set>
                                      <p:cBhvr>
                                        <p:cTn id="13"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pic>
        <p:nvPicPr>
          <p:cNvPr id="498" name="Google Shape;498;g3d07f13bfb2_12_115" descr="Texto&#10;&#10;El contenido generado por IA puede ser incorrecto."/>
          <p:cNvPicPr preferRelativeResize="0"/>
          <p:nvPr/>
        </p:nvPicPr>
        <p:blipFill rotWithShape="1">
          <a:blip r:embed="rId3">
            <a:alphaModFix/>
          </a:blip>
          <a:srcRect/>
          <a:stretch/>
        </p:blipFill>
        <p:spPr>
          <a:xfrm>
            <a:off x="1900083" y="473280"/>
            <a:ext cx="8590935" cy="6143830"/>
          </a:xfrm>
          <a:prstGeom prst="rect">
            <a:avLst/>
          </a:prstGeom>
          <a:noFill/>
          <a:ln w="28575" cap="flat" cmpd="sng">
            <a:solidFill>
              <a:schemeClr val="accent6"/>
            </a:solidFill>
            <a:prstDash val="solid"/>
            <a:round/>
            <a:headEnd type="none" w="sm" len="sm"/>
            <a:tailEnd type="none" w="sm" len="sm"/>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3d07f13bfb2_12_1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3600"/>
              <a:buFont typeface="Play"/>
              <a:buNone/>
            </a:pPr>
            <a:r>
              <a:rPr lang="es-CO" sz="3600" dirty="0">
                <a:solidFill>
                  <a:schemeClr val="accent6"/>
                </a:solidFill>
              </a:rPr>
              <a:t>NOTA DE RECIÉN NACIDO </a:t>
            </a:r>
            <a:br>
              <a:rPr lang="es-CO" sz="3600" dirty="0">
                <a:solidFill>
                  <a:schemeClr val="accent6"/>
                </a:solidFill>
              </a:rPr>
            </a:br>
            <a:r>
              <a:rPr lang="es-CO" sz="3600" dirty="0">
                <a:solidFill>
                  <a:schemeClr val="accent6"/>
                </a:solidFill>
              </a:rPr>
              <a:t>– ADAPTACIÓN NEONATAL</a:t>
            </a:r>
            <a:endParaRPr dirty="0">
              <a:solidFill>
                <a:schemeClr val="accent6"/>
              </a:solidFill>
            </a:endParaRPr>
          </a:p>
        </p:txBody>
      </p:sp>
      <p:pic>
        <p:nvPicPr>
          <p:cNvPr id="504" name="Google Shape;504;g3d07f13bfb2_12_119" descr="Texto&#10;&#10;El contenido generado por IA puede ser incorrecto."/>
          <p:cNvPicPr preferRelativeResize="0">
            <a:picLocks noGrp="1"/>
          </p:cNvPicPr>
          <p:nvPr>
            <p:ph type="body" idx="1"/>
          </p:nvPr>
        </p:nvPicPr>
        <p:blipFill rotWithShape="1">
          <a:blip r:embed="rId3">
            <a:alphaModFix/>
          </a:blip>
          <a:srcRect/>
          <a:stretch/>
        </p:blipFill>
        <p:spPr>
          <a:xfrm>
            <a:off x="221226" y="2103642"/>
            <a:ext cx="11729884" cy="4389233"/>
          </a:xfrm>
          <a:prstGeom prst="rect">
            <a:avLst/>
          </a:prstGeom>
          <a:noFill/>
          <a:ln w="28575" cap="flat" cmpd="sng">
            <a:solidFill>
              <a:schemeClr val="accent6"/>
            </a:solidFill>
            <a:prstDash val="solid"/>
            <a:round/>
            <a:headEnd type="none" w="sm" len="sm"/>
            <a:tailEnd type="none" w="sm" len="sm"/>
          </a:ln>
        </p:spPr>
      </p:pic>
      <p:sp>
        <p:nvSpPr>
          <p:cNvPr id="505" name="Google Shape;505;g3d07f13bfb2_12_119"/>
          <p:cNvSpPr/>
          <p:nvPr/>
        </p:nvSpPr>
        <p:spPr>
          <a:xfrm>
            <a:off x="1661653" y="2880851"/>
            <a:ext cx="3706760" cy="304800"/>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5"/>
                                        </p:tgtEl>
                                        <p:attrNameLst>
                                          <p:attrName>style.visibility</p:attrName>
                                        </p:attrNameLst>
                                      </p:cBhvr>
                                      <p:to>
                                        <p:strVal val="visible"/>
                                      </p:to>
                                    </p:set>
                                    <p:animEffect transition="in" filter="fade">
                                      <p:cBhvr>
                                        <p:cTn id="7" dur="1000"/>
                                        <p:tgtEl>
                                          <p:spTgt spid="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g3d07f13bfb2_12_1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511" name="Google Shape;511;g3d07f13bfb2_12_1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512" name="Google Shape;512;g3d07f13bfb2_12_125" descr="Una captura de pantalla de un celular con texto&#10;&#10;El contenido generado por IA puede ser incorrecto."/>
          <p:cNvPicPr preferRelativeResize="0"/>
          <p:nvPr/>
        </p:nvPicPr>
        <p:blipFill rotWithShape="1">
          <a:blip r:embed="rId3">
            <a:alphaModFix/>
          </a:blip>
          <a:srcRect/>
          <a:stretch/>
        </p:blipFill>
        <p:spPr>
          <a:xfrm>
            <a:off x="1845158" y="-164631"/>
            <a:ext cx="8124752" cy="6657506"/>
          </a:xfrm>
          <a:prstGeom prst="rect">
            <a:avLst/>
          </a:prstGeom>
          <a:noFill/>
          <a:ln w="28575" cap="flat" cmpd="sng">
            <a:solidFill>
              <a:schemeClr val="accent6"/>
            </a:solidFill>
            <a:prstDash val="solid"/>
            <a:round/>
            <a:headEnd type="none" w="sm" len="sm"/>
            <a:tailEnd type="none" w="sm" len="sm"/>
          </a:ln>
        </p:spPr>
      </p:pic>
      <p:sp>
        <p:nvSpPr>
          <p:cNvPr id="513" name="Google Shape;513;g3d07f13bfb2_12_125"/>
          <p:cNvSpPr/>
          <p:nvPr/>
        </p:nvSpPr>
        <p:spPr>
          <a:xfrm>
            <a:off x="1986116" y="3142592"/>
            <a:ext cx="7197213" cy="888634"/>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3"/>
                                        </p:tgtEl>
                                        <p:attrNameLst>
                                          <p:attrName>style.visibility</p:attrName>
                                        </p:attrNameLst>
                                      </p:cBhvr>
                                      <p:to>
                                        <p:strVal val="visible"/>
                                      </p:to>
                                    </p:set>
                                    <p:animEffect transition="in" filter="fade">
                                      <p:cBhvr>
                                        <p:cTn id="7" dur="500"/>
                                        <p:tgtEl>
                                          <p:spTgt spid="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E04703-BF12-0DBD-E09A-E2F7F72DA659}"/>
              </a:ext>
            </a:extLst>
          </p:cNvPr>
          <p:cNvSpPr>
            <a:spLocks noGrp="1"/>
          </p:cNvSpPr>
          <p:nvPr>
            <p:ph type="ctrTitle"/>
          </p:nvPr>
        </p:nvSpPr>
        <p:spPr>
          <a:xfrm>
            <a:off x="2920180" y="-86999"/>
            <a:ext cx="9144000" cy="893251"/>
          </a:xfrm>
        </p:spPr>
        <p:txBody>
          <a:bodyPr>
            <a:noAutofit/>
          </a:bodyPr>
          <a:lstStyle/>
          <a:p>
            <a:pPr algn="r"/>
            <a:r>
              <a:rPr lang="es-CO" sz="2800" dirty="0"/>
              <a:t>INGRESO A HOSPITALIZACIÓN </a:t>
            </a:r>
            <a:r>
              <a:rPr lang="es-CO" sz="2800" dirty="0" err="1"/>
              <a:t>GINECOOBSTETRICA</a:t>
            </a:r>
            <a:endParaRPr lang="es-CO" sz="2800" dirty="0"/>
          </a:p>
        </p:txBody>
      </p:sp>
      <p:sp>
        <p:nvSpPr>
          <p:cNvPr id="3" name="Subtítulo 2">
            <a:extLst>
              <a:ext uri="{FF2B5EF4-FFF2-40B4-BE49-F238E27FC236}">
                <a16:creationId xmlns:a16="http://schemas.microsoft.com/office/drawing/2014/main" id="{02DB023E-538A-9DE6-6551-DBB74D6B632C}"/>
              </a:ext>
            </a:extLst>
          </p:cNvPr>
          <p:cNvSpPr>
            <a:spLocks noGrp="1"/>
          </p:cNvSpPr>
          <p:nvPr>
            <p:ph type="subTitle" idx="1"/>
          </p:nvPr>
        </p:nvSpPr>
        <p:spPr/>
        <p:txBody>
          <a:bodyPr/>
          <a:lstStyle/>
          <a:p>
            <a:endParaRPr lang="es-CO"/>
          </a:p>
        </p:txBody>
      </p:sp>
      <p:pic>
        <p:nvPicPr>
          <p:cNvPr id="5" name="Imagen 4" descr="Interfaz de usuario gráfica, Texto, Aplicación, Correo electrónico&#10;&#10;El contenido generado por IA puede ser incorrecto.">
            <a:extLst>
              <a:ext uri="{FF2B5EF4-FFF2-40B4-BE49-F238E27FC236}">
                <a16:creationId xmlns:a16="http://schemas.microsoft.com/office/drawing/2014/main" id="{3239065E-D559-4C54-9391-FBA5BBEC09CF}"/>
              </a:ext>
            </a:extLst>
          </p:cNvPr>
          <p:cNvPicPr>
            <a:picLocks noChangeAspect="1"/>
          </p:cNvPicPr>
          <p:nvPr/>
        </p:nvPicPr>
        <p:blipFill>
          <a:blip r:embed="rId2"/>
          <a:srcRect t="9548"/>
          <a:stretch>
            <a:fillRect/>
          </a:stretch>
        </p:blipFill>
        <p:spPr>
          <a:xfrm>
            <a:off x="354984" y="914397"/>
            <a:ext cx="10096706" cy="5645355"/>
          </a:xfrm>
          <a:prstGeom prst="rect">
            <a:avLst/>
          </a:prstGeom>
          <a:ln w="28575">
            <a:solidFill>
              <a:schemeClr val="accent6"/>
            </a:solidFill>
          </a:ln>
        </p:spPr>
      </p:pic>
    </p:spTree>
    <p:extLst>
      <p:ext uri="{BB962C8B-B14F-4D97-AF65-F5344CB8AC3E}">
        <p14:creationId xmlns:p14="http://schemas.microsoft.com/office/powerpoint/2010/main" val="21667238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8B2FC4-7791-E088-6872-5DB0E55258C2}"/>
              </a:ext>
            </a:extLst>
          </p:cNvPr>
          <p:cNvSpPr>
            <a:spLocks noGrp="1"/>
          </p:cNvSpPr>
          <p:nvPr>
            <p:ph type="ctrTitle"/>
          </p:nvPr>
        </p:nvSpPr>
        <p:spPr/>
        <p:txBody>
          <a:bodyPr/>
          <a:lstStyle/>
          <a:p>
            <a:endParaRPr lang="es-CO"/>
          </a:p>
        </p:txBody>
      </p:sp>
      <p:sp>
        <p:nvSpPr>
          <p:cNvPr id="3" name="Subtítulo 2">
            <a:extLst>
              <a:ext uri="{FF2B5EF4-FFF2-40B4-BE49-F238E27FC236}">
                <a16:creationId xmlns:a16="http://schemas.microsoft.com/office/drawing/2014/main" id="{13831CE2-A171-4627-0383-6A27CBD0E4A9}"/>
              </a:ext>
            </a:extLst>
          </p:cNvPr>
          <p:cNvSpPr>
            <a:spLocks noGrp="1"/>
          </p:cNvSpPr>
          <p:nvPr>
            <p:ph type="subTitle" idx="1"/>
          </p:nvPr>
        </p:nvSpPr>
        <p:spPr/>
        <p:txBody>
          <a:bodyPr/>
          <a:lstStyle/>
          <a:p>
            <a:endParaRPr lang="es-CO"/>
          </a:p>
        </p:txBody>
      </p:sp>
      <p:pic>
        <p:nvPicPr>
          <p:cNvPr id="7" name="Imagen 6" descr="Texto&#10;&#10;El contenido generado por IA puede ser incorrecto.">
            <a:extLst>
              <a:ext uri="{FF2B5EF4-FFF2-40B4-BE49-F238E27FC236}">
                <a16:creationId xmlns:a16="http://schemas.microsoft.com/office/drawing/2014/main" id="{90CF39C9-10D5-5AA7-D446-363EF66FEF95}"/>
              </a:ext>
            </a:extLst>
          </p:cNvPr>
          <p:cNvPicPr>
            <a:picLocks noChangeAspect="1"/>
          </p:cNvPicPr>
          <p:nvPr/>
        </p:nvPicPr>
        <p:blipFill>
          <a:blip r:embed="rId2"/>
          <a:stretch>
            <a:fillRect/>
          </a:stretch>
        </p:blipFill>
        <p:spPr>
          <a:xfrm>
            <a:off x="607517" y="363794"/>
            <a:ext cx="11302668" cy="6312309"/>
          </a:xfrm>
          <a:prstGeom prst="rect">
            <a:avLst/>
          </a:prstGeom>
          <a:ln w="28575">
            <a:solidFill>
              <a:schemeClr val="accent6"/>
            </a:solidFill>
          </a:ln>
        </p:spPr>
      </p:pic>
    </p:spTree>
    <p:extLst>
      <p:ext uri="{BB962C8B-B14F-4D97-AF65-F5344CB8AC3E}">
        <p14:creationId xmlns:p14="http://schemas.microsoft.com/office/powerpoint/2010/main" val="23234626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4A7D94-5263-B1BB-6654-29A149349C3B}"/>
              </a:ext>
            </a:extLst>
          </p:cNvPr>
          <p:cNvSpPr>
            <a:spLocks noGrp="1"/>
          </p:cNvSpPr>
          <p:nvPr>
            <p:ph type="ctrTitle"/>
          </p:nvPr>
        </p:nvSpPr>
        <p:spPr/>
        <p:txBody>
          <a:bodyPr/>
          <a:lstStyle/>
          <a:p>
            <a:endParaRPr lang="es-CO"/>
          </a:p>
        </p:txBody>
      </p:sp>
      <p:sp>
        <p:nvSpPr>
          <p:cNvPr id="3" name="Subtítulo 2">
            <a:extLst>
              <a:ext uri="{FF2B5EF4-FFF2-40B4-BE49-F238E27FC236}">
                <a16:creationId xmlns:a16="http://schemas.microsoft.com/office/drawing/2014/main" id="{8A4987F8-B23C-22C8-1784-B88BCFA75B24}"/>
              </a:ext>
            </a:extLst>
          </p:cNvPr>
          <p:cNvSpPr>
            <a:spLocks noGrp="1"/>
          </p:cNvSpPr>
          <p:nvPr>
            <p:ph type="subTitle" idx="1"/>
          </p:nvPr>
        </p:nvSpPr>
        <p:spPr/>
        <p:txBody>
          <a:bodyPr/>
          <a:lstStyle/>
          <a:p>
            <a:endParaRPr lang="es-CO"/>
          </a:p>
        </p:txBody>
      </p:sp>
      <p:pic>
        <p:nvPicPr>
          <p:cNvPr id="5" name="Imagen 4" descr="Texto, Carta&#10;&#10;El contenido generado por IA puede ser incorrecto.">
            <a:extLst>
              <a:ext uri="{FF2B5EF4-FFF2-40B4-BE49-F238E27FC236}">
                <a16:creationId xmlns:a16="http://schemas.microsoft.com/office/drawing/2014/main" id="{57CF36C0-B8FA-451F-B813-695317436CD8}"/>
              </a:ext>
            </a:extLst>
          </p:cNvPr>
          <p:cNvPicPr>
            <a:picLocks noChangeAspect="1"/>
          </p:cNvPicPr>
          <p:nvPr/>
        </p:nvPicPr>
        <p:blipFill>
          <a:blip r:embed="rId2"/>
          <a:stretch>
            <a:fillRect/>
          </a:stretch>
        </p:blipFill>
        <p:spPr>
          <a:xfrm>
            <a:off x="1000168" y="429751"/>
            <a:ext cx="9144000" cy="6160423"/>
          </a:xfrm>
          <a:prstGeom prst="rect">
            <a:avLst/>
          </a:prstGeom>
          <a:ln w="28575">
            <a:solidFill>
              <a:schemeClr val="accent6"/>
            </a:solidFill>
          </a:ln>
        </p:spPr>
      </p:pic>
    </p:spTree>
    <p:extLst>
      <p:ext uri="{BB962C8B-B14F-4D97-AF65-F5344CB8AC3E}">
        <p14:creationId xmlns:p14="http://schemas.microsoft.com/office/powerpoint/2010/main" val="8149115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64F407-2041-16CB-49B9-9009C401C22E}"/>
              </a:ext>
            </a:extLst>
          </p:cNvPr>
          <p:cNvSpPr>
            <a:spLocks noGrp="1"/>
          </p:cNvSpPr>
          <p:nvPr>
            <p:ph type="ctrTitle"/>
          </p:nvPr>
        </p:nvSpPr>
        <p:spPr>
          <a:xfrm>
            <a:off x="2880852" y="508973"/>
            <a:ext cx="9144000" cy="1091227"/>
          </a:xfrm>
        </p:spPr>
        <p:txBody>
          <a:bodyPr>
            <a:normAutofit/>
          </a:bodyPr>
          <a:lstStyle/>
          <a:p>
            <a:pPr algn="r"/>
            <a:r>
              <a:rPr lang="es-CO" sz="3600" b="1" dirty="0"/>
              <a:t>RESPUESTA INTERCONSULTA </a:t>
            </a:r>
            <a:r>
              <a:rPr lang="es-CO" sz="3600" b="1" dirty="0" err="1"/>
              <a:t>PSICOLOGIA</a:t>
            </a:r>
            <a:endParaRPr lang="es-CO" sz="3600" dirty="0"/>
          </a:p>
        </p:txBody>
      </p:sp>
      <p:sp>
        <p:nvSpPr>
          <p:cNvPr id="3" name="Subtítulo 2">
            <a:extLst>
              <a:ext uri="{FF2B5EF4-FFF2-40B4-BE49-F238E27FC236}">
                <a16:creationId xmlns:a16="http://schemas.microsoft.com/office/drawing/2014/main" id="{77E25380-6E08-B9F0-10E4-AFB8AE3C4B6D}"/>
              </a:ext>
            </a:extLst>
          </p:cNvPr>
          <p:cNvSpPr>
            <a:spLocks noGrp="1"/>
          </p:cNvSpPr>
          <p:nvPr>
            <p:ph type="subTitle" idx="1"/>
          </p:nvPr>
        </p:nvSpPr>
        <p:spPr/>
        <p:txBody>
          <a:bodyPr/>
          <a:lstStyle/>
          <a:p>
            <a:endParaRPr lang="es-CO"/>
          </a:p>
        </p:txBody>
      </p:sp>
      <p:pic>
        <p:nvPicPr>
          <p:cNvPr id="5" name="Imagen 4" descr="Texto&#10;&#10;El contenido generado por IA puede ser incorrecto.">
            <a:extLst>
              <a:ext uri="{FF2B5EF4-FFF2-40B4-BE49-F238E27FC236}">
                <a16:creationId xmlns:a16="http://schemas.microsoft.com/office/drawing/2014/main" id="{0A226B2C-405A-98DF-F94A-DFEC08C326BB}"/>
              </a:ext>
            </a:extLst>
          </p:cNvPr>
          <p:cNvPicPr>
            <a:picLocks noChangeAspect="1"/>
          </p:cNvPicPr>
          <p:nvPr/>
        </p:nvPicPr>
        <p:blipFill>
          <a:blip r:embed="rId2"/>
          <a:stretch>
            <a:fillRect/>
          </a:stretch>
        </p:blipFill>
        <p:spPr>
          <a:xfrm>
            <a:off x="167148" y="1267005"/>
            <a:ext cx="8783276" cy="5315692"/>
          </a:xfrm>
          <a:prstGeom prst="rect">
            <a:avLst/>
          </a:prstGeom>
          <a:ln w="28575">
            <a:solidFill>
              <a:schemeClr val="accent6"/>
            </a:solidFill>
          </a:ln>
        </p:spPr>
      </p:pic>
      <p:pic>
        <p:nvPicPr>
          <p:cNvPr id="7" name="Imagen 6" descr="Texto&#10;&#10;El contenido generado por IA puede ser incorrecto.">
            <a:extLst>
              <a:ext uri="{FF2B5EF4-FFF2-40B4-BE49-F238E27FC236}">
                <a16:creationId xmlns:a16="http://schemas.microsoft.com/office/drawing/2014/main" id="{FBBF641B-4FD1-CCD7-BB60-EF002ACF759E}"/>
              </a:ext>
            </a:extLst>
          </p:cNvPr>
          <p:cNvPicPr>
            <a:picLocks noChangeAspect="1"/>
          </p:cNvPicPr>
          <p:nvPr/>
        </p:nvPicPr>
        <p:blipFill>
          <a:blip r:embed="rId3"/>
          <a:stretch>
            <a:fillRect/>
          </a:stretch>
        </p:blipFill>
        <p:spPr>
          <a:xfrm>
            <a:off x="1798987" y="99548"/>
            <a:ext cx="8869013" cy="6658904"/>
          </a:xfrm>
          <a:prstGeom prst="rect">
            <a:avLst/>
          </a:prstGeom>
          <a:ln w="28575">
            <a:solidFill>
              <a:schemeClr val="accent6"/>
            </a:solidFill>
          </a:ln>
        </p:spPr>
      </p:pic>
    </p:spTree>
    <p:extLst>
      <p:ext uri="{BB962C8B-B14F-4D97-AF65-F5344CB8AC3E}">
        <p14:creationId xmlns:p14="http://schemas.microsoft.com/office/powerpoint/2010/main" val="422311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3F22FD1-0C43-DC96-2122-8E7ABD0564E1}"/>
              </a:ext>
            </a:extLst>
          </p:cNvPr>
          <p:cNvSpPr>
            <a:spLocks noGrp="1"/>
          </p:cNvSpPr>
          <p:nvPr>
            <p:ph type="title"/>
          </p:nvPr>
        </p:nvSpPr>
        <p:spPr>
          <a:xfrm>
            <a:off x="1526458" y="-224811"/>
            <a:ext cx="10515600" cy="1325563"/>
          </a:xfrm>
        </p:spPr>
        <p:txBody>
          <a:bodyPr/>
          <a:lstStyle/>
          <a:p>
            <a:pPr algn="r"/>
            <a:r>
              <a:rPr lang="es-CO" dirty="0"/>
              <a:t>04/03/2026 revista</a:t>
            </a:r>
          </a:p>
        </p:txBody>
      </p:sp>
      <p:pic>
        <p:nvPicPr>
          <p:cNvPr id="6" name="Imagen 5" descr="Interfaz de usuario gráfica, Texto, Aplicación&#10;&#10;El contenido generado por IA puede ser incorrecto.">
            <a:extLst>
              <a:ext uri="{FF2B5EF4-FFF2-40B4-BE49-F238E27FC236}">
                <a16:creationId xmlns:a16="http://schemas.microsoft.com/office/drawing/2014/main" id="{B80683E1-A7C4-7E96-A743-0EBC0B114B10}"/>
              </a:ext>
            </a:extLst>
          </p:cNvPr>
          <p:cNvPicPr>
            <a:picLocks noChangeAspect="1"/>
          </p:cNvPicPr>
          <p:nvPr/>
        </p:nvPicPr>
        <p:blipFill>
          <a:blip r:embed="rId2"/>
          <a:stretch>
            <a:fillRect/>
          </a:stretch>
        </p:blipFill>
        <p:spPr>
          <a:xfrm>
            <a:off x="149942" y="645166"/>
            <a:ext cx="9412013" cy="3286584"/>
          </a:xfrm>
          <a:prstGeom prst="rect">
            <a:avLst/>
          </a:prstGeom>
          <a:ln w="28575">
            <a:solidFill>
              <a:schemeClr val="accent6"/>
            </a:solidFill>
          </a:ln>
        </p:spPr>
      </p:pic>
      <p:pic>
        <p:nvPicPr>
          <p:cNvPr id="8" name="Imagen 7" descr="Interfaz de usuario gráfica, Texto&#10;&#10;El contenido generado por IA puede ser incorrecto.">
            <a:extLst>
              <a:ext uri="{FF2B5EF4-FFF2-40B4-BE49-F238E27FC236}">
                <a16:creationId xmlns:a16="http://schemas.microsoft.com/office/drawing/2014/main" id="{0B0436AA-6361-E0D6-85DC-A61A868904B3}"/>
              </a:ext>
            </a:extLst>
          </p:cNvPr>
          <p:cNvPicPr>
            <a:picLocks noChangeAspect="1"/>
          </p:cNvPicPr>
          <p:nvPr/>
        </p:nvPicPr>
        <p:blipFill>
          <a:blip r:embed="rId3"/>
          <a:stretch>
            <a:fillRect/>
          </a:stretch>
        </p:blipFill>
        <p:spPr>
          <a:xfrm>
            <a:off x="149942" y="50565"/>
            <a:ext cx="7381568" cy="6709111"/>
          </a:xfrm>
          <a:prstGeom prst="rect">
            <a:avLst/>
          </a:prstGeom>
          <a:ln w="28575">
            <a:solidFill>
              <a:schemeClr val="accent6"/>
            </a:solidFill>
          </a:ln>
        </p:spPr>
      </p:pic>
      <p:pic>
        <p:nvPicPr>
          <p:cNvPr id="10" name="Imagen 9" descr="Texto&#10;&#10;El contenido generado por IA puede ser incorrecto.">
            <a:extLst>
              <a:ext uri="{FF2B5EF4-FFF2-40B4-BE49-F238E27FC236}">
                <a16:creationId xmlns:a16="http://schemas.microsoft.com/office/drawing/2014/main" id="{1303FAD7-97BC-691E-AFE7-BAE505F06782}"/>
              </a:ext>
            </a:extLst>
          </p:cNvPr>
          <p:cNvPicPr>
            <a:picLocks noChangeAspect="1"/>
          </p:cNvPicPr>
          <p:nvPr/>
        </p:nvPicPr>
        <p:blipFill>
          <a:blip r:embed="rId4"/>
          <a:stretch>
            <a:fillRect/>
          </a:stretch>
        </p:blipFill>
        <p:spPr>
          <a:xfrm>
            <a:off x="149942" y="1100752"/>
            <a:ext cx="9202434" cy="5258534"/>
          </a:xfrm>
          <a:prstGeom prst="rect">
            <a:avLst/>
          </a:prstGeom>
          <a:ln w="28575">
            <a:solidFill>
              <a:schemeClr val="accent6"/>
            </a:solidFill>
          </a:ln>
          <a:effectLst>
            <a:outerShdw blurRad="63500" sx="102000" sy="102000" algn="ctr" rotWithShape="0">
              <a:prstClr val="black">
                <a:alpha val="40000"/>
              </a:prstClr>
            </a:outerShdw>
          </a:effectLst>
        </p:spPr>
      </p:pic>
      <p:pic>
        <p:nvPicPr>
          <p:cNvPr id="12" name="Imagen 11" descr="Texto&#10;&#10;El contenido generado por IA puede ser incorrecto.">
            <a:extLst>
              <a:ext uri="{FF2B5EF4-FFF2-40B4-BE49-F238E27FC236}">
                <a16:creationId xmlns:a16="http://schemas.microsoft.com/office/drawing/2014/main" id="{2AC12F37-4B38-B59C-360D-60343B0AA5A4}"/>
              </a:ext>
            </a:extLst>
          </p:cNvPr>
          <p:cNvPicPr>
            <a:picLocks noChangeAspect="1"/>
          </p:cNvPicPr>
          <p:nvPr/>
        </p:nvPicPr>
        <p:blipFill>
          <a:blip r:embed="rId5"/>
          <a:stretch>
            <a:fillRect/>
          </a:stretch>
        </p:blipFill>
        <p:spPr>
          <a:xfrm>
            <a:off x="1526458" y="1556338"/>
            <a:ext cx="7510440" cy="3913003"/>
          </a:xfrm>
          <a:prstGeom prst="rect">
            <a:avLst/>
          </a:prstGeom>
          <a:ln w="28575">
            <a:solidFill>
              <a:srgbClr val="FF000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2411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HRM">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458</TotalTime>
  <Words>2985</Words>
  <Application>Microsoft Macintosh PowerPoint</Application>
  <PresentationFormat>Panorámica</PresentationFormat>
  <Paragraphs>249</Paragraphs>
  <Slides>56</Slides>
  <Notes>50</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56</vt:i4>
      </vt:variant>
    </vt:vector>
  </HeadingPairs>
  <TitlesOfParts>
    <vt:vector size="62" baseType="lpstr">
      <vt:lpstr>Calibri</vt:lpstr>
      <vt:lpstr>Play</vt:lpstr>
      <vt:lpstr>Google Sans</vt:lpstr>
      <vt:lpstr>Arial</vt:lpstr>
      <vt:lpstr>Tema de Office</vt:lpstr>
      <vt:lpstr>TEMA HRM</vt:lpstr>
      <vt:lpstr>REVISION CASO CLINICO MORTALIDAD NEONATAL  </vt:lpstr>
      <vt:lpstr>DATOS IDENTIFICACION </vt:lpstr>
      <vt:lpstr>ANTECEDENTES</vt:lpstr>
      <vt:lpstr>ANTECEDENTES </vt:lpstr>
      <vt:lpstr>ANTECEDENTES </vt:lpstr>
      <vt:lpstr>PARACLINICOS </vt:lpstr>
      <vt:lpstr>Presentación de PowerPoint</vt:lpstr>
      <vt:lpstr>24/10/2025: </vt:lpstr>
      <vt:lpstr>CONSULTA  EXTERNA-MEDICINA GENERAL(17/10/2025)</vt:lpstr>
      <vt:lpstr>EXAMEN FÍSICO (17/10/2025)</vt:lpstr>
      <vt:lpstr>EXAMEN FÍSICO (17/10/2025) </vt:lpstr>
      <vt:lpstr> ANALISIS (17/10/2025)</vt:lpstr>
      <vt:lpstr>ANALISIS (17/10/2025)</vt:lpstr>
      <vt:lpstr>CONSULTA EXTERNA – GINECOLOGIA Y OBSTETRICIA (04/11/2025)</vt:lpstr>
      <vt:lpstr>EXAMEN FÍSICO (04/11/2025)</vt:lpstr>
      <vt:lpstr>ANALISIS (04/11/2025)</vt:lpstr>
      <vt:lpstr>PLAN (04/11/2025)</vt:lpstr>
      <vt:lpstr>INGRESO URGENCIAS GINECOOBSTETRICIA (07/11/2025)</vt:lpstr>
      <vt:lpstr>EXAMEN  FISICO (07/11/2025)</vt:lpstr>
      <vt:lpstr>EXAMEN  FISICO (07/11/2025)</vt:lpstr>
      <vt:lpstr>EXAMEN  FISICO (07/11/2025)</vt:lpstr>
      <vt:lpstr>ANALISIS (07/11/2025)</vt:lpstr>
      <vt:lpstr>PLAN (07/11/2025)</vt:lpstr>
      <vt:lpstr>Valoracion Ginecologia y Obstetricia(15/12/2025)</vt:lpstr>
      <vt:lpstr>EXAMEN FÍSICO(15/12/2025)</vt:lpstr>
      <vt:lpstr>EXAMEN FÍSICO(15/12/2025)</vt:lpstr>
      <vt:lpstr>ANALISIS(15/12/2025)</vt:lpstr>
      <vt:lpstr>PLAN(15/12/2025)</vt:lpstr>
      <vt:lpstr>23/12/2025</vt:lpstr>
      <vt:lpstr>INGRESO GINECOOBSTETRICIA(28/12/2025)</vt:lpstr>
      <vt:lpstr>EXAMEN FISICO(28/12/2025)</vt:lpstr>
      <vt:lpstr>EXAMEN FISICO(28/12/2025)</vt:lpstr>
      <vt:lpstr>EXAMEN FISICO(28/12/2025)</vt:lpstr>
      <vt:lpstr>ANALISIS(28/12/2025)</vt:lpstr>
      <vt:lpstr>CONSULTA – GINECOLOGIA Y OBSTETRICIA  24/01/2026</vt:lpstr>
      <vt:lpstr>ENFERMEDAD ACTUAL</vt:lpstr>
      <vt:lpstr>EXAMEN FÍSICO 24/01/2026</vt:lpstr>
      <vt:lpstr>EXAMEN FÍSICO 24/01/2026</vt:lpstr>
      <vt:lpstr>ANALISIS 24/01/2026</vt:lpstr>
      <vt:lpstr>ANALISIS 24/01/2026 </vt:lpstr>
      <vt:lpstr>PLAN 24/01/2026</vt:lpstr>
      <vt:lpstr>HISTORIA CLÍNICA INGRESO URGENCIAS GINECOOBSTETRICIA 03/03/2026 7+48am</vt:lpstr>
      <vt:lpstr>HISTORIA CLÍNICA INGRESO URGENCIAS GINECOOBSTETRICIA 03/03/2026</vt:lpstr>
      <vt:lpstr>Presentación de PowerPoint</vt:lpstr>
      <vt:lpstr>Presentación de PowerPoint</vt:lpstr>
      <vt:lpstr>03/03/2026 8+22</vt:lpstr>
      <vt:lpstr>FICHA DE ANESTESIA PROCEDIMIENTO (Intervenciones): CESAREA EMERGENTE 33 SS RPM</vt:lpstr>
      <vt:lpstr>INFORME QUIRÚRGICO</vt:lpstr>
      <vt:lpstr>Presentación de PowerPoint</vt:lpstr>
      <vt:lpstr>NOTA DE RECIÉN NACIDO  – ADAPTACIÓN NEONATAL</vt:lpstr>
      <vt:lpstr>Presentación de PowerPoint</vt:lpstr>
      <vt:lpstr>INGRESO A HOSPITALIZACIÓN GINECOOBSTETRICA</vt:lpstr>
      <vt:lpstr>Presentación de PowerPoint</vt:lpstr>
      <vt:lpstr>Presentación de PowerPoint</vt:lpstr>
      <vt:lpstr>RESPUESTA INTERCONSULTA PSICOLOGIA</vt:lpstr>
      <vt:lpstr>04/03/2026 revista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edward camilo vela vargas</dc:creator>
  <cp:lastModifiedBy>Sharon Katherine Acuña</cp:lastModifiedBy>
  <cp:revision>18</cp:revision>
  <dcterms:created xsi:type="dcterms:W3CDTF">2026-03-16T13:37:17Z</dcterms:created>
  <dcterms:modified xsi:type="dcterms:W3CDTF">2026-03-22T23:28:24Z</dcterms:modified>
</cp:coreProperties>
</file>