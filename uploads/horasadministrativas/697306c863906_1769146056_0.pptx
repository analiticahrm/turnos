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20"/>
  </p:notesMasterIdLst>
  <p:sldIdLst>
    <p:sldId id="256" r:id="rId3"/>
    <p:sldId id="316" r:id="rId4"/>
    <p:sldId id="323" r:id="rId5"/>
    <p:sldId id="330" r:id="rId6"/>
    <p:sldId id="332" r:id="rId7"/>
    <p:sldId id="272" r:id="rId8"/>
    <p:sldId id="262" r:id="rId9"/>
    <p:sldId id="265" r:id="rId10"/>
    <p:sldId id="266" r:id="rId11"/>
    <p:sldId id="268" r:id="rId12"/>
    <p:sldId id="270" r:id="rId13"/>
    <p:sldId id="271" r:id="rId14"/>
    <p:sldId id="269" r:id="rId15"/>
    <p:sldId id="263" r:id="rId16"/>
    <p:sldId id="264" r:id="rId17"/>
    <p:sldId id="275" r:id="rId18"/>
    <p:sldId id="277" r:id="rId19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2370" autoAdjust="0"/>
    <p:restoredTop sz="94660"/>
  </p:normalViewPr>
  <p:slideViewPr>
    <p:cSldViewPr snapToGrid="0">
      <p:cViewPr varScale="1">
        <p:scale>
          <a:sx n="98" d="100"/>
          <a:sy n="98" d="100"/>
        </p:scale>
        <p:origin x="232" y="4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932F6B-34BE-EE45-84F4-C70EBABA3775}" type="datetimeFigureOut">
              <a:rPr lang="es-CO" smtClean="0"/>
              <a:t>5/01/26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708438-2734-FA4D-8334-607960EEFCE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006884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2F5F97-1020-4EE6-ACA1-E90897E1DD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2759910-1034-49E7-BC79-A280229290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68F966D-C1C7-40B0-8162-73CDD1D800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D464F-AE49-4530-AB8F-BF5C16571F6A}" type="datetimeFigureOut">
              <a:rPr lang="es-CO" smtClean="0"/>
              <a:t>5/01/26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9DB57A8-5238-40C4-9A88-85BF392CF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67885B3-B239-4D90-B0FD-A877E874E3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B09BD-4935-4E15-915B-CAF5541A03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135945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E4AE1A-77EF-484F-A804-44EA302E9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F646D03-5F22-4FA5-9817-2E410DFDD5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9E9FB61-F9C1-4AA1-99BC-7FC860015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D464F-AE49-4530-AB8F-BF5C16571F6A}" type="datetimeFigureOut">
              <a:rPr lang="es-CO" smtClean="0"/>
              <a:t>5/01/26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F68517D-FDB7-4C54-926C-6304547E36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4F863A7-71BC-40F8-A158-5A9A60572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B09BD-4935-4E15-915B-CAF5541A03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874018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7C4E17-CB96-4580-8A84-23CF451DAC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6E743F1-DEAC-4FEA-91AE-57CBDF5982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4BEDFEA-2651-4C28-9F34-60EF561933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D464F-AE49-4530-AB8F-BF5C16571F6A}" type="datetimeFigureOut">
              <a:rPr lang="es-CO" smtClean="0"/>
              <a:t>5/01/26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78A936E-A542-4128-89FE-25910D8786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E454940-65B8-43B5-805A-62F15723B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B09BD-4935-4E15-915B-CAF5541A03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194309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86DA25-4C0D-463D-8289-FD732DC764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47EFF1D-D0BE-43A4-A41B-9A5351DE9D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B3B7E19-8BC9-476E-B506-BDD3FD610B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FBF8CF4-5E72-4DEB-B453-063D3A0C34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D464F-AE49-4530-AB8F-BF5C16571F6A}" type="datetimeFigureOut">
              <a:rPr lang="es-CO" smtClean="0"/>
              <a:t>5/01/26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3299471-A835-445F-85B7-0393FD2DBC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F22F38A-CD7A-4C0A-841F-3C02134E5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B09BD-4935-4E15-915B-CAF5541A03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830860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D640F6-05C2-4688-955A-7296D05799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CDF0F71-EDCE-454E-AC7A-677AE7014D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321545F-6E58-42EF-8380-F7D3C73B99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D2EE216B-093A-470C-8716-5CD593F78D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034D12FC-F7E9-471F-9845-0726EC8919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C1A4E2CE-8782-4667-83A9-AD4D03229C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D464F-AE49-4530-AB8F-BF5C16571F6A}" type="datetimeFigureOut">
              <a:rPr lang="es-CO" smtClean="0"/>
              <a:t>5/01/26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1742954F-5699-49D0-B195-CC6190678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5428E020-0DE7-4ADC-B298-3E3348C41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B09BD-4935-4E15-915B-CAF5541A03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325375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71C42E-3A84-4A7D-A0D7-DFDBEEDAE8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607FEBB-E137-4290-A7C2-BB81D055C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D464F-AE49-4530-AB8F-BF5C16571F6A}" type="datetimeFigureOut">
              <a:rPr lang="es-CO" smtClean="0"/>
              <a:t>5/01/26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BB4A668-FBFF-444A-9606-25D30B879C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EAD0BAB-85DB-4994-8FE2-8B134970A9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B09BD-4935-4E15-915B-CAF5541A03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556573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B0EAEA6E-C7E2-400D-9F2C-7655A3A7FD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D464F-AE49-4530-AB8F-BF5C16571F6A}" type="datetimeFigureOut">
              <a:rPr lang="es-CO" smtClean="0"/>
              <a:t>5/01/26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A5EAF9C2-66E4-4F6C-B5A9-DCE7CBD548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854F549-00DE-4C3D-92E9-C11D0660D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B09BD-4935-4E15-915B-CAF5541A03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757230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9AC0ED-9A90-49B3-8F84-4CCBDA10AC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02F82F6-A48C-4802-95FC-4E44B56B96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DCDABEF-7742-4D1B-98F0-BDC980609C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14EEF5A-EECA-4654-BFBC-C3224B67C9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D464F-AE49-4530-AB8F-BF5C16571F6A}" type="datetimeFigureOut">
              <a:rPr lang="es-CO" smtClean="0"/>
              <a:t>5/01/26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A26A55B-4ECE-4555-81F3-7B01EFF52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6BC4BBE-5C8F-406F-A5F6-D7DC51E74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B09BD-4935-4E15-915B-CAF5541A03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913159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485C43-08EF-4BD9-A218-38CAD2668A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D4B6F318-8444-4900-BC88-875353FA60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3D25216-3601-4132-A466-A43F914465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A07827F-E9CB-426E-88E8-51BB702387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D464F-AE49-4530-AB8F-BF5C16571F6A}" type="datetimeFigureOut">
              <a:rPr lang="es-CO" smtClean="0"/>
              <a:t>5/01/26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55746CE-82F9-4FA8-9A0E-E8F8DA709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D1589BA-AA34-440C-96EE-5096F4D809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B09BD-4935-4E15-915B-CAF5541A03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546979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951E2B-923F-4458-9B56-B6694F6C37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3F8E8BD-05AE-42F6-A28F-DE6821AC6B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6F1BADB-96DB-4328-9A9B-39ECD06450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D464F-AE49-4530-AB8F-BF5C16571F6A}" type="datetimeFigureOut">
              <a:rPr lang="es-CO" smtClean="0"/>
              <a:t>5/01/26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2F361CB-E120-4FCE-BC69-B351C1064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A0C5800-7D4C-473A-A846-3DA77B77F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B09BD-4935-4E15-915B-CAF5541A03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758463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39A63E9-572F-4E70-900E-8289A8BA080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F3A2B5C-5897-4F84-B25A-DEA36E31FF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2819DD3-DEDB-4FDA-B961-E728E57A9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D464F-AE49-4530-AB8F-BF5C16571F6A}" type="datetimeFigureOut">
              <a:rPr lang="es-CO" smtClean="0"/>
              <a:t>5/01/26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FEFDFE9-8BB3-47D4-8027-F3E67B3CA6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4ABD4CB-278D-4FCC-99DC-7BC9FE90A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B09BD-4935-4E15-915B-CAF5541A03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835469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EE946494-D10C-4A4E-8DE4-23BF64D8BCE0}" type="slidenum">
              <a:t>‹Nº›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403529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s-CO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s-CO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11748E6F-9E86-4E2F-A74C-8195ADE15869}" type="slidenum">
              <a:t>‹Nº›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602414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s-CO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26FD045D-9E1F-4A78-98F6-FDA4AC012317}" type="slidenum">
              <a:t>‹Nº›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489128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s-CO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807367FF-C927-403D-9742-67613AED7AF5}" type="slidenum">
              <a:t>‹Nº›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3682694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s-CO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D21B933A-E852-4FE6-8FF7-24003DA81C8C}" type="slidenum">
              <a:t>‹Nº›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373977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838080" y="365040"/>
            <a:ext cx="10515240" cy="614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CO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E9601922-5F5F-40C7-A5CD-87A5F72C7D84}" type="slidenum">
              <a:t>‹Nº›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1779676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s-CO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7EDEAD30-1DD9-4D27-85DB-1CF7600EABFB}" type="slidenum">
              <a:t>‹Nº›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1801647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s-CO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8208C806-2CE3-42DD-843B-62864ED66D9C}" type="slidenum">
              <a:t>‹Nº›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8551867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s-CO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83566755-ED49-42BB-B2DA-04AAA8DCA67E}" type="slidenum">
              <a:t>‹Nº›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2432014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s-CO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55757295-4C62-4DC4-8EC7-7A8C059B03AB}" type="slidenum">
              <a:t>‹Nº›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7582174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s-CO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7463AAD2-3058-4004-94D1-0344704C22D9}" type="slidenum">
              <a:t>‹Nº›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6816152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s-CO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393440" y="1825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7949160" y="1825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/>
          </p:nvPr>
        </p:nvSpPr>
        <p:spPr>
          <a:xfrm>
            <a:off x="838080" y="4098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/>
          </p:nvPr>
        </p:nvSpPr>
        <p:spPr>
          <a:xfrm>
            <a:off x="4393440" y="4098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/>
          </p:nvPr>
        </p:nvSpPr>
        <p:spPr>
          <a:xfrm>
            <a:off x="7949160" y="4098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764387A2-5E16-4155-9354-CBDD9E20773B}" type="slidenum">
              <a:t>‹Nº›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050176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BBD8030-76DF-446F-8225-156CADC5D7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A1A0A47-AAFE-4984-8867-B71DC703FA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0E5AFFB-23A1-4118-A1AD-F7A3420B9E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ED464F-AE49-4530-AB8F-BF5C16571F6A}" type="datetimeFigureOut">
              <a:rPr lang="es-CO" smtClean="0"/>
              <a:t>5/01/26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27482B8-2E51-4D91-8D5A-2BE6ED75B6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92081BF-C090-4E4F-855F-FB857FCD28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8B09BD-4935-4E15-915B-CAF5541A03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718254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s-ES" sz="4400" b="0" strike="noStrike" spc="-1">
                <a:solidFill>
                  <a:schemeClr val="dk1"/>
                </a:solidFill>
                <a:latin typeface="Calibri Light"/>
              </a:rPr>
              <a:t>Haga clic para modificar el estilo de título del patrón</a:t>
            </a:r>
            <a:endParaRPr lang="es-CO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s-ES" sz="2800" b="0" strike="noStrike" spc="-1">
                <a:solidFill>
                  <a:schemeClr val="dk1"/>
                </a:solidFill>
                <a:latin typeface="Calibri"/>
              </a:rPr>
              <a:t>Haga clic para modificar los estilos de texto del patrón</a:t>
            </a:r>
            <a:endParaRPr lang="es-CO" sz="2800" b="0" strike="noStrike" spc="-1">
              <a:solidFill>
                <a:schemeClr val="dk1"/>
              </a:solidFill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400" b="0" strike="noStrike" spc="-1">
                <a:solidFill>
                  <a:schemeClr val="dk1"/>
                </a:solidFill>
                <a:latin typeface="Calibri"/>
              </a:rPr>
              <a:t>Segundo nivel</a:t>
            </a:r>
            <a:endParaRPr lang="es-CO" sz="2400" b="0" strike="noStrike" spc="-1">
              <a:solidFill>
                <a:schemeClr val="dk1"/>
              </a:solidFill>
              <a:latin typeface="Calibri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000" b="0" strike="noStrike" spc="-1">
                <a:solidFill>
                  <a:schemeClr val="dk1"/>
                </a:solidFill>
                <a:latin typeface="Calibri"/>
              </a:rPr>
              <a:t>Tercer nivel</a:t>
            </a:r>
            <a:endParaRPr lang="es-CO" sz="2000" b="0" strike="noStrike" spc="-1">
              <a:solidFill>
                <a:schemeClr val="dk1"/>
              </a:solidFill>
              <a:latin typeface="Calibri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strike="noStrike" spc="-1">
                <a:solidFill>
                  <a:schemeClr val="dk1"/>
                </a:solidFill>
                <a:latin typeface="Calibri"/>
              </a:rPr>
              <a:t>Cuarto nivel</a:t>
            </a:r>
            <a:endParaRPr lang="es-CO" sz="1800" b="0" strike="noStrike" spc="-1">
              <a:solidFill>
                <a:schemeClr val="dk1"/>
              </a:solidFill>
              <a:latin typeface="Calibri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strike="noStrike" spc="-1">
                <a:solidFill>
                  <a:schemeClr val="dk1"/>
                </a:solidFill>
                <a:latin typeface="Calibri"/>
              </a:rPr>
              <a:t>Quinto nivel</a:t>
            </a:r>
            <a:endParaRPr lang="es-CO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s-CO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s-CO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&lt;fecha/hora&gt;</a:t>
            </a:r>
            <a:endParaRPr lang="es-CO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CO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CO" sz="1400" b="0" strike="noStrike" spc="-1">
                <a:solidFill>
                  <a:srgbClr val="000000"/>
                </a:solidFill>
                <a:latin typeface="Times New Roman"/>
              </a:rPr>
              <a:t>&lt;pie de página&gt;</a:t>
            </a:r>
          </a:p>
        </p:txBody>
      </p:sp>
      <p:sp>
        <p:nvSpPr>
          <p:cNvPr id="45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s-CO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344EBB1-3477-49E6-85AB-80FB40787958}" type="slidenum">
              <a:rPr lang="es-CO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‹Nº›</a:t>
            </a:fld>
            <a:endParaRPr lang="es-CO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551796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B69533-1871-4A5A-9BE1-C29688C859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72575" y="1491670"/>
            <a:ext cx="7824690" cy="1937330"/>
          </a:xfrm>
        </p:spPr>
        <p:txBody>
          <a:bodyPr>
            <a:noAutofit/>
          </a:bodyPr>
          <a:lstStyle/>
          <a:p>
            <a:br>
              <a:rPr lang="es-MX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s-MX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s-MX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s-MX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s-MX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s-MX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s-MX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s-MX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s-MX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s-MX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s-MX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s-MX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s-MX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s-MX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s-MX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s-MX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s-MX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s-MX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s-MX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EQUIPO PRIMARIO GINECOLOGIA MES DE ENERO      CON DATOS DE DICIEMBRE   2025</a:t>
            </a:r>
            <a:endParaRPr lang="es-CO" sz="3200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CD6ED36-3E6F-4691-BDA3-31B08010DD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4306" y="4233409"/>
            <a:ext cx="9144000" cy="1655762"/>
          </a:xfrm>
        </p:spPr>
        <p:txBody>
          <a:bodyPr>
            <a:normAutofit/>
          </a:bodyPr>
          <a:lstStyle/>
          <a:p>
            <a:r>
              <a:rPr lang="es-MX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PRESENTA</a:t>
            </a:r>
          </a:p>
          <a:p>
            <a:endParaRPr lang="es-MX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s-MX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SHARON KATHERINE ACUÑA RUBIANO</a:t>
            </a:r>
          </a:p>
        </p:txBody>
      </p:sp>
    </p:spTree>
    <p:extLst>
      <p:ext uri="{BB962C8B-B14F-4D97-AF65-F5344CB8AC3E}">
        <p14:creationId xmlns:p14="http://schemas.microsoft.com/office/powerpoint/2010/main" val="17950833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D533AD-3155-FE04-DF94-1166C78BB0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ítulo 1">
            <a:extLst>
              <a:ext uri="{FF2B5EF4-FFF2-40B4-BE49-F238E27FC236}">
                <a16:creationId xmlns:a16="http://schemas.microsoft.com/office/drawing/2014/main" id="{9491EE5A-5398-8109-7601-8E7134EBBA55}"/>
              </a:ext>
            </a:extLst>
          </p:cNvPr>
          <p:cNvSpPr txBox="1">
            <a:spLocks/>
          </p:cNvSpPr>
          <p:nvPr/>
        </p:nvSpPr>
        <p:spPr>
          <a:xfrm>
            <a:off x="2272144" y="755725"/>
            <a:ext cx="8850227" cy="6131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           ORDEN DEL DIA </a:t>
            </a:r>
            <a:endParaRPr lang="es-CO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836DCB49-138A-EB6E-71C9-BFD8120B739B}"/>
              </a:ext>
            </a:extLst>
          </p:cNvPr>
          <p:cNvSpPr txBox="1"/>
          <p:nvPr/>
        </p:nvSpPr>
        <p:spPr>
          <a:xfrm>
            <a:off x="2418835" y="2161174"/>
            <a:ext cx="7701348" cy="16880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CO" sz="12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ORDEN DEL DIA</a:t>
            </a:r>
            <a:endParaRPr lang="es-CO" sz="1200" dirty="0">
              <a:solidFill>
                <a:srgbClr val="000000"/>
              </a:solidFill>
              <a:effectLst/>
              <a:latin typeface="Helvetica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s-CO" sz="12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s-CO" sz="1200" dirty="0">
              <a:solidFill>
                <a:srgbClr val="000000"/>
              </a:solidFill>
              <a:effectLst/>
              <a:latin typeface="Helvetica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s-CO" sz="12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lang="es-CO" sz="12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s-CO" sz="12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Verificación de Quorum</a:t>
            </a:r>
            <a:endParaRPr lang="es-CO" sz="1200" dirty="0">
              <a:solidFill>
                <a:srgbClr val="000000"/>
              </a:solidFill>
              <a:effectLst/>
              <a:latin typeface="Helvetica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s-CO" sz="12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r>
              <a:rPr lang="es-CO" sz="12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s-CO" sz="12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Revisión de Compromisos</a:t>
            </a:r>
            <a:endParaRPr lang="es-CO" sz="1200" dirty="0">
              <a:solidFill>
                <a:srgbClr val="000000"/>
              </a:solidFill>
              <a:effectLst/>
              <a:latin typeface="Helvetica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s-CO" sz="12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3.</a:t>
            </a:r>
            <a:r>
              <a:rPr lang="es-CO" sz="12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s-CO" sz="12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Aprobación del acta mes de DICIEMBRE  de 2025 (disponible en ALMERA)</a:t>
            </a:r>
            <a:endParaRPr lang="es-CO" sz="1200" dirty="0">
              <a:solidFill>
                <a:srgbClr val="000000"/>
              </a:solidFill>
              <a:effectLst/>
              <a:latin typeface="Helvetica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s-CO" sz="12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4.</a:t>
            </a:r>
            <a:r>
              <a:rPr lang="es-CO" sz="12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s-CO" sz="12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Presentación indicadores ginecología fecha de corte mes </a:t>
            </a:r>
            <a:r>
              <a:rPr lang="es-CO" sz="1200" dirty="0">
                <a:solidFill>
                  <a:srgbClr val="000000"/>
                </a:solidFill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DICIEMBRE </a:t>
            </a:r>
            <a:r>
              <a:rPr lang="es-CO" sz="12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2025 </a:t>
            </a:r>
            <a:endParaRPr lang="es-CO" sz="1200" dirty="0">
              <a:solidFill>
                <a:srgbClr val="000000"/>
              </a:solidFill>
              <a:effectLst/>
              <a:latin typeface="Helvetica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s-CO" sz="12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6  Resocialización </a:t>
            </a:r>
            <a:r>
              <a:rPr lang="es-CO" sz="1200" dirty="0">
                <a:solidFill>
                  <a:srgbClr val="000000"/>
                </a:solidFill>
                <a:latin typeface="Calibri Light" panose="020F03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PROTOCOLO CODIGO ROJO </a:t>
            </a:r>
            <a:r>
              <a:rPr lang="es-CO" sz="12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- servicio ginecología </a:t>
            </a:r>
            <a:endParaRPr lang="es-CO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s-CO" sz="12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7  Socializacion </a:t>
            </a:r>
            <a:r>
              <a:rPr lang="es-CO" sz="1200" dirty="0">
                <a:solidFill>
                  <a:srgbClr val="000000"/>
                </a:solidFill>
                <a:latin typeface="Calibri Light" panose="020F03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PRUEBRAS RAPIDAS EN GINECOLOGIA </a:t>
            </a:r>
            <a:r>
              <a:rPr lang="es-CO" sz="12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s-CO" sz="1200" dirty="0">
                <a:solidFill>
                  <a:srgbClr val="000000"/>
                </a:solidFill>
                <a:effectLst/>
                <a:latin typeface="Arial Narrow" panose="020B060402020202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 </a:t>
            </a:r>
            <a:endParaRPr lang="es-CO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23715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068E563-9385-DD41-C798-53686B088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ítulo 1">
            <a:extLst>
              <a:ext uri="{FF2B5EF4-FFF2-40B4-BE49-F238E27FC236}">
                <a16:creationId xmlns:a16="http://schemas.microsoft.com/office/drawing/2014/main" id="{29992983-8331-5973-ED63-91E5ACED7B5C}"/>
              </a:ext>
            </a:extLst>
          </p:cNvPr>
          <p:cNvSpPr txBox="1">
            <a:spLocks/>
          </p:cNvSpPr>
          <p:nvPr/>
        </p:nvSpPr>
        <p:spPr>
          <a:xfrm>
            <a:off x="2272144" y="755725"/>
            <a:ext cx="8850227" cy="6131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           COMPROMISOS  </a:t>
            </a:r>
            <a:endParaRPr lang="es-CO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D3DC2B36-FDFC-6E7A-7037-69299E548E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2143" y="1959428"/>
            <a:ext cx="8850227" cy="4463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2348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FB8A01-7C30-FAB1-2EF2-388DDD1FE6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ítulo 1">
            <a:extLst>
              <a:ext uri="{FF2B5EF4-FFF2-40B4-BE49-F238E27FC236}">
                <a16:creationId xmlns:a16="http://schemas.microsoft.com/office/drawing/2014/main" id="{1E9C26D7-97AB-E1A0-4F89-A33F8C7DF636}"/>
              </a:ext>
            </a:extLst>
          </p:cNvPr>
          <p:cNvSpPr txBox="1">
            <a:spLocks/>
          </p:cNvSpPr>
          <p:nvPr/>
        </p:nvSpPr>
        <p:spPr>
          <a:xfrm>
            <a:off x="2272144" y="755725"/>
            <a:ext cx="8850227" cy="6131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           COMPROMISOS  </a:t>
            </a:r>
            <a:endParaRPr lang="es-CO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563A0972-1E8E-8110-A44E-AB66A07D87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7440" y="1672045"/>
            <a:ext cx="8850227" cy="4873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77278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9734498-3CDD-5C14-0D83-46271CFEE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ítulo 1">
            <a:extLst>
              <a:ext uri="{FF2B5EF4-FFF2-40B4-BE49-F238E27FC236}">
                <a16:creationId xmlns:a16="http://schemas.microsoft.com/office/drawing/2014/main" id="{8CF160FA-E92D-F092-6252-30822DE7BD1A}"/>
              </a:ext>
            </a:extLst>
          </p:cNvPr>
          <p:cNvSpPr txBox="1">
            <a:spLocks/>
          </p:cNvSpPr>
          <p:nvPr/>
        </p:nvSpPr>
        <p:spPr>
          <a:xfrm>
            <a:off x="2272144" y="755725"/>
            <a:ext cx="8850227" cy="6131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           COMPROMISOS  </a:t>
            </a:r>
            <a:endParaRPr lang="es-CO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F91DA640-8A6F-61DE-8369-14469DB9A4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8139" y="2259874"/>
            <a:ext cx="9350970" cy="3500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36917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E3FC73-F6B3-7FE4-370A-2F3CEB576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694F97-463B-721D-714B-0910873888DD}"/>
              </a:ext>
            </a:extLst>
          </p:cNvPr>
          <p:cNvSpPr txBox="1">
            <a:spLocks/>
          </p:cNvSpPr>
          <p:nvPr/>
        </p:nvSpPr>
        <p:spPr>
          <a:xfrm>
            <a:off x="3058473" y="387350"/>
            <a:ext cx="6379853" cy="19196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CO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COMPLICACIONES OBSTETRICAS    </a:t>
            </a:r>
          </a:p>
        </p:txBody>
      </p:sp>
      <p:sp>
        <p:nvSpPr>
          <p:cNvPr id="5" name="CuadroTexto 3">
            <a:extLst>
              <a:ext uri="{FF2B5EF4-FFF2-40B4-BE49-F238E27FC236}">
                <a16:creationId xmlns:a16="http://schemas.microsoft.com/office/drawing/2014/main" id="{71C5F601-8DC6-31FC-224E-EFCA02059FD5}"/>
              </a:ext>
            </a:extLst>
          </p:cNvPr>
          <p:cNvSpPr txBox="1"/>
          <p:nvPr/>
        </p:nvSpPr>
        <p:spPr>
          <a:xfrm>
            <a:off x="219636" y="6134205"/>
            <a:ext cx="75655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Fuente : </a:t>
            </a:r>
            <a:r>
              <a:rPr kumimoji="0" lang="es-MX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Dinámica Gerencial – sivigila – ALMERA </a:t>
            </a:r>
            <a:endParaRPr kumimoji="0" lang="es-CO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B30F60C-6A75-2740-B2F6-3EBA9121F7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3668" y="2181497"/>
            <a:ext cx="9379131" cy="3815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9391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E3FC73-F6B3-7FE4-370A-2F3CEB576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ítulo 1">
            <a:extLst>
              <a:ext uri="{FF2B5EF4-FFF2-40B4-BE49-F238E27FC236}">
                <a16:creationId xmlns:a16="http://schemas.microsoft.com/office/drawing/2014/main" id="{A36AA0DA-0824-D3D7-01CA-4173EC92397F}"/>
              </a:ext>
            </a:extLst>
          </p:cNvPr>
          <p:cNvSpPr txBox="1">
            <a:spLocks/>
          </p:cNvSpPr>
          <p:nvPr/>
        </p:nvSpPr>
        <p:spPr>
          <a:xfrm>
            <a:off x="3058473" y="387350"/>
            <a:ext cx="6379853" cy="19196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CO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ENDOMETRITIS POS PARTO      </a:t>
            </a:r>
          </a:p>
        </p:txBody>
      </p:sp>
      <p:sp>
        <p:nvSpPr>
          <p:cNvPr id="14" name="CuadroTexto 3">
            <a:extLst>
              <a:ext uri="{FF2B5EF4-FFF2-40B4-BE49-F238E27FC236}">
                <a16:creationId xmlns:a16="http://schemas.microsoft.com/office/drawing/2014/main" id="{2D50408F-79E6-B4CD-6A0F-3FEB4D042EF0}"/>
              </a:ext>
            </a:extLst>
          </p:cNvPr>
          <p:cNvSpPr txBox="1"/>
          <p:nvPr/>
        </p:nvSpPr>
        <p:spPr>
          <a:xfrm>
            <a:off x="219636" y="6134205"/>
            <a:ext cx="75655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Fuente : </a:t>
            </a:r>
            <a:r>
              <a:rPr kumimoji="0" lang="es-MX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Dinámica Gerencial – sivigila – ALMERA </a:t>
            </a:r>
            <a:endParaRPr kumimoji="0" lang="es-CO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AC5825EC-1359-1B79-5069-393A003D84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4925" y="2205651"/>
            <a:ext cx="8974183" cy="3705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18344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E3FC73-F6B3-7FE4-370A-2F3CEB576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07E0D9-373D-00EF-46CA-DC5F0BEE775A}"/>
              </a:ext>
            </a:extLst>
          </p:cNvPr>
          <p:cNvSpPr txBox="1">
            <a:spLocks/>
          </p:cNvSpPr>
          <p:nvPr/>
        </p:nvSpPr>
        <p:spPr>
          <a:xfrm>
            <a:off x="3058473" y="707775"/>
            <a:ext cx="6379853" cy="19196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CO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DIAS ESTANCIA EGRESOS OBSTETRICOS      </a:t>
            </a:r>
          </a:p>
        </p:txBody>
      </p:sp>
      <p:sp>
        <p:nvSpPr>
          <p:cNvPr id="5" name="CuadroTexto 3">
            <a:extLst>
              <a:ext uri="{FF2B5EF4-FFF2-40B4-BE49-F238E27FC236}">
                <a16:creationId xmlns:a16="http://schemas.microsoft.com/office/drawing/2014/main" id="{95F75325-14E7-7AC2-7AA3-085AAC0FDE44}"/>
              </a:ext>
            </a:extLst>
          </p:cNvPr>
          <p:cNvSpPr txBox="1"/>
          <p:nvPr/>
        </p:nvSpPr>
        <p:spPr>
          <a:xfrm>
            <a:off x="219636" y="6134205"/>
            <a:ext cx="75655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Fuente : </a:t>
            </a:r>
            <a:r>
              <a:rPr kumimoji="0" lang="es-MX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Dinámica Gerencial – sivigila – ALMERA </a:t>
            </a:r>
            <a:endParaRPr kumimoji="0" lang="es-CO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8A60CEA-96D6-D9B4-AAFD-3DFA6F0BBB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0686" y="2377440"/>
            <a:ext cx="8817428" cy="3756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41462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E3FC73-F6B3-7FE4-370A-2F3CEB576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A1A2D7-31D8-6B0F-41CA-BA51991C16BD}"/>
              </a:ext>
            </a:extLst>
          </p:cNvPr>
          <p:cNvSpPr txBox="1">
            <a:spLocks/>
          </p:cNvSpPr>
          <p:nvPr/>
        </p:nvSpPr>
        <p:spPr>
          <a:xfrm>
            <a:off x="3058473" y="387350"/>
            <a:ext cx="6379853" cy="19196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CO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EGRESOS OBSTETRICOS      </a:t>
            </a:r>
          </a:p>
        </p:txBody>
      </p:sp>
      <p:sp>
        <p:nvSpPr>
          <p:cNvPr id="5" name="CuadroTexto 3">
            <a:extLst>
              <a:ext uri="{FF2B5EF4-FFF2-40B4-BE49-F238E27FC236}">
                <a16:creationId xmlns:a16="http://schemas.microsoft.com/office/drawing/2014/main" id="{1FB92862-CF61-1F74-EB9F-FB7D0E100469}"/>
              </a:ext>
            </a:extLst>
          </p:cNvPr>
          <p:cNvSpPr txBox="1"/>
          <p:nvPr/>
        </p:nvSpPr>
        <p:spPr>
          <a:xfrm>
            <a:off x="219636" y="6134205"/>
            <a:ext cx="75655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Fuente : </a:t>
            </a:r>
            <a:r>
              <a:rPr kumimoji="0" lang="es-MX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Dinámica Gerencial – sivigila – ALMERA </a:t>
            </a:r>
            <a:endParaRPr kumimoji="0" lang="es-CO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09DA08A0-ACA8-01DF-451C-31644450EC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2198" y="2142310"/>
            <a:ext cx="8310155" cy="3737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450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E3FC73-F6B3-7FE4-370A-2F3CEB576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9B0F67-9AEB-2598-EF11-4AC9A955EC75}"/>
              </a:ext>
            </a:extLst>
          </p:cNvPr>
          <p:cNvSpPr txBox="1">
            <a:spLocks/>
          </p:cNvSpPr>
          <p:nvPr/>
        </p:nvSpPr>
        <p:spPr>
          <a:xfrm>
            <a:off x="3058473" y="387350"/>
            <a:ext cx="6379853" cy="19196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CO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GIRO CAMA  </a:t>
            </a:r>
          </a:p>
        </p:txBody>
      </p:sp>
      <p:sp>
        <p:nvSpPr>
          <p:cNvPr id="5" name="CuadroTexto 3">
            <a:extLst>
              <a:ext uri="{FF2B5EF4-FFF2-40B4-BE49-F238E27FC236}">
                <a16:creationId xmlns:a16="http://schemas.microsoft.com/office/drawing/2014/main" id="{19A11068-9215-7C12-0106-0D56B490BAE1}"/>
              </a:ext>
            </a:extLst>
          </p:cNvPr>
          <p:cNvSpPr txBox="1"/>
          <p:nvPr/>
        </p:nvSpPr>
        <p:spPr>
          <a:xfrm>
            <a:off x="219636" y="6134205"/>
            <a:ext cx="75655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Fuente : </a:t>
            </a:r>
            <a:r>
              <a:rPr kumimoji="0" lang="es-MX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Dinámica Gerencial – sivigila – ALMERA </a:t>
            </a:r>
            <a:endParaRPr kumimoji="0" lang="es-CO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D3F4A85C-382A-D93C-0E54-331558623C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7360" y="2307042"/>
            <a:ext cx="9209313" cy="3610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766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E3FC73-F6B3-7FE4-370A-2F3CEB576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E11858-B2B8-2B2E-AEFF-644B98858813}"/>
              </a:ext>
            </a:extLst>
          </p:cNvPr>
          <p:cNvSpPr txBox="1">
            <a:spLocks/>
          </p:cNvSpPr>
          <p:nvPr/>
        </p:nvSpPr>
        <p:spPr>
          <a:xfrm>
            <a:off x="2482068" y="552843"/>
            <a:ext cx="8447727" cy="19196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CO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MORTALIDAD ANTES DE LAS 24 HORAS   </a:t>
            </a:r>
          </a:p>
        </p:txBody>
      </p:sp>
      <p:sp>
        <p:nvSpPr>
          <p:cNvPr id="5" name="CuadroTexto 3">
            <a:extLst>
              <a:ext uri="{FF2B5EF4-FFF2-40B4-BE49-F238E27FC236}">
                <a16:creationId xmlns:a16="http://schemas.microsoft.com/office/drawing/2014/main" id="{8B60DD31-EB8A-D65F-560F-9A87925A7105}"/>
              </a:ext>
            </a:extLst>
          </p:cNvPr>
          <p:cNvSpPr txBox="1"/>
          <p:nvPr/>
        </p:nvSpPr>
        <p:spPr>
          <a:xfrm>
            <a:off x="219636" y="6134205"/>
            <a:ext cx="75655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Fuente : </a:t>
            </a:r>
            <a:r>
              <a:rPr kumimoji="0" lang="es-MX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Dinámica Gerencial – sivigila – ALMERA </a:t>
            </a:r>
            <a:endParaRPr kumimoji="0" lang="es-CO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658FCF5-5E3E-6283-6EA2-DE3DE7ABAD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6914" y="2472534"/>
            <a:ext cx="9875520" cy="3081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46509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E3FC73-F6B3-7FE4-370A-2F3CEB576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6E18DAE4-8748-CE2B-228F-408F93E7A259}"/>
              </a:ext>
            </a:extLst>
          </p:cNvPr>
          <p:cNvSpPr txBox="1">
            <a:spLocks/>
          </p:cNvSpPr>
          <p:nvPr/>
        </p:nvSpPr>
        <p:spPr>
          <a:xfrm>
            <a:off x="2421500" y="376738"/>
            <a:ext cx="8447727" cy="19196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CO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PRODUCCIÓN   NACIMIENTOS     </a:t>
            </a:r>
          </a:p>
        </p:txBody>
      </p:sp>
      <p:sp>
        <p:nvSpPr>
          <p:cNvPr id="6" name="CuadroTexto 3">
            <a:extLst>
              <a:ext uri="{FF2B5EF4-FFF2-40B4-BE49-F238E27FC236}">
                <a16:creationId xmlns:a16="http://schemas.microsoft.com/office/drawing/2014/main" id="{AD9D1197-5B25-CA95-AA38-6079A557C580}"/>
              </a:ext>
            </a:extLst>
          </p:cNvPr>
          <p:cNvSpPr txBox="1"/>
          <p:nvPr/>
        </p:nvSpPr>
        <p:spPr>
          <a:xfrm>
            <a:off x="219636" y="6134205"/>
            <a:ext cx="75655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Fuente : </a:t>
            </a:r>
            <a:r>
              <a:rPr kumimoji="0" lang="es-MX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Dinámica Gerencial – sivigila – ALMERA </a:t>
            </a:r>
            <a:endParaRPr kumimoji="0" lang="es-CO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D051788B-64AB-A0B5-A20C-7C8879969C8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636" y="2364376"/>
            <a:ext cx="8892794" cy="3892939"/>
          </a:xfrm>
          <a:prstGeom prst="rect">
            <a:avLst/>
          </a:prstGeom>
        </p:spPr>
      </p:pic>
      <p:sp>
        <p:nvSpPr>
          <p:cNvPr id="7" name="Elipse 6">
            <a:extLst>
              <a:ext uri="{FF2B5EF4-FFF2-40B4-BE49-F238E27FC236}">
                <a16:creationId xmlns:a16="http://schemas.microsoft.com/office/drawing/2014/main" id="{29F433AC-C9CE-29C2-6B1E-85799B664729}"/>
              </a:ext>
            </a:extLst>
          </p:cNvPr>
          <p:cNvSpPr/>
          <p:nvPr/>
        </p:nvSpPr>
        <p:spPr>
          <a:xfrm>
            <a:off x="9421815" y="2016034"/>
            <a:ext cx="2550549" cy="141296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44  ( 69.8  % VAGINALES  </a:t>
            </a:r>
          </a:p>
        </p:txBody>
      </p:sp>
    </p:spTree>
    <p:extLst>
      <p:ext uri="{BB962C8B-B14F-4D97-AF65-F5344CB8AC3E}">
        <p14:creationId xmlns:p14="http://schemas.microsoft.com/office/powerpoint/2010/main" val="10750033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E3FC73-F6B3-7FE4-370A-2F3CEB576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E266C1-B31B-8AA6-F9E5-0691111CC113}"/>
              </a:ext>
            </a:extLst>
          </p:cNvPr>
          <p:cNvSpPr txBox="1">
            <a:spLocks/>
          </p:cNvSpPr>
          <p:nvPr/>
        </p:nvSpPr>
        <p:spPr>
          <a:xfrm>
            <a:off x="2286907" y="505928"/>
            <a:ext cx="8447727" cy="19196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CO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PRODUCCIÓN   CESÁREAS     </a:t>
            </a:r>
          </a:p>
        </p:txBody>
      </p:sp>
      <p:sp>
        <p:nvSpPr>
          <p:cNvPr id="7" name="CuadroTexto 3">
            <a:extLst>
              <a:ext uri="{FF2B5EF4-FFF2-40B4-BE49-F238E27FC236}">
                <a16:creationId xmlns:a16="http://schemas.microsoft.com/office/drawing/2014/main" id="{58DDBE5F-2CE9-CE98-96A5-51523A1DEDDB}"/>
              </a:ext>
            </a:extLst>
          </p:cNvPr>
          <p:cNvSpPr txBox="1"/>
          <p:nvPr/>
        </p:nvSpPr>
        <p:spPr>
          <a:xfrm>
            <a:off x="219636" y="6134205"/>
            <a:ext cx="75655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Fuente : </a:t>
            </a:r>
            <a:r>
              <a:rPr kumimoji="0" lang="es-MX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Dinámica Gerencial – sivigila – ALMERA </a:t>
            </a:r>
            <a:endParaRPr kumimoji="0" lang="es-CO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17939AE9-6DB6-0024-A649-9A35EAB68E4D}"/>
              </a:ext>
            </a:extLst>
          </p:cNvPr>
          <p:cNvSpPr/>
          <p:nvPr/>
        </p:nvSpPr>
        <p:spPr>
          <a:xfrm>
            <a:off x="9989794" y="1272138"/>
            <a:ext cx="1458731" cy="67640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30 .2  %  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A2E30EA0-BBE0-3EF3-F2AB-6C93DC7B85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3486" y="2299063"/>
            <a:ext cx="9078685" cy="3351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07653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E3FC73-F6B3-7FE4-370A-2F3CEB576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32447A-42DF-C103-2A07-DAACB2F8A107}"/>
              </a:ext>
            </a:extLst>
          </p:cNvPr>
          <p:cNvSpPr txBox="1">
            <a:spLocks/>
          </p:cNvSpPr>
          <p:nvPr/>
        </p:nvSpPr>
        <p:spPr>
          <a:xfrm>
            <a:off x="1309877" y="556032"/>
            <a:ext cx="8447727" cy="19196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CO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PORCENTAJE OCUPACIONAL    </a:t>
            </a:r>
          </a:p>
        </p:txBody>
      </p:sp>
      <p:sp>
        <p:nvSpPr>
          <p:cNvPr id="14" name="CuadroTexto 3">
            <a:extLst>
              <a:ext uri="{FF2B5EF4-FFF2-40B4-BE49-F238E27FC236}">
                <a16:creationId xmlns:a16="http://schemas.microsoft.com/office/drawing/2014/main" id="{2E1F6F71-A34F-09B7-4203-13B0CF407E1C}"/>
              </a:ext>
            </a:extLst>
          </p:cNvPr>
          <p:cNvSpPr txBox="1"/>
          <p:nvPr/>
        </p:nvSpPr>
        <p:spPr>
          <a:xfrm>
            <a:off x="219636" y="6134205"/>
            <a:ext cx="75655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Fuente : </a:t>
            </a:r>
            <a:r>
              <a:rPr kumimoji="0" lang="es-MX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Dinámica Gerencial – sivigila – ALMERA </a:t>
            </a:r>
            <a:endParaRPr kumimoji="0" lang="es-CO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E0EAE66-BCF8-0A87-EECD-CD3415FB85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280" y="2338251"/>
            <a:ext cx="10084526" cy="3618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71389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E3FC73-F6B3-7FE4-370A-2F3CEB576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09A5B8-96DE-2522-E340-CDF331D06D98}"/>
              </a:ext>
            </a:extLst>
          </p:cNvPr>
          <p:cNvSpPr txBox="1">
            <a:spLocks/>
          </p:cNvSpPr>
          <p:nvPr/>
        </p:nvSpPr>
        <p:spPr>
          <a:xfrm>
            <a:off x="2564936" y="358808"/>
            <a:ext cx="8447727" cy="19196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CO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PROMEDIO DIAS DE ESTANCIA </a:t>
            </a:r>
          </a:p>
        </p:txBody>
      </p:sp>
      <p:sp>
        <p:nvSpPr>
          <p:cNvPr id="5" name="CuadroTexto 3">
            <a:extLst>
              <a:ext uri="{FF2B5EF4-FFF2-40B4-BE49-F238E27FC236}">
                <a16:creationId xmlns:a16="http://schemas.microsoft.com/office/drawing/2014/main" id="{E448DFC6-A936-389A-2AE5-33731812DA58}"/>
              </a:ext>
            </a:extLst>
          </p:cNvPr>
          <p:cNvSpPr txBox="1"/>
          <p:nvPr/>
        </p:nvSpPr>
        <p:spPr>
          <a:xfrm>
            <a:off x="219636" y="6134205"/>
            <a:ext cx="75655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Fuente : </a:t>
            </a:r>
            <a:r>
              <a:rPr kumimoji="0" lang="es-MX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Dinámica Gerencial – sivigila – ALMERA </a:t>
            </a:r>
            <a:endParaRPr kumimoji="0" lang="es-CO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F8343E8-D851-5B23-8C7A-0AF94EA4D1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800" y="2278499"/>
            <a:ext cx="8802863" cy="3426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03105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E3FC73-F6B3-7FE4-370A-2F3CEB576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a 3">
            <a:extLst>
              <a:ext uri="{FF2B5EF4-FFF2-40B4-BE49-F238E27FC236}">
                <a16:creationId xmlns:a16="http://schemas.microsoft.com/office/drawing/2014/main" id="{8BEDEF60-0255-3003-914B-809CD8822F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616601"/>
              </p:ext>
            </p:extLst>
          </p:nvPr>
        </p:nvGraphicFramePr>
        <p:xfrm>
          <a:off x="2545977" y="1399738"/>
          <a:ext cx="8199445" cy="44204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91692">
                  <a:extLst>
                    <a:ext uri="{9D8B030D-6E8A-4147-A177-3AD203B41FA5}">
                      <a16:colId xmlns:a16="http://schemas.microsoft.com/office/drawing/2014/main" val="2792121155"/>
                    </a:ext>
                  </a:extLst>
                </a:gridCol>
                <a:gridCol w="4007753">
                  <a:extLst>
                    <a:ext uri="{9D8B030D-6E8A-4147-A177-3AD203B41FA5}">
                      <a16:colId xmlns:a16="http://schemas.microsoft.com/office/drawing/2014/main" val="2500448351"/>
                    </a:ext>
                  </a:extLst>
                </a:gridCol>
              </a:tblGrid>
              <a:tr h="362493">
                <a:tc>
                  <a:txBody>
                    <a:bodyPr/>
                    <a:lstStyle/>
                    <a:p>
                      <a:pPr algn="just"/>
                      <a:r>
                        <a:rPr lang="es-MX" sz="1600" dirty="0"/>
                        <a:t>INDICADOR</a:t>
                      </a:r>
                      <a:endParaRPr lang="es-CO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MX" sz="1600" dirty="0"/>
                        <a:t>  DICIEMBRE  2025</a:t>
                      </a:r>
                      <a:endParaRPr lang="es-CO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6198716"/>
                  </a:ext>
                </a:extLst>
              </a:tr>
              <a:tr h="362493">
                <a:tc>
                  <a:txBody>
                    <a:bodyPr/>
                    <a:lstStyle/>
                    <a:p>
                      <a:pPr algn="just"/>
                      <a:r>
                        <a:rPr lang="es-MX" sz="1600" dirty="0"/>
                        <a:t>REINGRESO / REINTERVENCIONES </a:t>
                      </a:r>
                      <a:endParaRPr lang="es-CO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MX" sz="1600" dirty="0"/>
                        <a:t>0</a:t>
                      </a:r>
                      <a:endParaRPr lang="es-CO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0171369"/>
                  </a:ext>
                </a:extLst>
              </a:tr>
              <a:tr h="726081">
                <a:tc>
                  <a:txBody>
                    <a:bodyPr/>
                    <a:lstStyle/>
                    <a:p>
                      <a:pPr algn="just"/>
                      <a:r>
                        <a:rPr lang="es-CO" sz="1600" dirty="0"/>
                        <a:t>MORBILIDADMATERNA EXTREMA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CO" sz="1600" dirty="0"/>
                        <a:t>3 ( PREECLAMPSIA 2 ECLAMPSIA 1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1654984"/>
                  </a:ext>
                </a:extLst>
              </a:tr>
              <a:tr h="510946">
                <a:tc>
                  <a:txBody>
                    <a:bodyPr/>
                    <a:lstStyle/>
                    <a:p>
                      <a:pPr algn="just"/>
                      <a:r>
                        <a:rPr lang="es-MX" sz="1600" dirty="0"/>
                        <a:t>MORTALIDAD MATERNA / MORTALIDAD NEONATAL </a:t>
                      </a:r>
                      <a:endParaRPr lang="es-CO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MX" sz="1600" dirty="0"/>
                        <a:t>3 ( gemelar / cesarea rciu </a:t>
                      </a:r>
                      <a:endParaRPr lang="es-CO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6262556"/>
                  </a:ext>
                </a:extLst>
              </a:tr>
              <a:tr h="488492">
                <a:tc>
                  <a:txBody>
                    <a:bodyPr/>
                    <a:lstStyle/>
                    <a:p>
                      <a:pPr algn="just"/>
                      <a:r>
                        <a:rPr lang="es-MX" sz="1600" dirty="0"/>
                        <a:t>EVENTOS DE SEGURIDAD </a:t>
                      </a:r>
                      <a:endParaRPr lang="es-CO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MX" sz="1600" dirty="0"/>
                        <a:t>0</a:t>
                      </a:r>
                      <a:endParaRPr lang="es-CO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6852260"/>
                  </a:ext>
                </a:extLst>
              </a:tr>
              <a:tr h="440880">
                <a:tc>
                  <a:txBody>
                    <a:bodyPr/>
                    <a:lstStyle/>
                    <a:p>
                      <a:pPr algn="just"/>
                      <a:r>
                        <a:rPr lang="es-CO" sz="1600" dirty="0"/>
                        <a:t>ESTANCIA PROLONGADA </a:t>
                      </a:r>
                      <a:r>
                        <a:rPr lang="es-CO" sz="1600"/>
                        <a:t>&gt; 5 </a:t>
                      </a:r>
                      <a:r>
                        <a:rPr lang="es-CO" sz="1600" dirty="0"/>
                        <a:t>DIAS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CO" sz="1600" dirty="0"/>
                        <a:t>3 mastitis / diabetes / edema gestacional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7246018"/>
                  </a:ext>
                </a:extLst>
              </a:tr>
              <a:tr h="510946">
                <a:tc>
                  <a:txBody>
                    <a:bodyPr/>
                    <a:lstStyle/>
                    <a:p>
                      <a:pPr algn="just"/>
                      <a:r>
                        <a:rPr lang="es-MX" sz="1600" dirty="0"/>
                        <a:t>EVENTOS PARA ANALISIS EN COMITÉ DE INFECCIONES </a:t>
                      </a:r>
                      <a:endParaRPr lang="es-CO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CO" sz="16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3542131"/>
                  </a:ext>
                </a:extLst>
              </a:tr>
              <a:tr h="440880">
                <a:tc>
                  <a:txBody>
                    <a:bodyPr/>
                    <a:lstStyle/>
                    <a:p>
                      <a:pPr algn="just"/>
                      <a:r>
                        <a:rPr lang="es-CO" sz="1600" dirty="0"/>
                        <a:t>ENDOMETRITIS POS PARTO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CO" sz="1600" dirty="0"/>
                        <a:t>0/63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1011470"/>
                  </a:ext>
                </a:extLst>
              </a:tr>
              <a:tr h="440880">
                <a:tc>
                  <a:txBody>
                    <a:bodyPr/>
                    <a:lstStyle/>
                    <a:p>
                      <a:pPr algn="just"/>
                      <a:r>
                        <a:rPr lang="es-CO" sz="1600" dirty="0"/>
                        <a:t>HISTERECTOMIAS POS PARTO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CO" sz="1600" dirty="0"/>
                        <a:t>0 / 63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3125472"/>
                  </a:ext>
                </a:extLst>
              </a:tr>
            </a:tbl>
          </a:graphicData>
        </a:graphic>
      </p:graphicFrame>
      <p:sp>
        <p:nvSpPr>
          <p:cNvPr id="3" name="Título 1">
            <a:extLst>
              <a:ext uri="{FF2B5EF4-FFF2-40B4-BE49-F238E27FC236}">
                <a16:creationId xmlns:a16="http://schemas.microsoft.com/office/drawing/2014/main" id="{28E60AC6-0190-4A56-985F-48003D3521D5}"/>
              </a:ext>
            </a:extLst>
          </p:cNvPr>
          <p:cNvSpPr txBox="1">
            <a:spLocks/>
          </p:cNvSpPr>
          <p:nvPr/>
        </p:nvSpPr>
        <p:spPr>
          <a:xfrm>
            <a:off x="2079607" y="0"/>
            <a:ext cx="8447727" cy="19196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CO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OTROS INDICADORES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5335DCF-D279-59EA-AB13-C95E386E4511}"/>
              </a:ext>
            </a:extLst>
          </p:cNvPr>
          <p:cNvSpPr txBox="1"/>
          <p:nvPr/>
        </p:nvSpPr>
        <p:spPr>
          <a:xfrm>
            <a:off x="219636" y="6134205"/>
            <a:ext cx="75655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Fuente : </a:t>
            </a:r>
            <a:r>
              <a:rPr kumimoji="0" lang="es-MX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Dinámica Gerencial – sivigila – ALMERA </a:t>
            </a:r>
            <a:endParaRPr kumimoji="0" lang="es-CO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073322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/>
          <a:stretch>
            <a:fillRect l="-999" r="-999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8150</TotalTime>
  <Words>287</Words>
  <Application>Microsoft Macintosh PowerPoint</Application>
  <PresentationFormat>Panorámica</PresentationFormat>
  <Paragraphs>58</Paragraphs>
  <Slides>17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17</vt:i4>
      </vt:variant>
    </vt:vector>
  </HeadingPairs>
  <TitlesOfParts>
    <vt:vector size="27" baseType="lpstr">
      <vt:lpstr>Aptos</vt:lpstr>
      <vt:lpstr>Arial</vt:lpstr>
      <vt:lpstr>Arial Narrow</vt:lpstr>
      <vt:lpstr>Calibri</vt:lpstr>
      <vt:lpstr>Calibri Light</vt:lpstr>
      <vt:lpstr>Helvetica</vt:lpstr>
      <vt:lpstr>Tahoma</vt:lpstr>
      <vt:lpstr>Times New Roman</vt:lpstr>
      <vt:lpstr>Tema de Office</vt:lpstr>
      <vt:lpstr>1_Tema de Office</vt:lpstr>
      <vt:lpstr>                  EQUIPO PRIMARIO GINECOLOGIA MES DE ENERO      CON DATOS DE DICIEMBRE   2025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TITULO PRESENTACIÓN</dc:title>
  <dc:creator>user</dc:creator>
  <cp:lastModifiedBy>Sharon Katherine Acuña</cp:lastModifiedBy>
  <cp:revision>124</cp:revision>
  <dcterms:created xsi:type="dcterms:W3CDTF">2024-08-26T14:52:25Z</dcterms:created>
  <dcterms:modified xsi:type="dcterms:W3CDTF">2026-01-06T03:46:19Z</dcterms:modified>
</cp:coreProperties>
</file>