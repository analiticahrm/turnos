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7" r:id="rId3"/>
    <p:sldId id="314" r:id="rId4"/>
    <p:sldId id="320" r:id="rId5"/>
    <p:sldId id="261" r:id="rId6"/>
    <p:sldId id="260" r:id="rId7"/>
    <p:sldId id="259" r:id="rId8"/>
    <p:sldId id="263" r:id="rId9"/>
    <p:sldId id="318" r:id="rId10"/>
    <p:sldId id="319" r:id="rId11"/>
    <p:sldId id="316" r:id="rId12"/>
    <p:sldId id="317" r:id="rId13"/>
    <p:sldId id="258" r:id="rId14"/>
    <p:sldId id="321" r:id="rId15"/>
    <p:sldId id="322" r:id="rId16"/>
    <p:sldId id="315" r:id="rId17"/>
    <p:sldId id="323" r:id="rId18"/>
    <p:sldId id="331" r:id="rId19"/>
    <p:sldId id="324" r:id="rId20"/>
    <p:sldId id="266" r:id="rId21"/>
    <p:sldId id="330" r:id="rId22"/>
    <p:sldId id="329" r:id="rId23"/>
    <p:sldId id="328" r:id="rId24"/>
    <p:sldId id="327" r:id="rId25"/>
    <p:sldId id="326" r:id="rId26"/>
    <p:sldId id="313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'Canal endemico Moniquirá'!$C$24</c:f>
              <c:strCache>
                <c:ptCount val="1"/>
                <c:pt idx="0">
                  <c:v>Casos 2026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'Canal endemico Moniquirá'!$D$20:$BC$20</c:f>
              <c:numCache>
                <c:formatCode>General</c:formatCode>
                <c:ptCount val="5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</c:numCache>
            </c:numRef>
          </c:cat>
          <c:val>
            <c:numRef>
              <c:f>'Canal endemico Moniquirá'!$D$24:$BC$24</c:f>
              <c:numCache>
                <c:formatCode>General</c:formatCode>
                <c:ptCount val="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2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2C-4E36-991F-7B9EE18F7B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13983192"/>
        <c:axId val="613984992"/>
      </c:barChart>
      <c:lineChart>
        <c:grouping val="standard"/>
        <c:varyColors val="0"/>
        <c:ser>
          <c:idx val="0"/>
          <c:order val="0"/>
          <c:tx>
            <c:strRef>
              <c:f>'Canal endemico Moniquirá'!$C$21</c:f>
              <c:strCache>
                <c:ptCount val="1"/>
                <c:pt idx="0">
                  <c:v>Limite inferior</c:v>
                </c:pt>
              </c:strCache>
            </c:strRef>
          </c:tx>
          <c:spPr>
            <a:ln w="381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'Canal endemico Moniquirá'!$D$20:$BC$20</c:f>
              <c:numCache>
                <c:formatCode>General</c:formatCode>
                <c:ptCount val="5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</c:numCache>
            </c:numRef>
          </c:cat>
          <c:val>
            <c:numRef>
              <c:f>'Canal endemico Moniquirá'!$D$21:$BC$21</c:f>
              <c:numCache>
                <c:formatCode>General</c:formatCode>
                <c:ptCount val="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0.5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0.5</c:v>
                </c:pt>
                <c:pt idx="20">
                  <c:v>0.5</c:v>
                </c:pt>
                <c:pt idx="21">
                  <c:v>0</c:v>
                </c:pt>
                <c:pt idx="22">
                  <c:v>0</c:v>
                </c:pt>
                <c:pt idx="23">
                  <c:v>0.5</c:v>
                </c:pt>
                <c:pt idx="24">
                  <c:v>0.5</c:v>
                </c:pt>
                <c:pt idx="25">
                  <c:v>1.5</c:v>
                </c:pt>
                <c:pt idx="26">
                  <c:v>0</c:v>
                </c:pt>
                <c:pt idx="27">
                  <c:v>0.5</c:v>
                </c:pt>
                <c:pt idx="28">
                  <c:v>0.5</c:v>
                </c:pt>
                <c:pt idx="29">
                  <c:v>0</c:v>
                </c:pt>
                <c:pt idx="30">
                  <c:v>0.5</c:v>
                </c:pt>
                <c:pt idx="31">
                  <c:v>0</c:v>
                </c:pt>
                <c:pt idx="32">
                  <c:v>1</c:v>
                </c:pt>
                <c:pt idx="33">
                  <c:v>0.5</c:v>
                </c:pt>
                <c:pt idx="34">
                  <c:v>0.5</c:v>
                </c:pt>
                <c:pt idx="35">
                  <c:v>0.5</c:v>
                </c:pt>
                <c:pt idx="36">
                  <c:v>1</c:v>
                </c:pt>
                <c:pt idx="37">
                  <c:v>0</c:v>
                </c:pt>
                <c:pt idx="38">
                  <c:v>0</c:v>
                </c:pt>
                <c:pt idx="39">
                  <c:v>0.5</c:v>
                </c:pt>
                <c:pt idx="40">
                  <c:v>0.5</c:v>
                </c:pt>
                <c:pt idx="41">
                  <c:v>1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0.5</c:v>
                </c:pt>
                <c:pt idx="47">
                  <c:v>0</c:v>
                </c:pt>
                <c:pt idx="48">
                  <c:v>0.5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72C-4E36-991F-7B9EE18F7B9B}"/>
            </c:ext>
          </c:extLst>
        </c:ser>
        <c:ser>
          <c:idx val="1"/>
          <c:order val="1"/>
          <c:tx>
            <c:strRef>
              <c:f>'Canal endemico Moniquirá'!$C$22</c:f>
              <c:strCache>
                <c:ptCount val="1"/>
                <c:pt idx="0">
                  <c:v>Valor esperado</c:v>
                </c:pt>
              </c:strCache>
            </c:strRef>
          </c:tx>
          <c:spPr>
            <a:ln w="381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'Canal endemico Moniquirá'!$D$20:$BC$20</c:f>
              <c:numCache>
                <c:formatCode>General</c:formatCode>
                <c:ptCount val="5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</c:numCache>
            </c:numRef>
          </c:cat>
          <c:val>
            <c:numRef>
              <c:f>'Canal endemico Moniquirá'!$D$22:$BC$22</c:f>
              <c:numCache>
                <c:formatCode>General</c:formatCode>
                <c:ptCount val="5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0.5</c:v>
                </c:pt>
                <c:pt idx="8">
                  <c:v>0.5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1</c:v>
                </c:pt>
                <c:pt idx="14">
                  <c:v>1.5</c:v>
                </c:pt>
                <c:pt idx="15">
                  <c:v>1.5</c:v>
                </c:pt>
                <c:pt idx="16">
                  <c:v>2</c:v>
                </c:pt>
                <c:pt idx="17">
                  <c:v>1.5</c:v>
                </c:pt>
                <c:pt idx="18">
                  <c:v>3</c:v>
                </c:pt>
                <c:pt idx="19">
                  <c:v>1.5</c:v>
                </c:pt>
                <c:pt idx="20">
                  <c:v>1.5</c:v>
                </c:pt>
                <c:pt idx="21">
                  <c:v>5.5</c:v>
                </c:pt>
                <c:pt idx="22">
                  <c:v>2.5</c:v>
                </c:pt>
                <c:pt idx="23">
                  <c:v>2.5</c:v>
                </c:pt>
                <c:pt idx="24">
                  <c:v>1.5</c:v>
                </c:pt>
                <c:pt idx="25">
                  <c:v>4.5</c:v>
                </c:pt>
                <c:pt idx="26">
                  <c:v>4.5</c:v>
                </c:pt>
                <c:pt idx="27">
                  <c:v>3.5</c:v>
                </c:pt>
                <c:pt idx="28">
                  <c:v>2</c:v>
                </c:pt>
                <c:pt idx="29">
                  <c:v>1.5</c:v>
                </c:pt>
                <c:pt idx="30">
                  <c:v>1</c:v>
                </c:pt>
                <c:pt idx="31">
                  <c:v>3</c:v>
                </c:pt>
                <c:pt idx="32">
                  <c:v>2.5</c:v>
                </c:pt>
                <c:pt idx="33">
                  <c:v>1</c:v>
                </c:pt>
                <c:pt idx="34">
                  <c:v>2</c:v>
                </c:pt>
                <c:pt idx="35">
                  <c:v>1</c:v>
                </c:pt>
                <c:pt idx="36">
                  <c:v>1.5</c:v>
                </c:pt>
                <c:pt idx="37">
                  <c:v>1</c:v>
                </c:pt>
                <c:pt idx="38">
                  <c:v>1</c:v>
                </c:pt>
                <c:pt idx="39">
                  <c:v>1.5</c:v>
                </c:pt>
                <c:pt idx="40">
                  <c:v>2</c:v>
                </c:pt>
                <c:pt idx="41">
                  <c:v>2</c:v>
                </c:pt>
                <c:pt idx="42">
                  <c:v>0</c:v>
                </c:pt>
                <c:pt idx="43">
                  <c:v>1</c:v>
                </c:pt>
                <c:pt idx="44">
                  <c:v>1</c:v>
                </c:pt>
                <c:pt idx="45">
                  <c:v>0</c:v>
                </c:pt>
                <c:pt idx="46">
                  <c:v>1.5</c:v>
                </c:pt>
                <c:pt idx="47">
                  <c:v>1</c:v>
                </c:pt>
                <c:pt idx="48">
                  <c:v>1</c:v>
                </c:pt>
                <c:pt idx="49">
                  <c:v>0</c:v>
                </c:pt>
                <c:pt idx="50">
                  <c:v>0.5</c:v>
                </c:pt>
                <c:pt idx="51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72C-4E36-991F-7B9EE18F7B9B}"/>
            </c:ext>
          </c:extLst>
        </c:ser>
        <c:ser>
          <c:idx val="2"/>
          <c:order val="2"/>
          <c:tx>
            <c:strRef>
              <c:f>'Canal endemico Moniquirá'!$C$23</c:f>
              <c:strCache>
                <c:ptCount val="1"/>
                <c:pt idx="0">
                  <c:v>Limite superior</c:v>
                </c:pt>
              </c:strCache>
            </c:strRef>
          </c:tx>
          <c:spPr>
            <a:ln w="381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'Canal endemico Moniquirá'!$D$20:$BC$20</c:f>
              <c:numCache>
                <c:formatCode>General</c:formatCode>
                <c:ptCount val="5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</c:numCache>
            </c:numRef>
          </c:cat>
          <c:val>
            <c:numRef>
              <c:f>'Canal endemico Moniquirá'!$D$23:$BC$23</c:f>
              <c:numCache>
                <c:formatCode>General</c:formatCode>
                <c:ptCount val="52"/>
                <c:pt idx="0">
                  <c:v>6</c:v>
                </c:pt>
                <c:pt idx="1">
                  <c:v>3.5</c:v>
                </c:pt>
                <c:pt idx="2">
                  <c:v>4.5</c:v>
                </c:pt>
                <c:pt idx="3">
                  <c:v>2.5</c:v>
                </c:pt>
                <c:pt idx="4">
                  <c:v>4</c:v>
                </c:pt>
                <c:pt idx="5">
                  <c:v>4.5</c:v>
                </c:pt>
                <c:pt idx="6">
                  <c:v>8.5</c:v>
                </c:pt>
                <c:pt idx="7">
                  <c:v>4</c:v>
                </c:pt>
                <c:pt idx="8">
                  <c:v>5</c:v>
                </c:pt>
                <c:pt idx="9">
                  <c:v>7</c:v>
                </c:pt>
                <c:pt idx="10">
                  <c:v>9.5</c:v>
                </c:pt>
                <c:pt idx="11">
                  <c:v>8</c:v>
                </c:pt>
                <c:pt idx="12">
                  <c:v>4</c:v>
                </c:pt>
                <c:pt idx="13">
                  <c:v>5.5</c:v>
                </c:pt>
                <c:pt idx="14">
                  <c:v>7</c:v>
                </c:pt>
                <c:pt idx="15">
                  <c:v>7</c:v>
                </c:pt>
                <c:pt idx="16">
                  <c:v>9.5</c:v>
                </c:pt>
                <c:pt idx="17">
                  <c:v>4.5</c:v>
                </c:pt>
                <c:pt idx="18">
                  <c:v>5.5</c:v>
                </c:pt>
                <c:pt idx="19">
                  <c:v>6</c:v>
                </c:pt>
                <c:pt idx="20">
                  <c:v>5.5</c:v>
                </c:pt>
                <c:pt idx="21">
                  <c:v>8</c:v>
                </c:pt>
                <c:pt idx="22">
                  <c:v>9.5</c:v>
                </c:pt>
                <c:pt idx="23">
                  <c:v>8.5</c:v>
                </c:pt>
                <c:pt idx="24">
                  <c:v>8.5</c:v>
                </c:pt>
                <c:pt idx="25">
                  <c:v>6.5</c:v>
                </c:pt>
                <c:pt idx="26">
                  <c:v>8</c:v>
                </c:pt>
                <c:pt idx="27">
                  <c:v>9</c:v>
                </c:pt>
                <c:pt idx="28">
                  <c:v>7.5</c:v>
                </c:pt>
                <c:pt idx="29">
                  <c:v>4</c:v>
                </c:pt>
                <c:pt idx="30">
                  <c:v>8</c:v>
                </c:pt>
                <c:pt idx="31">
                  <c:v>4.5</c:v>
                </c:pt>
                <c:pt idx="32">
                  <c:v>8.5</c:v>
                </c:pt>
                <c:pt idx="33">
                  <c:v>8</c:v>
                </c:pt>
                <c:pt idx="34">
                  <c:v>6</c:v>
                </c:pt>
                <c:pt idx="35">
                  <c:v>3</c:v>
                </c:pt>
                <c:pt idx="36">
                  <c:v>7</c:v>
                </c:pt>
                <c:pt idx="37">
                  <c:v>5</c:v>
                </c:pt>
                <c:pt idx="38">
                  <c:v>2.5</c:v>
                </c:pt>
                <c:pt idx="39">
                  <c:v>4</c:v>
                </c:pt>
                <c:pt idx="40">
                  <c:v>4</c:v>
                </c:pt>
                <c:pt idx="41">
                  <c:v>4</c:v>
                </c:pt>
                <c:pt idx="42">
                  <c:v>4.5</c:v>
                </c:pt>
                <c:pt idx="43">
                  <c:v>2</c:v>
                </c:pt>
                <c:pt idx="44">
                  <c:v>3.5</c:v>
                </c:pt>
                <c:pt idx="45">
                  <c:v>3</c:v>
                </c:pt>
                <c:pt idx="46">
                  <c:v>2</c:v>
                </c:pt>
                <c:pt idx="47">
                  <c:v>2.5</c:v>
                </c:pt>
                <c:pt idx="48">
                  <c:v>2</c:v>
                </c:pt>
                <c:pt idx="49">
                  <c:v>1</c:v>
                </c:pt>
                <c:pt idx="50">
                  <c:v>2</c:v>
                </c:pt>
                <c:pt idx="51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72C-4E36-991F-7B9EE18F7B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3983192"/>
        <c:axId val="613984992"/>
      </c:lineChart>
      <c:catAx>
        <c:axId val="613983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/>
                  <a:t>Semana epidemiologica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13984992"/>
        <c:crosses val="autoZero"/>
        <c:auto val="1"/>
        <c:lblAlgn val="ctr"/>
        <c:lblOffset val="100"/>
        <c:noMultiLvlLbl val="0"/>
      </c:catAx>
      <c:valAx>
        <c:axId val="613984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N. DE CASOS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613983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CO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600" b="1" dirty="0"/>
              <a:t>Ubicación</a:t>
            </a:r>
            <a:r>
              <a:rPr lang="es-CO" sz="1600" b="1" baseline="0" dirty="0"/>
              <a:t> del animal agresor</a:t>
            </a:r>
            <a:endParaRPr lang="es-CO" sz="1600" b="1" dirty="0"/>
          </a:p>
        </c:rich>
      </c:tx>
      <c:layout>
        <c:manualLayout>
          <c:xMode val="edge"/>
          <c:yMode val="edge"/>
          <c:x val="0.16674797705364802"/>
          <c:y val="3.88605849195577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0896406429101456E-3"/>
          <c:y val="0.31328931465052795"/>
          <c:w val="0.89262844225293381"/>
          <c:h val="0.62168499321360415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8EF2-4DBD-BF35-9D6643F5C96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8EF2-4DBD-BF35-9D6643F5C96A}"/>
              </c:ext>
            </c:extLst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8EF2-4DBD-BF35-9D6643F5C96A}"/>
              </c:ext>
            </c:extLst>
          </c:dPt>
          <c:dLbls>
            <c:dLbl>
              <c:idx val="0"/>
              <c:layout>
                <c:manualLayout>
                  <c:x val="-1.7753116110963474E-2"/>
                  <c:y val="9.1987553669685168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C6CF58F-95A1-4859-8B8E-CE09946DE409}" type="CATEGORYNAME">
                      <a:rPr lang="en-US" sz="1400" b="1" smtClean="0">
                        <a:solidFill>
                          <a:schemeClr val="tx1"/>
                        </a:solidFill>
                      </a:rPr>
                      <a:pPr>
                        <a:defRPr sz="1400" b="1">
                          <a:solidFill>
                            <a:schemeClr val="tx1"/>
                          </a:solidFill>
                        </a:defRPr>
                      </a:pPr>
                      <a:t>[NOMBRE DE CATEGORÍA]</a:t>
                    </a:fld>
                    <a:r>
                      <a:rPr lang="en-US" sz="1400" b="1" dirty="0">
                        <a:solidFill>
                          <a:schemeClr val="tx1"/>
                        </a:solidFill>
                      </a:rPr>
                      <a:t> </a:t>
                    </a:r>
                    <a:r>
                      <a:rPr lang="en-US" sz="1400" b="1" baseline="0" dirty="0">
                        <a:solidFill>
                          <a:schemeClr val="tx1"/>
                        </a:solidFill>
                      </a:rPr>
                      <a:t> 41: 57.7  %  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CO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88724078077054125"/>
                      <c:h val="0.4036522838839106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EF2-4DBD-BF35-9D6643F5C96A}"/>
                </c:ext>
              </c:extLst>
            </c:dLbl>
            <c:dLbl>
              <c:idx val="1"/>
              <c:layout>
                <c:manualLayout>
                  <c:x val="3.8457636953599841E-2"/>
                  <c:y val="-5.726262274556786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9327232-C395-49BE-B407-A4E341930B0B}" type="CATEGORYNAME">
                      <a:rPr lang="en-US" sz="1400" b="1" smtClean="0">
                        <a:solidFill>
                          <a:schemeClr val="tx1"/>
                        </a:solidFill>
                      </a:rPr>
                      <a:pPr>
                        <a:defRPr sz="1400" b="1">
                          <a:solidFill>
                            <a:schemeClr val="tx1"/>
                          </a:solidFill>
                        </a:defRPr>
                      </a:pPr>
                      <a:t>[NOMBRE DE CATEGORÍA]</a:t>
                    </a:fld>
                    <a:r>
                      <a:rPr lang="en-US" sz="1400" b="1" baseline="0" dirty="0">
                        <a:solidFill>
                          <a:schemeClr val="tx1"/>
                        </a:solidFill>
                      </a:rPr>
                      <a:t>: 29 :  40.8  %  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CO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1602603874123983"/>
                      <c:h val="0.3081087395385506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EF2-4DBD-BF35-9D6643F5C96A}"/>
                </c:ext>
              </c:extLst>
            </c:dLbl>
            <c:dLbl>
              <c:idx val="2"/>
              <c:layout>
                <c:manualLayout>
                  <c:x val="4.4416700270890064E-2"/>
                  <c:y val="5.265193986007563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9E1D579-B78D-4221-BD7A-2B09A76A52AE}" type="CATEGORYNAME">
                      <a:rPr lang="en-US" sz="1400" smtClean="0">
                        <a:solidFill>
                          <a:schemeClr val="tx1"/>
                        </a:solidFill>
                      </a:rPr>
                      <a:pPr>
                        <a:defRPr sz="1400" b="1">
                          <a:solidFill>
                            <a:schemeClr val="tx1"/>
                          </a:solidFill>
                        </a:defRPr>
                      </a:pPr>
                      <a:t>[NOMBRE DE CATEGORÍA]</a:t>
                    </a:fld>
                    <a:r>
                      <a:rPr lang="en-US" sz="1400" baseline="0" dirty="0">
                        <a:solidFill>
                          <a:schemeClr val="tx1"/>
                        </a:solidFill>
                      </a:rPr>
                      <a:t>; </a:t>
                    </a:r>
                    <a:r>
                      <a:rPr lang="en-US" sz="1400" b="1" baseline="0" dirty="0">
                        <a:solidFill>
                          <a:schemeClr val="tx1"/>
                        </a:solidFill>
                      </a:rPr>
                      <a:t>1; 1.4  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CO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0542692873946873"/>
                      <c:h val="7.910904787195677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8EF2-4DBD-BF35-9D6643F5C9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Hoja4!$B$5:$B$7</c:f>
              <c:strCache>
                <c:ptCount val="3"/>
                <c:pt idx="0">
                  <c:v>Observable</c:v>
                </c:pt>
                <c:pt idx="1">
                  <c:v>Perdido</c:v>
                </c:pt>
                <c:pt idx="2">
                  <c:v>Sin Dato</c:v>
                </c:pt>
              </c:strCache>
            </c:strRef>
          </c:cat>
          <c:val>
            <c:numRef>
              <c:f>Hoja4!$C$5:$C$7</c:f>
              <c:numCache>
                <c:formatCode>General</c:formatCode>
                <c:ptCount val="3"/>
                <c:pt idx="0">
                  <c:v>41</c:v>
                </c:pt>
                <c:pt idx="1">
                  <c:v>33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EF2-4DBD-BF35-9D6643F5C9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CO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1294275514596041E-2"/>
          <c:y val="0.18097222222222226"/>
          <c:w val="0.88590300810469436"/>
          <c:h val="0.61498432487605714"/>
        </c:manualLayout>
      </c:layout>
      <c:lineChart>
        <c:grouping val="standard"/>
        <c:varyColors val="0"/>
        <c:ser>
          <c:idx val="0"/>
          <c:order val="0"/>
          <c:tx>
            <c:strRef>
              <c:f>'CURVA 2025'!$B$6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'CURVA 2025'!$C$5:$O$5</c:f>
              <c:strCache>
                <c:ptCount val="13"/>
                <c:pt idx="0">
                  <c:v>I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V</c:v>
                </c:pt>
                <c:pt idx="5">
                  <c:v>VI</c:v>
                </c:pt>
                <c:pt idx="6">
                  <c:v>VII</c:v>
                </c:pt>
                <c:pt idx="7">
                  <c:v>VIII</c:v>
                </c:pt>
                <c:pt idx="8">
                  <c:v>IX</c:v>
                </c:pt>
                <c:pt idx="9">
                  <c:v>X</c:v>
                </c:pt>
                <c:pt idx="10">
                  <c:v>XI</c:v>
                </c:pt>
                <c:pt idx="11">
                  <c:v>XII</c:v>
                </c:pt>
                <c:pt idx="12">
                  <c:v>XIII</c:v>
                </c:pt>
              </c:strCache>
            </c:strRef>
          </c:cat>
          <c:val>
            <c:numRef>
              <c:f>'CURVA 2025'!$C$6:$O$6</c:f>
              <c:numCache>
                <c:formatCode>General</c:formatCode>
                <c:ptCount val="13"/>
                <c:pt idx="0">
                  <c:v>17</c:v>
                </c:pt>
                <c:pt idx="1">
                  <c:v>12</c:v>
                </c:pt>
                <c:pt idx="2">
                  <c:v>13</c:v>
                </c:pt>
                <c:pt idx="3">
                  <c:v>21</c:v>
                </c:pt>
                <c:pt idx="4">
                  <c:v>6</c:v>
                </c:pt>
                <c:pt idx="5">
                  <c:v>10</c:v>
                </c:pt>
                <c:pt idx="6">
                  <c:v>16</c:v>
                </c:pt>
                <c:pt idx="7">
                  <c:v>16</c:v>
                </c:pt>
                <c:pt idx="8">
                  <c:v>19</c:v>
                </c:pt>
                <c:pt idx="9">
                  <c:v>14</c:v>
                </c:pt>
                <c:pt idx="10">
                  <c:v>14</c:v>
                </c:pt>
                <c:pt idx="11">
                  <c:v>21</c:v>
                </c:pt>
                <c:pt idx="12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68-40BB-AC9C-58FE69FE093B}"/>
            </c:ext>
          </c:extLst>
        </c:ser>
        <c:ser>
          <c:idx val="1"/>
          <c:order val="1"/>
          <c:tx>
            <c:strRef>
              <c:f>'CURVA 2025'!$B$7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'CURVA 2025'!$C$5:$O$5</c:f>
              <c:strCache>
                <c:ptCount val="13"/>
                <c:pt idx="0">
                  <c:v>I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V</c:v>
                </c:pt>
                <c:pt idx="5">
                  <c:v>VI</c:v>
                </c:pt>
                <c:pt idx="6">
                  <c:v>VII</c:v>
                </c:pt>
                <c:pt idx="7">
                  <c:v>VIII</c:v>
                </c:pt>
                <c:pt idx="8">
                  <c:v>IX</c:v>
                </c:pt>
                <c:pt idx="9">
                  <c:v>X</c:v>
                </c:pt>
                <c:pt idx="10">
                  <c:v>XI</c:v>
                </c:pt>
                <c:pt idx="11">
                  <c:v>XII</c:v>
                </c:pt>
                <c:pt idx="12">
                  <c:v>XIII</c:v>
                </c:pt>
              </c:strCache>
            </c:strRef>
          </c:cat>
          <c:val>
            <c:numRef>
              <c:f>'CURVA 2025'!$C$7:$O$7</c:f>
              <c:numCache>
                <c:formatCode>General</c:formatCode>
                <c:ptCount val="13"/>
                <c:pt idx="0">
                  <c:v>18</c:v>
                </c:pt>
                <c:pt idx="1">
                  <c:v>11</c:v>
                </c:pt>
                <c:pt idx="2">
                  <c:v>16</c:v>
                </c:pt>
                <c:pt idx="3">
                  <c:v>10</c:v>
                </c:pt>
                <c:pt idx="4">
                  <c:v>10</c:v>
                </c:pt>
                <c:pt idx="5">
                  <c:v>13</c:v>
                </c:pt>
                <c:pt idx="6">
                  <c:v>16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14</c:v>
                </c:pt>
                <c:pt idx="11">
                  <c:v>16</c:v>
                </c:pt>
                <c:pt idx="12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68-40BB-AC9C-58FE69FE093B}"/>
            </c:ext>
          </c:extLst>
        </c:ser>
        <c:ser>
          <c:idx val="2"/>
          <c:order val="2"/>
          <c:tx>
            <c:strRef>
              <c:f>'CURVA 2025'!$B$9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tx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68-40BB-AC9C-58FE69FE09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'CURVA 2025'!$C$5:$O$5</c:f>
              <c:strCache>
                <c:ptCount val="13"/>
                <c:pt idx="0">
                  <c:v>I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V</c:v>
                </c:pt>
                <c:pt idx="5">
                  <c:v>VI</c:v>
                </c:pt>
                <c:pt idx="6">
                  <c:v>VII</c:v>
                </c:pt>
                <c:pt idx="7">
                  <c:v>VIII</c:v>
                </c:pt>
                <c:pt idx="8">
                  <c:v>IX</c:v>
                </c:pt>
                <c:pt idx="9">
                  <c:v>X</c:v>
                </c:pt>
                <c:pt idx="10">
                  <c:v>XI</c:v>
                </c:pt>
                <c:pt idx="11">
                  <c:v>XII</c:v>
                </c:pt>
                <c:pt idx="12">
                  <c:v>XIII</c:v>
                </c:pt>
              </c:strCache>
            </c:strRef>
          </c:cat>
          <c:val>
            <c:numRef>
              <c:f>'CURVA 2025'!$C$9:$O$9</c:f>
              <c:numCache>
                <c:formatCode>0</c:formatCode>
                <c:ptCount val="13"/>
                <c:pt idx="0">
                  <c:v>33</c:v>
                </c:pt>
                <c:pt idx="1">
                  <c:v>11</c:v>
                </c:pt>
                <c:pt idx="2">
                  <c:v>12</c:v>
                </c:pt>
                <c:pt idx="3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968-40BB-AC9C-58FE69FE093B}"/>
            </c:ext>
          </c:extLst>
        </c:ser>
        <c:ser>
          <c:idx val="3"/>
          <c:order val="3"/>
          <c:tx>
            <c:strRef>
              <c:f>'CURVA 2025'!$B$8</c:f>
              <c:strCache>
                <c:ptCount val="1"/>
                <c:pt idx="0">
                  <c:v>Umbral esperado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'CURVA 2025'!$C$5:$O$5</c:f>
              <c:strCache>
                <c:ptCount val="13"/>
                <c:pt idx="0">
                  <c:v>I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V</c:v>
                </c:pt>
                <c:pt idx="5">
                  <c:v>VI</c:v>
                </c:pt>
                <c:pt idx="6">
                  <c:v>VII</c:v>
                </c:pt>
                <c:pt idx="7">
                  <c:v>VIII</c:v>
                </c:pt>
                <c:pt idx="8">
                  <c:v>IX</c:v>
                </c:pt>
                <c:pt idx="9">
                  <c:v>X</c:v>
                </c:pt>
                <c:pt idx="10">
                  <c:v>XI</c:v>
                </c:pt>
                <c:pt idx="11">
                  <c:v>XII</c:v>
                </c:pt>
                <c:pt idx="12">
                  <c:v>XIII</c:v>
                </c:pt>
              </c:strCache>
            </c:strRef>
          </c:cat>
          <c:val>
            <c:numRef>
              <c:f>'CURVA 2025'!$C$8:$O$8</c:f>
              <c:numCache>
                <c:formatCode>0.00</c:formatCode>
                <c:ptCount val="13"/>
                <c:pt idx="0">
                  <c:v>14.346153846153847</c:v>
                </c:pt>
                <c:pt idx="1">
                  <c:v>14.346153846153847</c:v>
                </c:pt>
                <c:pt idx="2">
                  <c:v>14.346153846153847</c:v>
                </c:pt>
                <c:pt idx="3">
                  <c:v>14.346153846153847</c:v>
                </c:pt>
                <c:pt idx="4">
                  <c:v>14.346153846153847</c:v>
                </c:pt>
                <c:pt idx="5">
                  <c:v>14.346153846153847</c:v>
                </c:pt>
                <c:pt idx="6">
                  <c:v>14.346153846153847</c:v>
                </c:pt>
                <c:pt idx="7">
                  <c:v>14.346153846153847</c:v>
                </c:pt>
                <c:pt idx="8">
                  <c:v>14.346153846153847</c:v>
                </c:pt>
                <c:pt idx="9">
                  <c:v>14.346153846153847</c:v>
                </c:pt>
                <c:pt idx="10">
                  <c:v>14.346153846153847</c:v>
                </c:pt>
                <c:pt idx="11">
                  <c:v>14.346153846153847</c:v>
                </c:pt>
                <c:pt idx="12">
                  <c:v>14.346153846153847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968-40BB-AC9C-58FE69FE09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0592207"/>
        <c:axId val="2085617183"/>
      </c:lineChart>
      <c:catAx>
        <c:axId val="5405922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Periodo Epidemiológico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2085617183"/>
        <c:crosses val="autoZero"/>
        <c:auto val="1"/>
        <c:lblAlgn val="ctr"/>
        <c:lblOffset val="100"/>
        <c:noMultiLvlLbl val="0"/>
      </c:catAx>
      <c:valAx>
        <c:axId val="20856171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 b="1"/>
                  <a:t>No de Casos</a:t>
                </a:r>
              </a:p>
            </c:rich>
          </c:tx>
          <c:layout>
            <c:manualLayout>
              <c:xMode val="edge"/>
              <c:yMode val="edge"/>
              <c:x val="2.4888106832305124E-2"/>
              <c:y val="0.271364129483814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40592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3478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99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99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31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9786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619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69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100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77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221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058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821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627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276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333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622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3953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541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236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433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5311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18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53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ED464F-AE49-4530-AB8F-BF5C16571F6A}" type="datetimeFigureOut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9/06/2026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B09BD-4935-4E15-915B-CAF5541A035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007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ampusvirtualsp.org/es/curso/diagnostico-manejo-clinico-dengue?fbclid=IwAR1MLkWpzr6OWpc7SkIgb4QQ-824j2TT6nXAxbPeaDalhQEih6TI4I8uZ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79334" y="1642533"/>
            <a:ext cx="6553199" cy="2201334"/>
          </a:xfrm>
        </p:spPr>
        <p:txBody>
          <a:bodyPr>
            <a:noAutofit/>
          </a:bodyPr>
          <a:lstStyle/>
          <a:p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br>
              <a:rPr lang="es-MX" sz="2800" b="1" dirty="0"/>
            </a:br>
            <a:r>
              <a:rPr lang="es-MX" sz="3200" b="1" dirty="0"/>
              <a:t>SOCIALIZACIÓN DE ALGORITMOS DE MANEJO CLINICO DE DENGUE Y EXPOSICIÓN RABICA 2026 </a:t>
            </a:r>
            <a:br>
              <a:rPr lang="es-MX" sz="3200" b="1" dirty="0"/>
            </a:br>
            <a:endParaRPr lang="es-CO" sz="32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21" y="4504267"/>
            <a:ext cx="11389912" cy="1608666"/>
          </a:xfrm>
        </p:spPr>
        <p:txBody>
          <a:bodyPr>
            <a:normAutofit/>
          </a:bodyPr>
          <a:lstStyle/>
          <a:p>
            <a:r>
              <a:rPr lang="es-MX" b="1" dirty="0">
                <a:solidFill>
                  <a:srgbClr val="002060"/>
                </a:solidFill>
              </a:rPr>
              <a:t>OSCAR ORDOÑEZ BRICEÑO </a:t>
            </a:r>
          </a:p>
          <a:p>
            <a:r>
              <a:rPr lang="es-MX" b="1" dirty="0">
                <a:solidFill>
                  <a:srgbClr val="002060"/>
                </a:solidFill>
              </a:rPr>
              <a:t> PROFESIONAL REFERENTE VIGILANCIA EN SALUD PÚBLICA VSP</a:t>
            </a:r>
          </a:p>
          <a:p>
            <a:r>
              <a:rPr lang="es-MX" b="1" dirty="0">
                <a:solidFill>
                  <a:srgbClr val="002060"/>
                </a:solidFill>
              </a:rPr>
              <a:t>Esp. SST – Magister en Educación. </a:t>
            </a:r>
            <a:endParaRPr lang="es-CO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368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7FF5830-A1E0-5B3A-6894-7F7C1A92C0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37"/>
          <a:stretch/>
        </p:blipFill>
        <p:spPr>
          <a:xfrm>
            <a:off x="1583141" y="1436615"/>
            <a:ext cx="8393372" cy="444879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C87E7C2-EBEE-400A-589A-F1D35404DEAB}"/>
              </a:ext>
            </a:extLst>
          </p:cNvPr>
          <p:cNvSpPr txBox="1"/>
          <p:nvPr/>
        </p:nvSpPr>
        <p:spPr>
          <a:xfrm>
            <a:off x="1583140" y="423081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GPC MANEJO CLINICO DE DENGUE </a:t>
            </a:r>
            <a:endParaRPr lang="es-CO" sz="3600" b="1" dirty="0"/>
          </a:p>
        </p:txBody>
      </p:sp>
    </p:spTree>
    <p:extLst>
      <p:ext uri="{BB962C8B-B14F-4D97-AF65-F5344CB8AC3E}">
        <p14:creationId xmlns:p14="http://schemas.microsoft.com/office/powerpoint/2010/main" val="3042841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AED2-F67D-40FA-B586-CC5F59C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496" y="234496"/>
            <a:ext cx="9991531" cy="914416"/>
          </a:xfrm>
        </p:spPr>
        <p:txBody>
          <a:bodyPr>
            <a:normAutofit/>
          </a:bodyPr>
          <a:lstStyle/>
          <a:p>
            <a:pPr algn="ctr"/>
            <a:br>
              <a:rPr lang="es-MX" sz="2800" b="1" dirty="0"/>
            </a:br>
            <a:r>
              <a:rPr lang="es-MX" sz="2800" b="1" dirty="0"/>
              <a:t>Canal Endémico Dengue – HRM a periodo IV  - 2026</a:t>
            </a:r>
            <a:endParaRPr lang="es-CO" sz="28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65FBBBE-835E-48FC-AE39-07C954C85AD9}"/>
              </a:ext>
            </a:extLst>
          </p:cNvPr>
          <p:cNvSpPr txBox="1"/>
          <p:nvPr/>
        </p:nvSpPr>
        <p:spPr>
          <a:xfrm>
            <a:off x="854540" y="6494336"/>
            <a:ext cx="10031708" cy="37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Fuente: https://sivigilaweb.ins.gov.co/Sivigila/Consultas/RptBasicosComplementarios/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BF71C9A-B79F-6ED3-3CF8-8F4998D0C102}"/>
              </a:ext>
            </a:extLst>
          </p:cNvPr>
          <p:cNvSpPr txBox="1"/>
          <p:nvPr/>
        </p:nvSpPr>
        <p:spPr>
          <a:xfrm>
            <a:off x="1" y="2269067"/>
            <a:ext cx="1144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Código SIVIGILA: 210 </a:t>
            </a:r>
            <a:endParaRPr kumimoji="0" lang="es-CO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/>
        </p:nvGraphicFramePr>
        <p:xfrm>
          <a:off x="1144756" y="1419367"/>
          <a:ext cx="9555090" cy="38896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90F9AE1D-5464-F7AB-6D45-7CBECBC6CDAF}"/>
              </a:ext>
            </a:extLst>
          </p:cNvPr>
          <p:cNvSpPr txBox="1"/>
          <p:nvPr/>
        </p:nvSpPr>
        <p:spPr>
          <a:xfrm>
            <a:off x="204717" y="5308978"/>
            <a:ext cx="589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a periodo IV: 12 casos </a:t>
            </a:r>
            <a:endParaRPr kumimoji="0" lang="es-CO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DF7E055-87AC-A477-255F-2AA0F7BE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173" y="641445"/>
            <a:ext cx="9662615" cy="563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41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7C466D9-4968-1597-E064-FD55E6A9D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197" y="354843"/>
            <a:ext cx="9348716" cy="634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2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73EE98-ED85-F845-E6A0-A01D24650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493" y="283191"/>
            <a:ext cx="9444250" cy="62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768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5848D61-C34B-5517-7D6F-146DF24A5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969" y="517992"/>
            <a:ext cx="9643888" cy="603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9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999AD84-8E1C-5E9F-0853-D68988EB4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104103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0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A5405D-502D-8DE3-61E6-859241CA0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23" y="891990"/>
            <a:ext cx="10153935" cy="533821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BC2F51C-5A75-2D1A-A7CC-2F4EAA8CED69}"/>
              </a:ext>
            </a:extLst>
          </p:cNvPr>
          <p:cNvSpPr txBox="1"/>
          <p:nvPr/>
        </p:nvSpPr>
        <p:spPr>
          <a:xfrm>
            <a:off x="1692323" y="436728"/>
            <a:ext cx="9103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CURSO CLINICO Y FASES DE LA ENFERMEDAD </a:t>
            </a:r>
            <a:endParaRPr lang="es-CO" sz="3200" b="1" dirty="0"/>
          </a:p>
        </p:txBody>
      </p:sp>
    </p:spTree>
    <p:extLst>
      <p:ext uri="{BB962C8B-B14F-4D97-AF65-F5344CB8AC3E}">
        <p14:creationId xmlns:p14="http://schemas.microsoft.com/office/powerpoint/2010/main" val="57857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56EC278-7931-9B14-CD5E-55F76FA2B9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33" r="2836"/>
          <a:stretch/>
        </p:blipFill>
        <p:spPr>
          <a:xfrm>
            <a:off x="777869" y="1593376"/>
            <a:ext cx="9717260" cy="412503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56B9FF7-3B9E-B56D-8C91-4A0957131152}"/>
              </a:ext>
            </a:extLst>
          </p:cNvPr>
          <p:cNvSpPr txBox="1"/>
          <p:nvPr/>
        </p:nvSpPr>
        <p:spPr>
          <a:xfrm>
            <a:off x="1910687" y="736979"/>
            <a:ext cx="8584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GRUPOS DE CLASIFICACIÓN CLINICA </a:t>
            </a:r>
            <a:endParaRPr lang="es-CO" sz="3600" b="1" dirty="0"/>
          </a:p>
        </p:txBody>
      </p:sp>
    </p:spTree>
    <p:extLst>
      <p:ext uri="{BB962C8B-B14F-4D97-AF65-F5344CB8AC3E}">
        <p14:creationId xmlns:p14="http://schemas.microsoft.com/office/powerpoint/2010/main" val="106873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6C2A5E-2031-79D5-1C18-5CE65F7A5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116" y="520686"/>
            <a:ext cx="9893768" cy="605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8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CC05A7-1ED1-8F09-5552-18BB152CE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173" y="470759"/>
            <a:ext cx="10085696" cy="599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08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0CC9E8D-E19F-3C5D-A71C-0816F075A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498" y="852983"/>
            <a:ext cx="8475260" cy="490637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28578FC-5AF5-2E10-A24B-B50924C12142}"/>
              </a:ext>
            </a:extLst>
          </p:cNvPr>
          <p:cNvSpPr txBox="1"/>
          <p:nvPr/>
        </p:nvSpPr>
        <p:spPr>
          <a:xfrm>
            <a:off x="2320119" y="218364"/>
            <a:ext cx="7206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MANEJO CLINICO GRUPO A Y B 1 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3844201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B35427-473F-E3D1-10F8-9339D4249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771" y="1023582"/>
            <a:ext cx="9416954" cy="565017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FAEBAD0-D624-E065-EF33-A860CACEE9C9}"/>
              </a:ext>
            </a:extLst>
          </p:cNvPr>
          <p:cNvSpPr txBox="1"/>
          <p:nvPr/>
        </p:nvSpPr>
        <p:spPr>
          <a:xfrm>
            <a:off x="1160060" y="464025"/>
            <a:ext cx="959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MANEJO DE DENGUE CON SIGNOS DE ALARMA GRUPO B2 </a:t>
            </a:r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2013681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CDEC19C-4E7C-0FBF-2558-4DB6286216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569"/>
          <a:stretch/>
        </p:blipFill>
        <p:spPr>
          <a:xfrm>
            <a:off x="1310186" y="1037231"/>
            <a:ext cx="9225886" cy="515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00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28578FC-5AF5-2E10-A24B-B50924C12142}"/>
              </a:ext>
            </a:extLst>
          </p:cNvPr>
          <p:cNvSpPr txBox="1"/>
          <p:nvPr/>
        </p:nvSpPr>
        <p:spPr>
          <a:xfrm>
            <a:off x="2320119" y="218364"/>
            <a:ext cx="7206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CURSO DE MANEJO CLINICO DENGUE OPS  </a:t>
            </a:r>
            <a:endParaRPr kumimoji="0" lang="es-CO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16426D-AE7F-4D8C-90AB-475856C4B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72" y="741584"/>
            <a:ext cx="8233189" cy="482984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F7E3E99-73A0-B52D-6D89-276F52BB53D3}"/>
              </a:ext>
            </a:extLst>
          </p:cNvPr>
          <p:cNvSpPr txBox="1"/>
          <p:nvPr/>
        </p:nvSpPr>
        <p:spPr>
          <a:xfrm>
            <a:off x="1292948" y="2832248"/>
            <a:ext cx="9229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r>
              <a:rPr lang="es-CO" dirty="0">
                <a:hlinkClick r:id="rId4"/>
              </a:rPr>
              <a:t>https://www.campusvirtualsp.org/es/curso/diagnostico-manejo-clinico-dengue?fbclid=IwAR1MLkWpzr6OWpc7SkIgb4QQ-824j2TT6nXAxbPeaDalhQEih6TI4I8uZng</a:t>
            </a:r>
            <a:r>
              <a:rPr lang="es-CO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14633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EDEC307-AE38-743F-0F63-9A520DAAB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424" y="342184"/>
            <a:ext cx="9143999" cy="637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790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EC87E7C2-EBEE-400A-589A-F1D35404DEAB}"/>
              </a:ext>
            </a:extLst>
          </p:cNvPr>
          <p:cNvSpPr txBox="1"/>
          <p:nvPr/>
        </p:nvSpPr>
        <p:spPr>
          <a:xfrm>
            <a:off x="1583140" y="423081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GPC MANEJO CLINICO DE EXPOSICIÓN RABICA </a:t>
            </a:r>
            <a:endParaRPr kumimoji="0" lang="es-CO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D8748F0-FD21-9AC3-79ED-22FFE6274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040" y="1897039"/>
            <a:ext cx="7163800" cy="42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20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77B4BA8-A36E-4A2D-ABFF-8A0AFF2ED226}"/>
              </a:ext>
            </a:extLst>
          </p:cNvPr>
          <p:cNvSpPr txBox="1"/>
          <p:nvPr/>
        </p:nvSpPr>
        <p:spPr>
          <a:xfrm>
            <a:off x="1711649" y="6429651"/>
            <a:ext cx="9390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Fuente: https://sivigilaweb.ins.gov.co/Sivigila/Consultas/RptBasicosComplementarios</a:t>
            </a:r>
            <a:r>
              <a: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812E63C-D69F-324D-808E-BBA5F35D54A3}"/>
              </a:ext>
            </a:extLst>
          </p:cNvPr>
          <p:cNvGraphicFramePr>
            <a:graphicFrameLocks noGrp="1"/>
          </p:cNvGraphicFramePr>
          <p:nvPr/>
        </p:nvGraphicFramePr>
        <p:xfrm>
          <a:off x="573206" y="3305636"/>
          <a:ext cx="9298929" cy="552207"/>
        </p:xfrm>
        <a:graphic>
          <a:graphicData uri="http://schemas.openxmlformats.org/drawingml/2006/table">
            <a:tbl>
              <a:tblPr/>
              <a:tblGrid>
                <a:gridCol w="2074877">
                  <a:extLst>
                    <a:ext uri="{9D8B030D-6E8A-4147-A177-3AD203B41FA5}">
                      <a16:colId xmlns:a16="http://schemas.microsoft.com/office/drawing/2014/main" val="650157795"/>
                    </a:ext>
                  </a:extLst>
                </a:gridCol>
                <a:gridCol w="908685">
                  <a:extLst>
                    <a:ext uri="{9D8B030D-6E8A-4147-A177-3AD203B41FA5}">
                      <a16:colId xmlns:a16="http://schemas.microsoft.com/office/drawing/2014/main" val="3462064466"/>
                    </a:ext>
                  </a:extLst>
                </a:gridCol>
                <a:gridCol w="908685">
                  <a:extLst>
                    <a:ext uri="{9D8B030D-6E8A-4147-A177-3AD203B41FA5}">
                      <a16:colId xmlns:a16="http://schemas.microsoft.com/office/drawing/2014/main" val="2291720028"/>
                    </a:ext>
                  </a:extLst>
                </a:gridCol>
                <a:gridCol w="908685">
                  <a:extLst>
                    <a:ext uri="{9D8B030D-6E8A-4147-A177-3AD203B41FA5}">
                      <a16:colId xmlns:a16="http://schemas.microsoft.com/office/drawing/2014/main" val="2713999802"/>
                    </a:ext>
                  </a:extLst>
                </a:gridCol>
                <a:gridCol w="772384">
                  <a:extLst>
                    <a:ext uri="{9D8B030D-6E8A-4147-A177-3AD203B41FA5}">
                      <a16:colId xmlns:a16="http://schemas.microsoft.com/office/drawing/2014/main" val="221193715"/>
                    </a:ext>
                  </a:extLst>
                </a:gridCol>
                <a:gridCol w="1241871">
                  <a:extLst>
                    <a:ext uri="{9D8B030D-6E8A-4147-A177-3AD203B41FA5}">
                      <a16:colId xmlns:a16="http://schemas.microsoft.com/office/drawing/2014/main" val="3992509630"/>
                    </a:ext>
                  </a:extLst>
                </a:gridCol>
                <a:gridCol w="1241871">
                  <a:extLst>
                    <a:ext uri="{9D8B030D-6E8A-4147-A177-3AD203B41FA5}">
                      <a16:colId xmlns:a16="http://schemas.microsoft.com/office/drawing/2014/main" val="3260886561"/>
                    </a:ext>
                  </a:extLst>
                </a:gridCol>
                <a:gridCol w="1241871">
                  <a:extLst>
                    <a:ext uri="{9D8B030D-6E8A-4147-A177-3AD203B41FA5}">
                      <a16:colId xmlns:a16="http://schemas.microsoft.com/office/drawing/2014/main" val="1326360675"/>
                    </a:ext>
                  </a:extLst>
                </a:gridCol>
              </a:tblGrid>
              <a:tr h="29634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Municipio de Ocurrencia/Procedencia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MONIQUIRA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BARBOSA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SANTA</a:t>
                      </a:r>
                      <a:r>
                        <a:rPr lang="es-MX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SOFIA 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ARCABUCO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PUENTE NACIONAL 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SANTANA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TOGUI 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642022"/>
                  </a:ext>
                </a:extLst>
              </a:tr>
              <a:tr h="20740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de Casos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s-CO" sz="1100" b="1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s-CO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66239"/>
                  </a:ext>
                </a:extLst>
              </a:tr>
            </a:tbl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DACD1957-2602-4C36-3B21-8A273DC8CD41}"/>
              </a:ext>
            </a:extLst>
          </p:cNvPr>
          <p:cNvGraphicFramePr>
            <a:graphicFrameLocks/>
          </p:cNvGraphicFramePr>
          <p:nvPr/>
        </p:nvGraphicFramePr>
        <p:xfrm>
          <a:off x="194846" y="4232611"/>
          <a:ext cx="3982681" cy="2217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FD739F65-9858-E9BD-9A0D-C364E0BC4482}"/>
              </a:ext>
            </a:extLst>
          </p:cNvPr>
          <p:cNvGraphicFramePr>
            <a:graphicFrameLocks noGrp="1"/>
          </p:cNvGraphicFramePr>
          <p:nvPr/>
        </p:nvGraphicFramePr>
        <p:xfrm>
          <a:off x="3694923" y="4354050"/>
          <a:ext cx="6177209" cy="2112742"/>
        </p:xfrm>
        <a:graphic>
          <a:graphicData uri="http://schemas.openxmlformats.org/drawingml/2006/table">
            <a:tbl>
              <a:tblPr/>
              <a:tblGrid>
                <a:gridCol w="1262050">
                  <a:extLst>
                    <a:ext uri="{9D8B030D-6E8A-4147-A177-3AD203B41FA5}">
                      <a16:colId xmlns:a16="http://schemas.microsoft.com/office/drawing/2014/main" val="1213485023"/>
                    </a:ext>
                  </a:extLst>
                </a:gridCol>
                <a:gridCol w="807418">
                  <a:extLst>
                    <a:ext uri="{9D8B030D-6E8A-4147-A177-3AD203B41FA5}">
                      <a16:colId xmlns:a16="http://schemas.microsoft.com/office/drawing/2014/main" val="1131335460"/>
                    </a:ext>
                  </a:extLst>
                </a:gridCol>
                <a:gridCol w="1143843">
                  <a:extLst>
                    <a:ext uri="{9D8B030D-6E8A-4147-A177-3AD203B41FA5}">
                      <a16:colId xmlns:a16="http://schemas.microsoft.com/office/drawing/2014/main" val="2771555260"/>
                    </a:ext>
                  </a:extLst>
                </a:gridCol>
                <a:gridCol w="807418">
                  <a:extLst>
                    <a:ext uri="{9D8B030D-6E8A-4147-A177-3AD203B41FA5}">
                      <a16:colId xmlns:a16="http://schemas.microsoft.com/office/drawing/2014/main" val="1965934687"/>
                    </a:ext>
                  </a:extLst>
                </a:gridCol>
                <a:gridCol w="1081422">
                  <a:extLst>
                    <a:ext uri="{9D8B030D-6E8A-4147-A177-3AD203B41FA5}">
                      <a16:colId xmlns:a16="http://schemas.microsoft.com/office/drawing/2014/main" val="954304738"/>
                    </a:ext>
                  </a:extLst>
                </a:gridCol>
                <a:gridCol w="1075058">
                  <a:extLst>
                    <a:ext uri="{9D8B030D-6E8A-4147-A177-3AD203B41FA5}">
                      <a16:colId xmlns:a16="http://schemas.microsoft.com/office/drawing/2014/main" val="2313157910"/>
                    </a:ext>
                  </a:extLst>
                </a:gridCol>
              </a:tblGrid>
              <a:tr h="91673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Tipo de exposición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de Casos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Lavado de herida con agua y jabón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Sutura de la herida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Suero antirrábico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Vacuna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988519"/>
                  </a:ext>
                </a:extLst>
              </a:tr>
              <a:tr h="39866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0. No exposición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091353"/>
                  </a:ext>
                </a:extLst>
              </a:tr>
              <a:tr h="39866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 Exposición leve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  <a:endParaRPr lang="es-CO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  <a:endParaRPr lang="es-CO" sz="1400" b="1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443938"/>
                  </a:ext>
                </a:extLst>
              </a:tr>
              <a:tr h="398669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2. Exposición grave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8439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23BFFAC4-5D20-21F9-EBA4-1CFA6CF5C728}"/>
              </a:ext>
            </a:extLst>
          </p:cNvPr>
          <p:cNvSpPr txBox="1"/>
          <p:nvPr/>
        </p:nvSpPr>
        <p:spPr>
          <a:xfrm>
            <a:off x="6029520" y="3984717"/>
            <a:ext cx="5037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TRATAMIENTO INDICADO</a:t>
            </a:r>
          </a:p>
        </p:txBody>
      </p:sp>
      <p:sp>
        <p:nvSpPr>
          <p:cNvPr id="6" name="Rectángulo 5"/>
          <p:cNvSpPr/>
          <p:nvPr/>
        </p:nvSpPr>
        <p:spPr>
          <a:xfrm flipH="1">
            <a:off x="9676015" y="1063851"/>
            <a:ext cx="21563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Casos P. IV: 15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NE: 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EL: 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EG: 1 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F6F8E2-B684-DE25-779F-DCF45C525970}"/>
              </a:ext>
            </a:extLst>
          </p:cNvPr>
          <p:cNvSpPr txBox="1"/>
          <p:nvPr/>
        </p:nvSpPr>
        <p:spPr>
          <a:xfrm>
            <a:off x="9872133" y="106902"/>
            <a:ext cx="2156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Código SIVIGILA: 300</a:t>
            </a:r>
            <a:endParaRPr kumimoji="0" lang="es-CO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9872131" y="4230807"/>
            <a:ext cx="16056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Animal Agresor: </a:t>
            </a: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*Perro: 66: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92,9 %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*Gato: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5,6 %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*Équido: 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1,4 %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1313410" y="158527"/>
            <a:ext cx="8761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CURVA AGRESIONES POR ANIMALES POTENCIALMENTE TRANSMISORES DE RABIA AAPTR 2026 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4"/>
          <a:srcRect b="85709"/>
          <a:stretch/>
        </p:blipFill>
        <p:spPr>
          <a:xfrm>
            <a:off x="1666872" y="497082"/>
            <a:ext cx="8205260" cy="317706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9872132" y="2047164"/>
            <a:ext cx="19602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2026: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71 CASOS</a:t>
            </a:r>
            <a:endParaRPr kumimoji="0" lang="es-CO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C7A1CA99-BFB1-4D5B-A401-8ADA304CBB25}"/>
              </a:ext>
            </a:extLst>
          </p:cNvPr>
          <p:cNvGraphicFramePr>
            <a:graphicFrameLocks/>
          </p:cNvGraphicFramePr>
          <p:nvPr/>
        </p:nvGraphicFramePr>
        <p:xfrm>
          <a:off x="887105" y="814788"/>
          <a:ext cx="8886970" cy="2449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47893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11A40A-9D05-C14A-2ABE-A3B049069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986448" cy="675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844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3061401-5D9E-F00B-316E-6A968F386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46" y="1492019"/>
            <a:ext cx="10359147" cy="343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06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E150A0-D9CE-1CB2-AA85-3B69E5362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597" y="799732"/>
            <a:ext cx="8802805" cy="513704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6485E47-2308-F8B4-D49E-B3C6F33A3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534" y="1132765"/>
            <a:ext cx="750254" cy="401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61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973AFC-3179-CC1E-E5D1-A75E1F589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626" y="894482"/>
            <a:ext cx="4273617" cy="45919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ED0D3BE-7A3E-C244-2400-D256F10B1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92" y="1183943"/>
            <a:ext cx="750254" cy="449011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6972117-3871-29F0-BB4B-2B53BC58A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94482"/>
            <a:ext cx="4931390" cy="459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67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A03-09C4-1FED-BE0E-B59DBFFB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84643BD-C9E8-4D7F-DE32-8738870FE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494" y="475766"/>
            <a:ext cx="8966578" cy="608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97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73810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335</Words>
  <Application>Microsoft Office PowerPoint</Application>
  <PresentationFormat>Panorámica</PresentationFormat>
  <Paragraphs>92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 Narrow</vt:lpstr>
      <vt:lpstr>Arial</vt:lpstr>
      <vt:lpstr>Calibri</vt:lpstr>
      <vt:lpstr>Calibri Light</vt:lpstr>
      <vt:lpstr>1_Tema de Office</vt:lpstr>
      <vt:lpstr>2_Tema de Office</vt:lpstr>
      <vt:lpstr>                SOCIALIZACIÓN DE ALGORITMOS DE MANEJO CLINICO DE DENGUE Y EXPOSICIÓN RABICA 2026  </vt:lpstr>
      <vt:lpstr>Presentación de PowerPoint</vt:lpstr>
      <vt:lpstr> Canal Endémico Dengue – HRM a periodo IV  - 2026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16</cp:revision>
  <dcterms:created xsi:type="dcterms:W3CDTF">2026-06-08T14:01:38Z</dcterms:created>
  <dcterms:modified xsi:type="dcterms:W3CDTF">2026-06-09T13:39:35Z</dcterms:modified>
</cp:coreProperties>
</file>