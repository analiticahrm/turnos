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KrCvBisYoVD52CeDkSX+2wekI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8ADCE8-19CB-4F45-AFB2-ECA53D47D3BC}">
  <a:tblStyle styleId="{D88ADCE8-19CB-4F45-AFB2-ECA53D47D3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d5ce52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g392d5ce52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d5ce5242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g392d5ce524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d5ce5242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g392d5ce524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2ad888c6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92ad888c6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07fe080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df07fe080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2d5ce5242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92d5ce524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2d5ce524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7" name="Google Shape;147;g392d5ce524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f07fe080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g3df07fe080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2d5ce524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392d5ce524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2d5ce524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g392d5ce524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2d5ce5242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92d5ce5242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a971eefa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g39a971eefa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a971eefa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g39a971eefa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f07fe080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g3df07fe080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f07fe080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g3df07fe080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f07fe080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" name="Google Shape;237;g3df07fe080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f07fe0806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47" name="Google Shape;247;g3df07fe0806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f07fe0806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g3df07fe0806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8" name="Google Shape;2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search.surgery/iiefesp" TargetMode="External"/><Relationship Id="rId4" Type="http://schemas.openxmlformats.org/officeDocument/2006/relationships/hyperlink" Target="https://www.bph-plasma.eu/es/bph_plasma/symptom_test_1/symptom_test_1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3666850" y="1677050"/>
            <a:ext cx="7222800" cy="21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4800" b="1" dirty="0">
                <a:solidFill>
                  <a:schemeClr val="lt1"/>
                </a:solidFill>
              </a:rPr>
              <a:t>GUÍA DE MANEJO HIPERPLASIA PROSTÁTICA BENIGNA   </a:t>
            </a:r>
            <a:endParaRPr sz="4800" b="1" dirty="0">
              <a:solidFill>
                <a:schemeClr val="lt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300740-D3DE-4FE6-BD56-9898C69375B5}"/>
              </a:ext>
            </a:extLst>
          </p:cNvPr>
          <p:cNvSpPr txBox="1"/>
          <p:nvPr/>
        </p:nvSpPr>
        <p:spPr>
          <a:xfrm>
            <a:off x="200025" y="5485749"/>
            <a:ext cx="7810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Carlos Fernando Sierra Rojas – Especialista Urología Hospital Regional de Moniquirá E.S.E </a:t>
            </a:r>
          </a:p>
          <a:p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Karent Tatiana Rivera Becerra – Médico Interno Hospital Regional de Moniquirá E.S.E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2d5ce5242_0_35"/>
          <p:cNvSpPr txBox="1"/>
          <p:nvPr/>
        </p:nvSpPr>
        <p:spPr>
          <a:xfrm>
            <a:off x="1125800" y="1316650"/>
            <a:ext cx="9700200" cy="2202111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 Hospital Regional De Moniquirá E.S.E. decidió realizar la adopción y adaptación de la guía de manejo de Hiperplasia Prostática Benigna de la Sociedad Colombiana de Urología 2021.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Esta guía ofrece evidencia práctica en la evaluación y el tratamiento de hombres mayores de 50 años que se presentan con síntomas del tracto urinario inferior (SUOB).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 adaptación se ajusta al contexto institucional y orienta la práctica clínica diaria.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90" name="Google Shape;90;g392d5ce5242_0_35" title="Captura de Pantalla 2026-05-05 a la(s) 21.48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5200" y="3970380"/>
            <a:ext cx="6841600" cy="1715900"/>
          </a:xfrm>
          <a:prstGeom prst="rect">
            <a:avLst/>
          </a:prstGeom>
          <a:noFill/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</p:spPr>
      </p:pic>
      <p:sp>
        <p:nvSpPr>
          <p:cNvPr id="91" name="Google Shape;91;g392d5ce5242_0_35"/>
          <p:cNvSpPr txBox="1"/>
          <p:nvPr/>
        </p:nvSpPr>
        <p:spPr>
          <a:xfrm>
            <a:off x="1310400" y="157821"/>
            <a:ext cx="9795025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Adopción y adaptación: Guía de práctica clínica Hiperplasia Prostática Benigna de la Sociedad Colombiana de Urología 2021.</a:t>
            </a:r>
            <a:endParaRPr sz="28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" name="Google Shape;92;g392d5ce5242_0_35"/>
          <p:cNvPicPr preferRelativeResize="0"/>
          <p:nvPr/>
        </p:nvPicPr>
        <p:blipFill rotWithShape="1">
          <a:blip r:embed="rId5">
            <a:alphaModFix/>
          </a:blip>
          <a:srcRect t="3460" b="5490"/>
          <a:stretch/>
        </p:blipFill>
        <p:spPr>
          <a:xfrm>
            <a:off x="542300" y="3631180"/>
            <a:ext cx="2017766" cy="21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BBE671B-4798-4C89-B3CA-2E09A77C55E9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d5ce5242_0_51"/>
          <p:cNvSpPr txBox="1">
            <a:spLocks noGrp="1"/>
          </p:cNvSpPr>
          <p:nvPr>
            <p:ph type="ctrTitle" idx="4294967295"/>
          </p:nvPr>
        </p:nvSpPr>
        <p:spPr>
          <a:xfrm>
            <a:off x="1600375" y="287892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1: EVALUACIÓN DIAGNÓSTICA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8" name="Google Shape;98;g392d5ce5242_0_51"/>
          <p:cNvSpPr txBox="1"/>
          <p:nvPr/>
        </p:nvSpPr>
        <p:spPr>
          <a:xfrm>
            <a:off x="1182750" y="1487813"/>
            <a:ext cx="9826500" cy="821733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accent6">
                <a:lumMod val="50000"/>
              </a:schemeClr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 evaluación inicial se deben identificar los posibles diagnósticos diferenciales, dado que el origen de los síntomas del tracto urinario bajo (STUI/SOUB) en los hombres puede ser multifactorial.</a:t>
            </a:r>
            <a:endParaRPr sz="18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9" name="Google Shape;99;g392d5ce5242_0_51"/>
          <p:cNvSpPr txBox="1"/>
          <p:nvPr/>
        </p:nvSpPr>
        <p:spPr>
          <a:xfrm>
            <a:off x="6436220" y="2697725"/>
            <a:ext cx="3779400" cy="50790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EXAMEN FÍSICO ENFOCADO</a:t>
            </a:r>
            <a:endParaRPr sz="2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0" name="Google Shape;100;g392d5ce5242_0_51"/>
          <p:cNvSpPr/>
          <p:nvPr/>
        </p:nvSpPr>
        <p:spPr>
          <a:xfrm>
            <a:off x="2588325" y="2385538"/>
            <a:ext cx="312300" cy="264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92d5ce5242_0_51"/>
          <p:cNvSpPr txBox="1"/>
          <p:nvPr/>
        </p:nvSpPr>
        <p:spPr>
          <a:xfrm>
            <a:off x="264426" y="3373238"/>
            <a:ext cx="5326750" cy="3168016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 deben identificar posibles causas (prostatitis,  cáncer de próstata), comorbilidades, medicación actual, hábitos de vida, factores emocionales. 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Herramientas validadas para cuantificar síntomas</a:t>
            </a:r>
            <a:b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 recomienda usar el </a:t>
            </a:r>
            <a:r>
              <a:rPr lang="es-CO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cuestionario IPSS*</a:t>
            </a: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síntomas diarios miccionales y el </a:t>
            </a:r>
            <a:r>
              <a:rPr lang="es-CO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IIEF</a:t>
            </a: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* para evaluar función sexual.</a:t>
            </a:r>
          </a:p>
          <a:p>
            <a:pPr marL="127000" lvl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2" name="Google Shape;102;g392d5ce5242_0_51"/>
          <p:cNvSpPr txBox="1"/>
          <p:nvPr/>
        </p:nvSpPr>
        <p:spPr>
          <a:xfrm>
            <a:off x="651425" y="2697725"/>
            <a:ext cx="4666500" cy="50790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 CLÍNICA COMPLETA</a:t>
            </a:r>
            <a:endParaRPr/>
          </a:p>
        </p:txBody>
      </p:sp>
      <p:sp>
        <p:nvSpPr>
          <p:cNvPr id="103" name="Google Shape;103;g392d5ce5242_0_51"/>
          <p:cNvSpPr/>
          <p:nvPr/>
        </p:nvSpPr>
        <p:spPr>
          <a:xfrm>
            <a:off x="8169775" y="2350763"/>
            <a:ext cx="312300" cy="264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92d5ce5242_0_51"/>
          <p:cNvSpPr txBox="1"/>
          <p:nvPr/>
        </p:nvSpPr>
        <p:spPr>
          <a:xfrm>
            <a:off x="5861125" y="3366000"/>
            <a:ext cx="5200500" cy="298848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Palpación hipogastrio para descartar la presencia de globo vesical.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Evaluación genitourinaria - posibles obstrucciones al flujo de salida. 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Evaluación área perineal - lesiones neurológicas: sensibilidad de la zona y los reflejos bulbocavernoso y anal superficial. 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g392d5ce5242_0_51"/>
          <p:cNvSpPr txBox="1"/>
          <p:nvPr/>
        </p:nvSpPr>
        <p:spPr>
          <a:xfrm>
            <a:off x="468575" y="5560380"/>
            <a:ext cx="50322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*</a:t>
            </a:r>
            <a:r>
              <a:rPr lang="es-CO" sz="12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IPSS:</a:t>
            </a:r>
            <a:r>
              <a:rPr lang="es-CO" sz="1200" u="sng" dirty="0" err="1">
                <a:solidFill>
                  <a:schemeClr val="hlin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  <a:hlinkClick r:id="rId4"/>
              </a:rPr>
              <a:t>https</a:t>
            </a:r>
            <a:r>
              <a:rPr lang="es-CO" sz="1200" u="sng" dirty="0">
                <a:solidFill>
                  <a:schemeClr val="hlin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  <a:hlinkClick r:id="rId4"/>
              </a:rPr>
              <a:t>://www.bph-plasma.eu/es/bph_plasma/symptom_test_1/symptom_test_1.html</a:t>
            </a:r>
            <a:endParaRPr sz="12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*IIEF: </a:t>
            </a:r>
            <a:r>
              <a:rPr lang="es-CO" sz="1200" u="sng" dirty="0">
                <a:solidFill>
                  <a:schemeClr val="hlin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  <a:hlinkClick r:id="rId5"/>
              </a:rPr>
              <a:t>https://research.surgery/iiefesp</a:t>
            </a:r>
            <a:r>
              <a:rPr lang="es-CO" sz="12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  <a:endParaRPr sz="12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4B78EF7-5489-4C39-8312-58B60AEE9A19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d5ce5242_0_61"/>
          <p:cNvSpPr txBox="1">
            <a:spLocks noGrp="1"/>
          </p:cNvSpPr>
          <p:nvPr>
            <p:ph type="ctrTitle" idx="4294967295"/>
          </p:nvPr>
        </p:nvSpPr>
        <p:spPr>
          <a:xfrm>
            <a:off x="1386950" y="48062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RECOMENDACIÓN 2: EVALUACIÓN CON TACTO RECTAL </a:t>
            </a:r>
            <a:endParaRPr sz="30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g392d5ce5242_0_61"/>
          <p:cNvSpPr txBox="1"/>
          <p:nvPr/>
        </p:nvSpPr>
        <p:spPr>
          <a:xfrm>
            <a:off x="1386950" y="1908250"/>
            <a:ext cx="3970200" cy="50790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latin typeface="Calibri"/>
                <a:ea typeface="Calibri"/>
                <a:cs typeface="Calibri"/>
                <a:sym typeface="Calibri"/>
              </a:rPr>
              <a:t>TACTO RECTAL </a:t>
            </a:r>
            <a:endParaRPr sz="2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92d5ce5242_0_61"/>
          <p:cNvSpPr txBox="1"/>
          <p:nvPr/>
        </p:nvSpPr>
        <p:spPr>
          <a:xfrm>
            <a:off x="720625" y="2726375"/>
            <a:ext cx="5621100" cy="2400627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realiza a todos los hombres </a:t>
            </a:r>
            <a:r>
              <a:rPr lang="es-CO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mayores de 50 años </a:t>
            </a: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2 años si no presenta elevación del PSA. 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realiza en pacientes mayores de 40 años con antecedente familiar o personal de cáncer de próstata.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Debe valorarse el tamaño, la definición de los límites, la consistencia, la movilidad, la presencia de nódulos y si existe dolor a la palpación prostática. </a:t>
            </a:r>
            <a:endParaRPr sz="1600" dirty="0">
              <a:solidFill>
                <a:schemeClr val="dk1"/>
              </a:solidFill>
              <a:highlight>
                <a:srgbClr val="FFE599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3" name="Google Shape;113;g392d5ce5242_0_61"/>
          <p:cNvPicPr preferRelativeResize="0"/>
          <p:nvPr/>
        </p:nvPicPr>
        <p:blipFill rotWithShape="1">
          <a:blip r:embed="rId4">
            <a:alphaModFix/>
          </a:blip>
          <a:srcRect b="2468"/>
          <a:stretch/>
        </p:blipFill>
        <p:spPr>
          <a:xfrm>
            <a:off x="6614175" y="1723475"/>
            <a:ext cx="4279350" cy="41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F2EE761-0549-4A26-B14C-5BEA29AF6BBE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2ad888c61_0_5"/>
          <p:cNvSpPr txBox="1">
            <a:spLocks noGrp="1"/>
          </p:cNvSpPr>
          <p:nvPr>
            <p:ph type="ctrTitle" idx="4294967295"/>
          </p:nvPr>
        </p:nvSpPr>
        <p:spPr>
          <a:xfrm>
            <a:off x="1386950" y="48062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3: EXÁMENES INICIALES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9" name="Google Shape;119;g392ad888c61_0_5"/>
          <p:cNvSpPr txBox="1"/>
          <p:nvPr/>
        </p:nvSpPr>
        <p:spPr>
          <a:xfrm>
            <a:off x="702713" y="2401500"/>
            <a:ext cx="39702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Uroanálisis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92ad888c61_0_5"/>
          <p:cNvSpPr txBox="1"/>
          <p:nvPr/>
        </p:nvSpPr>
        <p:spPr>
          <a:xfrm>
            <a:off x="702713" y="3391150"/>
            <a:ext cx="39702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Creatinina sérica 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92ad888c61_0_5"/>
          <p:cNvSpPr txBox="1"/>
          <p:nvPr/>
        </p:nvSpPr>
        <p:spPr>
          <a:xfrm>
            <a:off x="702713" y="4380788"/>
            <a:ext cx="39702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Glicemia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92ad888c61_0_5"/>
          <p:cNvSpPr txBox="1"/>
          <p:nvPr/>
        </p:nvSpPr>
        <p:spPr>
          <a:xfrm>
            <a:off x="4851888" y="2301450"/>
            <a:ext cx="6101400" cy="70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latin typeface="Calibri"/>
                <a:ea typeface="Calibri"/>
                <a:cs typeface="Calibri"/>
                <a:sym typeface="Calibri"/>
              </a:rPr>
              <a:t>Útil para evaluar la presencia de infección urinaria y/o hematuria como posibles complicaciones de la HPB.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92ad888c61_0_5"/>
          <p:cNvSpPr txBox="1"/>
          <p:nvPr/>
        </p:nvSpPr>
        <p:spPr>
          <a:xfrm>
            <a:off x="4851888" y="3291100"/>
            <a:ext cx="6101400" cy="70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latin typeface="Calibri"/>
                <a:ea typeface="Calibri"/>
                <a:cs typeface="Calibri"/>
                <a:sym typeface="Calibri"/>
              </a:rPr>
              <a:t>Si está elevada (y se confirma ERC), debería efectuarse una ecografía renal para descartar alteraciones anatómicas. 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92ad888c61_0_5"/>
          <p:cNvSpPr txBox="1"/>
          <p:nvPr/>
        </p:nvSpPr>
        <p:spPr>
          <a:xfrm>
            <a:off x="4851888" y="4280750"/>
            <a:ext cx="6101400" cy="70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700">
                <a:latin typeface="Calibri"/>
                <a:ea typeface="Calibri"/>
                <a:cs typeface="Calibri"/>
                <a:sym typeface="Calibri"/>
              </a:rPr>
              <a:t>La presencia de hiperglicemia empeora los SOUB debido a la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latin typeface="Calibri"/>
                <a:ea typeface="Calibri"/>
                <a:cs typeface="Calibri"/>
                <a:sym typeface="Calibri"/>
              </a:rPr>
              <a:t>poliuria asociada.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B355C8-D88A-43FA-816E-3B8FCB0CCD97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07fe0806_0_16"/>
          <p:cNvSpPr txBox="1">
            <a:spLocks noGrp="1"/>
          </p:cNvSpPr>
          <p:nvPr>
            <p:ph type="ctrTitle" idx="4294967295"/>
          </p:nvPr>
        </p:nvSpPr>
        <p:spPr>
          <a:xfrm>
            <a:off x="1386950" y="48062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3: EXÁMENES INICIALES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0" name="Google Shape;130;g3df07fe0806_0_16"/>
          <p:cNvSpPr txBox="1"/>
          <p:nvPr/>
        </p:nvSpPr>
        <p:spPr>
          <a:xfrm>
            <a:off x="858850" y="1979925"/>
            <a:ext cx="3970200" cy="8313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Antígeno Prostático Específico (PSA)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f07fe0806_0_16"/>
          <p:cNvSpPr txBox="1"/>
          <p:nvPr/>
        </p:nvSpPr>
        <p:spPr>
          <a:xfrm>
            <a:off x="5165025" y="1984141"/>
            <a:ext cx="6101400" cy="7078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 dirty="0">
                <a:latin typeface="Calibri"/>
                <a:ea typeface="Calibri"/>
                <a:cs typeface="Calibri"/>
                <a:sym typeface="Calibri"/>
              </a:rPr>
              <a:t>Se realiza en todos los hombres mayores de 50 años </a:t>
            </a:r>
            <a:r>
              <a:rPr lang="es-CO" sz="1700" dirty="0" err="1"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lang="es-CO" sz="1700" dirty="0">
                <a:latin typeface="Calibri"/>
                <a:ea typeface="Calibri"/>
                <a:cs typeface="Calibri"/>
                <a:sym typeface="Calibri"/>
              </a:rPr>
              <a:t> mayores de 40 años con antecedente familiar o personal de cáncer de próstata.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df07fe0806_0_16"/>
          <p:cNvPicPr preferRelativeResize="0"/>
          <p:nvPr/>
        </p:nvPicPr>
        <p:blipFill>
          <a:blip r:embed="rId4">
            <a:alphaModFix/>
            <a:grayscl/>
          </a:blip>
          <a:stretch>
            <a:fillRect/>
          </a:stretch>
        </p:blipFill>
        <p:spPr>
          <a:xfrm>
            <a:off x="6361552" y="3177560"/>
            <a:ext cx="4419025" cy="28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df07fe0806_0_16"/>
          <p:cNvSpPr txBox="1"/>
          <p:nvPr/>
        </p:nvSpPr>
        <p:spPr>
          <a:xfrm>
            <a:off x="1172650" y="3617354"/>
            <a:ext cx="4657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Valores normales del PSA según la edad </a:t>
            </a:r>
            <a:endParaRPr sz="2100" b="1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g3df07fe0806_0_16"/>
          <p:cNvGraphicFramePr/>
          <p:nvPr/>
        </p:nvGraphicFramePr>
        <p:xfrm>
          <a:off x="1730425" y="4323275"/>
          <a:ext cx="3542250" cy="1830905"/>
        </p:xfrm>
        <a:graphic>
          <a:graphicData uri="http://schemas.openxmlformats.org/drawingml/2006/table">
            <a:tbl>
              <a:tblPr>
                <a:noFill/>
                <a:tableStyleId>{D88ADCE8-19CB-4F45-AFB2-ECA53D47D3BC}</a:tableStyleId>
              </a:tblPr>
              <a:tblGrid>
                <a:gridCol w="35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Edad entre 40 - 49 años    &lt; 2.5 ng/ml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>
                          <a:solidFill>
                            <a:schemeClr val="dk1"/>
                          </a:solidFill>
                        </a:rPr>
                        <a:t>Edad entre 50 - 59 años    &lt; 3.5 ng/ml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>
                          <a:solidFill>
                            <a:schemeClr val="dk1"/>
                          </a:solidFill>
                        </a:rPr>
                        <a:t>Edad entre 60 - 69 años    &lt; 4.5 ng/ml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 dirty="0">
                          <a:solidFill>
                            <a:schemeClr val="dk1"/>
                          </a:solidFill>
                        </a:rPr>
                        <a:t>Edad entre 70 - 79 años    &lt; 6.5 ng/ml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222345E-E434-45D5-BE64-03A36F3244BB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2d5ce5242_0_70"/>
          <p:cNvSpPr txBox="1">
            <a:spLocks noGrp="1"/>
          </p:cNvSpPr>
          <p:nvPr>
            <p:ph type="ctrTitle" idx="4294967295"/>
          </p:nvPr>
        </p:nvSpPr>
        <p:spPr>
          <a:xfrm>
            <a:off x="1410950" y="300450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4: EXÁMENES COMPLEMENTARIOS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0" name="Google Shape;140;g392d5ce5242_0_70"/>
          <p:cNvSpPr txBox="1"/>
          <p:nvPr/>
        </p:nvSpPr>
        <p:spPr>
          <a:xfrm>
            <a:off x="1171113" y="1595625"/>
            <a:ext cx="39702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Diario Miccional (3 días)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92d5ce5242_0_70"/>
          <p:cNvSpPr txBox="1"/>
          <p:nvPr/>
        </p:nvSpPr>
        <p:spPr>
          <a:xfrm>
            <a:off x="635850" y="2357300"/>
            <a:ext cx="5225400" cy="19086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Tiene gran utilidad en la evaluación de la </a:t>
            </a:r>
            <a:r>
              <a:rPr lang="es-CO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poliuria y la nocturia.</a:t>
            </a:r>
            <a:endParaRPr sz="16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debe realizar un diario miccional que incluya información de ingesta de líquidos, uso de pañales, así como las actividades durante el registro o los síntomas asociados.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2" name="Google Shape;142;g392d5ce5242_0_70"/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b="43219"/>
          <a:stretch/>
        </p:blipFill>
        <p:spPr>
          <a:xfrm>
            <a:off x="356822" y="4361150"/>
            <a:ext cx="5504428" cy="24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92d5ce5242_0_70"/>
          <p:cNvSpPr txBox="1"/>
          <p:nvPr/>
        </p:nvSpPr>
        <p:spPr>
          <a:xfrm>
            <a:off x="6440803" y="1595625"/>
            <a:ext cx="47778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Volumen de residuo postmiccional (RPM)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92d5ce5242_0_70"/>
          <p:cNvSpPr txBox="1"/>
          <p:nvPr/>
        </p:nvSpPr>
        <p:spPr>
          <a:xfrm>
            <a:off x="6217000" y="2357300"/>
            <a:ext cx="5225400" cy="2154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Puede ser determinado mediante ecografía transabdominal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establece alterado con un volumen post miccional mayor 100 </a:t>
            </a:r>
            <a:r>
              <a:rPr lang="es-CO" sz="16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cc.</a:t>
            </a: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solicita en pacientes están en riesgo de presentar una retención urinaria aguda (RUA). 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A22895-3982-489A-97A5-D69595B7771D}"/>
              </a:ext>
            </a:extLst>
          </p:cNvPr>
          <p:cNvSpPr txBox="1"/>
          <p:nvPr/>
        </p:nvSpPr>
        <p:spPr>
          <a:xfrm>
            <a:off x="5861250" y="6334780"/>
            <a:ext cx="5444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2d5ce5242_0_80"/>
          <p:cNvSpPr/>
          <p:nvPr/>
        </p:nvSpPr>
        <p:spPr>
          <a:xfrm>
            <a:off x="8623875" y="984300"/>
            <a:ext cx="29976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92d5ce5242_0_80"/>
          <p:cNvSpPr txBox="1">
            <a:spLocks noGrp="1"/>
          </p:cNvSpPr>
          <p:nvPr>
            <p:ph type="ctrTitle" idx="4294967295"/>
          </p:nvPr>
        </p:nvSpPr>
        <p:spPr>
          <a:xfrm>
            <a:off x="1410950" y="300450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4: EXÁMENES COMPLEMENTARIOS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1" name="Google Shape;151;g392d5ce5242_0_80"/>
          <p:cNvSpPr txBox="1"/>
          <p:nvPr/>
        </p:nvSpPr>
        <p:spPr>
          <a:xfrm>
            <a:off x="1437938" y="1643675"/>
            <a:ext cx="39702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Ecografía de vías urinarias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92d5ce5242_0_80"/>
          <p:cNvSpPr txBox="1"/>
          <p:nvPr/>
        </p:nvSpPr>
        <p:spPr>
          <a:xfrm>
            <a:off x="708650" y="2429400"/>
            <a:ext cx="5428800" cy="35086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s-CO" sz="1800" dirty="0">
                <a:latin typeface="Calibri"/>
                <a:ea typeface="Calibri"/>
                <a:cs typeface="Calibri"/>
                <a:sym typeface="Calibri"/>
              </a:rPr>
              <a:t>Indicada en pacientes con </a:t>
            </a:r>
            <a:r>
              <a:rPr lang="es-CO" sz="1800" b="1" dirty="0">
                <a:latin typeface="Calibri"/>
                <a:ea typeface="Calibri"/>
                <a:cs typeface="Calibri"/>
                <a:sym typeface="Calibri"/>
              </a:rPr>
              <a:t>síntomas urinarios moderados a severos. </a:t>
            </a:r>
            <a:endParaRPr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s-CO" sz="1800" dirty="0">
                <a:latin typeface="Calibri"/>
                <a:ea typeface="Calibri"/>
                <a:cs typeface="Calibri"/>
                <a:sym typeface="Calibri"/>
              </a:rPr>
              <a:t>Ofrece datos valiosos en la </a:t>
            </a:r>
            <a:r>
              <a:rPr lang="es-CO" sz="1800" b="1" dirty="0">
                <a:latin typeface="Calibri"/>
                <a:ea typeface="Calibri"/>
                <a:cs typeface="Calibri"/>
                <a:sym typeface="Calibri"/>
              </a:rPr>
              <a:t>HPB </a:t>
            </a:r>
            <a:r>
              <a:rPr lang="es-CO" sz="1800" dirty="0">
                <a:latin typeface="Calibri"/>
                <a:ea typeface="Calibri"/>
                <a:cs typeface="Calibri"/>
                <a:sym typeface="Calibri"/>
              </a:rPr>
              <a:t>como: volumen prostático, evaluación de las vías urinarias altas en caso de complicaciones (hematuria, litiasis, infección de vías urinarias (IVU) o signos de enfermedad renal), así como medición de RPM.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s-CO" sz="1800" dirty="0">
                <a:latin typeface="Calibri"/>
                <a:ea typeface="Calibri"/>
                <a:cs typeface="Calibri"/>
                <a:sym typeface="Calibri"/>
              </a:rPr>
              <a:t>El volumen prostático predice la progresión sintomática así como la posibilidad de complicaciones.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g392d5ce5242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2075" y="2721449"/>
            <a:ext cx="4385752" cy="29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85F5B09-FF76-4341-A8CE-5DED0F391FA9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f07fe0806_0_8"/>
          <p:cNvSpPr txBox="1">
            <a:spLocks noGrp="1"/>
          </p:cNvSpPr>
          <p:nvPr>
            <p:ph type="ctrTitle" idx="4294967295"/>
          </p:nvPr>
        </p:nvSpPr>
        <p:spPr>
          <a:xfrm>
            <a:off x="1410950" y="348500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5: ¿CUÁNDO REMITIR A UROLOGÍA?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9" name="Google Shape;159;g3df07fe0806_0_8"/>
          <p:cNvSpPr txBox="1"/>
          <p:nvPr/>
        </p:nvSpPr>
        <p:spPr>
          <a:xfrm>
            <a:off x="2249237" y="1597617"/>
            <a:ext cx="7453325" cy="3108513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latin typeface="Calibri"/>
                <a:ea typeface="Calibri"/>
                <a:cs typeface="Calibri"/>
                <a:sym typeface="Calibri"/>
              </a:rPr>
              <a:t>Remitir si presenta: 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Antígeno prostático específico (PSA) elevado para la edad.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Retención urinaria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Azoados elevados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Infecciones de vías urinarias a repetición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100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Volumen del residuo post miccional &gt; 100 </a:t>
            </a:r>
            <a:r>
              <a:rPr lang="es-CO" sz="2000" dirty="0" err="1">
                <a:latin typeface="Calibri"/>
                <a:ea typeface="Calibri"/>
                <a:cs typeface="Calibri"/>
                <a:sym typeface="Calibri"/>
              </a:rPr>
              <a:t>cc</a:t>
            </a: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 , estrechez uretral, hematuria</a:t>
            </a:r>
          </a:p>
        </p:txBody>
      </p:sp>
      <p:sp>
        <p:nvSpPr>
          <p:cNvPr id="161" name="Google Shape;161;g3df07fe0806_0_8"/>
          <p:cNvSpPr txBox="1"/>
          <p:nvPr/>
        </p:nvSpPr>
        <p:spPr>
          <a:xfrm>
            <a:off x="861025" y="5501175"/>
            <a:ext cx="9888300" cy="646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i="1">
                <a:solidFill>
                  <a:schemeClr val="dk1"/>
                </a:solidFill>
              </a:rPr>
              <a:t>* Se debe remitir a aquellos que hayan tenido procedimientos quirúrgicos previos fallidos, en estos casos está indicado un estudio urodinámico para identificar si el problema es obstructivo o por hipoactividad del detrusor.</a:t>
            </a:r>
            <a:endParaRPr sz="1600" i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066B41-29F8-42A5-8734-19182AA76F68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2d5ce5242_0_98"/>
          <p:cNvSpPr txBox="1">
            <a:spLocks noGrp="1"/>
          </p:cNvSpPr>
          <p:nvPr>
            <p:ph type="ctrTitle" idx="4294967295"/>
          </p:nvPr>
        </p:nvSpPr>
        <p:spPr>
          <a:xfrm>
            <a:off x="949975" y="473563"/>
            <a:ext cx="106596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6: EXÁMENES COMPLEMENTARIOS – POR ESPECIALIDAD 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7" name="Google Shape;167;g392d5ce5242_0_98"/>
          <p:cNvSpPr txBox="1"/>
          <p:nvPr/>
        </p:nvSpPr>
        <p:spPr>
          <a:xfrm>
            <a:off x="1269813" y="1382550"/>
            <a:ext cx="3970200" cy="5079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latin typeface="Calibri"/>
                <a:ea typeface="Calibri"/>
                <a:cs typeface="Calibri"/>
                <a:sym typeface="Calibri"/>
              </a:rPr>
              <a:t>Cistoscopia</a:t>
            </a:r>
            <a:endParaRPr sz="2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92d5ce5242_0_98"/>
          <p:cNvSpPr txBox="1"/>
          <p:nvPr/>
        </p:nvSpPr>
        <p:spPr>
          <a:xfrm>
            <a:off x="6759463" y="1382550"/>
            <a:ext cx="39702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latin typeface="Calibri"/>
                <a:ea typeface="Calibri"/>
                <a:cs typeface="Calibri"/>
                <a:sym typeface="Calibri"/>
              </a:rPr>
              <a:t>Estudio urodinámico</a:t>
            </a:r>
            <a:endParaRPr sz="2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92d5ce5242_0_98"/>
          <p:cNvSpPr txBox="1"/>
          <p:nvPr/>
        </p:nvSpPr>
        <p:spPr>
          <a:xfrm>
            <a:off x="646350" y="2044650"/>
            <a:ext cx="5225400" cy="141600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Está indicada en el estudio de los pacientes con hematuria micro o macroscópica, estrechez uretral o cáncer de vejiga concomitantes con SOUB.</a:t>
            </a: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definir vía quirurgica. </a:t>
            </a: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0" name="Google Shape;170;g392d5ce5242_0_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988" y="3898850"/>
            <a:ext cx="2453875" cy="24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92d5ce5242_0_98"/>
          <p:cNvSpPr txBox="1"/>
          <p:nvPr/>
        </p:nvSpPr>
        <p:spPr>
          <a:xfrm>
            <a:off x="6367525" y="2108175"/>
            <a:ext cx="4754100" cy="264750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Está indicado en pacientes en quienes los síntomas generen duda en el diagnóstico. </a:t>
            </a: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pacientes con enfermedad neurológica, quienes hayan tenido cirugía pélvica radical</a:t>
            </a: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previa, radioterapia pélvica, diabetes no controlada y pacientes con RPM &gt; 300 mL. </a:t>
            </a: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Pacientes con procedimientos quirúrgicos previos fallidos. </a:t>
            </a:r>
            <a:endParaRPr sz="160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2" name="Google Shape;172;g392d5ce5242_0_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0125" y="4872050"/>
            <a:ext cx="3889543" cy="179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4EDD2E8-A517-4254-8525-720423F88A6B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2d5ce5242_0_108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92d5ce5242_0_108"/>
          <p:cNvSpPr txBox="1">
            <a:spLocks noGrp="1"/>
          </p:cNvSpPr>
          <p:nvPr>
            <p:ph type="ctrTitle" idx="4294967295"/>
          </p:nvPr>
        </p:nvSpPr>
        <p:spPr>
          <a:xfrm>
            <a:off x="1811950" y="136526"/>
            <a:ext cx="94935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7: MANEJO CONSERVADOR ¿QUIÉNES?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9" name="Google Shape;179;g392d5ce5242_0_108"/>
          <p:cNvSpPr txBox="1"/>
          <p:nvPr/>
        </p:nvSpPr>
        <p:spPr>
          <a:xfrm>
            <a:off x="1907988" y="1557900"/>
            <a:ext cx="3970200" cy="50790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latin typeface="Calibri"/>
                <a:ea typeface="Calibri"/>
                <a:cs typeface="Calibri"/>
                <a:sym typeface="Calibri"/>
              </a:rPr>
              <a:t>Manejo conservador </a:t>
            </a:r>
            <a:endParaRPr sz="2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92d5ce5242_0_108"/>
          <p:cNvSpPr txBox="1"/>
          <p:nvPr/>
        </p:nvSpPr>
        <p:spPr>
          <a:xfrm>
            <a:off x="558125" y="2257525"/>
            <a:ext cx="6396000" cy="314010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Pacientes sin complicaciones son candidatos a vigilancia activa, ya que pocos progresan a retención urinaria aguda o complicaciones graves (insuficiencia renal, cálculos vesicales).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síntomas suelen permanecer estables por años: 85% se mantienen estables al primer año, y el 64% de pacientes en manejo expectante evitan cirugía durante los primeros 5 años.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seguimiento incluye medición de RPM, severidad de síntomas, descartar causa oncológica, asesoría en hábitos saludables y consultas programadas </a:t>
            </a:r>
            <a:r>
              <a:rPr lang="es-CO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(seguimiento por medicina general, medicina familiar o servicio de urología).  </a:t>
            </a:r>
            <a:endParaRPr sz="16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1" name="Google Shape;181;g392d5ce5242_0_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4625" y="2364137"/>
            <a:ext cx="3815775" cy="212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92d5ce5242_0_108"/>
          <p:cNvSpPr txBox="1"/>
          <p:nvPr/>
        </p:nvSpPr>
        <p:spPr>
          <a:xfrm>
            <a:off x="1908000" y="5663125"/>
            <a:ext cx="8376000" cy="615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*Pacientes con síntomas leves seguimiento cada 6 meses, si el valor de PSA está normal. </a:t>
            </a:r>
            <a:endParaRPr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*Pacientes con PSA elevado seguimiento cada 3 meses. </a:t>
            </a:r>
            <a:endParaRPr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D4A054-FD2D-4CB2-BA2A-4E15D214E652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2d5ce5242_0_117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92d5ce5242_0_117"/>
          <p:cNvSpPr/>
          <p:nvPr/>
        </p:nvSpPr>
        <p:spPr>
          <a:xfrm>
            <a:off x="439775" y="974100"/>
            <a:ext cx="2770500" cy="6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92d5ce5242_0_117"/>
          <p:cNvSpPr txBox="1">
            <a:spLocks noGrp="1"/>
          </p:cNvSpPr>
          <p:nvPr>
            <p:ph type="ctrTitle" idx="4294967295"/>
          </p:nvPr>
        </p:nvSpPr>
        <p:spPr>
          <a:xfrm>
            <a:off x="948825" y="396875"/>
            <a:ext cx="108456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8: ASESORÍA HÁBITOS DE VIDA SALUDABLES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0" name="Google Shape;190;g392d5ce5242_0_117"/>
          <p:cNvSpPr txBox="1"/>
          <p:nvPr/>
        </p:nvSpPr>
        <p:spPr>
          <a:xfrm>
            <a:off x="1333250" y="1632888"/>
            <a:ext cx="54888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Asesoría en los hábitos de vida saludables 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92d5ce5242_0_117"/>
          <p:cNvSpPr txBox="1"/>
          <p:nvPr/>
        </p:nvSpPr>
        <p:spPr>
          <a:xfrm>
            <a:off x="732650" y="2407525"/>
            <a:ext cx="6690000" cy="3617883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líquidos: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Limitar a 1.5-2 litros/día, suspender ingesta 2 horas antes de dormir (especialmente si hay &gt;2 micciones nocturnas).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o moderar: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Cafeína y alcohol (exacerban síntomas irritativos).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sodio: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Disminuye la ingesta de líquidos secundaria.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frutas y verduras: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Especialmente verduras de hoja oscura (&gt;50 g/1000 kcal/día) reducen significativamente los síntomas de almacenamiento.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7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 útil: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Gráficos frecuencia-volumen con historial detallado del paciente, incluyendo ingesta de líquidos y alimentos.</a:t>
            </a:r>
          </a:p>
        </p:txBody>
      </p:sp>
      <p:pic>
        <p:nvPicPr>
          <p:cNvPr id="192" name="Google Shape;192;g392d5ce5242_0_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050" y="2145710"/>
            <a:ext cx="3540831" cy="25665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460E614-CBE2-4744-8A86-5D6A9FC4540B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a971eefac_0_108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9a971eefac_0_108"/>
          <p:cNvSpPr/>
          <p:nvPr/>
        </p:nvSpPr>
        <p:spPr>
          <a:xfrm>
            <a:off x="439775" y="974100"/>
            <a:ext cx="2770500" cy="6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9a971eefac_0_108"/>
          <p:cNvSpPr txBox="1">
            <a:spLocks noGrp="1"/>
          </p:cNvSpPr>
          <p:nvPr>
            <p:ph type="ctrTitle" idx="4294967295"/>
          </p:nvPr>
        </p:nvSpPr>
        <p:spPr>
          <a:xfrm>
            <a:off x="800949" y="334200"/>
            <a:ext cx="11095775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8: ASESORÍA HÁBITOS DE VIDA SALUDABLES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0" name="Google Shape;200;g39a971eefac_0_108"/>
          <p:cNvSpPr txBox="1"/>
          <p:nvPr/>
        </p:nvSpPr>
        <p:spPr>
          <a:xfrm>
            <a:off x="3274950" y="1632888"/>
            <a:ext cx="5488800" cy="5079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Asesoría en los hábitos de vida saludables 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9a971eefac_0_108"/>
          <p:cNvSpPr txBox="1"/>
          <p:nvPr/>
        </p:nvSpPr>
        <p:spPr>
          <a:xfrm>
            <a:off x="1238812" y="2407501"/>
            <a:ext cx="9379525" cy="3733299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miccionales: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Doble micción, compresión uretral (para goteo </a:t>
            </a:r>
            <a:r>
              <a:rPr lang="es-CO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posmiccional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y reentrenamiento vesical (aguantar para aumentar capacidad vesical hasta 400 ml).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síntomas irritativos: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distracción (compresión del pene, ejercicios respiratorios, presión perineal, ejercicios mentales).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Revisión farmacológica: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horarios de medicación según vida media, sustituir fármacos con efectos urinarios adversos, revisar suplementos diuréticos.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7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comorbilidades: </a:t>
            </a:r>
            <a:r>
              <a:rPr lang="es-C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Tratar estreñimiento, controlar el peso (masa grasa abdominal predice progresión y peor respuesta a tratamientos), y asistir si hay deterioro de destreza/movilidad/estado mental.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DD3922-E9E1-4066-863E-0630A36014CE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a971eefac_0_120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9a971eefac_0_120"/>
          <p:cNvSpPr txBox="1">
            <a:spLocks noGrp="1"/>
          </p:cNvSpPr>
          <p:nvPr>
            <p:ph type="ctrTitle" idx="4294967295"/>
          </p:nvPr>
        </p:nvSpPr>
        <p:spPr>
          <a:xfrm>
            <a:off x="1422150" y="39687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9: TRATAMIENTO FARMACOLÓGICO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8" name="Google Shape;208;g39a971eefac_0_120"/>
          <p:cNvSpPr txBox="1"/>
          <p:nvPr/>
        </p:nvSpPr>
        <p:spPr>
          <a:xfrm>
            <a:off x="684774" y="2252657"/>
            <a:ext cx="5576699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Antagonistas de los alfa-1-adrenorreceptores</a:t>
            </a:r>
            <a:endParaRPr sz="2100" b="1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9a971eefac_0_120"/>
          <p:cNvSpPr txBox="1"/>
          <p:nvPr/>
        </p:nvSpPr>
        <p:spPr>
          <a:xfrm>
            <a:off x="684775" y="2760557"/>
            <a:ext cx="5576700" cy="3139291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indica a todos los pacientes con síntomas moderados a severos como primera línea.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latin typeface="Calibri"/>
                <a:ea typeface="Calibri"/>
                <a:cs typeface="Calibri"/>
                <a:sym typeface="Calibri"/>
              </a:rPr>
              <a:t>Debe considerarse en hombres con </a:t>
            </a:r>
            <a:r>
              <a:rPr lang="es-MX" sz="1600" b="1" dirty="0">
                <a:latin typeface="Calibri"/>
                <a:ea typeface="Calibri"/>
                <a:cs typeface="Calibri"/>
                <a:sym typeface="Calibri"/>
              </a:rPr>
              <a:t>SOUB moderados a severos +  próstata (&lt; 40 ml).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Actúan en el músculo liso, produciendo </a:t>
            </a:r>
            <a:r>
              <a:rPr lang="es-C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vasodilatación y relajación muscular.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efectos vasodilatadores son más pronunciados con </a:t>
            </a:r>
            <a:r>
              <a:rPr lang="es-CO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doxazosina</a:t>
            </a:r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CO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terazosina</a:t>
            </a:r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 son menos comunes con </a:t>
            </a:r>
            <a:r>
              <a:rPr lang="es-CO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alfuzosina</a:t>
            </a:r>
            <a:r>
              <a:rPr lang="es-C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son tamsulosina.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0" name="Google Shape;210;g39a971eefac_0_120"/>
          <p:cNvSpPr txBox="1"/>
          <p:nvPr/>
        </p:nvSpPr>
        <p:spPr>
          <a:xfrm>
            <a:off x="6512200" y="2641138"/>
            <a:ext cx="4563900" cy="1908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u="sng" dirty="0">
                <a:latin typeface="Calibri"/>
                <a:ea typeface="Calibri"/>
                <a:cs typeface="Calibri"/>
                <a:sym typeface="Calibri"/>
              </a:rPr>
              <a:t>Medicamentos disponibles en el país con registro INVIMA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: 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Alfuzosina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de 10 mg de liberación prolongada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Doxazosina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4 mg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Tamsulosina 0,4 mg de liberación prolongada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Silodosina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de 4 mg y 8 mg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F4F0DC8-419C-4A1B-AD3F-5039B6AF93B4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f07fe0806_0_38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df07fe0806_0_38"/>
          <p:cNvSpPr/>
          <p:nvPr/>
        </p:nvSpPr>
        <p:spPr>
          <a:xfrm>
            <a:off x="439775" y="974100"/>
            <a:ext cx="2770500" cy="6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df07fe0806_0_38"/>
          <p:cNvSpPr txBox="1">
            <a:spLocks noGrp="1"/>
          </p:cNvSpPr>
          <p:nvPr>
            <p:ph type="ctrTitle" idx="4294967295"/>
          </p:nvPr>
        </p:nvSpPr>
        <p:spPr>
          <a:xfrm>
            <a:off x="1422150" y="39687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/>
              <a:t>HIPERPLASIA PROSTÁTICA BENIGNA </a:t>
            </a:r>
            <a:endParaRPr sz="3400" b="1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/>
              <a:t>RECOMENDACIÓN 9: TRATAMIENTO FARMACOLÓGICO </a:t>
            </a:r>
            <a:endParaRPr sz="3000" b="1"/>
          </a:p>
        </p:txBody>
      </p:sp>
      <p:sp>
        <p:nvSpPr>
          <p:cNvPr id="218" name="Google Shape;218;g3df07fe0806_0_38"/>
          <p:cNvSpPr txBox="1"/>
          <p:nvPr/>
        </p:nvSpPr>
        <p:spPr>
          <a:xfrm>
            <a:off x="740725" y="2317075"/>
            <a:ext cx="5576700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Inhibidores de la 5α-reductasa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f07fe0806_0_38"/>
          <p:cNvSpPr txBox="1"/>
          <p:nvPr/>
        </p:nvSpPr>
        <p:spPr>
          <a:xfrm>
            <a:off x="740725" y="2824975"/>
            <a:ext cx="5576700" cy="28938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Los inhibidores de la 5α- reductasa inducen la apoptosis de las células epiteliales de la próstata, lo que lleva a una reducción en el tamaño de la próstata. 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El tratamiento con inhibidores de la 5α-reductasa debe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considerarse en hombres con </a:t>
            </a:r>
            <a:r>
              <a:rPr lang="es-CO" sz="1600" b="1" dirty="0">
                <a:latin typeface="Calibri"/>
                <a:ea typeface="Calibri"/>
                <a:cs typeface="Calibri"/>
                <a:sym typeface="Calibri"/>
              </a:rPr>
              <a:t>SUOB moderados a severos +  próstata agrandada (&gt; 40 ml) y/o una concentración elevada de PSA (&gt; 1.4-1.6 ng/ml).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latin typeface="Calibri"/>
                <a:ea typeface="Calibri"/>
                <a:cs typeface="Calibri"/>
                <a:sym typeface="Calibri"/>
              </a:rPr>
              <a:t>Debido al lento inicio de acción, no son adecuados para uso a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latin typeface="Calibri"/>
                <a:ea typeface="Calibri"/>
                <a:cs typeface="Calibri"/>
                <a:sym typeface="Calibri"/>
              </a:rPr>
              <a:t>corto plazo.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f07fe0806_0_38"/>
          <p:cNvSpPr txBox="1"/>
          <p:nvPr/>
        </p:nvSpPr>
        <p:spPr>
          <a:xfrm>
            <a:off x="6473675" y="3162625"/>
            <a:ext cx="4563900" cy="11697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En nuestro país existen licencias vigentes del INVIMA para: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Finasteride de 5 mg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Dutasteride de 0.5 mg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D8726F-6A1E-4AC4-8D93-D75F4D97B609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f07fe0806_0_54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df07fe0806_0_54"/>
          <p:cNvSpPr/>
          <p:nvPr/>
        </p:nvSpPr>
        <p:spPr>
          <a:xfrm>
            <a:off x="439775" y="974100"/>
            <a:ext cx="2770500" cy="6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df07fe0806_0_54"/>
          <p:cNvSpPr txBox="1">
            <a:spLocks noGrp="1"/>
          </p:cNvSpPr>
          <p:nvPr>
            <p:ph type="ctrTitle" idx="4294967295"/>
          </p:nvPr>
        </p:nvSpPr>
        <p:spPr>
          <a:xfrm>
            <a:off x="1422150" y="39687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9: TRATAMIENTO FARMACOLÓGICO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8" name="Google Shape;228;g3df07fe0806_0_54"/>
          <p:cNvSpPr txBox="1"/>
          <p:nvPr/>
        </p:nvSpPr>
        <p:spPr>
          <a:xfrm>
            <a:off x="362300" y="1648263"/>
            <a:ext cx="5733000" cy="5079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3. Antimuscarínicos</a:t>
            </a:r>
            <a:endParaRPr sz="2100" b="1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df07fe0806_0_54"/>
          <p:cNvSpPr txBox="1"/>
          <p:nvPr/>
        </p:nvSpPr>
        <p:spPr>
          <a:xfrm>
            <a:off x="380850" y="4740695"/>
            <a:ext cx="5714450" cy="6771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Use inhibidores de la fosfodiesterasa tipo 5 en hombres con </a:t>
            </a:r>
            <a:r>
              <a:rPr lang="es-CO" sz="1600" b="1" dirty="0">
                <a:latin typeface="Calibri"/>
                <a:ea typeface="Calibri"/>
                <a:cs typeface="Calibri"/>
                <a:sym typeface="Calibri"/>
              </a:rPr>
              <a:t>SOUB moderados a severos + disfunción eréctil.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df07fe0806_0_54"/>
          <p:cNvSpPr txBox="1"/>
          <p:nvPr/>
        </p:nvSpPr>
        <p:spPr>
          <a:xfrm>
            <a:off x="6256900" y="1851913"/>
            <a:ext cx="5032500" cy="1662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En nuestro país existen licencias vigentes del INVIMA para: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Darifenacina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de 7,5 y 15 mg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Oxibutinina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tabletas de 5 y 10 mg IR, 10 y 15 mg de liberación modificada y jarabe de 5 mg /5 ml,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Solifenacina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de 5 y 10 mg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Tolterodina de 1, 2 y 4 mg.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f07fe0806_0_54"/>
          <p:cNvSpPr txBox="1"/>
          <p:nvPr/>
        </p:nvSpPr>
        <p:spPr>
          <a:xfrm>
            <a:off x="380850" y="4232795"/>
            <a:ext cx="5714450" cy="5079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4. Inhibidores de Fosfodiesterasa 5*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df07fe0806_0_54"/>
          <p:cNvSpPr txBox="1"/>
          <p:nvPr/>
        </p:nvSpPr>
        <p:spPr>
          <a:xfrm>
            <a:off x="362300" y="2156163"/>
            <a:ext cx="5733000" cy="16623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Use antagonistas de los receptores muscarínicos en hombres con </a:t>
            </a:r>
            <a:r>
              <a:rPr lang="es-CO" sz="1600" b="1" dirty="0">
                <a:latin typeface="Calibri"/>
                <a:ea typeface="Calibri"/>
                <a:cs typeface="Calibri"/>
                <a:sym typeface="Calibri"/>
              </a:rPr>
              <a:t>SUOB de moderados a severos que tienen principalmente + síntomas de almacenamiento 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La monoterapia antimuscarínica puede mejorar significativamente la urgencia, la IUU y el aumento de la frecuencia miccional diurna.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df07fe0806_0_54"/>
          <p:cNvSpPr txBox="1"/>
          <p:nvPr/>
        </p:nvSpPr>
        <p:spPr>
          <a:xfrm>
            <a:off x="6256900" y="4191781"/>
            <a:ext cx="4627800" cy="11697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nuestro país existen licencias vigentes del INVIMA para: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Tadalafil de 20 mg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Sildenafil de 25 mg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f07fe0806_0_54"/>
          <p:cNvSpPr txBox="1"/>
          <p:nvPr/>
        </p:nvSpPr>
        <p:spPr>
          <a:xfrm>
            <a:off x="200700" y="5576881"/>
            <a:ext cx="10861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i="1" dirty="0">
                <a:solidFill>
                  <a:schemeClr val="dk1"/>
                </a:solidFill>
              </a:rPr>
              <a:t>*</a:t>
            </a:r>
            <a:r>
              <a:rPr lang="es-CO" sz="1300" b="1" i="1" dirty="0">
                <a:solidFill>
                  <a:schemeClr val="dk1"/>
                </a:solidFill>
              </a:rPr>
              <a:t>Contraindicados en</a:t>
            </a:r>
            <a:r>
              <a:rPr lang="es-CO" sz="1300" i="1" dirty="0">
                <a:solidFill>
                  <a:schemeClr val="dk1"/>
                </a:solidFill>
              </a:rPr>
              <a:t>: Uso concomitante de nitratos, uso de </a:t>
            </a:r>
            <a:r>
              <a:rPr lang="es-CO" sz="1300" i="1" dirty="0" err="1">
                <a:solidFill>
                  <a:schemeClr val="dk1"/>
                </a:solidFill>
              </a:rPr>
              <a:t>doxazosina</a:t>
            </a:r>
            <a:r>
              <a:rPr lang="es-CO" sz="1300" i="1" dirty="0">
                <a:solidFill>
                  <a:schemeClr val="dk1"/>
                </a:solidFill>
              </a:rPr>
              <a:t> y </a:t>
            </a:r>
            <a:r>
              <a:rPr lang="es-CO" sz="1300" i="1" dirty="0" err="1">
                <a:solidFill>
                  <a:schemeClr val="dk1"/>
                </a:solidFill>
              </a:rPr>
              <a:t>terazosina</a:t>
            </a:r>
            <a:r>
              <a:rPr lang="es-CO" sz="1300" i="1" dirty="0">
                <a:solidFill>
                  <a:schemeClr val="dk1"/>
                </a:solidFill>
              </a:rPr>
              <a:t>, angina inestable, infarto de miocardio reciente (menor de tres meses), accidente cerebrovascular ( menor de seis meses). </a:t>
            </a:r>
            <a:endParaRPr sz="1300" i="1" dirty="0">
              <a:solidFill>
                <a:schemeClr val="dk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0E0062D-3076-4CF6-B643-C4BC5A766D06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f07fe0806_0_75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f07fe0806_0_75"/>
          <p:cNvSpPr/>
          <p:nvPr/>
        </p:nvSpPr>
        <p:spPr>
          <a:xfrm>
            <a:off x="439775" y="974100"/>
            <a:ext cx="2770500" cy="6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df07fe0806_0_75"/>
          <p:cNvSpPr txBox="1">
            <a:spLocks noGrp="1"/>
          </p:cNvSpPr>
          <p:nvPr>
            <p:ph type="ctrTitle" idx="4294967295"/>
          </p:nvPr>
        </p:nvSpPr>
        <p:spPr>
          <a:xfrm>
            <a:off x="1422150" y="39687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9: TRATAMIENTO FARMACOLÓGICO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2" name="Google Shape;242;g3df07fe0806_0_75"/>
          <p:cNvSpPr txBox="1"/>
          <p:nvPr/>
        </p:nvSpPr>
        <p:spPr>
          <a:xfrm>
            <a:off x="649624" y="2096575"/>
            <a:ext cx="5541599" cy="5079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5. Agonistas B3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df07fe0806_0_75"/>
          <p:cNvSpPr txBox="1"/>
          <p:nvPr/>
        </p:nvSpPr>
        <p:spPr>
          <a:xfrm>
            <a:off x="6341575" y="3118725"/>
            <a:ext cx="4744200" cy="4308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Mirabegron 50 mg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df07fe0806_0_75"/>
          <p:cNvSpPr txBox="1"/>
          <p:nvPr/>
        </p:nvSpPr>
        <p:spPr>
          <a:xfrm>
            <a:off x="649623" y="2607125"/>
            <a:ext cx="5541599" cy="3385512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adrenoceptores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beta-3 son los receptores beta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predominantes expresados en las células musculares lisas del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detrusor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y se cree que su estimulación induce la relajación del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detrusor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Use agonistas beta-3 en hombres con </a:t>
            </a:r>
            <a:r>
              <a:rPr lang="es-CO" sz="1600" b="1" dirty="0">
                <a:latin typeface="Calibri"/>
                <a:ea typeface="Calibri"/>
                <a:cs typeface="Calibri"/>
                <a:sym typeface="Calibri"/>
              </a:rPr>
              <a:t>SUOB moderados a severos que tienen principalmente síntomas de almacenamiento.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Mirabegron mejora: frecuencia miccional, la urgencia y la incontinencia urinaria de urgencia.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*No es primera línea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B747CD-E45D-4D70-A5F8-879A5B05F919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f07fe0806_0_94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f07fe0806_0_94"/>
          <p:cNvSpPr/>
          <p:nvPr/>
        </p:nvSpPr>
        <p:spPr>
          <a:xfrm>
            <a:off x="439775" y="974100"/>
            <a:ext cx="2770500" cy="65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f07fe0806_0_94"/>
          <p:cNvSpPr txBox="1">
            <a:spLocks noGrp="1"/>
          </p:cNvSpPr>
          <p:nvPr>
            <p:ph type="ctrTitle" idx="4294967295"/>
          </p:nvPr>
        </p:nvSpPr>
        <p:spPr>
          <a:xfrm>
            <a:off x="1422150" y="39687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/>
              <a:t>HIPERPLASIA PROSTÁTICA BENIGNA </a:t>
            </a:r>
            <a:endParaRPr sz="3400" b="1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/>
              <a:t>RECOMENDACIÓN 9: TRATAMIENTO FARMACOLÓGICO </a:t>
            </a:r>
            <a:endParaRPr sz="3000" b="1"/>
          </a:p>
        </p:txBody>
      </p:sp>
      <p:sp>
        <p:nvSpPr>
          <p:cNvPr id="252" name="Google Shape;252;g3df07fe0806_0_94"/>
          <p:cNvSpPr txBox="1"/>
          <p:nvPr/>
        </p:nvSpPr>
        <p:spPr>
          <a:xfrm>
            <a:off x="3503100" y="1632888"/>
            <a:ext cx="5032500" cy="5079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 b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MANEJO COMBINADO </a:t>
            </a:r>
            <a:endParaRPr sz="2100" b="1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f07fe0806_0_94"/>
          <p:cNvSpPr txBox="1"/>
          <p:nvPr/>
        </p:nvSpPr>
        <p:spPr>
          <a:xfrm>
            <a:off x="6183037" y="3467100"/>
            <a:ext cx="4705125" cy="2646848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Use el tratamiento combinado de un bloqueador α1 con un antagonista del receptor muscarínico en pacientes con </a:t>
            </a:r>
            <a:endParaRPr lang="es-MX"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 dirty="0">
                <a:latin typeface="Calibri"/>
                <a:ea typeface="Calibri"/>
                <a:cs typeface="Calibri"/>
                <a:sym typeface="Calibri"/>
              </a:rPr>
              <a:t>SOUB moderados a severos si el alivio de los síntomas de almacenamiento ha sido insuficiente con la monoterapia con cualquiera de los fármacos.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El tratamiento combinado con bloqueadores α1 y anticolinérgicos es más efectivo para reducir la urgencia, IUU, frecuencia miccional, nicturia. 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f07fe0806_0_94"/>
          <p:cNvSpPr txBox="1"/>
          <p:nvPr/>
        </p:nvSpPr>
        <p:spPr>
          <a:xfrm>
            <a:off x="783562" y="3467100"/>
            <a:ext cx="4835625" cy="24012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Ofrezca tratamiento combinado con un bloqueador α1 y un inhibidor de la 5α- reductasa a hombres con SUOB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moderados a severos y un mayor riesgo de progresión de la enfermedad (Volumen de próstata&gt; 40 ml).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En nuestro país existen licencias vigentes del INVIMA la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combinación de: 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lang="es-CO" sz="1600" dirty="0" err="1">
                <a:latin typeface="Calibri"/>
                <a:ea typeface="Calibri"/>
                <a:cs typeface="Calibri"/>
                <a:sym typeface="Calibri"/>
              </a:rPr>
              <a:t>Dutasteride</a:t>
            </a:r>
            <a:r>
              <a:rPr lang="es-CO" sz="1600" dirty="0">
                <a:latin typeface="Calibri"/>
                <a:ea typeface="Calibri"/>
                <a:cs typeface="Calibri"/>
                <a:sym typeface="Calibri"/>
              </a:rPr>
              <a:t> 0.5 mg/tamsulosina 0.4 mg. 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f07fe0806_0_94"/>
          <p:cNvSpPr txBox="1"/>
          <p:nvPr/>
        </p:nvSpPr>
        <p:spPr>
          <a:xfrm>
            <a:off x="1226175" y="2527625"/>
            <a:ext cx="3950400" cy="7389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latin typeface="Calibri"/>
                <a:ea typeface="Calibri"/>
                <a:cs typeface="Calibri"/>
                <a:sym typeface="Calibri"/>
              </a:rPr>
              <a:t>Bloqueadores α1 + Inhibidores de la 5α-reductasa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f07fe0806_0_94"/>
          <p:cNvSpPr txBox="1"/>
          <p:nvPr/>
        </p:nvSpPr>
        <p:spPr>
          <a:xfrm>
            <a:off x="6660850" y="2479575"/>
            <a:ext cx="3950400" cy="7389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latin typeface="Calibri"/>
                <a:ea typeface="Calibri"/>
                <a:cs typeface="Calibri"/>
                <a:sym typeface="Calibri"/>
              </a:rPr>
              <a:t>Bloqueadores α1 + antagonistas del receptor muscarínico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06A209-45FA-4015-8F53-C5E6B951286F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f07fe0806_0_114"/>
          <p:cNvSpPr/>
          <p:nvPr/>
        </p:nvSpPr>
        <p:spPr>
          <a:xfrm>
            <a:off x="200700" y="1241575"/>
            <a:ext cx="2696400" cy="55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df07fe0806_0_114"/>
          <p:cNvSpPr txBox="1">
            <a:spLocks noGrp="1"/>
          </p:cNvSpPr>
          <p:nvPr>
            <p:ph type="ctrTitle" idx="4294967295"/>
          </p:nvPr>
        </p:nvSpPr>
        <p:spPr>
          <a:xfrm>
            <a:off x="1422150" y="396875"/>
            <a:ext cx="91944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400" b="1" dirty="0">
                <a:solidFill>
                  <a:schemeClr val="accent6">
                    <a:lumMod val="50000"/>
                  </a:schemeClr>
                </a:solidFill>
              </a:rPr>
              <a:t>HIPERPLASIA PROSTÁTICA BENIGNA </a:t>
            </a:r>
            <a:endParaRPr sz="3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CO" sz="3000" b="1" dirty="0">
                <a:solidFill>
                  <a:schemeClr val="accent6">
                    <a:lumMod val="50000"/>
                  </a:schemeClr>
                </a:solidFill>
              </a:rPr>
              <a:t>RECOMENDACIÓN 10: MANEJO QUIRÚRGICO  </a:t>
            </a:r>
            <a:endParaRPr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3" name="Google Shape;263;g3df07fe0806_0_114"/>
          <p:cNvSpPr txBox="1"/>
          <p:nvPr/>
        </p:nvSpPr>
        <p:spPr>
          <a:xfrm>
            <a:off x="2733000" y="3850000"/>
            <a:ext cx="6726000" cy="1364700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Próstata &lt; 60 gr - Manejo por vía transuretral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Próstata &gt; 90 gr - Prostatectomía abierta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1000"/>
              </a:spcAft>
              <a:buSzPts val="2000"/>
              <a:buFont typeface="Calibri"/>
              <a:buChar char="-"/>
            </a:pPr>
            <a:r>
              <a:rPr lang="es-CO" sz="2000" dirty="0">
                <a:latin typeface="Calibri"/>
                <a:ea typeface="Calibri"/>
                <a:cs typeface="Calibri"/>
                <a:sym typeface="Calibri"/>
              </a:rPr>
              <a:t>Próstata 60 - 90 gr - Cistoscopia para definir vía quirúrgica 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df07fe0806_0_114"/>
          <p:cNvSpPr txBox="1"/>
          <p:nvPr/>
        </p:nvSpPr>
        <p:spPr>
          <a:xfrm>
            <a:off x="3960075" y="2071200"/>
            <a:ext cx="3950400" cy="461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Vía quirúrgica </a:t>
            </a:r>
            <a:endParaRPr sz="1800" b="1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df07fe0806_0_114"/>
          <p:cNvSpPr txBox="1"/>
          <p:nvPr/>
        </p:nvSpPr>
        <p:spPr>
          <a:xfrm>
            <a:off x="1004625" y="2806700"/>
            <a:ext cx="9861300" cy="800189"/>
          </a:xfrm>
          <a:prstGeom prst="rect">
            <a:avLst/>
          </a:prstGeom>
          <a:noFill/>
          <a:ln w="1270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manejo quirúrgico está indicado en pacientes con retención urinaria recurrente, hematuria refractaria, cálculos vesicales, dilatación del tracto urinario superior o enfermedad renal.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EF24CE-A17D-43BE-8EE6-EEAADFC02641}"/>
              </a:ext>
            </a:extLst>
          </p:cNvPr>
          <p:cNvSpPr txBox="1"/>
          <p:nvPr/>
        </p:nvSpPr>
        <p:spPr>
          <a:xfrm>
            <a:off x="646350" y="6550223"/>
            <a:ext cx="1065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López-Ramos H, Latorre C, Patiño G, Arenas J. Guía de práctica clínica: hiperplasia prostática benigna. Sociedad Colombiana de Urología; 2021.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2476</Words>
  <Application>Microsoft Office PowerPoint</Application>
  <PresentationFormat>Panorámica</PresentationFormat>
  <Paragraphs>214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GUÍA DE MANEJO HIPERPLASIA PROSTÁTICA BENIGNA   </vt:lpstr>
      <vt:lpstr>Presentación de PowerPoint</vt:lpstr>
      <vt:lpstr>HIPERPLASIA PROSTÁTICA BENIGNA  RECOMENDACIÓN 1: EVALUACIÓN DIAGNÓSTICA </vt:lpstr>
      <vt:lpstr>HIPERPLASIA PROSTÁTICA BENIGNA  RECOMENDACIÓN 2: EVALUACIÓN CON TACTO RECTAL </vt:lpstr>
      <vt:lpstr>HIPERPLASIA PROSTÁTICA BENIGNA  RECOMENDACIÓN 3: EXÁMENES INICIALES</vt:lpstr>
      <vt:lpstr>HIPERPLASIA PROSTÁTICA BENIGNA  RECOMENDACIÓN 3: EXÁMENES INICIALES </vt:lpstr>
      <vt:lpstr>HIPERPLASIA PROSTÁTICA BENIGNA  RECOMENDACIÓN 4: EXÁMENES COMPLEMENTARIOS </vt:lpstr>
      <vt:lpstr>HIPERPLASIA PROSTÁTICA BENIGNA  RECOMENDACIÓN 4: EXÁMENES COMPLEMENTARIOS </vt:lpstr>
      <vt:lpstr>HIPERPLASIA PROSTÁTICA BENIGNA  RECOMENDACIÓN 5: ¿CUÁNDO REMITIR A UROLOGÍA? </vt:lpstr>
      <vt:lpstr>HIPERPLASIA PROSTÁTICA BENIGNA  RECOMENDACIÓN 6: EXÁMENES COMPLEMENTARIOS – POR ESPECIALIDAD  </vt:lpstr>
      <vt:lpstr>HIPERPLASIA PROSTÁTICA BENIGNA  RECOMENDACIÓN 7: MANEJO CONSERVADOR ¿QUIÉNES? </vt:lpstr>
      <vt:lpstr>HIPERPLASIA PROSTÁTICA BENIGNA  RECOMENDACIÓN 8: ASESORÍA HÁBITOS DE VIDA SALUDABLES </vt:lpstr>
      <vt:lpstr>HIPERPLASIA PROSTÁTICA BENIGNA  RECOMENDACIÓN 8: ASESORÍA HÁBITOS DE VIDA SALUDABLES </vt:lpstr>
      <vt:lpstr>HIPERPLASIA PROSTÁTICA BENIGNA  RECOMENDACIÓN 9: TRATAMIENTO FARMACOLÓGICO </vt:lpstr>
      <vt:lpstr>HIPERPLASIA PROSTÁTICA BENIGNA  RECOMENDACIÓN 9: TRATAMIENTO FARMACOLÓGICO </vt:lpstr>
      <vt:lpstr>HIPERPLASIA PROSTÁTICA BENIGNA  RECOMENDACIÓN 9: TRATAMIENTO FARMACOLÓGICO </vt:lpstr>
      <vt:lpstr>HIPERPLASIA PROSTÁTICA BENIGNA  RECOMENDACIÓN 9: TRATAMIENTO FARMACOLÓGICO </vt:lpstr>
      <vt:lpstr>HIPERPLASIA PROSTÁTICA BENIGNA  RECOMENDACIÓN 9: TRATAMIENTO FARMACOLÓGICO </vt:lpstr>
      <vt:lpstr>HIPERPLASIA PROSTÁTICA BENIGNA  RECOMENDACIÓN 10: MANEJO QUIRÚRGICO 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DE MANEJO HIPERPLASIA PROSTÁTICA BENIGNA   </dc:title>
  <dc:creator>user</dc:creator>
  <cp:lastModifiedBy>LEIDY TOLEDO ROJAS</cp:lastModifiedBy>
  <cp:revision>15</cp:revision>
  <dcterms:created xsi:type="dcterms:W3CDTF">2024-08-26T14:52:25Z</dcterms:created>
  <dcterms:modified xsi:type="dcterms:W3CDTF">2026-05-08T11:45:44Z</dcterms:modified>
</cp:coreProperties>
</file>