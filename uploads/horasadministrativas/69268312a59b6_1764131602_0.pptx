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4"/>
  </p:notesMasterIdLst>
  <p:sldIdLst>
    <p:sldId id="256" r:id="rId3"/>
    <p:sldId id="316" r:id="rId4"/>
    <p:sldId id="323" r:id="rId5"/>
    <p:sldId id="286" r:id="rId6"/>
    <p:sldId id="329" r:id="rId7"/>
    <p:sldId id="330" r:id="rId8"/>
    <p:sldId id="272" r:id="rId9"/>
    <p:sldId id="262" r:id="rId10"/>
    <p:sldId id="265" r:id="rId11"/>
    <p:sldId id="266" r:id="rId12"/>
    <p:sldId id="268" r:id="rId13"/>
    <p:sldId id="270" r:id="rId14"/>
    <p:sldId id="271" r:id="rId15"/>
    <p:sldId id="269" r:id="rId16"/>
    <p:sldId id="267" r:id="rId17"/>
    <p:sldId id="263" r:id="rId18"/>
    <p:sldId id="264" r:id="rId19"/>
    <p:sldId id="331" r:id="rId20"/>
    <p:sldId id="275" r:id="rId21"/>
    <p:sldId id="257" r:id="rId22"/>
    <p:sldId id="258" r:id="rId23"/>
    <p:sldId id="261" r:id="rId24"/>
    <p:sldId id="333" r:id="rId25"/>
    <p:sldId id="334" r:id="rId26"/>
    <p:sldId id="335" r:id="rId27"/>
    <p:sldId id="278" r:id="rId28"/>
    <p:sldId id="336" r:id="rId29"/>
    <p:sldId id="273" r:id="rId30"/>
    <p:sldId id="337" r:id="rId31"/>
    <p:sldId id="276" r:id="rId32"/>
    <p:sldId id="277" r:id="rId3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1" autoAdjust="0"/>
    <p:restoredTop sz="94660"/>
  </p:normalViewPr>
  <p:slideViewPr>
    <p:cSldViewPr snapToGrid="0">
      <p:cViewPr>
        <p:scale>
          <a:sx n="66" d="100"/>
          <a:sy n="66" d="100"/>
        </p:scale>
        <p:origin x="1856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z%20Marina\Desktop\PARA%20REALIZAR%20LOS%20INDICADOR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OPORTUNIDAD</a:t>
            </a:r>
            <a:r>
              <a:rPr lang="es-CO" baseline="0"/>
              <a:t> DE PLANIFICACION FAMILIAR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FEBRERO!$A$30:$A$36</c:f>
              <c:strCache>
                <c:ptCount val="7"/>
                <c:pt idx="0">
                  <c:v>TOTAL DE PARTOS Y CESAREAS</c:v>
                </c:pt>
                <c:pt idx="1">
                  <c:v>INYECCION TRIMESTRAL </c:v>
                </c:pt>
                <c:pt idx="2">
                  <c:v>IMPLANTE SUBDERMICO</c:v>
                </c:pt>
                <c:pt idx="3">
                  <c:v>POMEROY</c:v>
                </c:pt>
                <c:pt idx="4">
                  <c:v>NO DESEAN </c:v>
                </c:pt>
                <c:pt idx="5">
                  <c:v>DIU</c:v>
                </c:pt>
                <c:pt idx="6">
                  <c:v>NO REGISTRADAS</c:v>
                </c:pt>
              </c:strCache>
            </c:strRef>
          </c:cat>
          <c:val>
            <c:numRef>
              <c:f>FEBRERO!$B$30:$B$36</c:f>
              <c:numCache>
                <c:formatCode>General</c:formatCode>
                <c:ptCount val="7"/>
                <c:pt idx="0">
                  <c:v>58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3</c:v>
                </c:pt>
                <c:pt idx="5">
                  <c:v>1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D2-4E17-A5B2-F4CB83B8B24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251347424"/>
        <c:axId val="1251343104"/>
      </c:barChart>
      <c:catAx>
        <c:axId val="1251347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251343104"/>
        <c:crosses val="autoZero"/>
        <c:auto val="1"/>
        <c:lblAlgn val="ctr"/>
        <c:lblOffset val="100"/>
        <c:noMultiLvlLbl val="0"/>
      </c:catAx>
      <c:valAx>
        <c:axId val="1251343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25134742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tx2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title>
      <c:tx>
        <c:rich>
          <a:bodyPr rot="0"/>
          <a:lstStyle/>
          <a:p>
            <a:pPr>
              <a:defRPr lang="es-CO" sz="1862" b="1" strike="noStrike" spc="-1">
                <a:solidFill>
                  <a:srgbClr val="595959"/>
                </a:solidFill>
                <a:latin typeface="Calibri"/>
              </a:defRPr>
            </a:pPr>
            <a:r>
              <a:rPr lang="es-CO" sz="1862" b="1" strike="noStrike" spc="-1" dirty="0">
                <a:solidFill>
                  <a:srgbClr val="595959"/>
                </a:solidFill>
                <a:latin typeface="Calibri"/>
              </a:rPr>
              <a:t>ADHERENCIA DEL PERSONAL DE ENFERMERIA A CAPACITACIONES/ GINECOLOGIA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Hoja1!$A$1</c:f>
              <c:strCache>
                <c:ptCount val="1"/>
                <c:pt idx="0">
                  <c:v>PROTOCOLO COMUNICACIÓN EFECTIVA Y SEGURA ENTRE LAS PERSONAS QUE ATIENDEN Y CUIDAN AL PACIENTE 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Hoja1!$A$2</c:f>
              <c:numCache>
                <c:formatCode>General</c:formatCode>
                <c:ptCount val="1"/>
                <c:pt idx="0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0C-44A8-B204-5277BB9D7ECF}"/>
            </c:ext>
          </c:extLst>
        </c:ser>
        <c:ser>
          <c:idx val="1"/>
          <c:order val="1"/>
          <c:tx>
            <c:strRef>
              <c:f>Hoja1!$B$1</c:f>
              <c:strCache>
                <c:ptCount val="1"/>
                <c:pt idx="0">
                  <c:v>PROTOCOLO DE NOTAS DE ENFERMERIA</c:v>
                </c:pt>
              </c:strCache>
            </c:strRef>
          </c:tx>
          <c:spPr>
            <a:solidFill>
              <a:srgbClr val="ED7D31"/>
            </a:solidFill>
            <a:ln w="0"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Hoja1!$B$2</c:f>
              <c:numCache>
                <c:formatCode>General</c:formatCode>
                <c:ptCount val="1"/>
                <c:pt idx="0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0C-44A8-B204-5277BB9D7ECF}"/>
            </c:ext>
          </c:extLst>
        </c:ser>
        <c:ser>
          <c:idx val="2"/>
          <c:order val="2"/>
          <c:tx>
            <c:strRef>
              <c:f>Hoja1!$C$1</c:f>
              <c:strCache>
                <c:ptCount val="1"/>
                <c:pt idx="0">
                  <c:v>PROTOCOLO DE LIMPIEZA Y DESINFECCION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Hoja1!$C$2</c:f>
              <c:numCache>
                <c:formatCode>General</c:formatCode>
                <c:ptCount val="1"/>
                <c:pt idx="0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0C-44A8-B204-5277BB9D7ECF}"/>
            </c:ext>
          </c:extLst>
        </c:ser>
        <c:ser>
          <c:idx val="3"/>
          <c:order val="3"/>
          <c:tx>
            <c:strRef>
              <c:f>Hoja1!$D$1</c:f>
              <c:strCache>
                <c:ptCount val="1"/>
                <c:pt idx="0">
                  <c:v>PROTOCOLO DE IDENTIFICACION SEGURA DE PACIENTE</c:v>
                </c:pt>
              </c:strCache>
            </c:strRef>
          </c:tx>
          <c:spPr>
            <a:solidFill>
              <a:srgbClr val="FFC000"/>
            </a:solidFill>
            <a:ln w="0"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Hoja1!$D$2</c:f>
              <c:numCache>
                <c:formatCode>General</c:formatCode>
                <c:ptCount val="1"/>
                <c:pt idx="0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D0C-44A8-B204-5277BB9D7ECF}"/>
            </c:ext>
          </c:extLst>
        </c:ser>
        <c:ser>
          <c:idx val="4"/>
          <c:order val="4"/>
          <c:tx>
            <c:strRef>
              <c:f>Hoja1!$E$1</c:f>
              <c:strCache>
                <c:ptCount val="1"/>
                <c:pt idx="0">
                  <c:v>PROTOCOLO DE AISLAMIENTO DE PACIENTE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Hoja1!$E$2</c:f>
            </c:numRef>
          </c:val>
          <c:extLst>
            <c:ext xmlns:c16="http://schemas.microsoft.com/office/drawing/2014/chart" uri="{C3380CC4-5D6E-409C-BE32-E72D297353CC}">
              <c16:uniqueId val="{00000004-6D0C-44A8-B204-5277BB9D7ECF}"/>
            </c:ext>
          </c:extLst>
        </c:ser>
        <c:ser>
          <c:idx val="5"/>
          <c:order val="5"/>
          <c:tx>
            <c:strRef>
              <c:f>Hoja1!$F$1</c:f>
              <c:strCache>
                <c:ptCount val="1"/>
              </c:strCache>
            </c:strRef>
          </c:tx>
          <c:spPr>
            <a:solidFill>
              <a:srgbClr val="70AD47"/>
            </a:solidFill>
            <a:ln w="0"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197" b="0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Hoja1!$F$2</c:f>
            </c:numRef>
          </c:val>
          <c:extLst>
            <c:ext xmlns:c16="http://schemas.microsoft.com/office/drawing/2014/chart" uri="{C3380CC4-5D6E-409C-BE32-E72D297353CC}">
              <c16:uniqueId val="{00000005-6D0C-44A8-B204-5277BB9D7E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5164444"/>
        <c:axId val="62137374"/>
      </c:barChart>
      <c:catAx>
        <c:axId val="2516444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197" b="0" strike="noStrike" spc="-1">
                <a:solidFill>
                  <a:srgbClr val="595959"/>
                </a:solidFill>
                <a:latin typeface="Calibri"/>
              </a:defRPr>
            </a:pPr>
            <a:endParaRPr lang="es-CO"/>
          </a:p>
        </c:txPr>
        <c:crossAx val="62137374"/>
        <c:crosses val="autoZero"/>
        <c:auto val="1"/>
        <c:lblAlgn val="ctr"/>
        <c:lblOffset val="100"/>
        <c:noMultiLvlLbl val="0"/>
      </c:catAx>
      <c:valAx>
        <c:axId val="62137374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1197" b="0" strike="noStrike" spc="-1">
                <a:solidFill>
                  <a:srgbClr val="595959"/>
                </a:solidFill>
                <a:latin typeface="Calibri"/>
              </a:defRPr>
            </a:pPr>
            <a:endParaRPr lang="es-CO"/>
          </a:p>
        </c:txPr>
        <c:crossAx val="2516444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197" b="0" strike="noStrike" spc="-1">
              <a:solidFill>
                <a:srgbClr val="595959"/>
              </a:solidFill>
              <a:latin typeface="Calibri"/>
            </a:defRPr>
          </a:pPr>
          <a:endParaRPr lang="es-CO"/>
        </a:p>
      </c:txPr>
    </c:legend>
    <c:plotVisOnly val="1"/>
    <c:dispBlanksAs val="gap"/>
    <c:showDLblsOverMax val="1"/>
  </c:chart>
  <c:spPr>
    <a:noFill/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title>
      <c:tx>
        <c:rich>
          <a:bodyPr rot="0"/>
          <a:lstStyle/>
          <a:p>
            <a:pPr>
              <a:defRPr lang="es-CO" sz="1862" b="1" strike="noStrike" spc="-1">
                <a:solidFill>
                  <a:srgbClr val="595959"/>
                </a:solidFill>
                <a:latin typeface="Calibri"/>
              </a:defRPr>
            </a:pPr>
            <a:r>
              <a:rPr lang="es-CO" sz="1862" b="1" strike="noStrike" spc="-1">
                <a:solidFill>
                  <a:srgbClr val="595959"/>
                </a:solidFill>
                <a:latin typeface="Calibri"/>
              </a:rPr>
              <a:t>PORCENTAJE DE ADHERENCIA A LA  HISTORIA CLINICA DE GINECOLOGIA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Hoja1!$A$1</c:f>
              <c:strCache>
                <c:ptCount val="1"/>
                <c:pt idx="0">
                  <c:v>SEPTIEMBRE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6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errBars>
            <c:errBarType val="both"/>
            <c:errValType val="stdErr"/>
            <c:noEndCap val="0"/>
            <c:spPr>
              <a:ln w="9360">
                <a:solidFill>
                  <a:srgbClr val="595959"/>
                </a:solidFill>
                <a:round/>
              </a:ln>
            </c:spPr>
          </c:errBars>
          <c:val>
            <c:numRef>
              <c:f>Hoja1!$A$2</c:f>
              <c:numCache>
                <c:formatCode>0%</c:formatCode>
                <c:ptCount val="1"/>
                <c:pt idx="0">
                  <c:v>0.96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D9-4867-9BE3-2E61A586FAF6}"/>
            </c:ext>
          </c:extLst>
        </c:ser>
        <c:ser>
          <c:idx val="1"/>
          <c:order val="1"/>
          <c:tx>
            <c:strRef>
              <c:f>Hoja1!$B$1</c:f>
              <c:strCache>
                <c:ptCount val="1"/>
                <c:pt idx="0">
                  <c:v>OCTUBRE</c:v>
                </c:pt>
              </c:strCache>
            </c:strRef>
          </c:tx>
          <c:spPr>
            <a:solidFill>
              <a:srgbClr val="ED7D31"/>
            </a:solidFill>
            <a:ln w="0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6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errBars>
            <c:errBarType val="both"/>
            <c:errValType val="stdErr"/>
            <c:noEndCap val="0"/>
            <c:spPr>
              <a:ln w="9360">
                <a:solidFill>
                  <a:srgbClr val="595959"/>
                </a:solidFill>
                <a:round/>
              </a:ln>
            </c:spPr>
          </c:errBars>
          <c:val>
            <c:numRef>
              <c:f>Hoja1!$B$2</c:f>
              <c:numCache>
                <c:formatCode>0%</c:formatCode>
                <c:ptCount val="1"/>
                <c:pt idx="0">
                  <c:v>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D9-4867-9BE3-2E61A586FAF6}"/>
            </c:ext>
          </c:extLst>
        </c:ser>
        <c:ser>
          <c:idx val="2"/>
          <c:order val="2"/>
          <c:tx>
            <c:strRef>
              <c:f>Hoja1!$C$1</c:f>
              <c:strCache>
                <c:ptCount val="1"/>
              </c:strCache>
            </c:strRef>
          </c:tx>
          <c:invertIfNegative val="0"/>
          <c:val>
            <c:numRef>
              <c:f>Hoja1!$C$2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1-53F1-43E0-9A7A-E921CD9670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510741"/>
        <c:axId val="13429708"/>
      </c:barChart>
      <c:catAx>
        <c:axId val="6451074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197" b="0" strike="noStrike" spc="-1">
                <a:solidFill>
                  <a:srgbClr val="595959"/>
                </a:solidFill>
                <a:latin typeface="Calibri"/>
              </a:defRPr>
            </a:pPr>
            <a:endParaRPr lang="es-CO"/>
          </a:p>
        </c:txPr>
        <c:crossAx val="13429708"/>
        <c:crosses val="autoZero"/>
        <c:auto val="1"/>
        <c:lblAlgn val="ctr"/>
        <c:lblOffset val="100"/>
        <c:noMultiLvlLbl val="0"/>
      </c:catAx>
      <c:valAx>
        <c:axId val="13429708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0%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1197" b="0" strike="noStrike" spc="-1">
                <a:solidFill>
                  <a:srgbClr val="595959"/>
                </a:solidFill>
                <a:latin typeface="Calibri"/>
              </a:defRPr>
            </a:pPr>
            <a:endParaRPr lang="es-CO"/>
          </a:p>
        </c:txPr>
        <c:crossAx val="64510741"/>
        <c:crosses val="autoZero"/>
        <c:crossBetween val="between"/>
      </c:valAx>
      <c:spPr>
        <a:noFill/>
        <a:ln w="0">
          <a:noFill/>
        </a:ln>
      </c:spPr>
    </c:plotArea>
    <c:legend>
      <c:legendPos val="b"/>
      <c:layout>
        <c:manualLayout>
          <c:xMode val="edge"/>
          <c:yMode val="edge"/>
          <c:x val="0.38916292833298699"/>
          <c:y val="0.93797515145330002"/>
          <c:w val="0.25302039425469247"/>
          <c:h val="4.7965066920618048E-2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sz="1197" b="0" strike="noStrike" spc="-1">
              <a:solidFill>
                <a:srgbClr val="595959"/>
              </a:solidFill>
              <a:latin typeface="Calibri"/>
            </a:defRPr>
          </a:pPr>
          <a:endParaRPr lang="es-CO"/>
        </a:p>
      </c:txPr>
    </c:legend>
    <c:plotVisOnly val="1"/>
    <c:dispBlanksAs val="gap"/>
    <c:showDLblsOverMax val="1"/>
  </c:chart>
  <c:spPr>
    <a:noFill/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title>
      <c:tx>
        <c:rich>
          <a:bodyPr rot="0"/>
          <a:lstStyle/>
          <a:p>
            <a:pPr>
              <a:defRPr lang="es-CO" sz="1862" b="1" strike="noStrike" spc="-1">
                <a:solidFill>
                  <a:srgbClr val="595959"/>
                </a:solidFill>
                <a:latin typeface="Calibri"/>
              </a:defRPr>
            </a:pPr>
            <a:r>
              <a:rPr lang="es-CO" sz="1862" b="1" strike="noStrike" spc="-1" dirty="0">
                <a:solidFill>
                  <a:srgbClr val="595959"/>
                </a:solidFill>
                <a:latin typeface="Calibri"/>
              </a:rPr>
              <a:t>PORCENTAJE DE ADHERENCIA A LA  HISTORIA CLINICA DE NEONATOS</a:t>
            </a:r>
          </a:p>
        </c:rich>
      </c:tx>
      <c:layout>
        <c:manualLayout>
          <c:xMode val="edge"/>
          <c:yMode val="edge"/>
          <c:x val="9.0907191903914997E-2"/>
          <c:y val="0"/>
        </c:manualLayout>
      </c:layout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Hoja1!$A$1</c:f>
              <c:strCache>
                <c:ptCount val="1"/>
                <c:pt idx="0">
                  <c:v>SEPTIEMBRE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6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errBars>
            <c:errBarType val="both"/>
            <c:errValType val="stdErr"/>
            <c:noEndCap val="0"/>
            <c:spPr>
              <a:ln w="9360">
                <a:solidFill>
                  <a:srgbClr val="595959"/>
                </a:solidFill>
                <a:round/>
              </a:ln>
            </c:spPr>
          </c:errBars>
          <c:val>
            <c:numRef>
              <c:f>Hoja1!$A$2</c:f>
              <c:numCache>
                <c:formatCode>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2E-4E3C-B7B1-D9EF307FF900}"/>
            </c:ext>
          </c:extLst>
        </c:ser>
        <c:ser>
          <c:idx val="1"/>
          <c:order val="1"/>
          <c:tx>
            <c:strRef>
              <c:f>Hoja1!$B$1</c:f>
              <c:strCache>
                <c:ptCount val="1"/>
                <c:pt idx="0">
                  <c:v>OCTUBRE</c:v>
                </c:pt>
              </c:strCache>
            </c:strRef>
          </c:tx>
          <c:spPr>
            <a:solidFill>
              <a:srgbClr val="ED7D31"/>
            </a:solidFill>
            <a:ln w="0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6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errBars>
            <c:errBarType val="both"/>
            <c:errValType val="stdErr"/>
            <c:noEndCap val="0"/>
            <c:spPr>
              <a:ln w="9360">
                <a:solidFill>
                  <a:srgbClr val="595959"/>
                </a:solidFill>
                <a:round/>
              </a:ln>
            </c:spPr>
          </c:errBars>
          <c:val>
            <c:numRef>
              <c:f>Hoja1!$B$2</c:f>
              <c:numCache>
                <c:formatCode>0%</c:formatCode>
                <c:ptCount val="1"/>
                <c:pt idx="0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2E-4E3C-B7B1-D9EF307FF900}"/>
            </c:ext>
          </c:extLst>
        </c:ser>
        <c:ser>
          <c:idx val="2"/>
          <c:order val="2"/>
          <c:tx>
            <c:strRef>
              <c:f>Hoja1!$C$1</c:f>
              <c:strCache>
                <c:ptCount val="1"/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6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Hoja1!$C$2</c:f>
            </c:numRef>
          </c:val>
          <c:extLst>
            <c:ext xmlns:c16="http://schemas.microsoft.com/office/drawing/2014/chart" uri="{C3380CC4-5D6E-409C-BE32-E72D297353CC}">
              <c16:uniqueId val="{00000002-632E-4E3C-B7B1-D9EF307FF900}"/>
            </c:ext>
          </c:extLst>
        </c:ser>
        <c:ser>
          <c:idx val="3"/>
          <c:order val="3"/>
          <c:tx>
            <c:strRef>
              <c:f>Hoja1!$D$1</c:f>
              <c:strCache>
                <c:ptCount val="1"/>
                <c:pt idx="0">
                  <c:v>ABRIL</c:v>
                </c:pt>
              </c:strCache>
            </c:strRef>
          </c:tx>
          <c:spPr>
            <a:solidFill>
              <a:srgbClr val="FFC000"/>
            </a:solidFill>
            <a:ln w="0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6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Hoja1!$D$2</c:f>
            </c:numRef>
          </c:val>
          <c:extLst>
            <c:ext xmlns:c16="http://schemas.microsoft.com/office/drawing/2014/chart" uri="{C3380CC4-5D6E-409C-BE32-E72D297353CC}">
              <c16:uniqueId val="{00000003-632E-4E3C-B7B1-D9EF307FF900}"/>
            </c:ext>
          </c:extLst>
        </c:ser>
        <c:ser>
          <c:idx val="4"/>
          <c:order val="4"/>
          <c:tx>
            <c:strRef>
              <c:f>Hoja1!$E$1</c:f>
              <c:strCache>
                <c:ptCount val="1"/>
                <c:pt idx="0">
                  <c:v>MAYO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197" b="0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Hoja1!$E$2</c:f>
            </c:numRef>
          </c:val>
          <c:extLst>
            <c:ext xmlns:c16="http://schemas.microsoft.com/office/drawing/2014/chart" uri="{C3380CC4-5D6E-409C-BE32-E72D297353CC}">
              <c16:uniqueId val="{00000004-632E-4E3C-B7B1-D9EF307FF900}"/>
            </c:ext>
          </c:extLst>
        </c:ser>
        <c:ser>
          <c:idx val="5"/>
          <c:order val="5"/>
          <c:tx>
            <c:strRef>
              <c:f>Hoja1!$F$1</c:f>
              <c:strCache>
                <c:ptCount val="1"/>
                <c:pt idx="0">
                  <c:v>JUNIO</c:v>
                </c:pt>
              </c:strCache>
            </c:strRef>
          </c:tx>
          <c:spPr>
            <a:solidFill>
              <a:srgbClr val="70AD47"/>
            </a:solidFill>
            <a:ln w="0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197" b="0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Hoja1!$F$2</c:f>
            </c:numRef>
          </c:val>
          <c:extLst>
            <c:ext xmlns:c16="http://schemas.microsoft.com/office/drawing/2014/chart" uri="{C3380CC4-5D6E-409C-BE32-E72D297353CC}">
              <c16:uniqueId val="{00000005-632E-4E3C-B7B1-D9EF307FF900}"/>
            </c:ext>
          </c:extLst>
        </c:ser>
        <c:ser>
          <c:idx val="6"/>
          <c:order val="6"/>
          <c:tx>
            <c:strRef>
              <c:f>Hoja1!$G$1</c:f>
              <c:strCache>
                <c:ptCount val="1"/>
                <c:pt idx="0">
                  <c:v>JULIO</c:v>
                </c:pt>
              </c:strCache>
            </c:strRef>
          </c:tx>
          <c:invertIfNegative val="0"/>
          <c:val>
            <c:numRef>
              <c:f>Hoja1!$G$2</c:f>
            </c:numRef>
          </c:val>
          <c:extLst>
            <c:ext xmlns:c16="http://schemas.microsoft.com/office/drawing/2014/chart" uri="{C3380CC4-5D6E-409C-BE32-E72D297353CC}">
              <c16:uniqueId val="{00000000-23FB-4885-98D5-1090064CC3A8}"/>
            </c:ext>
          </c:extLst>
        </c:ser>
        <c:ser>
          <c:idx val="7"/>
          <c:order val="7"/>
          <c:tx>
            <c:strRef>
              <c:f>Hoja1!$H$1</c:f>
              <c:strCache>
                <c:ptCount val="1"/>
                <c:pt idx="0">
                  <c:v>AGOSTO</c:v>
                </c:pt>
              </c:strCache>
            </c:strRef>
          </c:tx>
          <c:invertIfNegative val="0"/>
          <c:val>
            <c:numRef>
              <c:f>Hoja1!$H$2</c:f>
            </c:numRef>
          </c:val>
          <c:extLst>
            <c:ext xmlns:c16="http://schemas.microsoft.com/office/drawing/2014/chart" uri="{C3380CC4-5D6E-409C-BE32-E72D297353CC}">
              <c16:uniqueId val="{00000001-23FB-4885-98D5-1090064CC3A8}"/>
            </c:ext>
          </c:extLst>
        </c:ser>
        <c:ser>
          <c:idx val="8"/>
          <c:order val="8"/>
          <c:tx>
            <c:strRef>
              <c:f>Hoja1!$I$1</c:f>
              <c:strCache>
                <c:ptCount val="1"/>
              </c:strCache>
            </c:strRef>
          </c:tx>
          <c:invertIfNegative val="0"/>
          <c:val>
            <c:numRef>
              <c:f>Hoja1!$I$2</c:f>
            </c:numRef>
          </c:val>
          <c:extLst>
            <c:ext xmlns:c16="http://schemas.microsoft.com/office/drawing/2014/chart" uri="{C3380CC4-5D6E-409C-BE32-E72D297353CC}">
              <c16:uniqueId val="{00000002-23FB-4885-98D5-1090064CC3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4120389"/>
        <c:axId val="58158549"/>
      </c:barChart>
      <c:catAx>
        <c:axId val="7412038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197" b="0" strike="noStrike" spc="-1">
                <a:solidFill>
                  <a:srgbClr val="595959"/>
                </a:solidFill>
                <a:latin typeface="Calibri"/>
              </a:defRPr>
            </a:pPr>
            <a:endParaRPr lang="es-CO"/>
          </a:p>
        </c:txPr>
        <c:crossAx val="58158549"/>
        <c:crosses val="autoZero"/>
        <c:auto val="1"/>
        <c:lblAlgn val="ctr"/>
        <c:lblOffset val="100"/>
        <c:noMultiLvlLbl val="0"/>
      </c:catAx>
      <c:valAx>
        <c:axId val="58158549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0%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1197" b="0" strike="noStrike" spc="-1">
                <a:solidFill>
                  <a:srgbClr val="595959"/>
                </a:solidFill>
                <a:latin typeface="Calibri"/>
              </a:defRPr>
            </a:pPr>
            <a:endParaRPr lang="es-CO"/>
          </a:p>
        </c:txPr>
        <c:crossAx val="74120389"/>
        <c:crosses val="autoZero"/>
        <c:crossBetween val="between"/>
      </c:valAx>
      <c:spPr>
        <a:noFill/>
        <a:ln w="0">
          <a:noFill/>
        </a:ln>
      </c:spPr>
    </c:plotArea>
    <c:legend>
      <c:legendPos val="b"/>
      <c:layout>
        <c:manualLayout>
          <c:xMode val="edge"/>
          <c:yMode val="edge"/>
          <c:x val="0.38916292833298699"/>
          <c:y val="0.93797515145330002"/>
          <c:w val="0.22962605087127205"/>
          <c:h val="4.7965066920618048E-2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sz="1197" b="0" strike="noStrike" spc="-1">
              <a:solidFill>
                <a:srgbClr val="595959"/>
              </a:solidFill>
              <a:latin typeface="Calibri"/>
            </a:defRPr>
          </a:pPr>
          <a:endParaRPr lang="es-CO"/>
        </a:p>
      </c:txPr>
    </c:legend>
    <c:plotVisOnly val="1"/>
    <c:dispBlanksAs val="gap"/>
    <c:showDLblsOverMax val="1"/>
  </c:chart>
  <c:spPr>
    <a:noFill/>
    <a:ln w="0">
      <a:noFill/>
    </a:ln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32F6B-34BE-EE45-84F4-C70EBABA3775}" type="datetimeFigureOut">
              <a:rPr lang="es-CO" smtClean="0"/>
              <a:t>10/11/25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08438-2734-FA4D-8334-607960EEFC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0688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B9115D-8887-4ED7-9483-3B3B9EA74CBD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709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B9115D-8887-4ED7-9483-3B3B9EA74CBD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831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10/11/25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10/11/25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10/11/25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10/11/25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10/11/25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10/11/25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10/11/25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10/11/25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10/11/25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10/11/25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10/11/25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E946494-D10C-4A4E-8DE4-23BF64D8BCE0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0352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CO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1748E6F-9E86-4E2F-A74C-8195ADE15869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0241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6FD045D-9E1F-4A78-98F6-FDA4AC012317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8912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7367FF-C927-403D-9742-67613AED7AF5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6826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21B933A-E852-4FE6-8FF7-24003DA81C8C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7397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CO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9601922-5F5F-40C7-A5CD-87A5F72C7D84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77967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EDEAD30-1DD9-4D27-85DB-1CF7600EABFB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80164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208C806-2CE3-42DD-843B-62864ED66D9C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5518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3566755-ED49-42BB-B2DA-04AAA8DCA67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43201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757295-4C62-4DC4-8EC7-7A8C059B03AB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5821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463AAD2-3058-4004-94D1-0344704C22D9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81615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64387A2-5E16-4155-9354-CBDD9E20773B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01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10/11/25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s-ES" sz="4400" b="0" strike="noStrike" spc="-1">
                <a:solidFill>
                  <a:schemeClr val="dk1"/>
                </a:solidFill>
                <a:latin typeface="Calibri Light"/>
              </a:rPr>
              <a:t>Haga clic para modificar el estilo de título del patrón</a:t>
            </a:r>
            <a:endParaRPr lang="es-CO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>
                <a:solidFill>
                  <a:schemeClr val="dk1"/>
                </a:solidFill>
                <a:latin typeface="Calibri"/>
              </a:rPr>
              <a:t>Haga clic para modificar los estilos de texto del patrón</a:t>
            </a: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>
                <a:solidFill>
                  <a:schemeClr val="dk1"/>
                </a:solidFill>
                <a:latin typeface="Calibri"/>
              </a:rPr>
              <a:t>Segundo nivel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Tercer nivel</a:t>
            </a:r>
            <a:endParaRPr lang="es-CO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Cuarto nivel</a:t>
            </a: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Quinto nivel</a:t>
            </a: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44EBB1-3477-49E6-85AB-80FB40787958}" type="slidenum"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517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2575" y="1491670"/>
            <a:ext cx="7824690" cy="1937330"/>
          </a:xfrm>
        </p:spPr>
        <p:txBody>
          <a:bodyPr>
            <a:noAutofit/>
          </a:bodyPr>
          <a:lstStyle/>
          <a:p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EQUIPO PRIMARIO GINECOLOGIA MES DE SEPTIEMBRE     CON DATOS DE OCTUBRE   2025</a:t>
            </a:r>
            <a:endParaRPr lang="es-CO" sz="3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D6ED36-3E6F-4691-BDA3-31B08010D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306" y="4233409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</a:t>
            </a:r>
          </a:p>
          <a:p>
            <a:endParaRPr lang="es-MX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SHARON KATHERINE ACUÑA RUBIANO</a:t>
            </a: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LUZ MARINA CALDERON </a:t>
            </a: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LIDERES  UNIDAD FUNCIONALIDAD GINECOLOGIA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533AD-3155-FE04-DF94-1166C78BB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9491EE5A-5398-8109-7601-8E7134EBBA55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ORDEN DEL DIA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EEC55EE-6C1F-FCD8-A40F-F78647816AF4}"/>
              </a:ext>
            </a:extLst>
          </p:cNvPr>
          <p:cNvSpPr txBox="1"/>
          <p:nvPr/>
        </p:nvSpPr>
        <p:spPr>
          <a:xfrm>
            <a:off x="1021491" y="2477565"/>
            <a:ext cx="11553568" cy="362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ORDEN DEL DIA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Verificación de Quorum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Revisión de Compromisos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Aprobación del acta mes de OCTUBRE de 2025 (disponible en ALMERA)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Presentación indicadores ginecología fecha de corte mes OCTUBRE  2025 ( médicos/ enfermería )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 Eventos tromboembólicos en el embarazo – caso clínico GPC ISABEL ( Dra. Sandra Ramírez / interna ginecología) 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 Protocolo atención a Victimas  ( lo que debemos saber en ginecología ) Dra. Ximena Vela 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200" dirty="0">
                <a:solidFill>
                  <a:srgbClr val="00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protocolo venopunción y flebitis ( jefe Jenifer – jefe Angie – </a:t>
            </a:r>
            <a:r>
              <a:rPr lang="es-CO" sz="1200" dirty="0" err="1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ana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Gilma – viviana ) 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 socialización PROA  ( servicio FARMACIA ) 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 VARIOS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ACTIVIDADES DURANTE EL MES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SIMULACRO de sepsis obstétrica  -preeclampsia – código rojo durante el mes 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VISITA SECRETARIA DE SALUD ( ESTRATEGIA ISABEL 21 NOV / IAMII 27 NOV ) 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371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68E563-9385-DD41-C798-53686B08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29992983-8331-5973-ED63-91E5ACED7B5C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COMPROMISOS 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DEFA3AF-0621-D914-9949-2AC2CC291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39" y="2174789"/>
            <a:ext cx="9947188" cy="439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4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739B8C77-8440-FCC1-1BB5-80D78A2D083D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COMPROMISOS 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CCFF26-68C7-D530-1B6B-C639284E3D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314" y="2110259"/>
            <a:ext cx="10254343" cy="460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401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765D6C-89B2-C4FA-589E-FCEEF5C3F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16E8FB85-EA4C-CF81-4836-4889D3AAD677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COMPROMISOS 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CC241CE-8FEA-033B-19CE-EF8E36490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73" y="1739121"/>
            <a:ext cx="11005456" cy="511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835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B8A01-7C30-FAB1-2EF2-388DDD1FE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1E9C26D7-97AB-E1A0-4F89-A33F8C7DF636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COMPROMISOS 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252E6F-B89E-0C0E-75A2-80132C113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144" y="2556231"/>
            <a:ext cx="7772400" cy="244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727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94F97-463B-721D-714B-0910873888DD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COMPLICACIONES OBSTETRICAS 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71C5F601-8DC6-31FC-224E-EFCA02059FD5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CB18CAF-C2D5-D90E-1FD8-4FC83849C8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492" y="2506123"/>
            <a:ext cx="942430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9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A36AA0DA-0824-D3D7-01CA-4173EC92397F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ENDOMETRITIS POS PARTO      </a:t>
            </a:r>
          </a:p>
        </p:txBody>
      </p:sp>
      <p:sp>
        <p:nvSpPr>
          <p:cNvPr id="14" name="CuadroTexto 3">
            <a:extLst>
              <a:ext uri="{FF2B5EF4-FFF2-40B4-BE49-F238E27FC236}">
                <a16:creationId xmlns:a16="http://schemas.microsoft.com/office/drawing/2014/main" id="{2D50408F-79E6-B4CD-6A0F-3FEB4D042EF0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A5B577-8725-89B6-626E-3C2864B7A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2106385"/>
            <a:ext cx="8474529" cy="346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34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7E0D9-373D-00EF-46CA-DC5F0BEE775A}"/>
              </a:ext>
            </a:extLst>
          </p:cNvPr>
          <p:cNvSpPr txBox="1">
            <a:spLocks/>
          </p:cNvSpPr>
          <p:nvPr/>
        </p:nvSpPr>
        <p:spPr>
          <a:xfrm>
            <a:off x="3058473" y="707775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DIAS ESTANCIA EGRESOS OBSTETRICOS   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95F75325-14E7-7AC2-7AA3-085AAC0FDE44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D752234-6D44-47FB-C7E6-9633349554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615" y="2449286"/>
            <a:ext cx="9388928" cy="336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46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1A2D7-31D8-6B0F-41CA-BA51991C16BD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EGRESOS OBSTETRICOS   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1FB92862-CF61-1F74-EB9F-FB7D0E100469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B4C780D-6AFB-2CF9-9BFB-EFCCC9A2E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877" y="2156665"/>
            <a:ext cx="8997043" cy="385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B0F67-9AEB-2598-EF11-4AC9A955EC75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GIRO CAMA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19A11068-9215-7C12-0106-0D56B490BAE1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F89544-E6F3-5868-E891-D3805273B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2057399"/>
            <a:ext cx="8768443" cy="378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11858-B2B8-2B2E-AEFF-644B98858813}"/>
              </a:ext>
            </a:extLst>
          </p:cNvPr>
          <p:cNvSpPr txBox="1">
            <a:spLocks/>
          </p:cNvSpPr>
          <p:nvPr/>
        </p:nvSpPr>
        <p:spPr>
          <a:xfrm>
            <a:off x="2482068" y="552843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MORTALIDAD ANTES DE LAS 24 HORAS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8B60DD31-EB8A-D65F-560F-9A87925A7105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395FE8-8B38-EC97-E79F-C5B25F3DF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139043"/>
            <a:ext cx="8447726" cy="359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650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E18DAE4-8748-CE2B-228F-408F93E7A259}"/>
              </a:ext>
            </a:extLst>
          </p:cNvPr>
          <p:cNvSpPr txBox="1">
            <a:spLocks/>
          </p:cNvSpPr>
          <p:nvPr/>
        </p:nvSpPr>
        <p:spPr>
          <a:xfrm>
            <a:off x="2421500" y="37673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PRODUCCIÓN   NACIMIENTOS     </a:t>
            </a:r>
          </a:p>
        </p:txBody>
      </p:sp>
      <p:sp>
        <p:nvSpPr>
          <p:cNvPr id="6" name="CuadroTexto 3">
            <a:extLst>
              <a:ext uri="{FF2B5EF4-FFF2-40B4-BE49-F238E27FC236}">
                <a16:creationId xmlns:a16="http://schemas.microsoft.com/office/drawing/2014/main" id="{AD9D1197-5B25-CA95-AA38-6079A557C580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2B5D2D-10B9-5439-B721-1FBE04DFB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100" y="2296429"/>
            <a:ext cx="8871127" cy="369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03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266C1-B31B-8AA6-F9E5-0691111CC113}"/>
              </a:ext>
            </a:extLst>
          </p:cNvPr>
          <p:cNvSpPr txBox="1">
            <a:spLocks/>
          </p:cNvSpPr>
          <p:nvPr/>
        </p:nvSpPr>
        <p:spPr>
          <a:xfrm>
            <a:off x="2286907" y="50592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PRODUCCIÓN   CESÁREAS     </a:t>
            </a:r>
          </a:p>
        </p:txBody>
      </p:sp>
      <p:sp>
        <p:nvSpPr>
          <p:cNvPr id="7" name="CuadroTexto 3">
            <a:extLst>
              <a:ext uri="{FF2B5EF4-FFF2-40B4-BE49-F238E27FC236}">
                <a16:creationId xmlns:a16="http://schemas.microsoft.com/office/drawing/2014/main" id="{58DDBE5F-2CE9-CE98-96A5-51523A1DEDDB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7939AE9-6DB6-0024-A649-9A35EAB68E4D}"/>
              </a:ext>
            </a:extLst>
          </p:cNvPr>
          <p:cNvSpPr/>
          <p:nvPr/>
        </p:nvSpPr>
        <p:spPr>
          <a:xfrm>
            <a:off x="9989794" y="1272138"/>
            <a:ext cx="1458731" cy="6764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22.4 % 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75842F0-2BAA-359B-1480-ABDC4CD72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676" y="2171700"/>
            <a:ext cx="9542647" cy="363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765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90D8F-9985-2C38-541E-E2D0E3BC2664}"/>
              </a:ext>
            </a:extLst>
          </p:cNvPr>
          <p:cNvSpPr txBox="1">
            <a:spLocks/>
          </p:cNvSpPr>
          <p:nvPr/>
        </p:nvSpPr>
        <p:spPr>
          <a:xfrm>
            <a:off x="2170489" y="650494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PRODUCCIÓN  PARTOS VAGINALES      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8A49927C-C003-6C1C-F806-59ABC17AEAB9}"/>
              </a:ext>
            </a:extLst>
          </p:cNvPr>
          <p:cNvSpPr/>
          <p:nvPr/>
        </p:nvSpPr>
        <p:spPr>
          <a:xfrm>
            <a:off x="9989794" y="1272138"/>
            <a:ext cx="1458731" cy="6764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77.5   % </a:t>
            </a:r>
          </a:p>
        </p:txBody>
      </p:sp>
      <p:sp>
        <p:nvSpPr>
          <p:cNvPr id="6" name="CuadroTexto 3">
            <a:extLst>
              <a:ext uri="{FF2B5EF4-FFF2-40B4-BE49-F238E27FC236}">
                <a16:creationId xmlns:a16="http://schemas.microsoft.com/office/drawing/2014/main" id="{01F52A66-60EE-102F-1EE9-881AE3677E7E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E40A502-86B7-BA48-9022-23E2B7759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784" y="2171700"/>
            <a:ext cx="9044431" cy="373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785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2447A-42DF-C103-2A07-DAACB2F8A107}"/>
              </a:ext>
            </a:extLst>
          </p:cNvPr>
          <p:cNvSpPr txBox="1">
            <a:spLocks/>
          </p:cNvSpPr>
          <p:nvPr/>
        </p:nvSpPr>
        <p:spPr>
          <a:xfrm>
            <a:off x="1309877" y="556032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PORCENTAJE OCUPACIONAL    </a:t>
            </a:r>
          </a:p>
        </p:txBody>
      </p:sp>
      <p:sp>
        <p:nvSpPr>
          <p:cNvPr id="14" name="CuadroTexto 3">
            <a:extLst>
              <a:ext uri="{FF2B5EF4-FFF2-40B4-BE49-F238E27FC236}">
                <a16:creationId xmlns:a16="http://schemas.microsoft.com/office/drawing/2014/main" id="{2E1F6F71-A34F-09B7-4203-13B0CF407E1C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B4EAFF-2A9A-7F11-7644-EEC06A1D7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214" y="2475723"/>
            <a:ext cx="8964386" cy="310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38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9A5B8-96DE-2522-E340-CDF331D06D98}"/>
              </a:ext>
            </a:extLst>
          </p:cNvPr>
          <p:cNvSpPr txBox="1">
            <a:spLocks/>
          </p:cNvSpPr>
          <p:nvPr/>
        </p:nvSpPr>
        <p:spPr>
          <a:xfrm>
            <a:off x="2564936" y="35880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PROMEDIO DIAS DE ESTANCIA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E448DFC6-A936-389A-2AE5-33731812DA58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AC60046-9DB5-F6BC-D416-746312F71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787" y="2155371"/>
            <a:ext cx="8311242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10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C8983F-EE12-83FF-3A15-D5241C4DE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9823F-3DFE-8C0A-5801-65A3B77649E3}"/>
              </a:ext>
            </a:extLst>
          </p:cNvPr>
          <p:cNvSpPr txBox="1">
            <a:spLocks/>
          </p:cNvSpPr>
          <p:nvPr/>
        </p:nvSpPr>
        <p:spPr>
          <a:xfrm>
            <a:off x="2564936" y="35880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TRIAGE OBSTETRICO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8F848406-444F-EBFE-125F-DC3C441ABB75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C7C9542-78AC-71E9-9D79-4E0AA769E2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08" y="2278499"/>
            <a:ext cx="5536292" cy="380225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4463214-316C-AD8A-294B-A907996CFF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344" y="2278499"/>
            <a:ext cx="5330320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59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8BEDEF60-0255-3003-914B-809CD8822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031449"/>
              </p:ext>
            </p:extLst>
          </p:nvPr>
        </p:nvGraphicFramePr>
        <p:xfrm>
          <a:off x="2545977" y="1399738"/>
          <a:ext cx="8199445" cy="4511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692">
                  <a:extLst>
                    <a:ext uri="{9D8B030D-6E8A-4147-A177-3AD203B41FA5}">
                      <a16:colId xmlns:a16="http://schemas.microsoft.com/office/drawing/2014/main" val="2792121155"/>
                    </a:ext>
                  </a:extLst>
                </a:gridCol>
                <a:gridCol w="4007753">
                  <a:extLst>
                    <a:ext uri="{9D8B030D-6E8A-4147-A177-3AD203B41FA5}">
                      <a16:colId xmlns:a16="http://schemas.microsoft.com/office/drawing/2014/main" val="2500448351"/>
                    </a:ext>
                  </a:extLst>
                </a:gridCol>
              </a:tblGrid>
              <a:tr h="362493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INDICADOR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  OCTUBRE  2025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198716"/>
                  </a:ext>
                </a:extLst>
              </a:tr>
              <a:tr h="362493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REINGRESO / REINTERVENCIONES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0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171369"/>
                  </a:ext>
                </a:extLst>
              </a:tr>
              <a:tr h="726081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MORBILIDADMATERNA EXTREMA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3 ( PREECLAMPSIA 1  / CODIGO ROJO POSPARTO 1 CODIGO ROJO POS ABORTO 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654984"/>
                  </a:ext>
                </a:extLst>
              </a:tr>
              <a:tr h="510946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MORTALIDAD MATERNA / MORTALIDAD NEONATAL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0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262556"/>
                  </a:ext>
                </a:extLst>
              </a:tr>
              <a:tr h="488492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EVENTOS DE SEGURIDAD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2 ANALISIS EN COMITÉ DE MORTALIDAD NEONATAL 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852260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ESTANCIA PROLONGADA </a:t>
                      </a:r>
                      <a:r>
                        <a:rPr lang="es-CO" sz="1600"/>
                        <a:t>&gt; 5 </a:t>
                      </a:r>
                      <a:r>
                        <a:rPr lang="es-CO" sz="1600" dirty="0"/>
                        <a:t>DIAS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246018"/>
                  </a:ext>
                </a:extLst>
              </a:tr>
              <a:tr h="510946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EVENTOS PARA ANALISIS EN COMITÉ DE INFECCIONES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542131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ENDOMETRITIS POS PARTO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0/58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011470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HISTERECTOMIAS POS PARTO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 / 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125472"/>
                  </a:ext>
                </a:extLst>
              </a:tr>
            </a:tbl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28E60AC6-0190-4A56-985F-48003D3521D5}"/>
              </a:ext>
            </a:extLst>
          </p:cNvPr>
          <p:cNvSpPr txBox="1">
            <a:spLocks/>
          </p:cNvSpPr>
          <p:nvPr/>
        </p:nvSpPr>
        <p:spPr>
          <a:xfrm>
            <a:off x="2079607" y="0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OTROS INDICADORES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335DCF-D279-59EA-AB13-C95E386E4511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7332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adroTexto 3"/>
          <p:cNvSpPr/>
          <p:nvPr/>
        </p:nvSpPr>
        <p:spPr>
          <a:xfrm>
            <a:off x="3630960" y="1046880"/>
            <a:ext cx="594972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1" i="0" u="none" strike="noStrike" kern="1200" cap="none" spc="-1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NUMERO DE PARTOS Y CESAREAS  </a:t>
            </a:r>
            <a:endParaRPr kumimoji="0" lang="es-CO" sz="2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838080" y="2186640"/>
            <a:ext cx="10515240" cy="398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000" b="0" strike="noStrike" spc="-1" dirty="0">
                <a:solidFill>
                  <a:schemeClr val="dk1"/>
                </a:solidFill>
                <a:latin typeface="Arial"/>
              </a:rPr>
              <a:t>PARTOS: 45</a:t>
            </a:r>
            <a:endParaRPr lang="es-CO" sz="2000" b="0" strike="noStrike" spc="-1" dirty="0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000" b="0" strike="noStrike" spc="-1" dirty="0">
                <a:solidFill>
                  <a:schemeClr val="dk1"/>
                </a:solidFill>
                <a:latin typeface="Arial"/>
              </a:rPr>
              <a:t>CESAREAS: 13</a:t>
            </a:r>
            <a:endParaRPr lang="es-CO" sz="2000" spc="-1" dirty="0">
              <a:solidFill>
                <a:schemeClr val="dk1"/>
              </a:solidFill>
              <a:latin typeface="Arial"/>
            </a:endParaRPr>
          </a:p>
          <a:p>
            <a:pPr marL="0" indent="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None/>
            </a:pPr>
            <a:endParaRPr lang="es-CO" sz="2000" b="0" strike="noStrike" spc="-1" dirty="0">
              <a:solidFill>
                <a:schemeClr val="dk1"/>
              </a:solidFill>
              <a:latin typeface="Arial"/>
            </a:endParaRPr>
          </a:p>
          <a:p>
            <a:pPr marL="0" indent="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None/>
            </a:pPr>
            <a:endParaRPr lang="es-CO" sz="2000" b="0" strike="noStrike" spc="-1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6" name="Imagen 13"/>
          <p:cNvPicPr/>
          <p:nvPr/>
        </p:nvPicPr>
        <p:blipFill>
          <a:blip r:embed="rId3"/>
          <a:stretch/>
        </p:blipFill>
        <p:spPr>
          <a:xfrm>
            <a:off x="1298880" y="3670920"/>
            <a:ext cx="1695960" cy="1629720"/>
          </a:xfrm>
          <a:prstGeom prst="rect">
            <a:avLst/>
          </a:prstGeom>
          <a:ln w="0"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E0D82A5-1238-257A-9882-5E15239654E4}"/>
              </a:ext>
            </a:extLst>
          </p:cNvPr>
          <p:cNvSpPr txBox="1"/>
          <p:nvPr/>
        </p:nvSpPr>
        <p:spPr>
          <a:xfrm>
            <a:off x="10028420" y="1319134"/>
            <a:ext cx="1648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TOTAL: 58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E6F6D0-4A41-44B3-DB72-849A33B41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782" y="1974487"/>
            <a:ext cx="5709638" cy="34415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Arial"/>
              </a:rPr>
              <a:t>NUMERO NEONATOS HOSPITALIZADOS VS NEONATOS CON ANTIBIOTICO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690200"/>
            <a:ext cx="10515240" cy="448631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NUMERO DE NEONATOS HX: </a:t>
            </a:r>
            <a:r>
              <a:rPr lang="es-CO" spc="-1" dirty="0">
                <a:solidFill>
                  <a:schemeClr val="dk1"/>
                </a:solidFill>
                <a:latin typeface="Calibri"/>
              </a:rPr>
              <a:t>16</a:t>
            </a: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NEONATOS CON ORDEN DE ANTIBIOTICO:0</a:t>
            </a:r>
          </a:p>
        </p:txBody>
      </p:sp>
      <p:pic>
        <p:nvPicPr>
          <p:cNvPr id="90" name="Imagen 7"/>
          <p:cNvPicPr/>
          <p:nvPr/>
        </p:nvPicPr>
        <p:blipFill>
          <a:blip r:embed="rId3"/>
          <a:srcRect l="23081" t="2406" r="23956" b="3194"/>
          <a:stretch/>
        </p:blipFill>
        <p:spPr>
          <a:xfrm>
            <a:off x="2856018" y="2813538"/>
            <a:ext cx="1245240" cy="1841760"/>
          </a:xfrm>
          <a:prstGeom prst="rect">
            <a:avLst/>
          </a:prstGeom>
          <a:ln w="0">
            <a:noFill/>
          </a:ln>
        </p:spPr>
      </p:pic>
      <p:sp>
        <p:nvSpPr>
          <p:cNvPr id="92" name="CuadroTexto 6"/>
          <p:cNvSpPr/>
          <p:nvPr/>
        </p:nvSpPr>
        <p:spPr>
          <a:xfrm>
            <a:off x="8905320" y="1690560"/>
            <a:ext cx="22658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0E6A55F-1A9A-8FCC-2AB5-023FB27B1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529" y="2813538"/>
            <a:ext cx="5008791" cy="322150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C7AF26C-49CB-2E4D-53E6-B901FBBE228E}"/>
              </a:ext>
            </a:extLst>
          </p:cNvPr>
          <p:cNvSpPr txBox="1"/>
          <p:nvPr/>
        </p:nvSpPr>
        <p:spPr>
          <a:xfrm>
            <a:off x="1362240" y="5106572"/>
            <a:ext cx="4485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Durante el mes de octubre no se tuvo ningún paciente para manejo de antibiótico.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rgbClr val="4472C4"/>
                </a:solidFill>
                <a:latin typeface="Arial"/>
              </a:rPr>
              <a:t>OPORTUNIDAD DE INCICIO DE SULFATO DE MG</a:t>
            </a:r>
            <a:br>
              <a:rPr sz="2400"/>
            </a:b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dirty="0"/>
              <a:t>TOTAL DE PACIENTES CON INICIO DE SULFATO MG: 3 pacientes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Conector 5"/>
          <p:cNvSpPr/>
          <p:nvPr/>
        </p:nvSpPr>
        <p:spPr>
          <a:xfrm>
            <a:off x="9263160" y="4605480"/>
            <a:ext cx="1616400" cy="1706040"/>
          </a:xfrm>
          <a:prstGeom prst="flowChartConnector">
            <a:avLst/>
          </a:prstGeom>
          <a:blipFill rotWithShape="0">
            <a:blip r:embed="rId4"/>
            <a:srcRect/>
            <a:stretch/>
          </a:blipFill>
          <a:ln>
            <a:solidFill>
              <a:srgbClr val="325490"/>
            </a:solidFill>
          </a:ln>
          <a:effectLst>
            <a:outerShdw blurRad="50760" dist="3816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Rectángulo redondeado 12"/>
          <p:cNvSpPr/>
          <p:nvPr/>
        </p:nvSpPr>
        <p:spPr>
          <a:xfrm flipH="1">
            <a:off x="9528480" y="4605480"/>
            <a:ext cx="1103040" cy="27108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MIN</a:t>
            </a:r>
            <a:endParaRPr kumimoji="0" lang="es-CO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F283574-8BB9-02C7-9F88-36ED6BD964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6763" y="2433711"/>
            <a:ext cx="6443003" cy="374280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Arial"/>
              </a:rPr>
              <a:t>OPORTUNIDAD DE EGRESO DE GINECOLOGIA 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CuadroTexto 4"/>
          <p:cNvSpPr/>
          <p:nvPr/>
        </p:nvSpPr>
        <p:spPr>
          <a:xfrm>
            <a:off x="6267156" y="5392278"/>
            <a:ext cx="1477108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Tiempo septiembre: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81,1 min 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3" name="CuadroTexto 6"/>
          <p:cNvSpPr/>
          <p:nvPr/>
        </p:nvSpPr>
        <p:spPr>
          <a:xfrm>
            <a:off x="8679765" y="5392278"/>
            <a:ext cx="1589649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Tiempo Octubre: 64,4 min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102517F-42C1-6FCF-B9F1-2E94ACCD19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347" t="50841" r="2846" b="12572"/>
          <a:stretch>
            <a:fillRect/>
          </a:stretch>
        </p:blipFill>
        <p:spPr>
          <a:xfrm>
            <a:off x="2264898" y="1690200"/>
            <a:ext cx="8004517" cy="3472643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D60F332-F0CF-18A1-EEDE-3EC0F8FB17EB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2264898" y="3426522"/>
            <a:ext cx="7891976" cy="24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Arial"/>
              </a:rPr>
              <a:t>EGRESOS VS ASIGNACION DE CITAS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8" name="Imagen 4"/>
          <p:cNvPicPr/>
          <p:nvPr/>
        </p:nvPicPr>
        <p:blipFill>
          <a:blip r:embed="rId3"/>
          <a:stretch/>
        </p:blipFill>
        <p:spPr>
          <a:xfrm>
            <a:off x="810000" y="3835080"/>
            <a:ext cx="1361880" cy="1810080"/>
          </a:xfrm>
          <a:prstGeom prst="rect">
            <a:avLst/>
          </a:prstGeom>
          <a:ln w="0">
            <a:noFill/>
          </a:ln>
        </p:spPr>
      </p:pic>
      <p:sp>
        <p:nvSpPr>
          <p:cNvPr id="119" name="CuadroTexto 8"/>
          <p:cNvSpPr/>
          <p:nvPr/>
        </p:nvSpPr>
        <p:spPr>
          <a:xfrm>
            <a:off x="3305880" y="5359680"/>
            <a:ext cx="6667560" cy="10757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1" i="0" u="sng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Ginecología:</a:t>
            </a:r>
            <a:r>
              <a:rPr kumimoji="0" lang="es-CO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Se asegura cita de control a diagnósticos de post parto/ pop de cesárea/ pop de diagnósticos ginecológicos  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 se asignan a pacientes que su centro de atención primario es otro municipio.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A305E8F-527E-6A5D-BF4A-4B43E9392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555" y="1434906"/>
            <a:ext cx="6948886" cy="33719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Arial"/>
              </a:rPr>
              <a:t>INDICADORES DE PLANIFICACION FAMILIAR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2" name="Imagen 13"/>
          <p:cNvPicPr/>
          <p:nvPr/>
        </p:nvPicPr>
        <p:blipFill>
          <a:blip r:embed="rId4"/>
          <a:stretch/>
        </p:blipFill>
        <p:spPr>
          <a:xfrm>
            <a:off x="401400" y="2855880"/>
            <a:ext cx="2200680" cy="1919160"/>
          </a:xfrm>
          <a:prstGeom prst="rect">
            <a:avLst/>
          </a:prstGeom>
          <a:ln w="0"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CBB3814-AC3C-D0B4-0033-4FF7C185E6FC}"/>
              </a:ext>
            </a:extLst>
          </p:cNvPr>
          <p:cNvSpPr txBox="1"/>
          <p:nvPr/>
        </p:nvSpPr>
        <p:spPr>
          <a:xfrm>
            <a:off x="9833317" y="1463040"/>
            <a:ext cx="187100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TOTAL: 54 PACIENTES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 los cuales 3 no fueron registradas en la base de datos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O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 DE PARTOS Y CESAREAS: 58 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BB7435CD-E0EE-51C6-F378-01586DDF870A}"/>
              </a:ext>
            </a:extLst>
          </p:cNvPr>
          <p:cNvGraphicFramePr>
            <a:graphicFrameLocks/>
          </p:cNvGraphicFramePr>
          <p:nvPr/>
        </p:nvGraphicFramePr>
        <p:xfrm>
          <a:off x="2602079" y="2053883"/>
          <a:ext cx="6837343" cy="40092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6F33E7-CFC7-A659-E219-B3397A00B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Gráfico 5">
            <a:extLst>
              <a:ext uri="{FF2B5EF4-FFF2-40B4-BE49-F238E27FC236}">
                <a16:creationId xmlns:a16="http://schemas.microsoft.com/office/drawing/2014/main" id="{99C15229-C3DF-32C9-10F9-841ECCDA2800}"/>
              </a:ext>
            </a:extLst>
          </p:cNvPr>
          <p:cNvGraphicFramePr/>
          <p:nvPr/>
        </p:nvGraphicFramePr>
        <p:xfrm>
          <a:off x="1917720" y="1019880"/>
          <a:ext cx="8569080" cy="54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5" name="CuadroTexto 9">
            <a:extLst>
              <a:ext uri="{FF2B5EF4-FFF2-40B4-BE49-F238E27FC236}">
                <a16:creationId xmlns:a16="http://schemas.microsoft.com/office/drawing/2014/main" id="{C8BB8CC9-3C68-28C1-70C4-B71CD76EA96B}"/>
              </a:ext>
            </a:extLst>
          </p:cNvPr>
          <p:cNvSpPr/>
          <p:nvPr/>
        </p:nvSpPr>
        <p:spPr>
          <a:xfrm>
            <a:off x="9515520" y="314280"/>
            <a:ext cx="16711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MUESTRA:15 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46" name="Imagen 10">
            <a:extLst>
              <a:ext uri="{FF2B5EF4-FFF2-40B4-BE49-F238E27FC236}">
                <a16:creationId xmlns:a16="http://schemas.microsoft.com/office/drawing/2014/main" id="{5A3BF805-7446-F37D-37BE-0509F7FFDDBA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320120" y="2566440"/>
            <a:ext cx="493560" cy="17251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434142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" name="Gráfico 5"/>
          <p:cNvGraphicFramePr/>
          <p:nvPr/>
        </p:nvGraphicFramePr>
        <p:xfrm>
          <a:off x="1917720" y="991744"/>
          <a:ext cx="8569080" cy="54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8" name="CuadroTexto 9"/>
          <p:cNvSpPr/>
          <p:nvPr/>
        </p:nvSpPr>
        <p:spPr>
          <a:xfrm>
            <a:off x="9755280" y="650520"/>
            <a:ext cx="16711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MUESTRA: 5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49" name="Imagen 10"/>
          <p:cNvPicPr/>
          <p:nvPr/>
        </p:nvPicPr>
        <p:blipFill>
          <a:blip r:embed="rId4"/>
          <a:stretch/>
        </p:blipFill>
        <p:spPr>
          <a:xfrm>
            <a:off x="1320120" y="2566440"/>
            <a:ext cx="493560" cy="1725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Gráfico 5"/>
          <p:cNvGraphicFramePr/>
          <p:nvPr/>
        </p:nvGraphicFramePr>
        <p:xfrm>
          <a:off x="2039814" y="650520"/>
          <a:ext cx="8145195" cy="5060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1" name="CuadroTexto 9"/>
          <p:cNvSpPr/>
          <p:nvPr/>
        </p:nvSpPr>
        <p:spPr>
          <a:xfrm>
            <a:off x="9755280" y="650520"/>
            <a:ext cx="16711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MUESTRA: 3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52" name="Imagen 10"/>
          <p:cNvPicPr/>
          <p:nvPr/>
        </p:nvPicPr>
        <p:blipFill>
          <a:blip r:embed="rId4"/>
          <a:stretch/>
        </p:blipFill>
        <p:spPr>
          <a:xfrm>
            <a:off x="1320120" y="2566440"/>
            <a:ext cx="493560" cy="1725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 dirty="0">
                <a:solidFill>
                  <a:schemeClr val="accent1"/>
                </a:solidFill>
                <a:latin typeface="Arial"/>
              </a:rPr>
              <a:t>INFECCIONES DEL SITIO OPERATORIO</a:t>
            </a:r>
            <a:endParaRPr lang="es-CO" sz="2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02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No se presenta ISO en el mes de </a:t>
            </a:r>
            <a:r>
              <a:rPr lang="es-CO" spc="-1" dirty="0">
                <a:solidFill>
                  <a:schemeClr val="dk1"/>
                </a:solidFill>
                <a:latin typeface="Calibri"/>
              </a:rPr>
              <a:t>Octubre.</a:t>
            </a: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Clr>
                <a:srgbClr val="4472C4"/>
              </a:buClr>
              <a:buFont typeface="Arial"/>
              <a:buChar char="•"/>
            </a:pPr>
            <a:r>
              <a:rPr lang="es-CO" sz="2800" b="1" strike="noStrike" spc="-1" dirty="0">
                <a:solidFill>
                  <a:schemeClr val="accent1"/>
                </a:solidFill>
                <a:latin typeface="Calibri"/>
              </a:rPr>
              <a:t>MASTITIS NO PUERPERAL </a:t>
            </a: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pc="-1" dirty="0">
                <a:solidFill>
                  <a:schemeClr val="dk1"/>
                </a:solidFill>
                <a:latin typeface="Calibri"/>
              </a:rPr>
              <a:t>Se presento 1 pacientes con mastitis en el mes de Octubre.</a:t>
            </a: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Clr>
                <a:srgbClr val="4472C4"/>
              </a:buClr>
              <a:buFont typeface="Arial"/>
              <a:buChar char="•"/>
            </a:pPr>
            <a:r>
              <a:rPr lang="es-CO" sz="2800" b="1" strike="noStrike" spc="-1" dirty="0">
                <a:solidFill>
                  <a:schemeClr val="accent1"/>
                </a:solidFill>
                <a:latin typeface="Calibri"/>
              </a:rPr>
              <a:t>ENDOMETRITIS</a:t>
            </a: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 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No se presento durante el mes de Octubre. 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 dirty="0">
                <a:solidFill>
                  <a:schemeClr val="accent1"/>
                </a:solidFill>
                <a:latin typeface="Arial"/>
              </a:rPr>
              <a:t>ADHERENCIA PRACTICA SEGURA:GARANTIZAR LA ATENCION SEGURA DE LA GESTANTE Y EL RECIEN NACIDO</a:t>
            </a:r>
            <a:endParaRPr lang="es-CO" sz="2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02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  </a:t>
            </a:r>
          </a:p>
        </p:txBody>
      </p:sp>
      <p:sp>
        <p:nvSpPr>
          <p:cNvPr id="161" name="CuadroTexto 4"/>
          <p:cNvSpPr/>
          <p:nvPr/>
        </p:nvSpPr>
        <p:spPr>
          <a:xfrm>
            <a:off x="6095880" y="2597400"/>
            <a:ext cx="4863240" cy="31378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LISTA DE CHEQUEO: 17 PREGUNTAS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              2 MOMENTOS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1 MOMENTO: 6 PREGUNTA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2  MOMENTO: 11 PREGUNTAS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840" marR="0" lvl="0" indent="-2858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s-ES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Diligenciamiento por parte de medicina, partograma oportunamente según la indicación. 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3EA9EE3-3360-5AC2-B4D9-10F1D6FA0A79}"/>
              </a:ext>
            </a:extLst>
          </p:cNvPr>
          <p:cNvSpPr txBox="1"/>
          <p:nvPr/>
        </p:nvSpPr>
        <p:spPr>
          <a:xfrm>
            <a:off x="5598942" y="24055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3AD1784-51C0-9DA9-5849-C989B5A09E4E}"/>
              </a:ext>
            </a:extLst>
          </p:cNvPr>
          <p:cNvSpPr txBox="1"/>
          <p:nvPr/>
        </p:nvSpPr>
        <p:spPr>
          <a:xfrm>
            <a:off x="9762978" y="1505534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MUESTRA: 11</a:t>
            </a:r>
          </a:p>
        </p:txBody>
      </p:sp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A92A2868-B715-B8F5-3CBD-C5765C8D7E75}"/>
              </a:ext>
            </a:extLst>
          </p:cNvPr>
          <p:cNvSpPr/>
          <p:nvPr/>
        </p:nvSpPr>
        <p:spPr>
          <a:xfrm>
            <a:off x="8201465" y="3066757"/>
            <a:ext cx="379827" cy="1547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F01964C7-AE7D-DBA5-F05F-CA2DC35E9133}"/>
              </a:ext>
            </a:extLst>
          </p:cNvPr>
          <p:cNvSpPr/>
          <p:nvPr/>
        </p:nvSpPr>
        <p:spPr>
          <a:xfrm>
            <a:off x="8201465" y="3636499"/>
            <a:ext cx="379827" cy="1547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5062B21-5BFB-4366-8291-33187D326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03" y="2258683"/>
            <a:ext cx="5388201" cy="347658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7902</TotalTime>
  <Words>687</Words>
  <Application>Microsoft Macintosh PowerPoint</Application>
  <PresentationFormat>Panorámica</PresentationFormat>
  <Paragraphs>124</Paragraphs>
  <Slides>31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31</vt:i4>
      </vt:variant>
    </vt:vector>
  </HeadingPairs>
  <TitlesOfParts>
    <vt:vector size="41" baseType="lpstr">
      <vt:lpstr>Aptos</vt:lpstr>
      <vt:lpstr>Arial</vt:lpstr>
      <vt:lpstr>Calibri</vt:lpstr>
      <vt:lpstr>Calibri Light</vt:lpstr>
      <vt:lpstr>Helvetica</vt:lpstr>
      <vt:lpstr>Symbol</vt:lpstr>
      <vt:lpstr>Tahoma</vt:lpstr>
      <vt:lpstr>Times New Roman</vt:lpstr>
      <vt:lpstr>Tema de Office</vt:lpstr>
      <vt:lpstr>1_Tema de Office</vt:lpstr>
      <vt:lpstr>                  EQUIPO PRIMARIO GINECOLOGIA MES DE SEPTIEMBRE     CON DATOS DE OCTUBRE   2025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NUMERO NEONATOS HOSPITALIZADOS VS NEONATOS CON ANTIBIOTICO</vt:lpstr>
      <vt:lpstr>OPORTUNIDAD DE INCICIO DE SULFATO DE MG </vt:lpstr>
      <vt:lpstr>OPORTUNIDAD DE EGRESO DE GINECOLOGIA </vt:lpstr>
      <vt:lpstr>EGRESOS VS ASIGNACION DE CITAS</vt:lpstr>
      <vt:lpstr>INDICADORES DE PLANIFICACION FAMILIAR</vt:lpstr>
      <vt:lpstr>Presentación de PowerPoint</vt:lpstr>
      <vt:lpstr>Presentación de PowerPoint</vt:lpstr>
      <vt:lpstr>Presentación de PowerPoint</vt:lpstr>
      <vt:lpstr>INFECCIONES DEL SITIO OPERATORIO</vt:lpstr>
      <vt:lpstr>ADHERENCIA PRACTICA SEGURA:GARANTIZAR LA ATENCION SEGURA DE LA GESTANTE Y EL RECIEN NACIDO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Sharon Katherine Acuña</cp:lastModifiedBy>
  <cp:revision>112</cp:revision>
  <dcterms:created xsi:type="dcterms:W3CDTF">2024-08-26T14:52:25Z</dcterms:created>
  <dcterms:modified xsi:type="dcterms:W3CDTF">2025-11-11T04:14:55Z</dcterms:modified>
</cp:coreProperties>
</file>