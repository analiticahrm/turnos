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3" r:id="rId3"/>
    <p:sldMasterId id="2147483686" r:id="rId4"/>
  </p:sldMasterIdLst>
  <p:notesMasterIdLst>
    <p:notesMasterId r:id="rId28"/>
  </p:notesMasterIdLst>
  <p:sldIdLst>
    <p:sldId id="256" r:id="rId5"/>
    <p:sldId id="316" r:id="rId6"/>
    <p:sldId id="262" r:id="rId7"/>
    <p:sldId id="340" r:id="rId8"/>
    <p:sldId id="341" r:id="rId9"/>
    <p:sldId id="337" r:id="rId10"/>
    <p:sldId id="270" r:id="rId11"/>
    <p:sldId id="332" r:id="rId12"/>
    <p:sldId id="271" r:id="rId13"/>
    <p:sldId id="269" r:id="rId14"/>
    <p:sldId id="331" r:id="rId15"/>
    <p:sldId id="275" r:id="rId16"/>
    <p:sldId id="333" r:id="rId17"/>
    <p:sldId id="257" r:id="rId18"/>
    <p:sldId id="258" r:id="rId19"/>
    <p:sldId id="261" r:id="rId20"/>
    <p:sldId id="264" r:id="rId21"/>
    <p:sldId id="265" r:id="rId22"/>
    <p:sldId id="334" r:id="rId23"/>
    <p:sldId id="335" r:id="rId24"/>
    <p:sldId id="278" r:id="rId25"/>
    <p:sldId id="276" r:id="rId26"/>
    <p:sldId id="277" r:id="rId27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686" autoAdjust="0"/>
    <p:restoredTop sz="94660"/>
  </p:normalViewPr>
  <p:slideViewPr>
    <p:cSldViewPr snapToGrid="0">
      <p:cViewPr varScale="1">
        <p:scale>
          <a:sx n="78" d="100"/>
          <a:sy n="78" d="100"/>
        </p:scale>
        <p:origin x="184" y="8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Hoja_de_c_lculo_de_Microsoft_Excel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es-MX"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CO"/>
              <a:t>T</a:t>
            </a:r>
            <a:r>
              <a:rPr lang="es-CO" altLang="es-MX"/>
              <a:t>NÚMERO DE PARTOS Y CESAREAS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 defTabSz="914400">
            <a:defRPr lang="es-MX" sz="1400" b="1" i="0" u="none" strike="noStrike" kern="1200" baseline="0">
              <a:solidFill>
                <a:schemeClr val="tx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s-CO" altLang="es-MX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PARTO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Categoría 1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821-AC43-A863-FBA806BDE3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CESAREA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Categoría 1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821-AC43-A863-FBA806BDE34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710132730"/>
        <c:axId val="106753992"/>
      </c:barChart>
      <c:catAx>
        <c:axId val="710132730"/>
        <c:scaling>
          <c:orientation val="minMax"/>
        </c:scaling>
        <c:delete val="1"/>
        <c:axPos val="b"/>
        <c:numFmt formatCode="General" sourceLinked="0"/>
        <c:majorTickMark val="none"/>
        <c:minorTickMark val="none"/>
        <c:tickLblPos val="nextTo"/>
        <c:crossAx val="106753992"/>
        <c:crosses val="autoZero"/>
        <c:auto val="1"/>
        <c:lblAlgn val="ctr"/>
        <c:lblOffset val="100"/>
        <c:noMultiLvlLbl val="0"/>
      </c:catAx>
      <c:valAx>
        <c:axId val="106753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s-MX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s-CO"/>
          </a:p>
        </c:txPr>
        <c:crossAx val="71013273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s-MX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s-CO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2baac175-7b1a-405b-9e04-7751cb592ee0}"/>
      </c:ext>
    </c:extLst>
  </c:chart>
  <c:spPr>
    <a:noFill/>
    <a:ln>
      <a:noFill/>
    </a:ln>
    <a:effectLst/>
  </c:spPr>
  <c:txPr>
    <a:bodyPr/>
    <a:lstStyle/>
    <a:p>
      <a:pPr>
        <a:defRPr lang="es-MX"/>
      </a:pPr>
      <a:endParaRPr lang="es-CO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PCTE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SULFATO DE MAGNESIO 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B5-744B-BCA4-D5132AC9D49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PCTE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SULFATO DE MAGNESIO 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1B5-744B-BCA4-D5132AC9D496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PCTE 3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</c:f>
              <c:strCache>
                <c:ptCount val="1"/>
                <c:pt idx="0">
                  <c:v>SULFATO DE MAGNESIO 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1B5-744B-BCA4-D5132AC9D4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67236365"/>
        <c:axId val="788733682"/>
      </c:barChart>
      <c:catAx>
        <c:axId val="6723636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s-MX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  <c:crossAx val="788733682"/>
        <c:crosses val="autoZero"/>
        <c:auto val="1"/>
        <c:lblAlgn val="ctr"/>
        <c:lblOffset val="100"/>
        <c:noMultiLvlLbl val="0"/>
      </c:catAx>
      <c:valAx>
        <c:axId val="78873368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s-MX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  <c:crossAx val="6723636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s-MX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s-MX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s-MX"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charset="0"/>
              <a:ea typeface="Century Gothic" panose="020B0502020202020204" charset="0"/>
              <a:cs typeface="Century Gothic" panose="020B0502020202020204" charset="0"/>
              <a:sym typeface="Century Gothic" panose="020B0502020202020204" charset="0"/>
            </a:defRPr>
          </a:pPr>
          <a:endParaRPr lang="es-CO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c3100f98-3d01-4f0c-8edd-b8ee10b07bcf}"/>
      </c:ext>
    </c:extLst>
  </c:chart>
  <c:spPr>
    <a:noFill/>
    <a:ln>
      <a:noFill/>
    </a:ln>
    <a:effectLst/>
  </c:spPr>
  <c:txPr>
    <a:bodyPr/>
    <a:lstStyle/>
    <a:p>
      <a:pPr>
        <a:defRPr lang="es-MX" sz="1600">
          <a:latin typeface="Century Gothic" panose="020B0502020202020204" charset="0"/>
          <a:ea typeface="Century Gothic" panose="020B0502020202020204" charset="0"/>
          <a:cs typeface="Century Gothic" panose="020B0502020202020204" charset="0"/>
          <a:sym typeface="Century Gothic" panose="020B0502020202020204" charset="0"/>
        </a:defRPr>
      </a:pPr>
      <a:endParaRPr lang="es-CO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CANTIDAD DE PARTOS Y CESAREAS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CANTIDAD DE CITAS ASIGNADAS DE POSPARTOS Y CESAREAS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23-1547-AEE0-EEBCA706983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° DE CITAS ASIGNADAS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6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CANTIDAD DE CITAS ASIGNADAS DE POSPARTOS Y CESAREAS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36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23-1547-AEE0-EEBCA706983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61956843"/>
        <c:axId val="693443963"/>
      </c:barChart>
      <c:catAx>
        <c:axId val="61956843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s-MX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  <c:crossAx val="693443963"/>
        <c:crosses val="autoZero"/>
        <c:auto val="1"/>
        <c:lblAlgn val="ctr"/>
        <c:lblOffset val="100"/>
        <c:noMultiLvlLbl val="0"/>
      </c:catAx>
      <c:valAx>
        <c:axId val="693443963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195684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s-MX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s-MX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s-MX"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charset="0"/>
              <a:ea typeface="Century Gothic" panose="020B0502020202020204" charset="0"/>
              <a:cs typeface="Century Gothic" panose="020B0502020202020204" charset="0"/>
              <a:sym typeface="Century Gothic" panose="020B0502020202020204" charset="0"/>
            </a:defRPr>
          </a:pPr>
          <a:endParaRPr lang="es-CO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f236ae3-eb33-4b8f-a04b-7eda2571ab3d}"/>
      </c:ext>
    </c:extLst>
  </c:chart>
  <c:spPr>
    <a:noFill/>
    <a:ln>
      <a:noFill/>
    </a:ln>
    <a:effectLst/>
  </c:spPr>
  <c:txPr>
    <a:bodyPr/>
    <a:lstStyle/>
    <a:p>
      <a:pPr>
        <a:defRPr lang="es-MX" sz="1600">
          <a:latin typeface="Century Gothic" panose="020B0502020202020204" charset="0"/>
          <a:ea typeface="Century Gothic" panose="020B0502020202020204" charset="0"/>
          <a:cs typeface="Century Gothic" panose="020B0502020202020204" charset="0"/>
          <a:sym typeface="Century Gothic" panose="020B0502020202020204" charset="0"/>
        </a:defRPr>
      </a:pPr>
      <a:endParaRPr lang="es-CO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s-MX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IMPLANTE SUBDERMICO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MÉTODOS ANTICONCEPTIVOS</c:v>
                </c:pt>
              </c:strCache>
            </c:strRef>
          </c:cat>
          <c:val>
            <c:numRef>
              <c:f>Sheet1!$B$2</c:f>
              <c:numCache>
                <c:formatCode>General</c:formatCode>
                <c:ptCount val="1"/>
                <c:pt idx="0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D38-524A-84D4-A533D214052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DISENTIMIENTO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MÉTODOS ANTICONCEPTIVOS</c:v>
                </c:pt>
              </c:strCache>
            </c:strRef>
          </c:cat>
          <c:val>
            <c:numRef>
              <c:f>Sheet1!$C$2</c:f>
              <c:numCache>
                <c:formatCode>General</c:formatCode>
                <c:ptCount val="1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D38-524A-84D4-A533D214052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DIU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MÉTODOS ANTICONCEPTIVOS</c:v>
                </c:pt>
              </c:strCache>
            </c:strRef>
          </c:cat>
          <c:val>
            <c:numRef>
              <c:f>Sheet1!$D$2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D38-524A-84D4-A533D214052B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INYECCION TRIMESTRAL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MÉTODOS ANTICONCEPTIVOS</c:v>
                </c:pt>
              </c:strCache>
            </c:strRef>
          </c:cat>
          <c:val>
            <c:numRef>
              <c:f>Sheet1!$E$2</c:f>
              <c:numCache>
                <c:formatCode>General</c:formatCode>
                <c:ptCount val="1"/>
                <c:pt idx="0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BD38-524A-84D4-A533D214052B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POMEROY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s-MX" sz="12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Century Gothic" panose="020B0502020202020204" charset="0"/>
                    <a:ea typeface="Century Gothic" panose="020B0502020202020204" charset="0"/>
                    <a:cs typeface="Century Gothic" panose="020B0502020202020204" charset="0"/>
                    <a:sym typeface="Century Gothic" panose="020B0502020202020204" charset="0"/>
                  </a:defRPr>
                </a:pPr>
                <a:endParaRPr lang="es-CO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</c:f>
              <c:strCache>
                <c:ptCount val="1"/>
                <c:pt idx="0">
                  <c:v>MÉTODOS ANTICONCEPTIVOS</c:v>
                </c:pt>
              </c:strCache>
            </c:strRef>
          </c:cat>
          <c:val>
            <c:numRef>
              <c:f>Sheet1!$F$2</c:f>
              <c:numCache>
                <c:formatCode>General</c:formatCode>
                <c:ptCount val="1"/>
                <c:pt idx="0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D38-524A-84D4-A533D214052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46"/>
        <c:overlap val="-28"/>
        <c:axId val="610567448"/>
        <c:axId val="545891627"/>
      </c:barChart>
      <c:catAx>
        <c:axId val="610567448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s-MX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  <c:crossAx val="545891627"/>
        <c:crosses val="autoZero"/>
        <c:auto val="1"/>
        <c:lblAlgn val="ctr"/>
        <c:lblOffset val="100"/>
        <c:noMultiLvlLbl val="0"/>
      </c:catAx>
      <c:valAx>
        <c:axId val="54589162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02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s-MX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  <c:crossAx val="61056744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0" vertOverflow="ellipsis" vert="horz" wrap="square" anchor="ctr" anchorCtr="1"/>
          <a:lstStyle/>
          <a:p>
            <a:pPr>
              <a:defRPr lang="es-MX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legendEntry>
        <c:idx val="1"/>
        <c:txPr>
          <a:bodyPr rot="0" spcFirstLastPara="0" vertOverflow="ellipsis" vert="horz" wrap="square" anchor="ctr" anchorCtr="1"/>
          <a:lstStyle/>
          <a:p>
            <a:pPr>
              <a:defRPr lang="es-MX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legendEntry>
        <c:idx val="2"/>
        <c:txPr>
          <a:bodyPr rot="0" spcFirstLastPara="0" vertOverflow="ellipsis" vert="horz" wrap="square" anchor="ctr" anchorCtr="1"/>
          <a:lstStyle/>
          <a:p>
            <a:pPr>
              <a:defRPr lang="es-MX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legendEntry>
        <c:idx val="3"/>
        <c:txPr>
          <a:bodyPr rot="0" spcFirstLastPara="0" vertOverflow="ellipsis" vert="horz" wrap="square" anchor="ctr" anchorCtr="1"/>
          <a:lstStyle/>
          <a:p>
            <a:pPr>
              <a:defRPr lang="es-MX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legendEntry>
        <c:idx val="4"/>
        <c:txPr>
          <a:bodyPr rot="0" spcFirstLastPara="0" vertOverflow="ellipsis" vert="horz" wrap="square" anchor="ctr" anchorCtr="1"/>
          <a:lstStyle/>
          <a:p>
            <a:pPr>
              <a:defRPr lang="es-MX"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charset="0"/>
                <a:ea typeface="Century Gothic" panose="020B0502020202020204" charset="0"/>
                <a:cs typeface="Century Gothic" panose="020B0502020202020204" charset="0"/>
                <a:sym typeface="Century Gothic" panose="020B0502020202020204" charset="0"/>
              </a:defRPr>
            </a:pPr>
            <a:endParaRPr lang="es-CO"/>
          </a:p>
        </c:txPr>
      </c:legendEntry>
      <c:overlay val="0"/>
      <c:spPr>
        <a:noFill/>
        <a:ln>
          <a:noFill/>
        </a:ln>
        <a:effectLst/>
      </c:spPr>
      <c:txPr>
        <a:bodyPr rot="0" spcFirstLastPara="0" vertOverflow="ellipsis" vert="horz" wrap="square" anchor="ctr" anchorCtr="1"/>
        <a:lstStyle/>
        <a:p>
          <a:pPr>
            <a:defRPr lang="es-MX" sz="12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charset="0"/>
              <a:ea typeface="Century Gothic" panose="020B0502020202020204" charset="0"/>
              <a:cs typeface="Century Gothic" panose="020B0502020202020204" charset="0"/>
              <a:sym typeface="Century Gothic" panose="020B0502020202020204" charset="0"/>
            </a:defRPr>
          </a:pPr>
          <a:endParaRPr lang="es-CO"/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429cae84-9deb-4dd4-98d6-f1b9497526cc}"/>
      </c:ext>
    </c:extLst>
  </c:chart>
  <c:spPr>
    <a:noFill/>
    <a:ln>
      <a:noFill/>
    </a:ln>
    <a:effectLst/>
  </c:spPr>
  <c:txPr>
    <a:bodyPr/>
    <a:lstStyle/>
    <a:p>
      <a:pPr>
        <a:defRPr lang="es-MX" sz="1200">
          <a:latin typeface="Century Gothic" panose="020B0502020202020204" charset="0"/>
          <a:ea typeface="Century Gothic" panose="020B0502020202020204" charset="0"/>
          <a:cs typeface="Century Gothic" panose="020B0502020202020204" charset="0"/>
          <a:sym typeface="Century Gothic" panose="020B0502020202020204" charset="0"/>
        </a:defRPr>
      </a:pPr>
      <a:endParaRPr lang="es-CO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100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0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0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1">
      <cs:styleClr val="auto"/>
    </cs:fillRef>
    <cs:effectRef idx="0"/>
    <cs:fontRef idx="minor">
      <a:schemeClr val="dk1"/>
    </cs:fontRef>
    <cs:spPr>
      <a:ln>
        <a:noFill/>
      </a:ln>
      <a:effectLst/>
    </cs:spPr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02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75000"/>
        <a:lumOff val="25000"/>
      </a:schemeClr>
    </cs:fontRef>
    <cs:defRPr sz="1400" b="1" kern="120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5#1">
  <dgm:title val=""/>
  <dgm:desc val=""/>
  <dgm:catLst>
    <dgm:cat type="accent1" pri="11500"/>
  </dgm:catLst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ADB5165-29DA-40E4-8CF1-67AA1017F4DF}" type="doc">
      <dgm:prSet loTypeId="urn:microsoft.com/office/officeart/2005/8/layout/vProcess5" loCatId="process" qsTypeId="urn:microsoft.com/office/officeart/2005/8/quickstyle/simple1#1" qsCatId="simple" csTypeId="urn:microsoft.com/office/officeart/2005/8/colors/accent1_5#1" csCatId="accent1" phldr="1"/>
      <dgm:spPr/>
      <dgm:t>
        <a:bodyPr/>
        <a:lstStyle/>
        <a:p>
          <a:endParaRPr lang="zh-CN" altLang="en-US"/>
        </a:p>
      </dgm:t>
    </dgm:pt>
    <dgm:pt modelId="{1F18B811-B6C4-4E9E-B75F-E68888D2B754}">
      <dgm:prSet phldrT="[Texto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sz="1800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 LISTA DE CHEQUEO: 17 PREGUNTAS</a:t>
          </a:r>
          <a:endParaRPr lang="zh-CN" altLang="en-US" sz="1800">
            <a:latin typeface="Century Gothic" panose="020B0502020202020204" charset="0"/>
            <a:cs typeface="Century Gothic" panose="020B0502020202020204" charset="0"/>
          </a:endParaRPr>
        </a:p>
      </dgm:t>
    </dgm:pt>
    <dgm:pt modelId="{39F221A0-D930-4524-B286-5041480B8FA5}" type="parTrans" cxnId="{2309DB59-A338-4C85-99C0-C18CCF1297F3}">
      <dgm:prSet/>
      <dgm:spPr/>
      <dgm:t>
        <a:bodyPr/>
        <a:lstStyle/>
        <a:p>
          <a:endParaRPr lang="zh-CN" altLang="en-US"/>
        </a:p>
      </dgm:t>
    </dgm:pt>
    <dgm:pt modelId="{808440FA-46F9-4FB5-9A52-0D4B96A1C329}" type="sibTrans" cxnId="{2309DB59-A338-4C85-99C0-C18CCF1297F3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800">
            <a:latin typeface="Century Gothic" panose="020B0502020202020204" charset="0"/>
            <a:cs typeface="Century Gothic" panose="020B0502020202020204" charset="0"/>
          </a:endParaRPr>
        </a:p>
      </dgm:t>
    </dgm:pt>
    <dgm:pt modelId="{0EC68BAA-45B4-43C2-A277-337EA6F9C30A}">
      <dgm:prSet phldrT="[Texto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sz="1800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2 MOMENTOS</a:t>
          </a:r>
          <a:endParaRPr lang="es-CO" sz="1800" spc="-1" dirty="0">
            <a:solidFill>
              <a:schemeClr val="dk1"/>
            </a:solidFill>
            <a:latin typeface="Century Gothic" panose="020B0502020202020204" charset="0"/>
            <a:cs typeface="Century Gothic" panose="020B0502020202020204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sz="1800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            1 MOMENTO: 6 PREGUNTA </a:t>
          </a:r>
          <a:endParaRPr lang="es-CO" sz="1800" b="0" strike="noStrike" spc="-1" dirty="0">
            <a:solidFill>
              <a:schemeClr val="dk1"/>
            </a:solidFill>
            <a:latin typeface="Century Gothic" panose="020B0502020202020204" charset="0"/>
            <a:cs typeface="Century Gothic" panose="020B0502020202020204" charset="0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sz="1800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            2  MOMENTO: 11 PREGUNTAS</a:t>
          </a:r>
          <a:endParaRPr lang="zh-CN" altLang="en-US" sz="1800">
            <a:latin typeface="Century Gothic" panose="020B0502020202020204" charset="0"/>
            <a:cs typeface="Century Gothic" panose="020B0502020202020204" charset="0"/>
          </a:endParaRPr>
        </a:p>
      </dgm:t>
    </dgm:pt>
    <dgm:pt modelId="{74E1C1F9-DBE5-45DE-ABCA-4EAB89E7BD46}" type="parTrans" cxnId="{F972D781-732F-428E-8A98-B7347E47B57B}">
      <dgm:prSet/>
      <dgm:spPr/>
      <dgm:t>
        <a:bodyPr/>
        <a:lstStyle/>
        <a:p>
          <a:endParaRPr lang="zh-CN" altLang="en-US"/>
        </a:p>
      </dgm:t>
    </dgm:pt>
    <dgm:pt modelId="{B14E47DD-7335-43B1-AA39-9A37DC959B2D}" type="sibTrans" cxnId="{F972D781-732F-428E-8A98-B7347E47B57B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zh-CN" altLang="en-US" sz="1800">
            <a:latin typeface="Century Gothic" panose="020B0502020202020204" charset="0"/>
            <a:cs typeface="Century Gothic" panose="020B0502020202020204" charset="0"/>
          </a:endParaRPr>
        </a:p>
      </dgm:t>
    </dgm:pt>
    <dgm:pt modelId="{9191245A-08B2-492B-8F4C-F0BB23674A76}">
      <dgm:prSet phldrT="[Texto]"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ES" sz="1400" spc="-1" dirty="0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No uso de los campos estériles en el momento de la atención del parto</a:t>
          </a:r>
          <a:r>
            <a:rPr lang="es-CO" altLang="es-ES" sz="1400" spc="-1" dirty="0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, paciente en expulsivo en el área de toma de monitoria fetal</a:t>
          </a: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altLang="es-ES" sz="1400" spc="-1" dirty="0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No se pudo realizar alojamiento conjunto, madre trasladada a UCI</a:t>
          </a:r>
          <a:endParaRPr lang="es-ES" sz="1400" spc="-1" dirty="0">
            <a:solidFill>
              <a:schemeClr val="tx1"/>
            </a:solidFill>
            <a:latin typeface="Century Gothic" panose="020B0502020202020204" charset="0"/>
            <a:cs typeface="Century Gothic" panose="020B0502020202020204" charset="0"/>
            <a:sym typeface="+mn-ea"/>
          </a:endParaRPr>
        </a:p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s-CO" altLang="zh-CN" sz="1400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</a:rPr>
            <a:t>Adapatacion Neonatal realizada por profesional de enfermeria</a:t>
          </a:r>
        </a:p>
      </dgm:t>
    </dgm:pt>
    <dgm:pt modelId="{88B912E5-FDBE-47AD-B6CC-5D82B19F2810}" type="parTrans" cxnId="{0D276B50-4D83-434E-8C0A-9E5D5EA189A1}">
      <dgm:prSet/>
      <dgm:spPr/>
      <dgm:t>
        <a:bodyPr/>
        <a:lstStyle/>
        <a:p>
          <a:endParaRPr lang="zh-CN" altLang="en-US"/>
        </a:p>
      </dgm:t>
    </dgm:pt>
    <dgm:pt modelId="{BDF1CE3D-63BD-4B26-AEBD-1516CE58D66C}" type="sibTrans" cxnId="{0D276B50-4D83-434E-8C0A-9E5D5EA189A1}">
      <dgm:prSet/>
      <dgm:spPr/>
      <dgm:t>
        <a:bodyPr/>
        <a:lstStyle/>
        <a:p>
          <a:endParaRPr lang="zh-CN" altLang="en-US"/>
        </a:p>
      </dgm:t>
    </dgm:pt>
    <dgm:pt modelId="{A671BA0D-9A2E-4CE0-8FE8-280E4BC39C1C}" type="pres">
      <dgm:prSet presAssocID="{3ADB5165-29DA-40E4-8CF1-67AA1017F4DF}" presName="outerComposite" presStyleCnt="0">
        <dgm:presLayoutVars>
          <dgm:chMax val="5"/>
          <dgm:dir/>
          <dgm:resizeHandles val="exact"/>
        </dgm:presLayoutVars>
      </dgm:prSet>
      <dgm:spPr/>
    </dgm:pt>
    <dgm:pt modelId="{7D0A7625-01FE-4393-9AD9-A3646B94880B}" type="pres">
      <dgm:prSet presAssocID="{3ADB5165-29DA-40E4-8CF1-67AA1017F4DF}" presName="dummyMaxCanvas" presStyleCnt="0">
        <dgm:presLayoutVars/>
      </dgm:prSet>
      <dgm:spPr/>
    </dgm:pt>
    <dgm:pt modelId="{02B81D84-E9B0-4288-A9B0-1C7D3A51837D}" type="pres">
      <dgm:prSet presAssocID="{3ADB5165-29DA-40E4-8CF1-67AA1017F4DF}" presName="ThreeNodes_1" presStyleLbl="node1" presStyleIdx="0" presStyleCnt="3">
        <dgm:presLayoutVars>
          <dgm:bulletEnabled val="1"/>
        </dgm:presLayoutVars>
      </dgm:prSet>
      <dgm:spPr/>
    </dgm:pt>
    <dgm:pt modelId="{AE519131-08E2-4407-9CE3-67BB9E517B65}" type="pres">
      <dgm:prSet presAssocID="{3ADB5165-29DA-40E4-8CF1-67AA1017F4DF}" presName="ThreeNodes_2" presStyleLbl="node1" presStyleIdx="1" presStyleCnt="3">
        <dgm:presLayoutVars>
          <dgm:bulletEnabled val="1"/>
        </dgm:presLayoutVars>
      </dgm:prSet>
      <dgm:spPr/>
    </dgm:pt>
    <dgm:pt modelId="{4DE37EC9-3238-48E8-8583-BB40E5E7B41E}" type="pres">
      <dgm:prSet presAssocID="{3ADB5165-29DA-40E4-8CF1-67AA1017F4DF}" presName="ThreeNodes_3" presStyleLbl="node1" presStyleIdx="2" presStyleCnt="3">
        <dgm:presLayoutVars>
          <dgm:bulletEnabled val="1"/>
        </dgm:presLayoutVars>
      </dgm:prSet>
      <dgm:spPr/>
    </dgm:pt>
    <dgm:pt modelId="{616DF2A7-918E-4967-B3D3-B0F02C6F81A2}" type="pres">
      <dgm:prSet presAssocID="{3ADB5165-29DA-40E4-8CF1-67AA1017F4DF}" presName="ThreeConn_1-2" presStyleLbl="fgAccFollowNode1" presStyleIdx="0" presStyleCnt="2">
        <dgm:presLayoutVars>
          <dgm:bulletEnabled val="1"/>
        </dgm:presLayoutVars>
      </dgm:prSet>
      <dgm:spPr/>
    </dgm:pt>
    <dgm:pt modelId="{3324591E-3737-4FBB-80FB-D84A53062981}" type="pres">
      <dgm:prSet presAssocID="{3ADB5165-29DA-40E4-8CF1-67AA1017F4DF}" presName="ThreeConn_2-3" presStyleLbl="fgAccFollowNode1" presStyleIdx="1" presStyleCnt="2">
        <dgm:presLayoutVars>
          <dgm:bulletEnabled val="1"/>
        </dgm:presLayoutVars>
      </dgm:prSet>
      <dgm:spPr/>
    </dgm:pt>
    <dgm:pt modelId="{96414989-D48D-44BC-A9AF-5B3839293372}" type="pres">
      <dgm:prSet presAssocID="{3ADB5165-29DA-40E4-8CF1-67AA1017F4DF}" presName="ThreeNodes_1_text" presStyleLbl="node1" presStyleIdx="2" presStyleCnt="3">
        <dgm:presLayoutVars>
          <dgm:bulletEnabled val="1"/>
        </dgm:presLayoutVars>
      </dgm:prSet>
      <dgm:spPr/>
    </dgm:pt>
    <dgm:pt modelId="{3C2F03EA-35A8-4014-AE02-3750A8F6FF36}" type="pres">
      <dgm:prSet presAssocID="{3ADB5165-29DA-40E4-8CF1-67AA1017F4DF}" presName="ThreeNodes_2_text" presStyleLbl="node1" presStyleIdx="2" presStyleCnt="3">
        <dgm:presLayoutVars>
          <dgm:bulletEnabled val="1"/>
        </dgm:presLayoutVars>
      </dgm:prSet>
      <dgm:spPr/>
    </dgm:pt>
    <dgm:pt modelId="{C539D2F6-60D3-4363-8C59-7D94634FD7E2}" type="pres">
      <dgm:prSet presAssocID="{3ADB5165-29DA-40E4-8CF1-67AA1017F4DF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B2D49821-1954-46AD-B0A1-DC70CD30ADBC}" type="presOf" srcId="{808440FA-46F9-4FB5-9A52-0D4B96A1C329}" destId="{616DF2A7-918E-4967-B3D3-B0F02C6F81A2}" srcOrd="0" destOrd="0" presId="urn:microsoft.com/office/officeart/2005/8/layout/vProcess5"/>
    <dgm:cxn modelId="{0D276B50-4D83-434E-8C0A-9E5D5EA189A1}" srcId="{3ADB5165-29DA-40E4-8CF1-67AA1017F4DF}" destId="{9191245A-08B2-492B-8F4C-F0BB23674A76}" srcOrd="2" destOrd="0" parTransId="{88B912E5-FDBE-47AD-B6CC-5D82B19F2810}" sibTransId="{BDF1CE3D-63BD-4B26-AEBD-1516CE58D66C}"/>
    <dgm:cxn modelId="{2309DB59-A338-4C85-99C0-C18CCF1297F3}" srcId="{3ADB5165-29DA-40E4-8CF1-67AA1017F4DF}" destId="{1F18B811-B6C4-4E9E-B75F-E68888D2B754}" srcOrd="0" destOrd="0" parTransId="{39F221A0-D930-4524-B286-5041480B8FA5}" sibTransId="{808440FA-46F9-4FB5-9A52-0D4B96A1C329}"/>
    <dgm:cxn modelId="{FF75075A-E742-46CD-AD53-B1A086B4BB18}" type="presOf" srcId="{1F18B811-B6C4-4E9E-B75F-E68888D2B754}" destId="{02B81D84-E9B0-4288-A9B0-1C7D3A51837D}" srcOrd="0" destOrd="0" presId="urn:microsoft.com/office/officeart/2005/8/layout/vProcess5"/>
    <dgm:cxn modelId="{2EA5085D-4448-4359-A699-CA1516E6FDCD}" type="presOf" srcId="{B14E47DD-7335-43B1-AA39-9A37DC959B2D}" destId="{3324591E-3737-4FBB-80FB-D84A53062981}" srcOrd="0" destOrd="0" presId="urn:microsoft.com/office/officeart/2005/8/layout/vProcess5"/>
    <dgm:cxn modelId="{A07AE880-9CB2-43C2-8BC9-65F4657D4514}" type="presOf" srcId="{0EC68BAA-45B4-43C2-A277-337EA6F9C30A}" destId="{AE519131-08E2-4407-9CE3-67BB9E517B65}" srcOrd="0" destOrd="0" presId="urn:microsoft.com/office/officeart/2005/8/layout/vProcess5"/>
    <dgm:cxn modelId="{F972D781-732F-428E-8A98-B7347E47B57B}" srcId="{3ADB5165-29DA-40E4-8CF1-67AA1017F4DF}" destId="{0EC68BAA-45B4-43C2-A277-337EA6F9C30A}" srcOrd="1" destOrd="0" parTransId="{74E1C1F9-DBE5-45DE-ABCA-4EAB89E7BD46}" sibTransId="{B14E47DD-7335-43B1-AA39-9A37DC959B2D}"/>
    <dgm:cxn modelId="{73049F9D-BC43-4BA1-A3F0-F71B5CBBFA81}" type="presOf" srcId="{9191245A-08B2-492B-8F4C-F0BB23674A76}" destId="{4DE37EC9-3238-48E8-8583-BB40E5E7B41E}" srcOrd="0" destOrd="0" presId="urn:microsoft.com/office/officeart/2005/8/layout/vProcess5"/>
    <dgm:cxn modelId="{421547AB-4BFF-45AF-A28D-57FE643C2BE7}" type="presOf" srcId="{9191245A-08B2-492B-8F4C-F0BB23674A76}" destId="{C539D2F6-60D3-4363-8C59-7D94634FD7E2}" srcOrd="1" destOrd="0" presId="urn:microsoft.com/office/officeart/2005/8/layout/vProcess5"/>
    <dgm:cxn modelId="{F84BB1B6-8DCF-4D9C-B552-F54F23FB0394}" type="presOf" srcId="{3ADB5165-29DA-40E4-8CF1-67AA1017F4DF}" destId="{A671BA0D-9A2E-4CE0-8FE8-280E4BC39C1C}" srcOrd="0" destOrd="0" presId="urn:microsoft.com/office/officeart/2005/8/layout/vProcess5"/>
    <dgm:cxn modelId="{1C9E42D2-BB05-4C9C-A9E3-1A489AAD92C5}" type="presOf" srcId="{1F18B811-B6C4-4E9E-B75F-E68888D2B754}" destId="{96414989-D48D-44BC-A9AF-5B3839293372}" srcOrd="1" destOrd="0" presId="urn:microsoft.com/office/officeart/2005/8/layout/vProcess5"/>
    <dgm:cxn modelId="{CC3363D2-C31C-416A-BFC5-0214CC0643AA}" type="presOf" srcId="{0EC68BAA-45B4-43C2-A277-337EA6F9C30A}" destId="{3C2F03EA-35A8-4014-AE02-3750A8F6FF36}" srcOrd="1" destOrd="0" presId="urn:microsoft.com/office/officeart/2005/8/layout/vProcess5"/>
    <dgm:cxn modelId="{07F056A6-DEBD-41F3-A293-4B9EAEB469FE}" type="presParOf" srcId="{A671BA0D-9A2E-4CE0-8FE8-280E4BC39C1C}" destId="{7D0A7625-01FE-4393-9AD9-A3646B94880B}" srcOrd="0" destOrd="0" presId="urn:microsoft.com/office/officeart/2005/8/layout/vProcess5"/>
    <dgm:cxn modelId="{02A85E52-CB99-4E47-9941-0F7B40DA8019}" type="presParOf" srcId="{A671BA0D-9A2E-4CE0-8FE8-280E4BC39C1C}" destId="{02B81D84-E9B0-4288-A9B0-1C7D3A51837D}" srcOrd="1" destOrd="0" presId="urn:microsoft.com/office/officeart/2005/8/layout/vProcess5"/>
    <dgm:cxn modelId="{98D23F66-DC9D-4174-BCA8-DAB807572314}" type="presParOf" srcId="{A671BA0D-9A2E-4CE0-8FE8-280E4BC39C1C}" destId="{AE519131-08E2-4407-9CE3-67BB9E517B65}" srcOrd="2" destOrd="0" presId="urn:microsoft.com/office/officeart/2005/8/layout/vProcess5"/>
    <dgm:cxn modelId="{0D5382C0-4ECE-43CD-A715-50CEA27C0DD7}" type="presParOf" srcId="{A671BA0D-9A2E-4CE0-8FE8-280E4BC39C1C}" destId="{4DE37EC9-3238-48E8-8583-BB40E5E7B41E}" srcOrd="3" destOrd="0" presId="urn:microsoft.com/office/officeart/2005/8/layout/vProcess5"/>
    <dgm:cxn modelId="{BC1455AC-6537-4B7C-A368-B919F81FCB65}" type="presParOf" srcId="{A671BA0D-9A2E-4CE0-8FE8-280E4BC39C1C}" destId="{616DF2A7-918E-4967-B3D3-B0F02C6F81A2}" srcOrd="4" destOrd="0" presId="urn:microsoft.com/office/officeart/2005/8/layout/vProcess5"/>
    <dgm:cxn modelId="{A9039B48-3359-429E-8945-C80A99689FBE}" type="presParOf" srcId="{A671BA0D-9A2E-4CE0-8FE8-280E4BC39C1C}" destId="{3324591E-3737-4FBB-80FB-D84A53062981}" srcOrd="5" destOrd="0" presId="urn:microsoft.com/office/officeart/2005/8/layout/vProcess5"/>
    <dgm:cxn modelId="{D7836486-A61A-4B03-89D8-9FE7E59EBCA8}" type="presParOf" srcId="{A671BA0D-9A2E-4CE0-8FE8-280E4BC39C1C}" destId="{96414989-D48D-44BC-A9AF-5B3839293372}" srcOrd="6" destOrd="0" presId="urn:microsoft.com/office/officeart/2005/8/layout/vProcess5"/>
    <dgm:cxn modelId="{5527727B-82A1-4AC2-8D29-EF44D294B15D}" type="presParOf" srcId="{A671BA0D-9A2E-4CE0-8FE8-280E4BC39C1C}" destId="{3C2F03EA-35A8-4014-AE02-3750A8F6FF36}" srcOrd="7" destOrd="0" presId="urn:microsoft.com/office/officeart/2005/8/layout/vProcess5"/>
    <dgm:cxn modelId="{5A998725-7C82-4760-B188-FB671A10BD5C}" type="presParOf" srcId="{A671BA0D-9A2E-4CE0-8FE8-280E4BC39C1C}" destId="{C539D2F6-60D3-4363-8C59-7D94634FD7E2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B81D84-E9B0-4288-A9B0-1C7D3A51837D}">
      <dsp:nvSpPr>
        <dsp:cNvPr id="0" name=""/>
        <dsp:cNvSpPr/>
      </dsp:nvSpPr>
      <dsp:spPr bwMode="white">
        <a:xfrm>
          <a:off x="0" y="0"/>
          <a:ext cx="7601839" cy="133578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 LISTA DE CHEQUEO: 17 PREGUNTAS</a:t>
          </a:r>
          <a:endParaRPr lang="zh-CN" altLang="en-US" sz="1800" kern="1200">
            <a:latin typeface="Century Gothic" panose="020B0502020202020204" charset="0"/>
            <a:cs typeface="Century Gothic" panose="020B0502020202020204" charset="0"/>
          </a:endParaRPr>
        </a:p>
      </dsp:txBody>
      <dsp:txXfrm>
        <a:off x="39124" y="39124"/>
        <a:ext cx="6160421" cy="1257537"/>
      </dsp:txXfrm>
    </dsp:sp>
    <dsp:sp modelId="{AE519131-08E2-4407-9CE3-67BB9E517B65}">
      <dsp:nvSpPr>
        <dsp:cNvPr id="0" name=""/>
        <dsp:cNvSpPr/>
      </dsp:nvSpPr>
      <dsp:spPr bwMode="white">
        <a:xfrm>
          <a:off x="670750" y="1558417"/>
          <a:ext cx="7601839" cy="133578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2000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2 MOMENTOS</a:t>
          </a:r>
          <a:endParaRPr lang="es-CO" sz="1800" kern="1200" spc="-1" dirty="0">
            <a:solidFill>
              <a:schemeClr val="dk1"/>
            </a:solidFill>
            <a:latin typeface="Century Gothic" panose="020B0502020202020204" charset="0"/>
            <a:cs typeface="Century Gothic" panose="020B0502020202020204" charset="0"/>
          </a:endParaRP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            1 MOMENTO: 6 PREGUNTA </a:t>
          </a:r>
          <a:endParaRPr lang="es-CO" sz="1800" b="0" strike="noStrike" kern="1200" spc="-1" dirty="0">
            <a:solidFill>
              <a:schemeClr val="dk1"/>
            </a:solidFill>
            <a:latin typeface="Century Gothic" panose="020B0502020202020204" charset="0"/>
            <a:cs typeface="Century Gothic" panose="020B0502020202020204" charset="0"/>
          </a:endParaRPr>
        </a:p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sz="1800" kern="1200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             2  MOMENTO: 11 PREGUNTAS</a:t>
          </a:r>
          <a:endParaRPr lang="zh-CN" altLang="en-US" sz="1800" kern="1200">
            <a:latin typeface="Century Gothic" panose="020B0502020202020204" charset="0"/>
            <a:cs typeface="Century Gothic" panose="020B0502020202020204" charset="0"/>
          </a:endParaRPr>
        </a:p>
      </dsp:txBody>
      <dsp:txXfrm>
        <a:off x="709874" y="1597541"/>
        <a:ext cx="5984579" cy="1257537"/>
      </dsp:txXfrm>
    </dsp:sp>
    <dsp:sp modelId="{4DE37EC9-3238-48E8-8583-BB40E5E7B41E}">
      <dsp:nvSpPr>
        <dsp:cNvPr id="0" name=""/>
        <dsp:cNvSpPr/>
      </dsp:nvSpPr>
      <dsp:spPr bwMode="white">
        <a:xfrm>
          <a:off x="1341500" y="3116834"/>
          <a:ext cx="7601839" cy="133578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1400" kern="1200" spc="-1" dirty="0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No uso de los campos estériles en el momento de la atención del parto</a:t>
          </a:r>
          <a:r>
            <a:rPr lang="es-CO" altLang="es-ES" sz="1400" kern="1200" spc="-1" dirty="0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, paciente en expulsivo en el área de toma de monitoria fetal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altLang="es-ES" sz="1400" kern="1200" spc="-1" dirty="0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  <a:sym typeface="+mn-ea"/>
            </a:rPr>
            <a:t>No se pudo realizar alojamiento conjunto, madre trasladada a UCI</a:t>
          </a:r>
          <a:endParaRPr lang="es-ES" sz="1400" kern="1200" spc="-1" dirty="0">
            <a:solidFill>
              <a:schemeClr val="tx1"/>
            </a:solidFill>
            <a:latin typeface="Century Gothic" panose="020B0502020202020204" charset="0"/>
            <a:cs typeface="Century Gothic" panose="020B0502020202020204" charset="0"/>
            <a:sym typeface="+mn-ea"/>
          </a:endParaRP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O" altLang="zh-CN" sz="1400" kern="1200">
              <a:solidFill>
                <a:schemeClr val="tx1"/>
              </a:solidFill>
              <a:latin typeface="Century Gothic" panose="020B0502020202020204" charset="0"/>
              <a:cs typeface="Century Gothic" panose="020B0502020202020204" charset="0"/>
            </a:rPr>
            <a:t>Adapatacion Neonatal realizada por profesional de enfermeria</a:t>
          </a:r>
        </a:p>
      </dsp:txBody>
      <dsp:txXfrm>
        <a:off x="1380624" y="3155958"/>
        <a:ext cx="5984579" cy="1257537"/>
      </dsp:txXfrm>
    </dsp:sp>
    <dsp:sp modelId="{616DF2A7-918E-4967-B3D3-B0F02C6F81A2}">
      <dsp:nvSpPr>
        <dsp:cNvPr id="0" name=""/>
        <dsp:cNvSpPr/>
      </dsp:nvSpPr>
      <dsp:spPr bwMode="white">
        <a:xfrm>
          <a:off x="6733578" y="1012971"/>
          <a:ext cx="868260" cy="86826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kern="1200">
            <a:latin typeface="Century Gothic" panose="020B0502020202020204" charset="0"/>
            <a:cs typeface="Century Gothic" panose="020B0502020202020204" charset="0"/>
          </a:endParaRPr>
        </a:p>
      </dsp:txBody>
      <dsp:txXfrm>
        <a:off x="6928936" y="1012971"/>
        <a:ext cx="477544" cy="653366"/>
      </dsp:txXfrm>
    </dsp:sp>
    <dsp:sp modelId="{3324591E-3737-4FBB-80FB-D84A53062981}">
      <dsp:nvSpPr>
        <dsp:cNvPr id="0" name=""/>
        <dsp:cNvSpPr/>
      </dsp:nvSpPr>
      <dsp:spPr bwMode="white">
        <a:xfrm>
          <a:off x="7404328" y="2562482"/>
          <a:ext cx="868260" cy="868260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-40000"/>
          </a:schemeClr>
        </a:solidFill>
        <a:ln w="12700" cap="flat" cmpd="sng" algn="ctr"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22860" rIns="22860" bIns="2286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endParaRPr lang="zh-CN" altLang="en-US" sz="1800" kern="1200">
            <a:latin typeface="Century Gothic" panose="020B0502020202020204" charset="0"/>
            <a:cs typeface="Century Gothic" panose="020B0502020202020204" charset="0"/>
          </a:endParaRPr>
        </a:p>
      </dsp:txBody>
      <dsp:txXfrm>
        <a:off x="7599686" y="2562482"/>
        <a:ext cx="477544" cy="65336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932F6B-34BE-EE45-84F4-C70EBABA3775}" type="datetimeFigureOut">
              <a:rPr lang="es-CO" smtClean="0"/>
              <a:t>2/03/26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708438-2734-FA4D-8334-607960EEFCE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00688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imagen de diapositiva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Marcador de posición de texto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s-MX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B9115D-8887-4ED7-9483-3B3B9EA74CBD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CB9115D-8887-4ED7-9483-3B3B9EA74CBD}" type="slidenum">
              <a:rPr kumimoji="0" lang="es-CO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s-CO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2F5F97-1020-4EE6-ACA1-E90897E1DD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2759910-1034-49E7-BC79-A280229290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68F966D-C1C7-40B0-8162-73CDD1D80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9DB57A8-5238-40C4-9A88-85BF392CF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7885B3-B239-4D90-B0FD-A877E874E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13594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E4AE1A-77EF-484F-A804-44EA302E9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646D03-5F22-4FA5-9817-2E410DFDD5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9E9FB61-F9C1-4AA1-99BC-7FC860015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68517D-FDB7-4C54-926C-6304547E3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4F863A7-71BC-40F8-A158-5A9A60572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401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7C4E17-CB96-4580-8A84-23CF451DA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E743F1-DEAC-4FEA-91AE-57CBDF5982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BEDFEA-2651-4C28-9F34-60EF56193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8A936E-A542-4128-89FE-25910D878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454940-65B8-43B5-805A-62F15723B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19430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6DA25-4C0D-463D-8289-FD732DC76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47EFF1D-D0BE-43A4-A41B-9A5351DE9D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B3B7E19-8BC9-476E-B506-BDD3FD610B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FBF8CF4-5E72-4DEB-B453-063D3A0C3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2/03/26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3299471-A835-445F-85B7-0393FD2DBC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F22F38A-CD7A-4C0A-841F-3C02134E5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83086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640F6-05C2-4688-955A-7296D05799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CDF0F71-EDCE-454E-AC7A-677AE7014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321545F-6E58-42EF-8380-F7D3C73B99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2EE216B-093A-470C-8716-5CD593F78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34D12FC-F7E9-471F-9845-0726EC8919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1A4E2CE-8782-4667-83A9-AD4D03229C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2/03/26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742954F-5699-49D0-B195-CC61906788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428E020-0DE7-4ADC-B298-3E3348C41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25375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1C42E-3A84-4A7D-A0D7-DFDBEEDAE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607FEBB-E137-4290-A7C2-BB81D055C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2/03/26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BB4A668-FBFF-444A-9606-25D30B879C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6EAD0BAB-85DB-4994-8FE2-8B134970A9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5565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EAEA6E-C7E2-400D-9F2C-7655A3A7F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2/03/26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5EAF9C2-66E4-4F6C-B5A9-DCE7CBD54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854F549-00DE-4C3D-92E9-C11D0660D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75723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9AC0ED-9A90-49B3-8F84-4CCBDA10AC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02F82F6-A48C-4802-95FC-4E44B56B9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DCDABEF-7742-4D1B-98F0-BDC980609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4EEF5A-EECA-4654-BFBC-C3224B6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2/03/26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A26A55B-4ECE-4555-81F3-7B01EFF5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6BC4BBE-5C8F-406F-A5F6-D7DC51E745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913159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5C43-08EF-4BD9-A218-38CAD2668A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4B6F318-8444-4900-BC88-875353FA60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3D25216-3601-4132-A466-A43F914465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A07827F-E9CB-426E-88E8-51BB70238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2/03/26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55746CE-82F9-4FA8-9A0E-E8F8DA709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D1589BA-AA34-440C-96EE-5096F4D809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54697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51E2B-923F-4458-9B56-B6694F6C37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E3F8E8BD-05AE-42F6-A28F-DE6821AC6B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F1BADB-96DB-4328-9A9B-39ECD0645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2F361CB-E120-4FCE-BC69-B351C1064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0C5800-7D4C-473A-A846-3DA77B77F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575846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39A63E9-572F-4E70-900E-8289A8BA08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F3A2B5C-5897-4F84-B25A-DEA36E31F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2819DD3-DEDB-4FDA-B961-E728E57A9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ED464F-AE49-4530-AB8F-BF5C16571F6A}" type="datetimeFigureOut">
              <a:rPr lang="es-CO" smtClean="0"/>
              <a:t>2/03/26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FEFDFE9-8BB3-47D4-8027-F3E67B3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BD4CB-278D-4FCC-99DC-7BC9FE90A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835469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E946494-D10C-4A4E-8DE4-23BF64D8BCE0}" type="slidenum"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03529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CO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1748E6F-9E86-4E2F-A74C-8195ADE15869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602414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6FD045D-9E1F-4A78-98F6-FDA4AC012317}" type="slidenum"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89128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07367FF-C927-403D-9742-67613AED7AF5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36826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21B933A-E852-4FE6-8FF7-24003DA81C8C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373977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CO" sz="32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9601922-5F5F-40C7-A5CD-87A5F72C7D84}" type="slidenum"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177967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EDEAD30-1DD9-4D27-85DB-1CF7600EABFB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180164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208C806-2CE3-42DD-843B-62864ED66D9C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855186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3566755-ED49-42BB-B2DA-04AAA8DCA67E}" type="slidenum"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243201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757295-4C62-4DC4-8EC7-7A8C059B03AB}" type="slidenum"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58217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463AAD2-3058-4004-94D1-0344704C22D9}" type="slidenum"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816152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7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64387A2-5E16-4155-9354-CBDD9E20773B}" type="slidenum"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050176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00171A-D88C-4346-B9E0-6F3ED7383368}" type="slidenum">
              <a:rPr/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3421320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CO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FF29B98F-C5CB-4446-B026-91F5DBDC6378}" type="slidenum">
              <a:rPr/>
              <a:t>‹Nº›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34048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9951271-379C-4080-A1D4-73E4B8B7E5DF}" type="slidenum">
              <a:rPr/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4949517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CE6F4E7-4766-441D-A40D-5C7AC39D171E}" type="slidenum">
              <a:rPr/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9183968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E195E96-D1EC-4CB5-B074-FBDE316A0637}" type="slidenum">
              <a:rPr/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2639141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CO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F92CCBA-B09E-420F-98C8-ABAE44F165BE}" type="slidenum">
              <a:rPr/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67521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13DCD76D-55B2-4B11-A14E-C6306421CAC6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6684412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8C456A59-13F8-4DB7-A854-7379E83F096D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4852604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52AB9692-D904-41D5-B224-9F7586B334CE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8646235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0BAF6939-70C7-4027-AD62-D45D080BA898}" type="slidenum">
              <a:rPr/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0555699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3CA4B21-D4A2-44D2-B53D-ABAEC0124804}" type="slidenum">
              <a:rPr/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2647932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34041EE1-7AD6-4FAF-BFAA-056BBEC7986F}" type="slidenum">
              <a:rPr/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083935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E946494-D10C-4A4E-8DE4-23BF64D8BCE0}" type="slidenum">
              <a:rPr/>
              <a:t>‹Nº›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775104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s-CO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11748E6F-9E86-4E2F-A74C-8195ADE15869}" type="slidenum">
              <a:rPr/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670723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26FD045D-9E1F-4A78-98F6-FDA4AC012317}" type="slidenum">
              <a:rPr/>
              <a:t>‹Nº›</a:t>
            </a:fld>
            <a:endParaRPr/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65661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07367FF-C927-403D-9742-67613AED7AF5}" type="slidenum">
              <a:rPr/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136517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D21B933A-E852-4FE6-8FF7-24003DA81C8C}" type="slidenum">
              <a:rPr/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390031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240" cy="614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/>
            <a:endParaRPr lang="es-CO" sz="3200" b="0" strike="noStrike" spc="-1">
              <a:solidFill>
                <a:srgbClr val="000000"/>
              </a:solidFill>
              <a:latin typeface="Arial" panose="020B0604020202020204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E9601922-5F5F-40C7-A5CD-87A5F72C7D84}" type="slidenum">
              <a:rPr/>
              <a:t>‹Nº›</a:t>
            </a:fld>
            <a:endParaRPr/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003337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EDEAD30-1DD9-4D27-85DB-1CF7600EABFB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2179043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4350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208C806-2CE3-42DD-843B-62864ED66D9C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4360706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83566755-ED49-42BB-B2DA-04AAA8DCA67E}" type="slidenum">
              <a:rPr/>
              <a:t>‹Nº›</a:t>
            </a:fld>
            <a:endParaRPr/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14119089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838080" y="4098240"/>
            <a:ext cx="1051524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55757295-4C62-4DC4-8EC7-7A8C059B03AB}" type="slidenum">
              <a:rPr/>
              <a:t>‹Nº›</a:t>
            </a:fld>
            <a:endParaRPr/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7790870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463AAD2-3058-4004-94D1-0344704C22D9}" type="slidenum">
              <a:rPr/>
              <a:t>‹Nº›</a:t>
            </a:fld>
            <a:endParaRPr/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7684109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83808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39344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7949160" y="182556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/>
          </p:nvPr>
        </p:nvSpPr>
        <p:spPr>
          <a:xfrm>
            <a:off x="83808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/>
          </p:nvPr>
        </p:nvSpPr>
        <p:spPr>
          <a:xfrm>
            <a:off x="439344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/>
          </p:nvPr>
        </p:nvSpPr>
        <p:spPr>
          <a:xfrm>
            <a:off x="7949160" y="4098240"/>
            <a:ext cx="3385800" cy="207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lnSpc>
                <a:spcPct val="90000"/>
              </a:lnSpc>
              <a:spcBef>
                <a:spcPts val="1415"/>
              </a:spcBef>
              <a:buNone/>
            </a:pP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lstStyle/>
          <a:p>
            <a:fld id="{764387A2-5E16-4155-9354-CBDD9E20773B}" type="slidenum">
              <a:rPr/>
              <a:t>‹Nº›</a:t>
            </a:fld>
            <a:endParaRPr/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89438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BBD8030-76DF-446F-8225-156CADC5D7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A1A0A47-AAFE-4984-8867-B71DC703FA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0E5AFFB-23A1-4118-A1AD-F7A3420B9E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ED464F-AE49-4530-AB8F-BF5C16571F6A}" type="datetimeFigureOut">
              <a:rPr lang="es-CO" smtClean="0"/>
              <a:t>2/03/26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27482B8-2E51-4D91-8D5A-2BE6ED75B6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92081BF-C090-4E4F-855F-FB857FCD28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8B09BD-4935-4E15-915B-CAF5541A035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182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s-ES" sz="4400" b="0" strike="noStrike" spc="-1">
                <a:solidFill>
                  <a:schemeClr val="dk1"/>
                </a:solidFill>
                <a:latin typeface="Calibri Light"/>
              </a:rPr>
              <a:t>Haga clic para modificar el estilo de título del patrón</a:t>
            </a:r>
            <a:endParaRPr lang="es-CO" sz="44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s-ES" sz="2800" b="0" strike="noStrike" spc="-1">
                <a:solidFill>
                  <a:schemeClr val="dk1"/>
                </a:solidFill>
                <a:latin typeface="Calibri"/>
              </a:rPr>
              <a:t>Haga clic para modificar los estilos de texto del patrón</a:t>
            </a:r>
            <a:endParaRPr lang="es-CO" sz="2800" b="0" strike="noStrike" spc="-1">
              <a:solidFill>
                <a:schemeClr val="dk1"/>
              </a:solidFill>
              <a:latin typeface="Calibri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400" b="0" strike="noStrike" spc="-1">
                <a:solidFill>
                  <a:schemeClr val="dk1"/>
                </a:solidFill>
                <a:latin typeface="Calibri"/>
              </a:rPr>
              <a:t>Segundo nivel</a:t>
            </a:r>
            <a:endParaRPr lang="es-CO" sz="2400" b="0" strike="noStrike" spc="-1">
              <a:solidFill>
                <a:schemeClr val="dk1"/>
              </a:solidFill>
              <a:latin typeface="Calibri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2000" b="0" strike="noStrike" spc="-1">
                <a:solidFill>
                  <a:schemeClr val="dk1"/>
                </a:solidFill>
                <a:latin typeface="Calibri"/>
              </a:rPr>
              <a:t>Tercer nivel</a:t>
            </a:r>
            <a:endParaRPr lang="es-CO" sz="2000" b="0" strike="noStrike" spc="-1">
              <a:solidFill>
                <a:schemeClr val="dk1"/>
              </a:solidFill>
              <a:latin typeface="Calibri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Cuarto nivel</a:t>
            </a: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Font typeface="Arial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/>
              </a:rPr>
              <a:t>Quinto nivel</a:t>
            </a:r>
            <a:endParaRPr lang="es-CO" sz="1800" b="0" strike="noStrike" spc="-1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&lt;fecha/hora&gt;</a:t>
            </a:r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/>
              </a:rPr>
              <a:t>&lt;pie de página&gt;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44EBB1-3477-49E6-85AB-80FB40787958}" type="slidenum"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55179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ES" sz="6000" b="0" strike="noStrike" spc="-1">
                <a:solidFill>
                  <a:schemeClr val="dk1"/>
                </a:solidFill>
                <a:latin typeface="Calibri Light" panose="020F0302020204030204"/>
              </a:rPr>
              <a:t>Haga clic para modificar el estilo de título del patrón</a:t>
            </a:r>
            <a:endParaRPr lang="es-CO" sz="60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&lt;fecha/hora&gt;</a:t>
            </a:r>
            <a:endParaRPr lang="es-CO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&lt;pie de página&gt;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62AC864-7BD0-452A-ADAA-F8EFCA6B4140}" type="slidenum"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1800" indent="-323850">
              <a:lnSpc>
                <a:spcPct val="90000"/>
              </a:lnSpc>
              <a:spcBef>
                <a:spcPts val="141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sz="2800" b="0" strike="noStrike" spc="-1">
                <a:solidFill>
                  <a:schemeClr val="dk1"/>
                </a:solidFill>
                <a:latin typeface="Calibri" panose="020F0502020204030204"/>
              </a:rPr>
              <a:t>Pulse para editar el formato de texto del esquema</a:t>
            </a:r>
          </a:p>
          <a:p>
            <a:pPr marL="864235" lvl="1" indent="-323850">
              <a:lnSpc>
                <a:spcPct val="90000"/>
              </a:lnSpc>
              <a:spcBef>
                <a:spcPts val="113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s-CO" sz="2000" b="0" strike="noStrike" spc="-1">
                <a:solidFill>
                  <a:schemeClr val="dk1"/>
                </a:solidFill>
                <a:latin typeface="Calibri" panose="020F0502020204030204"/>
              </a:rPr>
              <a:t>Segundo nivel del esquema</a:t>
            </a:r>
          </a:p>
          <a:p>
            <a:pPr marL="1296035" lvl="2" indent="-28829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sz="1800" b="0" strike="noStrike" spc="-1">
                <a:solidFill>
                  <a:schemeClr val="dk1"/>
                </a:solidFill>
                <a:latin typeface="Calibri" panose="020F0502020204030204"/>
              </a:rPr>
              <a:t>Tercer nivel del esquema</a:t>
            </a:r>
          </a:p>
          <a:p>
            <a:pPr marL="1727835" lvl="3" indent="-215900">
              <a:lnSpc>
                <a:spcPct val="90000"/>
              </a:lnSpc>
              <a:spcBef>
                <a:spcPts val="565"/>
              </a:spcBef>
              <a:buClr>
                <a:srgbClr val="000000"/>
              </a:buClr>
              <a:buSzPct val="75000"/>
              <a:buFont typeface="Symbol" panose="05050102010706020507" charset="2"/>
              <a:buChar char=""/>
            </a:pPr>
            <a:r>
              <a:rPr lang="es-CO" sz="1800" b="0" strike="noStrike" spc="-1">
                <a:solidFill>
                  <a:schemeClr val="dk1"/>
                </a:solidFill>
                <a:latin typeface="Calibri" panose="020F0502020204030204"/>
              </a:rPr>
              <a:t>Cuarto nivel del esquema</a:t>
            </a:r>
          </a:p>
          <a:p>
            <a:pPr marL="2160270" lvl="4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sz="2000" b="0" strike="noStrike" spc="-1">
                <a:solidFill>
                  <a:schemeClr val="dk1"/>
                </a:solidFill>
                <a:latin typeface="Calibri" panose="020F0502020204030204"/>
              </a:rPr>
              <a:t>Quinto nivel del esquema</a:t>
            </a:r>
          </a:p>
          <a:p>
            <a:pPr marL="2592070" lvl="5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sz="2000" b="0" strike="noStrike" spc="-1">
                <a:solidFill>
                  <a:schemeClr val="dk1"/>
                </a:solidFill>
                <a:latin typeface="Calibri" panose="020F0502020204030204"/>
              </a:rPr>
              <a:t>Sexto nivel del esquema</a:t>
            </a:r>
          </a:p>
          <a:p>
            <a:pPr marL="3023870" lvl="6" indent="-215900">
              <a:lnSpc>
                <a:spcPct val="90000"/>
              </a:lnSpc>
              <a:spcBef>
                <a:spcPts val="285"/>
              </a:spcBef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</a:pPr>
            <a:r>
              <a:rPr lang="es-CO" sz="2000" b="0" strike="noStrike" spc="-1">
                <a:solidFill>
                  <a:schemeClr val="dk1"/>
                </a:solidFill>
                <a:latin typeface="Calibri" panose="020F0502020204030204"/>
              </a:rPr>
              <a:t>Séptimo nivel del esquema</a:t>
            </a:r>
          </a:p>
        </p:txBody>
      </p:sp>
    </p:spTree>
    <p:extLst>
      <p:ext uri="{BB962C8B-B14F-4D97-AF65-F5344CB8AC3E}">
        <p14:creationId xmlns:p14="http://schemas.microsoft.com/office/powerpoint/2010/main" val="3981705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24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defTabSz="914400">
              <a:lnSpc>
                <a:spcPct val="90000"/>
              </a:lnSpc>
              <a:buNone/>
            </a:pPr>
            <a:r>
              <a:rPr lang="es-ES" sz="4400" b="0" strike="noStrike" spc="-1">
                <a:solidFill>
                  <a:schemeClr val="dk1"/>
                </a:solidFill>
                <a:latin typeface="Calibri Light" panose="020F0302020204030204"/>
              </a:rPr>
              <a:t>Haga clic para modificar el estilo de título del patrón</a:t>
            </a:r>
            <a:endParaRPr lang="es-CO" sz="44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2800" b="0" strike="noStrike" spc="-1">
                <a:solidFill>
                  <a:schemeClr val="dk1"/>
                </a:solidFill>
                <a:latin typeface="Calibri" panose="020F0502020204030204"/>
              </a:rPr>
              <a:t>Haga clic para modificar los estilos de texto del patrón</a:t>
            </a:r>
            <a:endParaRPr lang="es-CO" sz="28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685800" lvl="1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2400" b="0" strike="noStrike" spc="-1">
                <a:solidFill>
                  <a:schemeClr val="dk1"/>
                </a:solidFill>
                <a:latin typeface="Calibri" panose="020F0502020204030204"/>
              </a:rPr>
              <a:t>Segundo nivel</a:t>
            </a:r>
            <a:endParaRPr lang="es-CO" sz="24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1143000" lvl="2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2000" b="0" strike="noStrike" spc="-1">
                <a:solidFill>
                  <a:schemeClr val="dk1"/>
                </a:solidFill>
                <a:latin typeface="Calibri" panose="020F0502020204030204"/>
              </a:rPr>
              <a:t>Tercer nivel</a:t>
            </a:r>
            <a:endParaRPr lang="es-CO" sz="20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1600200" lvl="3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 panose="020F0502020204030204"/>
              </a:rPr>
              <a:t>Cuarto nivel</a:t>
            </a: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  <a:p>
            <a:pPr marL="2057400" lvl="4" indent="-228600" defTabSz="914400">
              <a:lnSpc>
                <a:spcPct val="90000"/>
              </a:lnSpc>
              <a:spcBef>
                <a:spcPts val="5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ES" sz="1800" b="0" strike="noStrike" spc="-1">
                <a:solidFill>
                  <a:schemeClr val="dk1"/>
                </a:solidFill>
                <a:latin typeface="Calibri" panose="020F0502020204030204"/>
              </a:rPr>
              <a:t>Quinto nivel</a:t>
            </a:r>
            <a:endParaRPr lang="es-CO" sz="1800" b="0" strike="noStrike" spc="-1">
              <a:solidFill>
                <a:schemeClr val="dk1"/>
              </a:solidFill>
              <a:latin typeface="Calibri" panose="020F0502020204030204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dt" idx="4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r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&lt;fecha/hora&gt;</a:t>
            </a:r>
            <a:endParaRPr lang="es-CO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ftr" idx="5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s-CO" sz="1400" b="0" strike="noStrike" spc="-1">
                <a:solidFill>
                  <a:srgbClr val="000000"/>
                </a:solidFill>
                <a:latin typeface="Times New Roman" panose="02020603050405020304"/>
              </a:defRPr>
            </a:lvl1pPr>
          </a:lstStyle>
          <a:p>
            <a:pPr indent="0" algn="ctr">
              <a:buNone/>
            </a:pPr>
            <a:r>
              <a:rPr lang="es-CO" sz="1400" b="0" strike="noStrike" spc="-1">
                <a:solidFill>
                  <a:srgbClr val="000000"/>
                </a:solidFill>
                <a:latin typeface="Times New Roman" panose="02020603050405020304"/>
              </a:rPr>
              <a:t>&lt;pie de página&gt;</a:t>
            </a:r>
          </a:p>
        </p:txBody>
      </p:sp>
      <p:sp>
        <p:nvSpPr>
          <p:cNvPr id="45" name="PlaceHolder 5"/>
          <p:cNvSpPr>
            <a:spLocks noGrp="1"/>
          </p:cNvSpPr>
          <p:nvPr>
            <p:ph type="sldNum" idx="6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344EBB1-3477-49E6-85AB-80FB40787958}" type="slidenum">
              <a:rPr lang="es-CO" sz="1200" b="0" strike="noStrike" spc="-1">
                <a:solidFill>
                  <a:schemeClr val="dk1">
                    <a:tint val="75000"/>
                  </a:schemeClr>
                </a:solidFill>
                <a:latin typeface="Calibri" panose="020F0502020204030204"/>
              </a:rPr>
              <a:t>‹Nº›</a:t>
            </a:fld>
            <a:endParaRPr lang="es-CO" sz="1200" b="0" strike="noStrike" spc="-1">
              <a:solidFill>
                <a:srgbClr val="000000"/>
              </a:solidFill>
              <a:latin typeface="Times New Roman" panose="02020603050405020304"/>
            </a:endParaRPr>
          </a:p>
        </p:txBody>
      </p:sp>
    </p:spTree>
    <p:extLst>
      <p:ext uri="{BB962C8B-B14F-4D97-AF65-F5344CB8AC3E}">
        <p14:creationId xmlns:p14="http://schemas.microsoft.com/office/powerpoint/2010/main" val="1765502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6.xml"/><Relationship Id="rId5" Type="http://schemas.openxmlformats.org/officeDocument/2006/relationships/chart" Target="../charts/chart1.xml"/><Relationship Id="rId4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6.xml"/><Relationship Id="rId1" Type="http://schemas.openxmlformats.org/officeDocument/2006/relationships/tags" Target="../tags/tag1.xml"/><Relationship Id="rId6" Type="http://schemas.openxmlformats.org/officeDocument/2006/relationships/image" Target="../media/image15.jpeg"/><Relationship Id="rId5" Type="http://schemas.openxmlformats.org/officeDocument/2006/relationships/chart" Target="../charts/char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6.xml"/><Relationship Id="rId4" Type="http://schemas.openxmlformats.org/officeDocument/2006/relationships/chart" Target="../charts/char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B69533-1871-4A5A-9BE1-C29688C859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472575" y="1491670"/>
            <a:ext cx="7824690" cy="1937330"/>
          </a:xfrm>
        </p:spPr>
        <p:txBody>
          <a:bodyPr>
            <a:noAutofit/>
          </a:bodyPr>
          <a:lstStyle/>
          <a:p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s-MX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EQUIPO PRIMARIO GINECOLOGIA MES DE MARZO   CON DATOS DE FEBRERO    2026</a:t>
            </a:r>
            <a:endParaRPr lang="es-CO" sz="3200" dirty="0">
              <a:solidFill>
                <a:schemeClr val="bg1"/>
              </a:solidFill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CD6ED36-3E6F-4691-BDA3-31B08010D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4306" y="4233409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PRESENTA</a:t>
            </a:r>
          </a:p>
          <a:p>
            <a:endParaRPr lang="es-MX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SHARON KATHERINE ACUÑA RUBIANO</a:t>
            </a:r>
          </a:p>
          <a:p>
            <a:r>
              <a:rPr lang="es-MX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LIDER GINECOLOGIA </a:t>
            </a:r>
          </a:p>
        </p:txBody>
      </p:sp>
    </p:spTree>
    <p:extLst>
      <p:ext uri="{BB962C8B-B14F-4D97-AF65-F5344CB8AC3E}">
        <p14:creationId xmlns:p14="http://schemas.microsoft.com/office/powerpoint/2010/main" val="17950833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D533AD-3155-FE04-DF94-1166C78BB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9491EE5A-5398-8109-7601-8E7134EBBA55}"/>
              </a:ext>
            </a:extLst>
          </p:cNvPr>
          <p:cNvSpPr txBox="1">
            <a:spLocks/>
          </p:cNvSpPr>
          <p:nvPr/>
        </p:nvSpPr>
        <p:spPr>
          <a:xfrm>
            <a:off x="2272144" y="755725"/>
            <a:ext cx="8850227" cy="6131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            ORDEN DEL DIA </a:t>
            </a:r>
            <a:endParaRPr lang="es-CO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D2B51DB-17E5-3E5D-9B39-3D090F26A2E5}"/>
              </a:ext>
            </a:extLst>
          </p:cNvPr>
          <p:cNvSpPr txBox="1"/>
          <p:nvPr/>
        </p:nvSpPr>
        <p:spPr>
          <a:xfrm>
            <a:off x="1940011" y="1925795"/>
            <a:ext cx="8699157" cy="46519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CO" sz="14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Verificación de Quorum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Revisión de Compromisos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Aprobación del acta mes de FEBRERO  de 2026 (disponible en ALMERA)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Presentación indicadores ginecología fecha de corte mes FEBRERO 2026 ( médicos/ enfermería )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 SEPSIS OBSTETRICA *HOSPITAL PADRINO * - IVU PRINCIPAL CAUSA VIA CLINICA HRM ( RESIDENTES MEDICINA FAMILIAR ) </a:t>
            </a:r>
            <a:endParaRPr lang="es-CO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6  Rol de Enfermería en EMERGENCIAS OBSTETRICAS  asociadas a los sepsis obstétrica ( grupo de enfermería ) </a:t>
            </a:r>
            <a:endParaRPr lang="es-CO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 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ACTIVIDADES DURANTE EL MES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Symbol" pitchFamily="2" charset="2"/>
              <a:buChar char=""/>
            </a:pPr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SIMULACRO  SEPSIS OBSTETRICA 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/>
            <a:r>
              <a:rPr lang="es-CO" sz="1800" dirty="0">
                <a:solidFill>
                  <a:srgbClr val="000000"/>
                </a:solidFill>
                <a:effectLst/>
                <a:latin typeface="Calibri Light" panose="020F03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s-CO" sz="1600" dirty="0">
              <a:solidFill>
                <a:srgbClr val="000000"/>
              </a:solidFill>
              <a:effectLst/>
              <a:latin typeface="Helvetica" pitchFamily="2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2371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A36AA0DA-0824-D3D7-01CA-4173EC92397F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COMPROMISOS </a:t>
            </a:r>
          </a:p>
        </p:txBody>
      </p:sp>
      <p:sp>
        <p:nvSpPr>
          <p:cNvPr id="14" name="CuadroTexto 3">
            <a:extLst>
              <a:ext uri="{FF2B5EF4-FFF2-40B4-BE49-F238E27FC236}">
                <a16:creationId xmlns:a16="http://schemas.microsoft.com/office/drawing/2014/main" id="{2D50408F-79E6-B4CD-6A0F-3FEB4D042EF0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D946B71-B00F-44B2-FA24-DE0A6C4BCE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2208313"/>
            <a:ext cx="7772400" cy="3925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834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BCAD98-9DEB-5423-246A-4115CD7357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5BF38D4D-CCFC-E86B-AE33-D48927D47507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COMPROMISOS </a:t>
            </a:r>
          </a:p>
        </p:txBody>
      </p:sp>
      <p:sp>
        <p:nvSpPr>
          <p:cNvPr id="14" name="CuadroTexto 3">
            <a:extLst>
              <a:ext uri="{FF2B5EF4-FFF2-40B4-BE49-F238E27FC236}">
                <a16:creationId xmlns:a16="http://schemas.microsoft.com/office/drawing/2014/main" id="{8532F567-E72D-6446-BC30-E01FBD616809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EEAA91E8-D9B7-5745-2579-B23D642DF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186" y="2122713"/>
            <a:ext cx="9617527" cy="413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538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4D549A-F242-1C10-2AF5-44EE0B289E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A3170112-AFC0-F3D0-377D-B3D81BDADB1C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COMPLICACIONES OBSTETRICAS  </a:t>
            </a:r>
          </a:p>
        </p:txBody>
      </p:sp>
      <p:sp>
        <p:nvSpPr>
          <p:cNvPr id="14" name="CuadroTexto 3">
            <a:extLst>
              <a:ext uri="{FF2B5EF4-FFF2-40B4-BE49-F238E27FC236}">
                <a16:creationId xmlns:a16="http://schemas.microsoft.com/office/drawing/2014/main" id="{FD2F6C91-5A63-BCF5-FB61-1255E584FEC0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FBFFC26-82A7-5FD6-6054-FE0400BE45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4998" y="2091350"/>
            <a:ext cx="9018815" cy="4289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8427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99AF37-C6F4-064B-1374-5A3A68C4BB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1">
            <a:extLst>
              <a:ext uri="{FF2B5EF4-FFF2-40B4-BE49-F238E27FC236}">
                <a16:creationId xmlns:a16="http://schemas.microsoft.com/office/drawing/2014/main" id="{79CE6AD3-41A7-0D9D-E767-F473B30B152F}"/>
              </a:ext>
            </a:extLst>
          </p:cNvPr>
          <p:cNvSpPr txBox="1">
            <a:spLocks/>
          </p:cNvSpPr>
          <p:nvPr/>
        </p:nvSpPr>
        <p:spPr>
          <a:xfrm>
            <a:off x="3058473" y="387350"/>
            <a:ext cx="6379853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ENDOMETRITIS POS PARTO      </a:t>
            </a:r>
          </a:p>
        </p:txBody>
      </p:sp>
      <p:sp>
        <p:nvSpPr>
          <p:cNvPr id="14" name="CuadroTexto 3">
            <a:extLst>
              <a:ext uri="{FF2B5EF4-FFF2-40B4-BE49-F238E27FC236}">
                <a16:creationId xmlns:a16="http://schemas.microsoft.com/office/drawing/2014/main" id="{9A6E045C-AC7A-82D2-C9FD-B9944B569B08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06F4EA4-490B-8BB5-442A-8C7BB8F355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5168" y="2307041"/>
            <a:ext cx="9910119" cy="362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310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E11858-B2B8-2B2E-AEFF-644B98858813}"/>
              </a:ext>
            </a:extLst>
          </p:cNvPr>
          <p:cNvSpPr txBox="1">
            <a:spLocks/>
          </p:cNvSpPr>
          <p:nvPr/>
        </p:nvSpPr>
        <p:spPr>
          <a:xfrm>
            <a:off x="2482068" y="552843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MORTALIDAD ANTES DE LAS 24 HORAS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8B60DD31-EB8A-D65F-560F-9A87925A7105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349731B-A43A-1AB8-B6C8-BF2E0A283A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232" y="2298357"/>
            <a:ext cx="8952294" cy="3212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46509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A3057D-2AAA-D6CC-71BF-E8C572743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FF09F2-9221-254E-77B2-D49F29DA919D}"/>
              </a:ext>
            </a:extLst>
          </p:cNvPr>
          <p:cNvSpPr txBox="1">
            <a:spLocks/>
          </p:cNvSpPr>
          <p:nvPr/>
        </p:nvSpPr>
        <p:spPr>
          <a:xfrm>
            <a:off x="2482068" y="552843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NACIMIENTOS 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065BDFC3-3B3C-0DA6-2FDC-EEE204DD1573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0B3F050-AD29-46DB-5B77-520509C83C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7869" y="2074985"/>
            <a:ext cx="8771499" cy="3903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006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6E18DAE4-8748-CE2B-228F-408F93E7A259}"/>
              </a:ext>
            </a:extLst>
          </p:cNvPr>
          <p:cNvSpPr txBox="1">
            <a:spLocks/>
          </p:cNvSpPr>
          <p:nvPr/>
        </p:nvSpPr>
        <p:spPr>
          <a:xfrm>
            <a:off x="2421500" y="37673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PRODUCCIÓN   NACIMIENTOS     </a:t>
            </a:r>
          </a:p>
        </p:txBody>
      </p:sp>
      <p:sp>
        <p:nvSpPr>
          <p:cNvPr id="6" name="CuadroTexto 3">
            <a:extLst>
              <a:ext uri="{FF2B5EF4-FFF2-40B4-BE49-F238E27FC236}">
                <a16:creationId xmlns:a16="http://schemas.microsoft.com/office/drawing/2014/main" id="{AD9D1197-5B25-CA95-AA38-6079A557C580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29F433AC-C9CE-29C2-6B1E-85799B664729}"/>
              </a:ext>
            </a:extLst>
          </p:cNvPr>
          <p:cNvSpPr/>
          <p:nvPr/>
        </p:nvSpPr>
        <p:spPr>
          <a:xfrm>
            <a:off x="9421815" y="1506951"/>
            <a:ext cx="2550549" cy="14129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dirty="0"/>
              <a:t>30  ( 71.5 )   % VAGINALES  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7867265-297E-F36C-5966-391D8962AF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5458" y="2919917"/>
            <a:ext cx="7772400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0033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266C1-B31B-8AA6-F9E5-0691111CC113}"/>
              </a:ext>
            </a:extLst>
          </p:cNvPr>
          <p:cNvSpPr txBox="1">
            <a:spLocks/>
          </p:cNvSpPr>
          <p:nvPr/>
        </p:nvSpPr>
        <p:spPr>
          <a:xfrm>
            <a:off x="2286907" y="50592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PRODUCCIÓN   CESÁREAS     </a:t>
            </a:r>
          </a:p>
        </p:txBody>
      </p:sp>
      <p:sp>
        <p:nvSpPr>
          <p:cNvPr id="7" name="CuadroTexto 3">
            <a:extLst>
              <a:ext uri="{FF2B5EF4-FFF2-40B4-BE49-F238E27FC236}">
                <a16:creationId xmlns:a16="http://schemas.microsoft.com/office/drawing/2014/main" id="{58DDBE5F-2CE9-CE98-96A5-51523A1DEDDB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F131B07-1933-9CEC-78F7-38067E65C9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6589" y="2425619"/>
            <a:ext cx="8758045" cy="3633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7653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F9466C-15C4-69A6-013C-AE25649CA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09C7C10-89AE-C58B-0423-8BDFDFF125B6}"/>
              </a:ext>
            </a:extLst>
          </p:cNvPr>
          <p:cNvSpPr txBox="1">
            <a:spLocks/>
          </p:cNvSpPr>
          <p:nvPr/>
        </p:nvSpPr>
        <p:spPr>
          <a:xfrm>
            <a:off x="2564936" y="358808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TRIAGE OBSTETRICO  </a:t>
            </a:r>
          </a:p>
        </p:txBody>
      </p:sp>
      <p:sp>
        <p:nvSpPr>
          <p:cNvPr id="5" name="CuadroTexto 3">
            <a:extLst>
              <a:ext uri="{FF2B5EF4-FFF2-40B4-BE49-F238E27FC236}">
                <a16:creationId xmlns:a16="http://schemas.microsoft.com/office/drawing/2014/main" id="{A96ACADD-3C5B-F9E7-D488-5C000B2EFA70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E90DCF8-71B5-7022-B2E6-C219178535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519" y="2278499"/>
            <a:ext cx="9152062" cy="3747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3653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E3FC73-F6B3-7FE4-370A-2F3CEB576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3">
            <a:extLst>
              <a:ext uri="{FF2B5EF4-FFF2-40B4-BE49-F238E27FC236}">
                <a16:creationId xmlns:a16="http://schemas.microsoft.com/office/drawing/2014/main" id="{8BEDEF60-0255-3003-914B-809CD8822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8339571"/>
              </p:ext>
            </p:extLst>
          </p:nvPr>
        </p:nvGraphicFramePr>
        <p:xfrm>
          <a:off x="2545977" y="1399738"/>
          <a:ext cx="8199445" cy="442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692">
                  <a:extLst>
                    <a:ext uri="{9D8B030D-6E8A-4147-A177-3AD203B41FA5}">
                      <a16:colId xmlns:a16="http://schemas.microsoft.com/office/drawing/2014/main" val="2792121155"/>
                    </a:ext>
                  </a:extLst>
                </a:gridCol>
                <a:gridCol w="4007753">
                  <a:extLst>
                    <a:ext uri="{9D8B030D-6E8A-4147-A177-3AD203B41FA5}">
                      <a16:colId xmlns:a16="http://schemas.microsoft.com/office/drawing/2014/main" val="2500448351"/>
                    </a:ext>
                  </a:extLst>
                </a:gridCol>
              </a:tblGrid>
              <a:tr h="362493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INDICADOR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  FEBRERO 2026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6198716"/>
                  </a:ext>
                </a:extLst>
              </a:tr>
              <a:tr h="362493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REINGRESO / REINTERVENCIONES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1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0171369"/>
                  </a:ext>
                </a:extLst>
              </a:tr>
              <a:tr h="726081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MORBILIDADMATERNA EXTREMA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3 ( PREECLAMPSIA N2 / ECLAMPSIA 1 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1654984"/>
                  </a:ext>
                </a:extLst>
              </a:tr>
              <a:tr h="510946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MORTALIDAD MATERNA / MORTALIDAD NEONATAL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0 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6262556"/>
                  </a:ext>
                </a:extLst>
              </a:tr>
              <a:tr h="488492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EVENTOS DE SEGURIDAD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0</a:t>
                      </a:r>
                      <a:endParaRPr lang="es-CO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6852260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ESTANCIA PROLONGADA </a:t>
                      </a:r>
                      <a:r>
                        <a:rPr lang="es-CO" sz="1600"/>
                        <a:t>&gt; 5 </a:t>
                      </a:r>
                      <a:r>
                        <a:rPr lang="es-CO" sz="1600" dirty="0"/>
                        <a:t>DIAS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2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77246018"/>
                  </a:ext>
                </a:extLst>
              </a:tr>
              <a:tr h="510946">
                <a:tc>
                  <a:txBody>
                    <a:bodyPr/>
                    <a:lstStyle/>
                    <a:p>
                      <a:pPr algn="just"/>
                      <a:r>
                        <a:rPr lang="es-MX" sz="1600" dirty="0"/>
                        <a:t>EVENTOS PARA ANALISIS EN COMITÉ DE INFECCIONES </a:t>
                      </a:r>
                      <a:endParaRPr lang="es-CO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542131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ENDOMETRITIS POS PARTO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0/42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1011470"/>
                  </a:ext>
                </a:extLst>
              </a:tr>
              <a:tr h="440880"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HISTERECTOMIAS POS PARTO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s-CO" sz="1600" dirty="0"/>
                        <a:t>0 / 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3125472"/>
                  </a:ext>
                </a:extLst>
              </a:tr>
            </a:tbl>
          </a:graphicData>
        </a:graphic>
      </p:graphicFrame>
      <p:sp>
        <p:nvSpPr>
          <p:cNvPr id="3" name="Título 1">
            <a:extLst>
              <a:ext uri="{FF2B5EF4-FFF2-40B4-BE49-F238E27FC236}">
                <a16:creationId xmlns:a16="http://schemas.microsoft.com/office/drawing/2014/main" id="{28E60AC6-0190-4A56-985F-48003D3521D5}"/>
              </a:ext>
            </a:extLst>
          </p:cNvPr>
          <p:cNvSpPr txBox="1">
            <a:spLocks/>
          </p:cNvSpPr>
          <p:nvPr/>
        </p:nvSpPr>
        <p:spPr>
          <a:xfrm>
            <a:off x="2079607" y="0"/>
            <a:ext cx="8447727" cy="19196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CO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OTROS INDICADORES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5335DCF-D279-59EA-AB13-C95E386E4511}"/>
              </a:ext>
            </a:extLst>
          </p:cNvPr>
          <p:cNvSpPr txBox="1"/>
          <p:nvPr/>
        </p:nvSpPr>
        <p:spPr>
          <a:xfrm>
            <a:off x="219636" y="6134205"/>
            <a:ext cx="756552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Fuente : </a:t>
            </a:r>
            <a:r>
              <a:rPr kumimoji="0" lang="es-MX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Dinámica Gerencial – sivigila – ALMERA </a:t>
            </a:r>
            <a:endParaRPr kumimoji="0" lang="es-CO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73322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040280" y="1707480"/>
            <a:ext cx="6655320" cy="155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MX" sz="2800" b="1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INDICADORES MES </a:t>
            </a:r>
            <a:r>
              <a:rPr lang="es-CO" altLang="es-MX" sz="2800" b="1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FEBR</a:t>
            </a:r>
            <a:r>
              <a:rPr lang="es-CO" altLang="es-MX" sz="2800" b="1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ERO 2026 </a:t>
            </a:r>
            <a:r>
              <a:rPr lang="es-MX" sz="2800" b="1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SERVICIO GINECOLOGIA/NEONATOS </a:t>
            </a:r>
            <a:endParaRPr lang="es-CO" sz="2800" b="1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subTitle"/>
          </p:nvPr>
        </p:nvSpPr>
        <p:spPr>
          <a:xfrm>
            <a:off x="311040" y="471240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ctr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s-MX" sz="2400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LUISA FERNANDA PARDO</a:t>
            </a:r>
            <a:r>
              <a:rPr lang="es-CO" altLang="es-MX" sz="2400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 DIAZ </a:t>
            </a:r>
          </a:p>
          <a:p>
            <a:pPr indent="0" algn="ctr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s-CO" altLang="es-MX" sz="2400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Coord Servicio Ginecoobstetricia y Neonatos 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CuadroTexto 3"/>
          <p:cNvSpPr/>
          <p:nvPr/>
        </p:nvSpPr>
        <p:spPr>
          <a:xfrm>
            <a:off x="3630960" y="1046880"/>
            <a:ext cx="5949720" cy="51943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800" b="1" i="0" u="none" strike="noStrike" kern="1200" cap="none" spc="-1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NUMERO DE PARTOS Y CESAREAS  </a:t>
            </a:r>
          </a:p>
        </p:txBody>
      </p:sp>
      <p:sp>
        <p:nvSpPr>
          <p:cNvPr id="85" name="PlaceHolder 1"/>
          <p:cNvSpPr>
            <a:spLocks noGrp="1"/>
          </p:cNvSpPr>
          <p:nvPr>
            <p:ph/>
          </p:nvPr>
        </p:nvSpPr>
        <p:spPr>
          <a:xfrm>
            <a:off x="838080" y="2186640"/>
            <a:ext cx="10515240" cy="3989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/>
          <a:p>
            <a:pPr marL="0" indent="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None/>
            </a:pPr>
            <a:endParaRPr lang="es-CO" sz="20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None/>
            </a:pPr>
            <a:endParaRPr lang="es-CO" sz="20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3" name="CuadroTexto 2"/>
          <p:cNvSpPr txBox="1"/>
          <p:nvPr/>
        </p:nvSpPr>
        <p:spPr>
          <a:xfrm>
            <a:off x="9321800" y="1818005"/>
            <a:ext cx="23558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TOTAL: 42 </a:t>
            </a:r>
          </a:p>
        </p:txBody>
      </p:sp>
      <p:pic>
        <p:nvPicPr>
          <p:cNvPr id="5" name="Imagen 4" descr="NEONAT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121660"/>
            <a:ext cx="3510280" cy="3510280"/>
          </a:xfrm>
          <a:prstGeom prst="rect">
            <a:avLst/>
          </a:prstGeom>
        </p:spPr>
      </p:pic>
      <p:graphicFrame>
        <p:nvGraphicFramePr>
          <p:cNvPr id="2" name="Gráfico 1"/>
          <p:cNvGraphicFramePr/>
          <p:nvPr/>
        </p:nvGraphicFramePr>
        <p:xfrm>
          <a:off x="4008120" y="2468245"/>
          <a:ext cx="6839585" cy="39598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</a:rPr>
              <a:t>NUMERO NEONATOS HOSPITALIZADOS VS NEONATOS CON ANTIBIOTICO</a:t>
            </a:r>
          </a:p>
        </p:txBody>
      </p:sp>
      <p:sp>
        <p:nvSpPr>
          <p:cNvPr id="92" name="CuadroTexto 6"/>
          <p:cNvSpPr/>
          <p:nvPr/>
        </p:nvSpPr>
        <p:spPr>
          <a:xfrm>
            <a:off x="8905320" y="1690560"/>
            <a:ext cx="226584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pic>
        <p:nvPicPr>
          <p:cNvPr id="5" name="Imagen 4" descr="INICIO ATB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2058670"/>
            <a:ext cx="3720465" cy="3720465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3" name="PlaceHolder 2"/>
          <p:cNvSpPr>
            <a:spLocks noGrp="1"/>
          </p:cNvSpPr>
          <p:nvPr/>
        </p:nvSpPr>
        <p:spPr>
          <a:xfrm>
            <a:off x="4780915" y="3114675"/>
            <a:ext cx="6140450" cy="16078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Char char="•"/>
              <a:tabLst/>
              <a:defRPr/>
            </a:pPr>
            <a:r>
              <a:rPr kumimoji="0" lang="es-CO" sz="2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NUMERO DE NEONATOS HX: 6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Char char="•"/>
              <a:tabLst/>
              <a:defRPr/>
            </a:pPr>
            <a:r>
              <a:rPr kumimoji="0" lang="es-CO" sz="2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NEONATOS CON ORDEN DE ANTIBIOTICO: 0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604020202020204"/>
              <a:buChar char="•"/>
              <a:tabLst/>
              <a:defRPr/>
            </a:pPr>
            <a:endParaRPr kumimoji="0" lang="es-CO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charset="0"/>
              <a:ea typeface="+mn-ea"/>
              <a:cs typeface="Century Gothic" panose="020B050202020202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4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rgbClr val="4472C4"/>
                </a:solidFill>
                <a:latin typeface="Century Gothic" panose="020B0502020202020204" charset="0"/>
                <a:cs typeface="Century Gothic" panose="020B0502020202020204" charset="0"/>
              </a:rPr>
              <a:t>OPORTUNIDAD DE INICIO DE SULFATO DE MG</a:t>
            </a:r>
            <a:br>
              <a:rPr sz="2400">
                <a:latin typeface="Century Gothic" panose="020B0502020202020204" charset="0"/>
                <a:cs typeface="Century Gothic" panose="020B0502020202020204" charset="0"/>
              </a:rPr>
            </a:br>
            <a:endParaRPr lang="es-CO" sz="2400" b="0" strike="noStrike" spc="-1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sp>
        <p:nvSpPr>
          <p:cNvPr id="107" name="PlaceHolder 2"/>
          <p:cNvSpPr>
            <a:spLocks noGrp="1"/>
          </p:cNvSpPr>
          <p:nvPr>
            <p:ph/>
          </p:nvPr>
        </p:nvSpPr>
        <p:spPr>
          <a:xfrm>
            <a:off x="743465" y="1253425"/>
            <a:ext cx="10515240" cy="4350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s-CO" sz="1600" dirty="0">
                <a:latin typeface="Century Gothic" panose="020B0502020202020204" charset="0"/>
                <a:cs typeface="Century Gothic" panose="020B0502020202020204" charset="0"/>
              </a:rPr>
              <a:t>TOTAL DE PACIENTES CON INICIO DE SULFATO MG: </a:t>
            </a:r>
          </a:p>
          <a:p>
            <a:pPr marL="0" indent="0"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s-CO" sz="1600" dirty="0">
                <a:latin typeface="Century Gothic" panose="020B0502020202020204" charset="0"/>
                <a:cs typeface="Century Gothic" panose="020B0502020202020204" charset="0"/>
              </a:rPr>
              <a:t>3 paciente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graphicFrame>
        <p:nvGraphicFramePr>
          <p:cNvPr id="3" name="Tabla 2"/>
          <p:cNvGraphicFramePr/>
          <p:nvPr>
            <p:custDataLst>
              <p:tags r:id="rId1"/>
            </p:custDataLst>
          </p:nvPr>
        </p:nvGraphicFramePr>
        <p:xfrm>
          <a:off x="349885" y="4525645"/>
          <a:ext cx="10510520" cy="2232025"/>
        </p:xfrm>
        <a:graphic>
          <a:graphicData uri="http://schemas.openxmlformats.org/drawingml/2006/table">
            <a:tbl>
              <a:tblPr/>
              <a:tblGrid>
                <a:gridCol w="918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4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7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30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839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3411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7693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802005"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FECHA 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NOMBRES Y APELLIDOS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FECHA Y HORA DE ORDEN MEDICA DE INICIO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MEDICAMENTO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FECHA Y HORA DE INICIO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 i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DIFERENCIA EN TIEMPO (HR:MIN:SEG)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sz="1200" b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RESPONSABLE</a:t>
                      </a:r>
                    </a:p>
                  </a:txBody>
                  <a:tcPr marL="28892" marR="28892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r" fontAlgn="b"/>
                      <a:r>
                        <a:rPr sz="12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04/02/2026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lang="es-CO" sz="12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MAGL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2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04/02/2026 14:08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sz="12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SULFATO DE MAGNESIO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2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4/2/2026 14:10:00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200" i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0:02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sz="12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JEFE LUISA , JEFE CAMILA , JEFE TATIANA 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algn="r" fontAlgn="b"/>
                      <a:r>
                        <a:rPr sz="12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15/02/2025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sz="1200" b="0">
                          <a:latin typeface="Century Gothic" panose="020B0502020202020204" charset="0"/>
                          <a:ea typeface="Helvetica Neue"/>
                          <a:cs typeface="Century Gothic" panose="020B0502020202020204" charset="0"/>
                        </a:rPr>
                        <a:t>L</a:t>
                      </a:r>
                      <a:r>
                        <a:rPr lang="es-CO" sz="1200" b="0">
                          <a:latin typeface="Century Gothic" panose="020B0502020202020204" charset="0"/>
                          <a:ea typeface="Helvetica Neue"/>
                          <a:cs typeface="Century Gothic" panose="020B0502020202020204" charset="0"/>
                        </a:rPr>
                        <a:t>VGG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2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15/02/2026 0:24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sz="12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SULFATO DE MAGNESIO 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2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15/02/2026 0:25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200" i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0:01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sz="12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ELIZABETH CORREA MENDEZ 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520">
                <a:tc>
                  <a:txBody>
                    <a:bodyPr/>
                    <a:lstStyle/>
                    <a:p>
                      <a:pPr algn="r" fontAlgn="b"/>
                      <a:r>
                        <a:rPr sz="12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20/02/2026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sz="12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G</a:t>
                      </a:r>
                      <a:r>
                        <a:rPr lang="es-CO" sz="12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NLL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2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20/02/26 19:10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sz="12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SULFATO DE MAGNESIO 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2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20/02/26 19:15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sz="1200" i="1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0:05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fontAlgn="b"/>
                      <a:r>
                        <a:rPr sz="1200">
                          <a:latin typeface="Century Gothic" panose="020B0502020202020204" charset="0"/>
                          <a:ea typeface="Arial" panose="020B0604020202020204"/>
                          <a:cs typeface="Century Gothic" panose="020B0502020202020204" charset="0"/>
                        </a:rPr>
                        <a:t>JEFE LUISA, JEFE CAMILA </a:t>
                      </a:r>
                    </a:p>
                  </a:txBody>
                  <a:tcPr marL="28892" marR="28892" marT="0" marB="0" anchor="b">
                    <a:lnL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9525" cap="flat" cmpd="sng">
                      <a:solidFill>
                        <a:srgbClr val="CCCCCC"/>
                      </a:solidFill>
                      <a:prstDash val="solid"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4" name="Gráfico 3"/>
          <p:cNvGraphicFramePr/>
          <p:nvPr/>
        </p:nvGraphicFramePr>
        <p:xfrm>
          <a:off x="333375" y="2054225"/>
          <a:ext cx="6839585" cy="23361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pic>
        <p:nvPicPr>
          <p:cNvPr id="5" name="Imagen 4" descr="MAGNESIO"/>
          <p:cNvPicPr>
            <a:picLocks noChangeAspect="1"/>
          </p:cNvPicPr>
          <p:nvPr/>
        </p:nvPicPr>
        <p:blipFill>
          <a:blip r:embed="rId6"/>
          <a:srcRect l="14568" t="11558" r="15398" b="14545"/>
          <a:stretch>
            <a:fillRect/>
          </a:stretch>
        </p:blipFill>
        <p:spPr>
          <a:xfrm>
            <a:off x="7172960" y="2366645"/>
            <a:ext cx="3214370" cy="20421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</a:rPr>
              <a:t>EGRESOS VS ASIGNACION DE CITAS</a:t>
            </a:r>
          </a:p>
        </p:txBody>
      </p:sp>
      <p:sp>
        <p:nvSpPr>
          <p:cNvPr id="119" name="CuadroTexto 8"/>
          <p:cNvSpPr/>
          <p:nvPr/>
        </p:nvSpPr>
        <p:spPr>
          <a:xfrm>
            <a:off x="3023940" y="5289830"/>
            <a:ext cx="6667560" cy="15659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1" i="0" u="sng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Ginecología:</a:t>
            </a:r>
            <a:r>
              <a:rPr kumimoji="0" lang="es-CO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 Se asegura cita de control a diagnósticos de post parto/ pop de cesárea.    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No se asignan a pacientes que su centro de atención primario es otro municipio.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6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Algunos de los egresos se dan fuera del horario establecido pero se asignan posteriormente.</a:t>
            </a:r>
          </a:p>
        </p:txBody>
      </p:sp>
      <p:graphicFrame>
        <p:nvGraphicFramePr>
          <p:cNvPr id="3" name="Gráfico 2"/>
          <p:cNvGraphicFramePr/>
          <p:nvPr/>
        </p:nvGraphicFramePr>
        <p:xfrm>
          <a:off x="2263140" y="1644650"/>
          <a:ext cx="8480425" cy="35134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4" name="Imagen 3"/>
          <p:cNvPicPr/>
          <p:nvPr/>
        </p:nvPicPr>
        <p:blipFill>
          <a:blip r:embed="rId4"/>
          <a:srcRect l="26550" r="27850"/>
          <a:stretch>
            <a:fillRect/>
          </a:stretch>
        </p:blipFill>
        <p:spPr>
          <a:xfrm>
            <a:off x="309880" y="4333875"/>
            <a:ext cx="2493645" cy="252158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</a:rPr>
              <a:t>INDICADORES DE PLANIFICACIÓN FAMILIAR</a:t>
            </a:r>
          </a:p>
        </p:txBody>
      </p:sp>
      <p:sp>
        <p:nvSpPr>
          <p:cNvPr id="3" name="CuadroTexto 2"/>
          <p:cNvSpPr txBox="1"/>
          <p:nvPr/>
        </p:nvSpPr>
        <p:spPr>
          <a:xfrm>
            <a:off x="9247505" y="2905125"/>
            <a:ext cx="2105660" cy="23539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TOTAL DE PARTOS Y CESAREAS: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alt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42</a:t>
            </a:r>
            <a:r>
              <a:rPr kumimoji="0" lang="es-CO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 </a:t>
            </a: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PACIENTES QUE RECIBIERON LA TOTALIDAD DE ASESORIA SOBRE METODOS DE PLANIFICACIÓN</a:t>
            </a:r>
            <a:endParaRPr kumimoji="0" lang="es-CO" sz="18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entury Gothic" panose="020B0502020202020204" charset="0"/>
              <a:ea typeface="+mn-ea"/>
              <a:cs typeface="Century Gothic" panose="020B0502020202020204" charset="0"/>
            </a:endParaRPr>
          </a:p>
        </p:txBody>
      </p:sp>
      <p:graphicFrame>
        <p:nvGraphicFramePr>
          <p:cNvPr id="4" name="Gráfico 3"/>
          <p:cNvGraphicFramePr/>
          <p:nvPr/>
        </p:nvGraphicFramePr>
        <p:xfrm>
          <a:off x="221615" y="1449070"/>
          <a:ext cx="9293860" cy="52660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38200" y="1076325"/>
            <a:ext cx="10514965" cy="490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s-CO" b="1" spc="-1" dirty="0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  <a:sym typeface="+mn-ea"/>
              </a:rPr>
              <a:t>INFECCIONES DEL SITIO OPERATORIO</a:t>
            </a: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marL="228600" indent="-22860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CO" sz="2800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No se presenta ISO en el mes de </a:t>
            </a:r>
            <a:r>
              <a:rPr lang="es-CO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Enero.</a:t>
            </a: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indent="0" algn="just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0"/>
              </a:spcBef>
              <a:buClr>
                <a:srgbClr val="4472C4"/>
              </a:buClr>
              <a:buFont typeface="Arial" panose="020B0604020202020204"/>
              <a:buChar char="•"/>
            </a:pPr>
            <a:r>
              <a:rPr lang="es-CO" sz="2800" b="1" strike="noStrike" spc="-1" dirty="0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</a:rPr>
              <a:t>MASTITIS NO PUERPERAL </a:t>
            </a: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CO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No se  presento  mastitis en el mes de Enero.</a:t>
            </a: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indent="0" defTabSz="914400">
              <a:lnSpc>
                <a:spcPct val="90000"/>
              </a:lnSpc>
              <a:spcBef>
                <a:spcPts val="1000"/>
              </a:spcBef>
              <a:buNone/>
            </a:pP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marL="228600" indent="-228600" algn="ctr" defTabSz="914400">
              <a:lnSpc>
                <a:spcPct val="90000"/>
              </a:lnSpc>
              <a:spcBef>
                <a:spcPts val="1000"/>
              </a:spcBef>
              <a:buClr>
                <a:srgbClr val="4472C4"/>
              </a:buClr>
              <a:buFont typeface="Arial" panose="020B0604020202020204"/>
              <a:buChar char="•"/>
            </a:pPr>
            <a:r>
              <a:rPr lang="es-CO" sz="2800" b="1" strike="noStrike" spc="-1" dirty="0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</a:rPr>
              <a:t>ENDOMETRITIS</a:t>
            </a:r>
            <a:r>
              <a:rPr lang="es-CO" sz="2800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 </a:t>
            </a:r>
          </a:p>
          <a:p>
            <a:pPr marL="228600" indent="-22860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Char char="•"/>
            </a:pPr>
            <a:r>
              <a:rPr lang="es-CO" sz="2800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No se presento durante el mes de Enero .  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362240" y="365040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</a:rPr>
              <a:t>OPORTUNIDAD DE EGRESO DE GINECOLOGIA </a:t>
            </a:r>
          </a:p>
        </p:txBody>
      </p:sp>
      <p:sp>
        <p:nvSpPr>
          <p:cNvPr id="112" name="CuadroTexto 4"/>
          <p:cNvSpPr/>
          <p:nvPr/>
        </p:nvSpPr>
        <p:spPr>
          <a:xfrm>
            <a:off x="3833495" y="5392420"/>
            <a:ext cx="2051050" cy="919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Tiempo Enero 2026 :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82,1 min </a:t>
            </a:r>
          </a:p>
        </p:txBody>
      </p:sp>
      <p:sp>
        <p:nvSpPr>
          <p:cNvPr id="113" name="CuadroTexto 6"/>
          <p:cNvSpPr/>
          <p:nvPr/>
        </p:nvSpPr>
        <p:spPr>
          <a:xfrm>
            <a:off x="5982920" y="5253848"/>
            <a:ext cx="1589649" cy="11963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2400" b="1" i="0" u="none" strike="noStrike" kern="1200" cap="none" spc="-1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Tiempo Febrero: 67,8 min</a:t>
            </a:r>
          </a:p>
        </p:txBody>
      </p:sp>
      <p:cxnSp>
        <p:nvCxnSpPr>
          <p:cNvPr id="8" name="Conector recto de flecha 7"/>
          <p:cNvCxnSpPr/>
          <p:nvPr/>
        </p:nvCxnSpPr>
        <p:spPr>
          <a:xfrm>
            <a:off x="2264898" y="3426522"/>
            <a:ext cx="7891976" cy="247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9595" y="2109470"/>
            <a:ext cx="10608945" cy="26384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2"/>
          <p:cNvSpPr>
            <a:spLocks noGrp="1"/>
          </p:cNvSpPr>
          <p:nvPr>
            <p:ph/>
          </p:nvPr>
        </p:nvSpPr>
        <p:spPr>
          <a:xfrm>
            <a:off x="838200" y="1076325"/>
            <a:ext cx="7120890" cy="4902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s-CO" sz="2800" b="1" strike="noStrike" spc="-1" dirty="0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</a:rPr>
              <a:t>EVENTOS DE SEGUIMIENTO DE SALUD PÚBLICA</a:t>
            </a:r>
          </a:p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endParaRPr lang="es-CO" sz="2800" b="1" strike="noStrike" spc="-1" dirty="0">
              <a:solidFill>
                <a:schemeClr val="accent1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s-CO" sz="2800" b="0" u="sng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MUERTE PERINATAL</a:t>
            </a:r>
            <a:r>
              <a:rPr lang="es-CO" sz="2800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:  </a:t>
            </a:r>
            <a:r>
              <a:rPr lang="es-MX" altLang="es-CO" sz="2800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0</a:t>
            </a:r>
            <a:r>
              <a:rPr lang="es-CO" sz="2800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 EVENTOS </a:t>
            </a:r>
          </a:p>
          <a:p>
            <a:pPr marL="0" indent="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  <a:p>
            <a:pPr marL="0" indent="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s-CO" sz="2800" b="0" u="sng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MORBILIDAD MATERNA EXTREMA: </a:t>
            </a:r>
          </a:p>
          <a:p>
            <a:pPr marL="0" indent="0"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r>
              <a:rPr lang="es-CO" sz="2800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 3 EVENTOS</a:t>
            </a:r>
          </a:p>
          <a:p>
            <a:pPr algn="just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</a:pPr>
            <a:r>
              <a:rPr lang="es-MX" altLang="es-CO" sz="2800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3</a:t>
            </a:r>
            <a:r>
              <a:rPr lang="es-CO" sz="2800" b="0" strike="noStrike" spc="-1" dirty="0">
                <a:solidFill>
                  <a:schemeClr val="dk1"/>
                </a:solidFill>
                <a:latin typeface="Century Gothic" panose="020B0502020202020204" charset="0"/>
                <a:cs typeface="Century Gothic" panose="020B0502020202020204" charset="0"/>
              </a:rPr>
              <a:t> PREECLAMPSIA</a:t>
            </a:r>
          </a:p>
          <a:p>
            <a:pPr marL="0" indent="0" defTabSz="914400">
              <a:lnSpc>
                <a:spcPct val="90000"/>
              </a:lnSpc>
              <a:spcBef>
                <a:spcPts val="1000"/>
              </a:spcBef>
              <a:buClr>
                <a:srgbClr val="000000"/>
              </a:buClr>
              <a:buFont typeface="Arial" panose="020B0604020202020204"/>
              <a:buNone/>
            </a:pPr>
            <a:endParaRPr lang="es-CO" sz="2800" b="0" strike="noStrike" spc="-1" dirty="0">
              <a:solidFill>
                <a:schemeClr val="dk1"/>
              </a:solidFill>
              <a:latin typeface="Century Gothic" panose="020B0502020202020204" charset="0"/>
              <a:cs typeface="Century Gothic" panose="020B0502020202020204" charset="0"/>
            </a:endParaRPr>
          </a:p>
        </p:txBody>
      </p:sp>
      <p:pic>
        <p:nvPicPr>
          <p:cNvPr id="2" name="Imagen 1"/>
          <p:cNvPicPr/>
          <p:nvPr/>
        </p:nvPicPr>
        <p:blipFill>
          <a:blip r:embed="rId3"/>
          <a:stretch>
            <a:fillRect/>
          </a:stretch>
        </p:blipFill>
        <p:spPr>
          <a:xfrm>
            <a:off x="7959090" y="1880235"/>
            <a:ext cx="2774315" cy="309753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1106970" y="500295"/>
            <a:ext cx="9991080" cy="1325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/>
          <a:p>
            <a:pPr indent="0" algn="ctr" defTabSz="914400">
              <a:lnSpc>
                <a:spcPct val="90000"/>
              </a:lnSpc>
              <a:buNone/>
            </a:pPr>
            <a:r>
              <a:rPr lang="es-CO" sz="2400" b="1" strike="noStrike" spc="-1" dirty="0">
                <a:solidFill>
                  <a:schemeClr val="accent1"/>
                </a:solidFill>
                <a:latin typeface="Century Gothic" panose="020B0502020202020204" charset="0"/>
                <a:cs typeface="Century Gothic" panose="020B0502020202020204" charset="0"/>
              </a:rPr>
              <a:t>ADHERENCIA PRACTICA SEGURA:GARANTIZAR LA ATENCION SEGURA DE LA GESTANTE Y EL RECIEN NACIDO</a:t>
            </a:r>
          </a:p>
        </p:txBody>
      </p:sp>
      <p:sp>
        <p:nvSpPr>
          <p:cNvPr id="159" name="PlaceHolder 2"/>
          <p:cNvSpPr>
            <a:spLocks noGrp="1"/>
          </p:cNvSpPr>
          <p:nvPr>
            <p:ph/>
          </p:nvPr>
        </p:nvSpPr>
        <p:spPr>
          <a:xfrm>
            <a:off x="887610" y="1858580"/>
            <a:ext cx="10515240" cy="4026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algn="just" defTabSz="914400">
              <a:lnSpc>
                <a:spcPct val="90000"/>
              </a:lnSpc>
              <a:spcBef>
                <a:spcPts val="1000"/>
              </a:spcBef>
              <a:buNone/>
              <a:tabLst>
                <a:tab pos="0" algn="l"/>
              </a:tabLst>
            </a:pPr>
            <a:r>
              <a:rPr lang="es-CO" sz="2800" b="0" strike="noStrike" spc="-1" dirty="0">
                <a:solidFill>
                  <a:schemeClr val="dk1"/>
                </a:solidFill>
                <a:latin typeface="Calibri" panose="020F0502020204030204"/>
              </a:rPr>
              <a:t>  </a:t>
            </a:r>
          </a:p>
        </p:txBody>
      </p:sp>
      <p:sp>
        <p:nvSpPr>
          <p:cNvPr id="4" name="CuadroTexto 3"/>
          <p:cNvSpPr txBox="1"/>
          <p:nvPr/>
        </p:nvSpPr>
        <p:spPr>
          <a:xfrm>
            <a:off x="5598942" y="24055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O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CuadroTexto 5"/>
          <p:cNvSpPr txBox="1"/>
          <p:nvPr/>
        </p:nvSpPr>
        <p:spPr>
          <a:xfrm>
            <a:off x="1106658" y="1505534"/>
            <a:ext cx="14630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entury Gothic" panose="020B0502020202020204" charset="0"/>
                <a:ea typeface="+mn-ea"/>
                <a:cs typeface="Century Gothic" panose="020B0502020202020204" charset="0"/>
              </a:rPr>
              <a:t>MUESTRA: 7</a:t>
            </a:r>
          </a:p>
        </p:txBody>
      </p:sp>
      <p:graphicFrame>
        <p:nvGraphicFramePr>
          <p:cNvPr id="2" name="Diagrama 1"/>
          <p:cNvGraphicFramePr/>
          <p:nvPr/>
        </p:nvGraphicFramePr>
        <p:xfrm>
          <a:off x="2183765" y="1990725"/>
          <a:ext cx="8943340" cy="44526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5" name="Imagen 4"/>
          <p:cNvPicPr/>
          <p:nvPr/>
        </p:nvPicPr>
        <p:blipFill>
          <a:blip r:embed="rId8"/>
          <a:srcRect l="12754" t="5196" r="15123" b="12824"/>
          <a:stretch>
            <a:fillRect/>
          </a:stretch>
        </p:blipFill>
        <p:spPr>
          <a:xfrm>
            <a:off x="151765" y="4084320"/>
            <a:ext cx="2610485" cy="2654935"/>
          </a:xfrm>
          <a:prstGeom prst="rect">
            <a:avLst/>
          </a:prstGeom>
        </p:spPr>
      </p:pic>
      <p:sp>
        <p:nvSpPr>
          <p:cNvPr id="3" name="PlaceHolder 1"/>
          <p:cNvSpPr>
            <a:spLocks noGrp="1"/>
          </p:cNvSpPr>
          <p:nvPr/>
        </p:nvSpPr>
        <p:spPr>
          <a:xfrm>
            <a:off x="111125" y="2421255"/>
            <a:ext cx="2031365" cy="1325245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800" b="1" i="0" u="none" strike="noStrike" kern="1200" cap="none" spc="-1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entury Gothic" panose="020B0502020202020204" charset="0"/>
                <a:ea typeface="+mj-ea"/>
                <a:cs typeface="Century Gothic" panose="020B0502020202020204" charset="0"/>
              </a:rPr>
              <a:t>90,8%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>
            <a:fillRect l="-999" r="-999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827*175"/>
  <p:tag name="TABLE_ENDDRAG_RECT" val="26*347*827*175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</a:majorFont>
      <a:minorFont>
        <a:latin typeface="Calibri" panose="020F0502020204030204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8510</TotalTime>
  <Words>668</Words>
  <Application>Microsoft Macintosh PowerPoint</Application>
  <PresentationFormat>Panorámica</PresentationFormat>
  <Paragraphs>137</Paragraphs>
  <Slides>23</Slides>
  <Notes>3</Notes>
  <HiddenSlides>0</HiddenSlides>
  <MMClips>0</MMClips>
  <ScaleCrop>false</ScaleCrop>
  <HeadingPairs>
    <vt:vector size="6" baseType="variant">
      <vt:variant>
        <vt:lpstr>Fuentes usadas</vt:lpstr>
      </vt:variant>
      <vt:variant>
        <vt:i4>10</vt:i4>
      </vt:variant>
      <vt:variant>
        <vt:lpstr>Tema</vt:lpstr>
      </vt:variant>
      <vt:variant>
        <vt:i4>4</vt:i4>
      </vt:variant>
      <vt:variant>
        <vt:lpstr>Títulos de diapositiva</vt:lpstr>
      </vt:variant>
      <vt:variant>
        <vt:i4>23</vt:i4>
      </vt:variant>
    </vt:vector>
  </HeadingPairs>
  <TitlesOfParts>
    <vt:vector size="37" baseType="lpstr">
      <vt:lpstr>Aptos</vt:lpstr>
      <vt:lpstr>Arial</vt:lpstr>
      <vt:lpstr>Calibri</vt:lpstr>
      <vt:lpstr>Calibri Light</vt:lpstr>
      <vt:lpstr>Century Gothic</vt:lpstr>
      <vt:lpstr>Helvetica</vt:lpstr>
      <vt:lpstr>Symbol</vt:lpstr>
      <vt:lpstr>Tahoma</vt:lpstr>
      <vt:lpstr>Times New Roman</vt:lpstr>
      <vt:lpstr>Wingdings</vt:lpstr>
      <vt:lpstr>Tema de Office</vt:lpstr>
      <vt:lpstr>1_Tema de Office</vt:lpstr>
      <vt:lpstr>2_Tema de Office</vt:lpstr>
      <vt:lpstr>3_Tema de Office</vt:lpstr>
      <vt:lpstr>                 EQUIPO PRIMARIO GINECOLOGIA MES DE MARZO   CON DATOS DE FEBRERO    2026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INDICADORES MES FEBRERO 2026 SERVICIO GINECOLOGIA/NEONATOS </vt:lpstr>
      <vt:lpstr>Presentación de PowerPoint</vt:lpstr>
      <vt:lpstr>NUMERO NEONATOS HOSPITALIZADOS VS NEONATOS CON ANTIBIOTICO</vt:lpstr>
      <vt:lpstr>OPORTUNIDAD DE INICIO DE SULFATO DE MG </vt:lpstr>
      <vt:lpstr>EGRESOS VS ASIGNACION DE CITAS</vt:lpstr>
      <vt:lpstr>INDICADORES DE PLANIFICACIÓN FAMILIAR</vt:lpstr>
      <vt:lpstr>Presentación de PowerPoint</vt:lpstr>
      <vt:lpstr>OPORTUNIDAD DE EGRESO DE GINECOLOGIA </vt:lpstr>
      <vt:lpstr>Presentación de PowerPoint</vt:lpstr>
      <vt:lpstr>ADHERENCIA PRACTICA SEGURA:GARANTIZAR LA ATENCION SEGURA DE LA GESTANTE Y EL RECIEN NACIDO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TITULO PRESENTACIÓN</dc:title>
  <dc:creator>user</dc:creator>
  <cp:lastModifiedBy>Sharon Katherine Acuña</cp:lastModifiedBy>
  <cp:revision>144</cp:revision>
  <dcterms:created xsi:type="dcterms:W3CDTF">2024-08-26T14:52:25Z</dcterms:created>
  <dcterms:modified xsi:type="dcterms:W3CDTF">2026-03-03T03:12:20Z</dcterms:modified>
</cp:coreProperties>
</file>