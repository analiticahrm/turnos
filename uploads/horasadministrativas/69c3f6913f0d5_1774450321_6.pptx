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2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9" r:id="rId30"/>
    <p:sldId id="291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7" r:id="rId45"/>
    <p:sldId id="308" r:id="rId46"/>
    <p:sldId id="309" r:id="rId47"/>
    <p:sldId id="310" r:id="rId48"/>
    <p:sldId id="311" r:id="rId49"/>
    <p:sldId id="312" r:id="rId50"/>
    <p:sldId id="315" r:id="rId51"/>
    <p:sldId id="317" r:id="rId52"/>
    <p:sldId id="318" r:id="rId53"/>
    <p:sldId id="319" r:id="rId54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7"/>
  </p:normalViewPr>
  <p:slideViewPr>
    <p:cSldViewPr>
      <p:cViewPr varScale="1">
        <p:scale>
          <a:sx n="90" d="100"/>
          <a:sy n="90" d="100"/>
        </p:scale>
        <p:origin x="232" y="6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3232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4042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2207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277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64840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3710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1868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6413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1389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8295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738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64651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6460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9412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23989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595513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35515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64518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6FC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88340" y="1525041"/>
            <a:ext cx="4256405" cy="4123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757161" y="2570479"/>
            <a:ext cx="4138929" cy="3470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7894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5590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g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1981200"/>
            <a:ext cx="6562393" cy="244823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61FB402-C753-7B2A-455E-580FE720A61B}"/>
              </a:ext>
            </a:extLst>
          </p:cNvPr>
          <p:cNvSpPr txBox="1"/>
          <p:nvPr/>
        </p:nvSpPr>
        <p:spPr>
          <a:xfrm>
            <a:off x="4572000" y="5334000"/>
            <a:ext cx="50246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IVAN FERNANDO ORTIZ ROLDAN</a:t>
            </a:r>
          </a:p>
          <a:p>
            <a:r>
              <a:rPr lang="es-CO" dirty="0"/>
              <a:t> </a:t>
            </a:r>
          </a:p>
          <a:p>
            <a:r>
              <a:rPr lang="es-CO" dirty="0"/>
              <a:t>EMERGENCIOLOGO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" dirty="0">
                <a:latin typeface="Calibri"/>
                <a:cs typeface="Calibri"/>
              </a:rPr>
              <a:t>Índice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82317" y="1369009"/>
            <a:ext cx="475996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indent="-301625">
              <a:lnSpc>
                <a:spcPct val="100000"/>
              </a:lnSpc>
              <a:spcBef>
                <a:spcPts val="100"/>
              </a:spcBef>
              <a:buSzPct val="97916"/>
              <a:buAutoNum type="arabicPeriod"/>
              <a:tabLst>
                <a:tab pos="314325" algn="l"/>
              </a:tabLst>
            </a:pPr>
            <a:r>
              <a:rPr sz="2400" b="1" spc="-10" dirty="0">
                <a:latin typeface="Calibri"/>
                <a:cs typeface="Calibri"/>
              </a:rPr>
              <a:t>Introducción</a:t>
            </a:r>
            <a:endParaRPr sz="2400">
              <a:latin typeface="Calibri"/>
              <a:cs typeface="Calibri"/>
            </a:endParaRPr>
          </a:p>
          <a:p>
            <a:pPr marL="246379" indent="-243204">
              <a:lnSpc>
                <a:spcPct val="100000"/>
              </a:lnSpc>
              <a:spcBef>
                <a:spcPts val="5"/>
              </a:spcBef>
              <a:buSzPct val="97916"/>
              <a:buAutoNum type="arabicPeriod"/>
              <a:tabLst>
                <a:tab pos="246379" algn="l"/>
              </a:tabLst>
            </a:pPr>
            <a:r>
              <a:rPr sz="2400" b="1" spc="-10" dirty="0">
                <a:latin typeface="Calibri"/>
                <a:cs typeface="Calibri"/>
              </a:rPr>
              <a:t>Definiciones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SzPct val="97916"/>
              <a:buAutoNum type="arabicPeriod"/>
              <a:tabLst>
                <a:tab pos="314325" algn="l"/>
              </a:tabLst>
            </a:pPr>
            <a:r>
              <a:rPr sz="2400" b="1" spc="-10" dirty="0">
                <a:latin typeface="Calibri"/>
                <a:cs typeface="Calibri"/>
              </a:rPr>
              <a:t>Clasificación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3.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Patogenia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 startAt="5"/>
              <a:tabLst>
                <a:tab pos="314325" algn="l"/>
              </a:tabLst>
            </a:pPr>
            <a:r>
              <a:rPr sz="2400" b="1" dirty="0">
                <a:latin typeface="Calibri"/>
                <a:cs typeface="Calibri"/>
              </a:rPr>
              <a:t>Historia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clínica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 startAt="5"/>
              <a:tabLst>
                <a:tab pos="314325" algn="l"/>
              </a:tabLst>
            </a:pPr>
            <a:r>
              <a:rPr sz="2400" b="1" spc="-10" dirty="0">
                <a:latin typeface="Calibri"/>
                <a:cs typeface="Calibri"/>
              </a:rPr>
              <a:t>Electrocardiograma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 startAt="5"/>
              <a:tabLst>
                <a:tab pos="314325" algn="l"/>
              </a:tabLst>
            </a:pPr>
            <a:r>
              <a:rPr sz="2400" b="1" spc="-10" dirty="0">
                <a:latin typeface="Calibri"/>
                <a:cs typeface="Calibri"/>
              </a:rPr>
              <a:t>Biomarcadores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 startAt="5"/>
              <a:tabLst>
                <a:tab pos="314325" algn="l"/>
              </a:tabLst>
            </a:pPr>
            <a:r>
              <a:rPr sz="2400" b="1" spc="-10" dirty="0">
                <a:latin typeface="Calibri"/>
                <a:cs typeface="Calibri"/>
              </a:rPr>
              <a:t>Tratamiento: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382395" algn="l"/>
              </a:tabLst>
            </a:pPr>
            <a:r>
              <a:rPr sz="2400" b="1" spc="-10" dirty="0">
                <a:latin typeface="Calibri"/>
                <a:cs typeface="Calibri"/>
              </a:rPr>
              <a:t>Manejo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buAutoNum type="arabicPeriod"/>
              <a:tabLst>
                <a:tab pos="1382395" algn="l"/>
              </a:tabLst>
            </a:pPr>
            <a:r>
              <a:rPr sz="2400" b="1" spc="-30" dirty="0">
                <a:latin typeface="Calibri"/>
                <a:cs typeface="Calibri"/>
              </a:rPr>
              <a:t>Tratamiento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médico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buAutoNum type="arabicPeriod"/>
              <a:tabLst>
                <a:tab pos="1382395" algn="l"/>
              </a:tabLst>
            </a:pPr>
            <a:r>
              <a:rPr sz="2400" b="1" spc="-30" dirty="0">
                <a:latin typeface="Calibri"/>
                <a:cs typeface="Calibri"/>
              </a:rPr>
              <a:t>Tratamiento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antiagregante</a:t>
            </a:r>
            <a:endParaRPr sz="2400">
              <a:latin typeface="Calibri"/>
              <a:cs typeface="Calibri"/>
            </a:endParaRPr>
          </a:p>
          <a:p>
            <a:pPr marL="1381760" lvl="1" indent="-454659">
              <a:lnSpc>
                <a:spcPct val="100000"/>
              </a:lnSpc>
              <a:buAutoNum type="arabicPeriod"/>
              <a:tabLst>
                <a:tab pos="1381760" algn="l"/>
              </a:tabLst>
            </a:pPr>
            <a:r>
              <a:rPr sz="2400" b="1" spc="-30" dirty="0">
                <a:latin typeface="Calibri"/>
                <a:cs typeface="Calibri"/>
              </a:rPr>
              <a:t>Terapias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reperfusión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" dirty="0">
                <a:latin typeface="Calibri"/>
                <a:cs typeface="Calibri"/>
              </a:rPr>
              <a:t>Índice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82317" y="1369009"/>
            <a:ext cx="475996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indent="-30162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14325" algn="l"/>
              </a:tabLst>
            </a:pPr>
            <a:r>
              <a:rPr sz="2400" b="1" spc="-10" dirty="0">
                <a:latin typeface="Calibri"/>
                <a:cs typeface="Calibri"/>
              </a:rPr>
              <a:t>Introducción</a:t>
            </a:r>
            <a:endParaRPr sz="2400">
              <a:latin typeface="Calibri"/>
              <a:cs typeface="Calibri"/>
            </a:endParaRPr>
          </a:p>
          <a:p>
            <a:pPr marL="246379" indent="-243204">
              <a:lnSpc>
                <a:spcPct val="100000"/>
              </a:lnSpc>
              <a:spcBef>
                <a:spcPts val="5"/>
              </a:spcBef>
              <a:buSzPct val="93750"/>
              <a:buAutoNum type="arabicPeriod"/>
              <a:tabLst>
                <a:tab pos="246379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Definiciones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Clasificación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D9D9D9"/>
                </a:solidFill>
                <a:latin typeface="Calibri"/>
                <a:cs typeface="Calibri"/>
              </a:rPr>
              <a:t>3.</a:t>
            </a:r>
            <a:r>
              <a:rPr sz="2400" b="1" spc="-1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Patogenia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 startAt="5"/>
              <a:tabLst>
                <a:tab pos="314325" algn="l"/>
              </a:tabLst>
            </a:pPr>
            <a:r>
              <a:rPr sz="2400" b="1" dirty="0">
                <a:solidFill>
                  <a:srgbClr val="D9D9D9"/>
                </a:solidFill>
                <a:latin typeface="Calibri"/>
                <a:cs typeface="Calibri"/>
              </a:rPr>
              <a:t>Historia</a:t>
            </a:r>
            <a:r>
              <a:rPr sz="2400" b="1" spc="-8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clínica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 startAt="5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Electrocardiograma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 startAt="5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Biomarcadores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 startAt="5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Tratamiento: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38239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Manejo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buAutoNum type="arabicPeriod"/>
              <a:tabLst>
                <a:tab pos="1382395" algn="l"/>
              </a:tabLst>
            </a:pPr>
            <a:r>
              <a:rPr sz="2400" b="1" spc="-30" dirty="0">
                <a:solidFill>
                  <a:srgbClr val="D9D9D9"/>
                </a:solidFill>
                <a:latin typeface="Calibri"/>
                <a:cs typeface="Calibri"/>
              </a:rPr>
              <a:t>Tratamiento</a:t>
            </a:r>
            <a:r>
              <a:rPr sz="2400" b="1" spc="-6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médico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buAutoNum type="arabicPeriod"/>
              <a:tabLst>
                <a:tab pos="1382395" algn="l"/>
              </a:tabLst>
            </a:pPr>
            <a:r>
              <a:rPr sz="2400" b="1" spc="-30" dirty="0">
                <a:solidFill>
                  <a:srgbClr val="D9D9D9"/>
                </a:solidFill>
                <a:latin typeface="Calibri"/>
                <a:cs typeface="Calibri"/>
              </a:rPr>
              <a:t>Tratamiento</a:t>
            </a:r>
            <a:r>
              <a:rPr sz="2400" b="1" spc="-6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antiagregante</a:t>
            </a:r>
            <a:endParaRPr sz="2400">
              <a:latin typeface="Calibri"/>
              <a:cs typeface="Calibri"/>
            </a:endParaRPr>
          </a:p>
          <a:p>
            <a:pPr marL="1381760" lvl="1" indent="-454659">
              <a:lnSpc>
                <a:spcPct val="100000"/>
              </a:lnSpc>
              <a:buAutoNum type="arabicPeriod"/>
              <a:tabLst>
                <a:tab pos="1381760" algn="l"/>
              </a:tabLst>
            </a:pPr>
            <a:r>
              <a:rPr sz="2400" b="1" spc="-30" dirty="0">
                <a:solidFill>
                  <a:srgbClr val="D9D9D9"/>
                </a:solidFill>
                <a:latin typeface="Calibri"/>
                <a:cs typeface="Calibri"/>
              </a:rPr>
              <a:t>Terapias</a:t>
            </a:r>
            <a:r>
              <a:rPr sz="2400" b="1" spc="-6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D9D9D9"/>
                </a:solidFill>
                <a:latin typeface="Calibri"/>
                <a:cs typeface="Calibri"/>
              </a:rPr>
              <a:t>de</a:t>
            </a:r>
            <a:r>
              <a:rPr sz="2400" b="1" spc="-5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reperfusión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24711" y="3842003"/>
            <a:ext cx="9525000" cy="3013075"/>
            <a:chOff x="1124711" y="3842003"/>
            <a:chExt cx="9525000" cy="30130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4711" y="4270247"/>
              <a:ext cx="1507236" cy="209854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56103" y="4568951"/>
              <a:ext cx="2712720" cy="20604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66103" y="3842003"/>
              <a:ext cx="3621024" cy="27188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54067" y="3842003"/>
              <a:ext cx="2956560" cy="1156716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47630" y="281748"/>
            <a:ext cx="8596668" cy="132080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Introducción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idx="1"/>
          </p:nvPr>
        </p:nvSpPr>
        <p:spPr>
          <a:xfrm>
            <a:off x="304800" y="1117946"/>
            <a:ext cx="8596668" cy="38807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98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El</a:t>
            </a:r>
            <a:r>
              <a:rPr sz="2800" spc="180" dirty="0"/>
              <a:t> </a:t>
            </a:r>
            <a:r>
              <a:rPr sz="2800" dirty="0"/>
              <a:t>dolor</a:t>
            </a:r>
            <a:r>
              <a:rPr sz="2800" spc="170" dirty="0"/>
              <a:t> </a:t>
            </a:r>
            <a:r>
              <a:rPr sz="2800" dirty="0"/>
              <a:t>torácico</a:t>
            </a:r>
            <a:r>
              <a:rPr sz="2800" spc="190" dirty="0"/>
              <a:t> </a:t>
            </a:r>
            <a:r>
              <a:rPr sz="2800" dirty="0"/>
              <a:t>es</a:t>
            </a:r>
            <a:r>
              <a:rPr sz="2800" spc="190" dirty="0"/>
              <a:t> </a:t>
            </a:r>
            <a:r>
              <a:rPr sz="2800" dirty="0"/>
              <a:t>uno</a:t>
            </a:r>
            <a:r>
              <a:rPr sz="2800" spc="200" dirty="0"/>
              <a:t> </a:t>
            </a:r>
            <a:r>
              <a:rPr sz="2800" dirty="0"/>
              <a:t>de</a:t>
            </a:r>
            <a:r>
              <a:rPr sz="2800" spc="185" dirty="0"/>
              <a:t> </a:t>
            </a:r>
            <a:r>
              <a:rPr sz="2800" dirty="0"/>
              <a:t>los</a:t>
            </a:r>
            <a:r>
              <a:rPr sz="2800" spc="190" dirty="0"/>
              <a:t> </a:t>
            </a:r>
            <a:r>
              <a:rPr sz="2800" dirty="0"/>
              <a:t>síntomas</a:t>
            </a:r>
            <a:r>
              <a:rPr sz="2800" spc="204" dirty="0"/>
              <a:t> </a:t>
            </a:r>
            <a:r>
              <a:rPr sz="2800" dirty="0"/>
              <a:t>más</a:t>
            </a:r>
            <a:r>
              <a:rPr sz="2800" spc="185" dirty="0"/>
              <a:t> </a:t>
            </a:r>
            <a:r>
              <a:rPr sz="2800" dirty="0"/>
              <a:t>frecuentes</a:t>
            </a:r>
            <a:r>
              <a:rPr sz="2800" spc="195" dirty="0"/>
              <a:t> </a:t>
            </a:r>
            <a:r>
              <a:rPr sz="2800" dirty="0"/>
              <a:t>de</a:t>
            </a:r>
            <a:r>
              <a:rPr sz="2800" spc="185" dirty="0"/>
              <a:t> </a:t>
            </a:r>
            <a:r>
              <a:rPr sz="2800" spc="-10" dirty="0"/>
              <a:t>consulta </a:t>
            </a:r>
            <a:r>
              <a:rPr sz="2800" dirty="0"/>
              <a:t>en</a:t>
            </a:r>
            <a:r>
              <a:rPr sz="2800" spc="-40" dirty="0"/>
              <a:t> </a:t>
            </a:r>
            <a:r>
              <a:rPr sz="2800" dirty="0"/>
              <a:t>los</a:t>
            </a:r>
            <a:r>
              <a:rPr sz="2800" spc="-45" dirty="0"/>
              <a:t> </a:t>
            </a:r>
            <a:r>
              <a:rPr sz="2800" dirty="0"/>
              <a:t>servicios</a:t>
            </a:r>
            <a:r>
              <a:rPr sz="2800" spc="-25" dirty="0"/>
              <a:t> </a:t>
            </a:r>
            <a:r>
              <a:rPr sz="2800" dirty="0"/>
              <a:t>de</a:t>
            </a:r>
            <a:r>
              <a:rPr sz="2800" spc="-35" dirty="0"/>
              <a:t> </a:t>
            </a:r>
            <a:r>
              <a:rPr sz="2800" dirty="0"/>
              <a:t>urgencias</a:t>
            </a:r>
            <a:r>
              <a:rPr sz="2800" spc="-50" dirty="0"/>
              <a:t> </a:t>
            </a:r>
            <a:r>
              <a:rPr sz="2800" dirty="0"/>
              <a:t>entre</a:t>
            </a:r>
            <a:r>
              <a:rPr sz="2800" spc="-30" dirty="0"/>
              <a:t> </a:t>
            </a:r>
            <a:r>
              <a:rPr sz="2800" b="1" dirty="0">
                <a:solidFill>
                  <a:srgbClr val="4F81BC"/>
                </a:solidFill>
                <a:latin typeface="Calibri"/>
                <a:cs typeface="Calibri"/>
              </a:rPr>
              <a:t>un</a:t>
            </a:r>
            <a:r>
              <a:rPr sz="2800" b="1" spc="-50" dirty="0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4F81BC"/>
                </a:solidFill>
                <a:latin typeface="Calibri"/>
                <a:cs typeface="Calibri"/>
              </a:rPr>
              <a:t>5</a:t>
            </a:r>
            <a:r>
              <a:rPr sz="2800" b="1" spc="-35" dirty="0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4F81BC"/>
                </a:solidFill>
                <a:latin typeface="Calibri"/>
                <a:cs typeface="Calibri"/>
              </a:rPr>
              <a:t>a</a:t>
            </a:r>
            <a:r>
              <a:rPr sz="2800" b="1" spc="-45" dirty="0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4F81BC"/>
                </a:solidFill>
                <a:latin typeface="Calibri"/>
                <a:cs typeface="Calibri"/>
              </a:rPr>
              <a:t>un</a:t>
            </a:r>
            <a:r>
              <a:rPr sz="2800" b="1" spc="-40" dirty="0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4F81BC"/>
                </a:solidFill>
                <a:latin typeface="Calibri"/>
                <a:cs typeface="Calibri"/>
              </a:rPr>
              <a:t>8</a:t>
            </a:r>
            <a:r>
              <a:rPr sz="2800" b="1" spc="-45" dirty="0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4F81BC"/>
                </a:solidFill>
                <a:latin typeface="Calibri"/>
                <a:cs typeface="Calibri"/>
              </a:rPr>
              <a:t>%</a:t>
            </a:r>
            <a:r>
              <a:rPr sz="2800" spc="-25" dirty="0">
                <a:solidFill>
                  <a:srgbClr val="4F81BC"/>
                </a:solidFill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365"/>
              </a:spcBef>
            </a:pPr>
            <a:r>
              <a:rPr sz="2800" dirty="0"/>
              <a:t>Según</a:t>
            </a:r>
            <a:r>
              <a:rPr sz="2800" spc="415" dirty="0"/>
              <a:t> </a:t>
            </a:r>
            <a:r>
              <a:rPr sz="2800" dirty="0"/>
              <a:t>datos</a:t>
            </a:r>
            <a:r>
              <a:rPr sz="2800" spc="420" dirty="0"/>
              <a:t> </a:t>
            </a:r>
            <a:r>
              <a:rPr sz="2800" dirty="0"/>
              <a:t>de</a:t>
            </a:r>
            <a:r>
              <a:rPr sz="2800" spc="405" dirty="0"/>
              <a:t> </a:t>
            </a:r>
            <a:r>
              <a:rPr sz="2800" dirty="0"/>
              <a:t>los</a:t>
            </a:r>
            <a:r>
              <a:rPr sz="2800" spc="420" dirty="0"/>
              <a:t> </a:t>
            </a:r>
            <a:r>
              <a:rPr sz="2800" dirty="0"/>
              <a:t>SUH</a:t>
            </a:r>
            <a:r>
              <a:rPr sz="2800" spc="405" dirty="0"/>
              <a:t> </a:t>
            </a:r>
            <a:r>
              <a:rPr sz="2800" dirty="0"/>
              <a:t>españoles</a:t>
            </a:r>
            <a:r>
              <a:rPr sz="2800" spc="409" dirty="0"/>
              <a:t> </a:t>
            </a:r>
            <a:r>
              <a:rPr sz="2800" dirty="0"/>
              <a:t>estas</a:t>
            </a:r>
            <a:r>
              <a:rPr sz="2800" spc="415" dirty="0"/>
              <a:t> </a:t>
            </a:r>
            <a:r>
              <a:rPr sz="2800" dirty="0"/>
              <a:t>cifras</a:t>
            </a:r>
            <a:r>
              <a:rPr sz="2800" spc="420" dirty="0"/>
              <a:t> </a:t>
            </a:r>
            <a:r>
              <a:rPr sz="2800" dirty="0"/>
              <a:t>pueden</a:t>
            </a:r>
            <a:r>
              <a:rPr sz="2800" spc="420" dirty="0"/>
              <a:t> </a:t>
            </a:r>
            <a:r>
              <a:rPr sz="2800" dirty="0"/>
              <a:t>llegar</a:t>
            </a:r>
            <a:r>
              <a:rPr sz="2800" spc="405" dirty="0"/>
              <a:t> </a:t>
            </a:r>
            <a:r>
              <a:rPr sz="2800" dirty="0"/>
              <a:t>a</a:t>
            </a:r>
            <a:r>
              <a:rPr sz="2800" spc="415" dirty="0"/>
              <a:t> </a:t>
            </a:r>
            <a:r>
              <a:rPr sz="2800" spc="-25" dirty="0"/>
              <a:t>ser </a:t>
            </a:r>
            <a:r>
              <a:rPr sz="2800" dirty="0"/>
              <a:t>hasta</a:t>
            </a:r>
            <a:r>
              <a:rPr sz="2800" spc="-55" dirty="0"/>
              <a:t> </a:t>
            </a:r>
            <a:r>
              <a:rPr sz="2800" dirty="0"/>
              <a:t>del</a:t>
            </a:r>
            <a:r>
              <a:rPr sz="2800" spc="-65" dirty="0"/>
              <a:t> </a:t>
            </a:r>
            <a:r>
              <a:rPr sz="2800" spc="-25" dirty="0"/>
              <a:t>20%</a:t>
            </a:r>
            <a:endParaRPr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" dirty="0">
                <a:latin typeface="Calibri"/>
                <a:cs typeface="Calibri"/>
              </a:rPr>
              <a:t>Índice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82317" y="1369009"/>
            <a:ext cx="475996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indent="-30162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Introducción</a:t>
            </a:r>
            <a:endParaRPr sz="2400">
              <a:latin typeface="Calibri"/>
              <a:cs typeface="Calibri"/>
            </a:endParaRPr>
          </a:p>
          <a:p>
            <a:pPr marL="246379" indent="-243204">
              <a:lnSpc>
                <a:spcPct val="100000"/>
              </a:lnSpc>
              <a:spcBef>
                <a:spcPts val="5"/>
              </a:spcBef>
              <a:buSzPct val="93750"/>
              <a:buAutoNum type="arabicPeriod"/>
              <a:tabLst>
                <a:tab pos="246379" algn="l"/>
              </a:tabLst>
            </a:pPr>
            <a:r>
              <a:rPr sz="2400" b="1" spc="-10" dirty="0">
                <a:latin typeface="Calibri"/>
                <a:cs typeface="Calibri"/>
              </a:rPr>
              <a:t>Definiciones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Clasificación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D9D9D9"/>
                </a:solidFill>
                <a:latin typeface="Calibri"/>
                <a:cs typeface="Calibri"/>
              </a:rPr>
              <a:t>3.</a:t>
            </a:r>
            <a:r>
              <a:rPr sz="2400" b="1" spc="-1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Patogenia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 startAt="5"/>
              <a:tabLst>
                <a:tab pos="314325" algn="l"/>
              </a:tabLst>
            </a:pPr>
            <a:r>
              <a:rPr sz="2400" b="1" dirty="0">
                <a:solidFill>
                  <a:srgbClr val="D9D9D9"/>
                </a:solidFill>
                <a:latin typeface="Calibri"/>
                <a:cs typeface="Calibri"/>
              </a:rPr>
              <a:t>Historia</a:t>
            </a:r>
            <a:r>
              <a:rPr sz="2400" b="1" spc="-8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clínica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 startAt="5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Electrocardiograma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 startAt="5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Biomarcadores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 startAt="5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Tratamiento: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38239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Manejo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buAutoNum type="arabicPeriod"/>
              <a:tabLst>
                <a:tab pos="1382395" algn="l"/>
              </a:tabLst>
            </a:pPr>
            <a:r>
              <a:rPr sz="2400" b="1" spc="-30" dirty="0">
                <a:solidFill>
                  <a:srgbClr val="D9D9D9"/>
                </a:solidFill>
                <a:latin typeface="Calibri"/>
                <a:cs typeface="Calibri"/>
              </a:rPr>
              <a:t>Tratamiento</a:t>
            </a:r>
            <a:r>
              <a:rPr sz="2400" b="1" spc="-6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médico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buAutoNum type="arabicPeriod"/>
              <a:tabLst>
                <a:tab pos="1382395" algn="l"/>
              </a:tabLst>
            </a:pPr>
            <a:r>
              <a:rPr sz="2400" b="1" spc="-30" dirty="0">
                <a:solidFill>
                  <a:srgbClr val="D9D9D9"/>
                </a:solidFill>
                <a:latin typeface="Calibri"/>
                <a:cs typeface="Calibri"/>
              </a:rPr>
              <a:t>Tratamiento</a:t>
            </a:r>
            <a:r>
              <a:rPr sz="2400" b="1" spc="-6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antiagregante</a:t>
            </a:r>
            <a:endParaRPr sz="2400">
              <a:latin typeface="Calibri"/>
              <a:cs typeface="Calibri"/>
            </a:endParaRPr>
          </a:p>
          <a:p>
            <a:pPr marL="1381760" lvl="1" indent="-454659">
              <a:lnSpc>
                <a:spcPct val="100000"/>
              </a:lnSpc>
              <a:buAutoNum type="arabicPeriod"/>
              <a:tabLst>
                <a:tab pos="1381760" algn="l"/>
              </a:tabLst>
            </a:pPr>
            <a:r>
              <a:rPr sz="2400" b="1" spc="-30" dirty="0">
                <a:solidFill>
                  <a:srgbClr val="D9D9D9"/>
                </a:solidFill>
                <a:latin typeface="Calibri"/>
                <a:cs typeface="Calibri"/>
              </a:rPr>
              <a:t>Terapias</a:t>
            </a:r>
            <a:r>
              <a:rPr sz="2400" b="1" spc="-6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D9D9D9"/>
                </a:solidFill>
                <a:latin typeface="Calibri"/>
                <a:cs typeface="Calibri"/>
              </a:rPr>
              <a:t>de</a:t>
            </a:r>
            <a:r>
              <a:rPr sz="2400" b="1" spc="-5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reperfusión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Síndrome</a:t>
            </a:r>
            <a:r>
              <a:rPr spc="-125" dirty="0"/>
              <a:t> </a:t>
            </a:r>
            <a:r>
              <a:rPr dirty="0"/>
              <a:t>coronario</a:t>
            </a:r>
            <a:r>
              <a:rPr spc="-135" dirty="0"/>
              <a:t> </a:t>
            </a:r>
            <a:r>
              <a:rPr spc="-10" dirty="0"/>
              <a:t>agudo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5297" y="1366880"/>
            <a:ext cx="8490103" cy="3618811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000" b="1" dirty="0">
                <a:latin typeface="Arial"/>
                <a:cs typeface="Arial"/>
              </a:rPr>
              <a:t>SÍNDROME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CORONARIO</a:t>
            </a:r>
            <a:r>
              <a:rPr sz="2000" b="1" spc="-1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AGUDO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(SCA)</a:t>
            </a:r>
            <a:endParaRPr sz="2000" dirty="0">
              <a:latin typeface="Arial"/>
              <a:cs typeface="Arial"/>
            </a:endParaRPr>
          </a:p>
          <a:p>
            <a:pPr marL="12700" marR="1018540" indent="914400">
              <a:lnSpc>
                <a:spcPct val="102899"/>
              </a:lnSpc>
              <a:spcBef>
                <a:spcPts val="175"/>
              </a:spcBef>
            </a:pPr>
            <a:r>
              <a:rPr sz="2000" dirty="0">
                <a:latin typeface="Calibri"/>
                <a:cs typeface="Calibri"/>
              </a:rPr>
              <a:t>Espectro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afecciones,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reducción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flujo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coronario,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sin </a:t>
            </a:r>
            <a:r>
              <a:rPr sz="2000" dirty="0">
                <a:latin typeface="Calibri"/>
                <a:cs typeface="Calibri"/>
              </a:rPr>
              <a:t>cambios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ECG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elevación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troponinas.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35" dirty="0">
                <a:latin typeface="Arial"/>
                <a:cs typeface="Arial"/>
              </a:rPr>
              <a:t>INFARTO</a:t>
            </a:r>
            <a:r>
              <a:rPr sz="2000" b="1" spc="-1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AGUDO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MIOCARDIO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(IAM)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250"/>
              </a:spcBef>
            </a:pPr>
            <a:r>
              <a:rPr sz="2000" dirty="0">
                <a:latin typeface="Calibri"/>
                <a:cs typeface="Calibri"/>
              </a:rPr>
              <a:t>Evidencia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daño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miocárdico,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elevación</a:t>
            </a:r>
            <a:r>
              <a:rPr sz="2000" spc="2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troponinas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cardiacas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spc="-50" dirty="0">
                <a:latin typeface="Wingdings"/>
                <a:cs typeface="Wingdings"/>
              </a:rPr>
              <a:t></a:t>
            </a:r>
            <a:endParaRPr sz="2000" dirty="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000" dirty="0">
                <a:latin typeface="Calibri"/>
                <a:cs typeface="Calibri"/>
              </a:rPr>
              <a:t>biomarcador</a:t>
            </a:r>
            <a:r>
              <a:rPr sz="2000" spc="-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necrosis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miocárdica.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Arial"/>
                <a:cs typeface="Arial"/>
              </a:rPr>
              <a:t>LESIÓN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MIOCÁRDICA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245"/>
              </a:spcBef>
            </a:pPr>
            <a:r>
              <a:rPr sz="2000" dirty="0">
                <a:latin typeface="Calibri"/>
                <a:cs typeface="Calibri"/>
              </a:rPr>
              <a:t>Liberación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troponinas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por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distinto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mecanismo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isquemia.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792" y="126"/>
            <a:ext cx="14630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6FC0"/>
                </a:solidFill>
                <a:latin typeface="Arial"/>
                <a:cs typeface="Arial"/>
              </a:rPr>
              <a:t>2.</a:t>
            </a:r>
            <a:r>
              <a:rPr sz="1400" b="1" spc="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Arial"/>
                <a:cs typeface="Arial"/>
              </a:rPr>
              <a:t>Definiciones </a:t>
            </a:r>
            <a:r>
              <a:rPr sz="1400" b="1" spc="-25" dirty="0">
                <a:solidFill>
                  <a:srgbClr val="006FC0"/>
                </a:solidFill>
                <a:latin typeface="Arial"/>
                <a:cs typeface="Arial"/>
              </a:rPr>
              <a:t>**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Síndrome</a:t>
            </a:r>
            <a:r>
              <a:rPr spc="-125" dirty="0"/>
              <a:t> </a:t>
            </a:r>
            <a:r>
              <a:rPr dirty="0"/>
              <a:t>coronario</a:t>
            </a:r>
            <a:r>
              <a:rPr spc="-135" dirty="0"/>
              <a:t> </a:t>
            </a:r>
            <a:r>
              <a:rPr spc="-10" dirty="0"/>
              <a:t>agudo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792" y="1524746"/>
            <a:ext cx="9426402" cy="3402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695" marR="6350" indent="-340995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solidFill>
                  <a:srgbClr val="4F81BC"/>
                </a:solidFill>
                <a:latin typeface="Calibri"/>
                <a:cs typeface="Calibri"/>
              </a:rPr>
              <a:t>Los</a:t>
            </a:r>
            <a:r>
              <a:rPr sz="2400" b="1" spc="695" dirty="0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C"/>
                </a:solidFill>
                <a:latin typeface="Calibri"/>
                <a:cs typeface="Calibri"/>
              </a:rPr>
              <a:t>síndromes</a:t>
            </a:r>
            <a:r>
              <a:rPr sz="2400" b="1" spc="30" dirty="0">
                <a:solidFill>
                  <a:srgbClr val="4F81BC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4F81BC"/>
                </a:solidFill>
                <a:latin typeface="Calibri"/>
                <a:cs typeface="Calibri"/>
              </a:rPr>
              <a:t>coronarios</a:t>
            </a:r>
            <a:r>
              <a:rPr sz="2400" b="1" spc="35" dirty="0">
                <a:solidFill>
                  <a:srgbClr val="4F81BC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4F81BC"/>
                </a:solidFill>
                <a:latin typeface="Calibri"/>
                <a:cs typeface="Calibri"/>
              </a:rPr>
              <a:t>agudos</a:t>
            </a:r>
            <a:r>
              <a:rPr sz="2400" b="1" spc="690" dirty="0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C"/>
                </a:solidFill>
                <a:latin typeface="Calibri"/>
                <a:cs typeface="Calibri"/>
              </a:rPr>
              <a:t>(SCA)</a:t>
            </a:r>
            <a:r>
              <a:rPr sz="2400" b="1" spc="30" dirty="0">
                <a:solidFill>
                  <a:srgbClr val="4F81BC"/>
                </a:solidFill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engloban</a:t>
            </a:r>
            <a:r>
              <a:rPr sz="2400" spc="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un</a:t>
            </a:r>
            <a:r>
              <a:rPr sz="2400" spc="6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espectro</a:t>
            </a:r>
            <a:r>
              <a:rPr sz="2400" spc="35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de 	</a:t>
            </a:r>
            <a:r>
              <a:rPr sz="2400" dirty="0">
                <a:latin typeface="Calibri"/>
                <a:cs typeface="Calibri"/>
              </a:rPr>
              <a:t>entidades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incluyen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pacientes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presentan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cambios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recientes 	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3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los</a:t>
            </a:r>
            <a:r>
              <a:rPr sz="2400" spc="39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signos</a:t>
            </a:r>
            <a:r>
              <a:rPr sz="2400" spc="38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38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síntomas</a:t>
            </a:r>
            <a:r>
              <a:rPr sz="2400" spc="40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clínicos,</a:t>
            </a:r>
            <a:r>
              <a:rPr sz="2400" spc="3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con</a:t>
            </a:r>
            <a:r>
              <a:rPr sz="2400" spc="3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38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sin</a:t>
            </a:r>
            <a:r>
              <a:rPr sz="2400" spc="39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cambios</a:t>
            </a:r>
            <a:r>
              <a:rPr sz="2400" spc="39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380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el 	</a:t>
            </a:r>
            <a:r>
              <a:rPr sz="2400" dirty="0">
                <a:latin typeface="Calibri"/>
                <a:cs typeface="Calibri"/>
              </a:rPr>
              <a:t>electrocardiograma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12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derivaciones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(ECG)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elevaciones 	</a:t>
            </a:r>
            <a:r>
              <a:rPr sz="2400" dirty="0">
                <a:latin typeface="Calibri"/>
                <a:cs typeface="Calibri"/>
              </a:rPr>
              <a:t>agudas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concentración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troponina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cardiaca</a:t>
            </a:r>
            <a:endParaRPr sz="2400" dirty="0">
              <a:latin typeface="Calibri"/>
              <a:cs typeface="Calibri"/>
            </a:endParaRPr>
          </a:p>
          <a:p>
            <a:pPr marL="354330" marR="6350" indent="-341630" algn="just">
              <a:lnSpc>
                <a:spcPct val="100000"/>
              </a:lnSpc>
              <a:spcBef>
                <a:spcPts val="336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El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concepto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2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SCA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engloba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una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serie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2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situaciones</a:t>
            </a:r>
            <a:r>
              <a:rPr sz="2400" spc="2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clínicas</a:t>
            </a:r>
            <a:r>
              <a:rPr sz="2400" spc="3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se 	</a:t>
            </a:r>
            <a:r>
              <a:rPr sz="2400" dirty="0">
                <a:latin typeface="Calibri"/>
                <a:cs typeface="Calibri"/>
              </a:rPr>
              <a:t>producen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torno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sustrato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fisiopatológico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común: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ruptura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	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placa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ateroma.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792" y="126"/>
            <a:ext cx="14630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6FC0"/>
                </a:solidFill>
                <a:latin typeface="Arial"/>
                <a:cs typeface="Arial"/>
              </a:rPr>
              <a:t>2.</a:t>
            </a:r>
            <a:r>
              <a:rPr sz="1400" b="1" spc="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Arial"/>
                <a:cs typeface="Arial"/>
              </a:rPr>
              <a:t>Definiciones </a:t>
            </a:r>
            <a:r>
              <a:rPr sz="1400" b="1" spc="-25" dirty="0">
                <a:solidFill>
                  <a:srgbClr val="006FC0"/>
                </a:solidFill>
                <a:latin typeface="Arial"/>
                <a:cs typeface="Arial"/>
              </a:rPr>
              <a:t>**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06823" y="1075942"/>
            <a:ext cx="6343015" cy="5782310"/>
            <a:chOff x="4306823" y="1075942"/>
            <a:chExt cx="6343015" cy="5782310"/>
          </a:xfrm>
        </p:grpSpPr>
        <p:pic>
          <p:nvPicPr>
            <p:cNvPr id="3" name="object 3" descr="escudo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51064" y="4479034"/>
              <a:ext cx="2898648" cy="237591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06823" y="1075942"/>
              <a:ext cx="5201412" cy="5782054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Clasificación</a:t>
            </a:r>
            <a:r>
              <a:rPr spc="-95" dirty="0"/>
              <a:t> </a:t>
            </a:r>
            <a:r>
              <a:rPr dirty="0"/>
              <a:t>del</a:t>
            </a:r>
            <a:r>
              <a:rPr spc="-95" dirty="0"/>
              <a:t> </a:t>
            </a:r>
            <a:r>
              <a:rPr spc="-25" dirty="0"/>
              <a:t>SCA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792" y="126"/>
            <a:ext cx="14585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6FC0"/>
                </a:solidFill>
                <a:latin typeface="Arial"/>
                <a:cs typeface="Arial"/>
              </a:rPr>
              <a:t>3.</a:t>
            </a:r>
            <a:r>
              <a:rPr sz="14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Arial"/>
                <a:cs typeface="Arial"/>
              </a:rPr>
              <a:t>Clasificación**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" dirty="0">
                <a:latin typeface="Calibri"/>
                <a:cs typeface="Calibri"/>
              </a:rPr>
              <a:t>Índice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82317" y="1369009"/>
            <a:ext cx="475996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indent="-30162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Introducción</a:t>
            </a:r>
            <a:endParaRPr sz="2400">
              <a:latin typeface="Calibri"/>
              <a:cs typeface="Calibri"/>
            </a:endParaRPr>
          </a:p>
          <a:p>
            <a:pPr marL="246379" indent="-243204">
              <a:lnSpc>
                <a:spcPct val="100000"/>
              </a:lnSpc>
              <a:spcBef>
                <a:spcPts val="5"/>
              </a:spcBef>
              <a:buSzPct val="93750"/>
              <a:buAutoNum type="arabicPeriod"/>
              <a:tabLst>
                <a:tab pos="246379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Definiciones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/>
              <a:tabLst>
                <a:tab pos="314325" algn="l"/>
              </a:tabLst>
            </a:pPr>
            <a:r>
              <a:rPr sz="2400" b="1" spc="-10" dirty="0">
                <a:latin typeface="Calibri"/>
                <a:cs typeface="Calibri"/>
              </a:rPr>
              <a:t>Clasificación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D9D9D9"/>
                </a:solidFill>
                <a:latin typeface="Calibri"/>
                <a:cs typeface="Calibri"/>
              </a:rPr>
              <a:t>3.</a:t>
            </a:r>
            <a:r>
              <a:rPr sz="2400" b="1" spc="-1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Patogenia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 startAt="5"/>
              <a:tabLst>
                <a:tab pos="314325" algn="l"/>
              </a:tabLst>
            </a:pPr>
            <a:r>
              <a:rPr sz="2400" b="1" dirty="0">
                <a:solidFill>
                  <a:srgbClr val="D9D9D9"/>
                </a:solidFill>
                <a:latin typeface="Calibri"/>
                <a:cs typeface="Calibri"/>
              </a:rPr>
              <a:t>Historia</a:t>
            </a:r>
            <a:r>
              <a:rPr sz="2400" b="1" spc="-8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clínica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 startAt="5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Electrocardiograma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 startAt="5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Biomarcadores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 startAt="5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Tratamiento: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38239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Manejo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buAutoNum type="arabicPeriod"/>
              <a:tabLst>
                <a:tab pos="1382395" algn="l"/>
              </a:tabLst>
            </a:pPr>
            <a:r>
              <a:rPr sz="2400" b="1" spc="-30" dirty="0">
                <a:solidFill>
                  <a:srgbClr val="D9D9D9"/>
                </a:solidFill>
                <a:latin typeface="Calibri"/>
                <a:cs typeface="Calibri"/>
              </a:rPr>
              <a:t>Tratamiento</a:t>
            </a:r>
            <a:r>
              <a:rPr sz="2400" b="1" spc="-6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médico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buAutoNum type="arabicPeriod"/>
              <a:tabLst>
                <a:tab pos="1382395" algn="l"/>
              </a:tabLst>
            </a:pPr>
            <a:r>
              <a:rPr sz="2400" b="1" spc="-30" dirty="0">
                <a:solidFill>
                  <a:srgbClr val="D9D9D9"/>
                </a:solidFill>
                <a:latin typeface="Calibri"/>
                <a:cs typeface="Calibri"/>
              </a:rPr>
              <a:t>Tratamiento</a:t>
            </a:r>
            <a:r>
              <a:rPr sz="2400" b="1" spc="-6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antiagregante</a:t>
            </a:r>
            <a:endParaRPr sz="2400">
              <a:latin typeface="Calibri"/>
              <a:cs typeface="Calibri"/>
            </a:endParaRPr>
          </a:p>
          <a:p>
            <a:pPr marL="1381760" lvl="1" indent="-454659">
              <a:lnSpc>
                <a:spcPct val="100000"/>
              </a:lnSpc>
              <a:buAutoNum type="arabicPeriod"/>
              <a:tabLst>
                <a:tab pos="1381760" algn="l"/>
              </a:tabLst>
            </a:pPr>
            <a:r>
              <a:rPr sz="2400" b="1" spc="-30" dirty="0">
                <a:solidFill>
                  <a:srgbClr val="D9D9D9"/>
                </a:solidFill>
                <a:latin typeface="Calibri"/>
                <a:cs typeface="Calibri"/>
              </a:rPr>
              <a:t>Terapias</a:t>
            </a:r>
            <a:r>
              <a:rPr sz="2400" b="1" spc="-6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D9D9D9"/>
                </a:solidFill>
                <a:latin typeface="Calibri"/>
                <a:cs typeface="Calibri"/>
              </a:rPr>
              <a:t>de</a:t>
            </a:r>
            <a:r>
              <a:rPr sz="2400" b="1" spc="-5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reperfusión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39695" y="1226819"/>
            <a:ext cx="8510270" cy="5628640"/>
            <a:chOff x="2139695" y="1226819"/>
            <a:chExt cx="8510270" cy="5628640"/>
          </a:xfrm>
        </p:grpSpPr>
        <p:pic>
          <p:nvPicPr>
            <p:cNvPr id="3" name="object 3" descr="escudo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51063" y="4479034"/>
              <a:ext cx="2898648" cy="237591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9695" y="1226819"/>
              <a:ext cx="7149083" cy="492252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Clasificación</a:t>
            </a:r>
            <a:r>
              <a:rPr spc="-95" dirty="0"/>
              <a:t> </a:t>
            </a:r>
            <a:r>
              <a:rPr dirty="0"/>
              <a:t>del</a:t>
            </a:r>
            <a:r>
              <a:rPr spc="-95" dirty="0"/>
              <a:t> </a:t>
            </a:r>
            <a:r>
              <a:rPr spc="-25" dirty="0"/>
              <a:t>SCA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792" y="126"/>
            <a:ext cx="14585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6FC0"/>
                </a:solidFill>
                <a:latin typeface="Arial"/>
                <a:cs typeface="Arial"/>
              </a:rPr>
              <a:t>3.</a:t>
            </a:r>
            <a:r>
              <a:rPr sz="14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Arial"/>
                <a:cs typeface="Arial"/>
              </a:rPr>
              <a:t>Clasificación**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2855" y="432816"/>
            <a:ext cx="10686288" cy="59923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Clasificación</a:t>
            </a:r>
            <a:r>
              <a:rPr spc="-95" dirty="0"/>
              <a:t> </a:t>
            </a:r>
            <a:r>
              <a:rPr dirty="0"/>
              <a:t>del</a:t>
            </a:r>
            <a:r>
              <a:rPr spc="-95" dirty="0"/>
              <a:t> </a:t>
            </a:r>
            <a:r>
              <a:rPr spc="-25" dirty="0"/>
              <a:t>SCA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59148" y="6544157"/>
            <a:ext cx="35280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ESC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GUIDELINES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European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Heart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Journal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2011.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32,</a:t>
            </a:r>
            <a:r>
              <a:rPr sz="1100" spc="-10" dirty="0">
                <a:latin typeface="Calibri"/>
                <a:cs typeface="Calibri"/>
              </a:rPr>
              <a:t> 2999-</a:t>
            </a:r>
            <a:r>
              <a:rPr sz="1100" spc="-20" dirty="0">
                <a:latin typeface="Calibri"/>
                <a:cs typeface="Calibri"/>
              </a:rPr>
              <a:t>3054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792" y="126"/>
            <a:ext cx="14585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6FC0"/>
                </a:solidFill>
                <a:latin typeface="Arial"/>
                <a:cs typeface="Arial"/>
              </a:rPr>
              <a:t>3.</a:t>
            </a:r>
            <a:r>
              <a:rPr sz="14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Arial"/>
                <a:cs typeface="Arial"/>
              </a:rPr>
              <a:t>Clasificación**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2511" y="1048510"/>
            <a:ext cx="7228332" cy="57317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" dirty="0">
                <a:latin typeface="Calibri"/>
                <a:cs typeface="Calibri"/>
              </a:rPr>
              <a:t>Índice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82317" y="1369009"/>
            <a:ext cx="475996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indent="-30162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Introducción</a:t>
            </a:r>
            <a:endParaRPr sz="2400">
              <a:latin typeface="Calibri"/>
              <a:cs typeface="Calibri"/>
            </a:endParaRPr>
          </a:p>
          <a:p>
            <a:pPr marL="246379" indent="-243204">
              <a:lnSpc>
                <a:spcPct val="100000"/>
              </a:lnSpc>
              <a:spcBef>
                <a:spcPts val="5"/>
              </a:spcBef>
              <a:buSzPct val="93750"/>
              <a:buAutoNum type="arabicPeriod"/>
              <a:tabLst>
                <a:tab pos="246379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Definiciones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Clasificación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/>
              <a:tabLst>
                <a:tab pos="314325" algn="l"/>
              </a:tabLst>
            </a:pPr>
            <a:r>
              <a:rPr sz="2400" b="1" spc="-10" dirty="0">
                <a:latin typeface="Calibri"/>
                <a:cs typeface="Calibri"/>
              </a:rPr>
              <a:t>Patogenia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/>
              <a:tabLst>
                <a:tab pos="314325" algn="l"/>
              </a:tabLst>
            </a:pPr>
            <a:r>
              <a:rPr sz="2400" b="1" dirty="0">
                <a:solidFill>
                  <a:srgbClr val="D9D9D9"/>
                </a:solidFill>
                <a:latin typeface="Calibri"/>
                <a:cs typeface="Calibri"/>
              </a:rPr>
              <a:t>Historia</a:t>
            </a:r>
            <a:r>
              <a:rPr sz="2400" b="1" spc="-8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clínica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Electrocardiograma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Biomarcadores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Tratamiento: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38239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Manejo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buAutoNum type="arabicPeriod"/>
              <a:tabLst>
                <a:tab pos="1382395" algn="l"/>
              </a:tabLst>
            </a:pPr>
            <a:r>
              <a:rPr sz="2400" b="1" spc="-30" dirty="0">
                <a:solidFill>
                  <a:srgbClr val="D9D9D9"/>
                </a:solidFill>
                <a:latin typeface="Calibri"/>
                <a:cs typeface="Calibri"/>
              </a:rPr>
              <a:t>Tratamiento</a:t>
            </a:r>
            <a:r>
              <a:rPr sz="2400" b="1" spc="-6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médico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buAutoNum type="arabicPeriod"/>
              <a:tabLst>
                <a:tab pos="1382395" algn="l"/>
              </a:tabLst>
            </a:pPr>
            <a:r>
              <a:rPr sz="2400" b="1" spc="-30" dirty="0">
                <a:solidFill>
                  <a:srgbClr val="D9D9D9"/>
                </a:solidFill>
                <a:latin typeface="Calibri"/>
                <a:cs typeface="Calibri"/>
              </a:rPr>
              <a:t>Tratamiento</a:t>
            </a:r>
            <a:r>
              <a:rPr sz="2400" b="1" spc="-6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antiagregante</a:t>
            </a:r>
            <a:endParaRPr sz="2400">
              <a:latin typeface="Calibri"/>
              <a:cs typeface="Calibri"/>
            </a:endParaRPr>
          </a:p>
          <a:p>
            <a:pPr marL="1381760" lvl="1" indent="-454659">
              <a:lnSpc>
                <a:spcPct val="100000"/>
              </a:lnSpc>
              <a:buAutoNum type="arabicPeriod"/>
              <a:tabLst>
                <a:tab pos="1381760" algn="l"/>
              </a:tabLst>
            </a:pPr>
            <a:r>
              <a:rPr sz="2400" b="1" spc="-30" dirty="0">
                <a:solidFill>
                  <a:srgbClr val="D9D9D9"/>
                </a:solidFill>
                <a:latin typeface="Calibri"/>
                <a:cs typeface="Calibri"/>
              </a:rPr>
              <a:t>Terapias</a:t>
            </a:r>
            <a:r>
              <a:rPr sz="2400" b="1" spc="-6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D9D9D9"/>
                </a:solidFill>
                <a:latin typeface="Calibri"/>
                <a:cs typeface="Calibri"/>
              </a:rPr>
              <a:t>de</a:t>
            </a:r>
            <a:r>
              <a:rPr sz="2400" b="1" spc="-5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reperfusión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8340" y="611250"/>
            <a:ext cx="7340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Placas</a:t>
            </a:r>
            <a:r>
              <a:rPr spc="-105" dirty="0"/>
              <a:t> </a:t>
            </a:r>
            <a:r>
              <a:rPr dirty="0"/>
              <a:t>vulnerables</a:t>
            </a:r>
            <a:r>
              <a:rPr spc="-90" dirty="0"/>
              <a:t> </a:t>
            </a:r>
            <a:r>
              <a:rPr dirty="0"/>
              <a:t>y</a:t>
            </a:r>
            <a:r>
              <a:rPr spc="-105" dirty="0"/>
              <a:t> </a:t>
            </a:r>
            <a:r>
              <a:rPr dirty="0"/>
              <a:t>pacientes</a:t>
            </a:r>
            <a:r>
              <a:rPr spc="-95" dirty="0"/>
              <a:t> </a:t>
            </a:r>
            <a:r>
              <a:rPr spc="-10" dirty="0"/>
              <a:t>vulnerables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2994" y="93979"/>
            <a:ext cx="2692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25" dirty="0">
                <a:solidFill>
                  <a:srgbClr val="EDEBE0"/>
                </a:solidFill>
                <a:latin typeface="Calibri"/>
                <a:cs typeface="Calibri"/>
              </a:rPr>
              <a:t>02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57873" y="3102482"/>
            <a:ext cx="2545715" cy="1964689"/>
            <a:chOff x="6357873" y="3102482"/>
            <a:chExt cx="2545715" cy="1964689"/>
          </a:xfrm>
        </p:grpSpPr>
        <p:sp>
          <p:nvSpPr>
            <p:cNvPr id="5" name="object 5"/>
            <p:cNvSpPr/>
            <p:nvPr/>
          </p:nvSpPr>
          <p:spPr>
            <a:xfrm>
              <a:off x="7839455" y="3889247"/>
              <a:ext cx="1064260" cy="394970"/>
            </a:xfrm>
            <a:custGeom>
              <a:avLst/>
              <a:gdLst/>
              <a:ahLst/>
              <a:cxnLst/>
              <a:rect l="l" t="t" r="r" b="b"/>
              <a:pathLst>
                <a:path w="1064259" h="394970">
                  <a:moveTo>
                    <a:pt x="679450" y="0"/>
                  </a:moveTo>
                  <a:lnTo>
                    <a:pt x="679450" y="100329"/>
                  </a:lnTo>
                  <a:lnTo>
                    <a:pt x="0" y="100329"/>
                  </a:lnTo>
                  <a:lnTo>
                    <a:pt x="0" y="294385"/>
                  </a:lnTo>
                  <a:lnTo>
                    <a:pt x="679450" y="294385"/>
                  </a:lnTo>
                  <a:lnTo>
                    <a:pt x="679450" y="394715"/>
                  </a:lnTo>
                  <a:lnTo>
                    <a:pt x="1063752" y="197357"/>
                  </a:lnTo>
                  <a:lnTo>
                    <a:pt x="679450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06502" y="3437127"/>
              <a:ext cx="1387475" cy="1456690"/>
            </a:xfrm>
            <a:custGeom>
              <a:avLst/>
              <a:gdLst/>
              <a:ahLst/>
              <a:cxnLst/>
              <a:rect l="l" t="t" r="r" b="b"/>
              <a:pathLst>
                <a:path w="1387475" h="1456689">
                  <a:moveTo>
                    <a:pt x="1387119" y="648843"/>
                  </a:moveTo>
                  <a:lnTo>
                    <a:pt x="1386128" y="607949"/>
                  </a:lnTo>
                  <a:lnTo>
                    <a:pt x="1386116" y="607060"/>
                  </a:lnTo>
                  <a:lnTo>
                    <a:pt x="1383169" y="567563"/>
                  </a:lnTo>
                  <a:lnTo>
                    <a:pt x="1378115" y="525526"/>
                  </a:lnTo>
                  <a:lnTo>
                    <a:pt x="1371257" y="485775"/>
                  </a:lnTo>
                  <a:lnTo>
                    <a:pt x="1362494" y="446659"/>
                  </a:lnTo>
                  <a:lnTo>
                    <a:pt x="1352080" y="408305"/>
                  </a:lnTo>
                  <a:lnTo>
                    <a:pt x="1339761" y="370840"/>
                  </a:lnTo>
                  <a:lnTo>
                    <a:pt x="1325791" y="334137"/>
                  </a:lnTo>
                  <a:lnTo>
                    <a:pt x="1310170" y="298323"/>
                  </a:lnTo>
                  <a:lnTo>
                    <a:pt x="1293025" y="263525"/>
                  </a:lnTo>
                  <a:lnTo>
                    <a:pt x="1274229" y="229743"/>
                  </a:lnTo>
                  <a:lnTo>
                    <a:pt x="1253909" y="196977"/>
                  </a:lnTo>
                  <a:lnTo>
                    <a:pt x="1232192" y="165227"/>
                  </a:lnTo>
                  <a:lnTo>
                    <a:pt x="1209078" y="134747"/>
                  </a:lnTo>
                  <a:lnTo>
                    <a:pt x="1184567" y="105410"/>
                  </a:lnTo>
                  <a:lnTo>
                    <a:pt x="1158659" y="77343"/>
                  </a:lnTo>
                  <a:lnTo>
                    <a:pt x="1103287" y="25273"/>
                  </a:lnTo>
                  <a:lnTo>
                    <a:pt x="1072095" y="0"/>
                  </a:lnTo>
                  <a:lnTo>
                    <a:pt x="1093355" y="22034"/>
                  </a:lnTo>
                  <a:lnTo>
                    <a:pt x="1122654" y="56045"/>
                  </a:lnTo>
                  <a:lnTo>
                    <a:pt x="1134033" y="70866"/>
                  </a:lnTo>
                  <a:lnTo>
                    <a:pt x="1150086" y="91757"/>
                  </a:lnTo>
                  <a:lnTo>
                    <a:pt x="1175550" y="129082"/>
                  </a:lnTo>
                  <a:lnTo>
                    <a:pt x="1198981" y="167957"/>
                  </a:lnTo>
                  <a:lnTo>
                    <a:pt x="1220266" y="208229"/>
                  </a:lnTo>
                  <a:lnTo>
                    <a:pt x="1239367" y="249872"/>
                  </a:lnTo>
                  <a:lnTo>
                    <a:pt x="1256182" y="292811"/>
                  </a:lnTo>
                  <a:lnTo>
                    <a:pt x="1270635" y="336931"/>
                  </a:lnTo>
                  <a:lnTo>
                    <a:pt x="1282636" y="382168"/>
                  </a:lnTo>
                  <a:lnTo>
                    <a:pt x="1292110" y="428434"/>
                  </a:lnTo>
                  <a:lnTo>
                    <a:pt x="1298981" y="475627"/>
                  </a:lnTo>
                  <a:lnTo>
                    <a:pt x="1303159" y="523684"/>
                  </a:lnTo>
                  <a:lnTo>
                    <a:pt x="1304582" y="572516"/>
                  </a:lnTo>
                  <a:lnTo>
                    <a:pt x="1303159" y="621360"/>
                  </a:lnTo>
                  <a:lnTo>
                    <a:pt x="1298981" y="669417"/>
                  </a:lnTo>
                  <a:lnTo>
                    <a:pt x="1292110" y="716610"/>
                  </a:lnTo>
                  <a:lnTo>
                    <a:pt x="1282636" y="762876"/>
                  </a:lnTo>
                  <a:lnTo>
                    <a:pt x="1270635" y="808113"/>
                  </a:lnTo>
                  <a:lnTo>
                    <a:pt x="1256182" y="852233"/>
                  </a:lnTo>
                  <a:lnTo>
                    <a:pt x="1239367" y="895172"/>
                  </a:lnTo>
                  <a:lnTo>
                    <a:pt x="1220266" y="936815"/>
                  </a:lnTo>
                  <a:lnTo>
                    <a:pt x="1198968" y="977112"/>
                  </a:lnTo>
                  <a:lnTo>
                    <a:pt x="1175550" y="1015961"/>
                  </a:lnTo>
                  <a:lnTo>
                    <a:pt x="1150061" y="1053312"/>
                  </a:lnTo>
                  <a:lnTo>
                    <a:pt x="1122654" y="1088999"/>
                  </a:lnTo>
                  <a:lnTo>
                    <a:pt x="1093355" y="1123010"/>
                  </a:lnTo>
                  <a:lnTo>
                    <a:pt x="1062253" y="1155242"/>
                  </a:lnTo>
                  <a:lnTo>
                    <a:pt x="1029436" y="1185608"/>
                  </a:lnTo>
                  <a:lnTo>
                    <a:pt x="994981" y="1214031"/>
                  </a:lnTo>
                  <a:lnTo>
                    <a:pt x="958977" y="1240421"/>
                  </a:lnTo>
                  <a:lnTo>
                    <a:pt x="921486" y="1264704"/>
                  </a:lnTo>
                  <a:lnTo>
                    <a:pt x="882611" y="1286776"/>
                  </a:lnTo>
                  <a:lnTo>
                    <a:pt x="842416" y="1306563"/>
                  </a:lnTo>
                  <a:lnTo>
                    <a:pt x="801001" y="1324000"/>
                  </a:lnTo>
                  <a:lnTo>
                    <a:pt x="758431" y="1338973"/>
                  </a:lnTo>
                  <a:lnTo>
                    <a:pt x="714781" y="1351407"/>
                  </a:lnTo>
                  <a:lnTo>
                    <a:pt x="670153" y="1361236"/>
                  </a:lnTo>
                  <a:lnTo>
                    <a:pt x="624624" y="1368348"/>
                  </a:lnTo>
                  <a:lnTo>
                    <a:pt x="578256" y="1372679"/>
                  </a:lnTo>
                  <a:lnTo>
                    <a:pt x="531152" y="1374140"/>
                  </a:lnTo>
                  <a:lnTo>
                    <a:pt x="484035" y="1372679"/>
                  </a:lnTo>
                  <a:lnTo>
                    <a:pt x="437667" y="1368348"/>
                  </a:lnTo>
                  <a:lnTo>
                    <a:pt x="392137" y="1361236"/>
                  </a:lnTo>
                  <a:lnTo>
                    <a:pt x="347510" y="1351407"/>
                  </a:lnTo>
                  <a:lnTo>
                    <a:pt x="303860" y="1338973"/>
                  </a:lnTo>
                  <a:lnTo>
                    <a:pt x="261289" y="1324000"/>
                  </a:lnTo>
                  <a:lnTo>
                    <a:pt x="219875" y="1306563"/>
                  </a:lnTo>
                  <a:lnTo>
                    <a:pt x="179679" y="1286776"/>
                  </a:lnTo>
                  <a:lnTo>
                    <a:pt x="140804" y="1264704"/>
                  </a:lnTo>
                  <a:lnTo>
                    <a:pt x="103314" y="1240421"/>
                  </a:lnTo>
                  <a:lnTo>
                    <a:pt x="69735" y="1215821"/>
                  </a:lnTo>
                  <a:lnTo>
                    <a:pt x="67310" y="1214031"/>
                  </a:lnTo>
                  <a:lnTo>
                    <a:pt x="34810" y="1187234"/>
                  </a:lnTo>
                  <a:lnTo>
                    <a:pt x="32854" y="1185608"/>
                  </a:lnTo>
                  <a:lnTo>
                    <a:pt x="0" y="1155280"/>
                  </a:lnTo>
                  <a:lnTo>
                    <a:pt x="5626" y="1162685"/>
                  </a:lnTo>
                  <a:lnTo>
                    <a:pt x="30137" y="1192022"/>
                  </a:lnTo>
                  <a:lnTo>
                    <a:pt x="56045" y="1220089"/>
                  </a:lnTo>
                  <a:lnTo>
                    <a:pt x="111417" y="1272159"/>
                  </a:lnTo>
                  <a:lnTo>
                    <a:pt x="171361" y="1318768"/>
                  </a:lnTo>
                  <a:lnTo>
                    <a:pt x="235750" y="1359154"/>
                  </a:lnTo>
                  <a:lnTo>
                    <a:pt x="269405" y="1377061"/>
                  </a:lnTo>
                  <a:lnTo>
                    <a:pt x="303949" y="1393190"/>
                  </a:lnTo>
                  <a:lnTo>
                    <a:pt x="339382" y="1407668"/>
                  </a:lnTo>
                  <a:lnTo>
                    <a:pt x="375577" y="1420368"/>
                  </a:lnTo>
                  <a:lnTo>
                    <a:pt x="412534" y="1431290"/>
                  </a:lnTo>
                  <a:lnTo>
                    <a:pt x="450380" y="1440307"/>
                  </a:lnTo>
                  <a:lnTo>
                    <a:pt x="488734" y="1447419"/>
                  </a:lnTo>
                  <a:lnTo>
                    <a:pt x="527723" y="1452499"/>
                  </a:lnTo>
                  <a:lnTo>
                    <a:pt x="567347" y="1455674"/>
                  </a:lnTo>
                  <a:lnTo>
                    <a:pt x="607479" y="1456690"/>
                  </a:lnTo>
                  <a:lnTo>
                    <a:pt x="647611" y="1455674"/>
                  </a:lnTo>
                  <a:lnTo>
                    <a:pt x="687235" y="1452499"/>
                  </a:lnTo>
                  <a:lnTo>
                    <a:pt x="726351" y="1447292"/>
                  </a:lnTo>
                  <a:lnTo>
                    <a:pt x="744156" y="1443990"/>
                  </a:lnTo>
                  <a:lnTo>
                    <a:pt x="764705" y="1440180"/>
                  </a:lnTo>
                  <a:lnTo>
                    <a:pt x="801890" y="1431290"/>
                  </a:lnTo>
                  <a:lnTo>
                    <a:pt x="839076" y="1420368"/>
                  </a:lnTo>
                  <a:lnTo>
                    <a:pt x="875334" y="1407668"/>
                  </a:lnTo>
                  <a:lnTo>
                    <a:pt x="910818" y="1393190"/>
                  </a:lnTo>
                  <a:lnTo>
                    <a:pt x="945400" y="1377061"/>
                  </a:lnTo>
                  <a:lnTo>
                    <a:pt x="1011758" y="1339723"/>
                  </a:lnTo>
                  <a:lnTo>
                    <a:pt x="1043597" y="1318514"/>
                  </a:lnTo>
                  <a:lnTo>
                    <a:pt x="1103376" y="1272159"/>
                  </a:lnTo>
                  <a:lnTo>
                    <a:pt x="1158913" y="1219835"/>
                  </a:lnTo>
                  <a:lnTo>
                    <a:pt x="1184694" y="1191768"/>
                  </a:lnTo>
                  <a:lnTo>
                    <a:pt x="1209205" y="1162431"/>
                  </a:lnTo>
                  <a:lnTo>
                    <a:pt x="1232319" y="1131951"/>
                  </a:lnTo>
                  <a:lnTo>
                    <a:pt x="1254036" y="1100201"/>
                  </a:lnTo>
                  <a:lnTo>
                    <a:pt x="1274356" y="1067435"/>
                  </a:lnTo>
                  <a:lnTo>
                    <a:pt x="1293152" y="1033653"/>
                  </a:lnTo>
                  <a:lnTo>
                    <a:pt x="1310297" y="998728"/>
                  </a:lnTo>
                  <a:lnTo>
                    <a:pt x="1325918" y="963041"/>
                  </a:lnTo>
                  <a:lnTo>
                    <a:pt x="1339888" y="926338"/>
                  </a:lnTo>
                  <a:lnTo>
                    <a:pt x="1352080" y="888746"/>
                  </a:lnTo>
                  <a:lnTo>
                    <a:pt x="1362621" y="850392"/>
                  </a:lnTo>
                  <a:lnTo>
                    <a:pt x="1371384" y="811403"/>
                  </a:lnTo>
                  <a:lnTo>
                    <a:pt x="1378115" y="771525"/>
                  </a:lnTo>
                  <a:lnTo>
                    <a:pt x="1383068" y="731139"/>
                  </a:lnTo>
                  <a:lnTo>
                    <a:pt x="1386116" y="690118"/>
                  </a:lnTo>
                  <a:lnTo>
                    <a:pt x="1387119" y="648843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64223" y="3208019"/>
              <a:ext cx="1546859" cy="160324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64223" y="3208019"/>
              <a:ext cx="1546860" cy="1603375"/>
            </a:xfrm>
            <a:custGeom>
              <a:avLst/>
              <a:gdLst/>
              <a:ahLst/>
              <a:cxnLst/>
              <a:rect l="l" t="t" r="r" b="b"/>
              <a:pathLst>
                <a:path w="1546859" h="1603375">
                  <a:moveTo>
                    <a:pt x="0" y="801623"/>
                  </a:moveTo>
                  <a:lnTo>
                    <a:pt x="1411" y="752791"/>
                  </a:lnTo>
                  <a:lnTo>
                    <a:pt x="5592" y="704732"/>
                  </a:lnTo>
                  <a:lnTo>
                    <a:pt x="12462" y="657531"/>
                  </a:lnTo>
                  <a:lnTo>
                    <a:pt x="21940" y="611272"/>
                  </a:lnTo>
                  <a:lnTo>
                    <a:pt x="33944" y="566037"/>
                  </a:lnTo>
                  <a:lnTo>
                    <a:pt x="48393" y="521912"/>
                  </a:lnTo>
                  <a:lnTo>
                    <a:pt x="65208" y="478980"/>
                  </a:lnTo>
                  <a:lnTo>
                    <a:pt x="84306" y="437324"/>
                  </a:lnTo>
                  <a:lnTo>
                    <a:pt x="105607" y="397030"/>
                  </a:lnTo>
                  <a:lnTo>
                    <a:pt x="129030" y="358180"/>
                  </a:lnTo>
                  <a:lnTo>
                    <a:pt x="154494" y="320858"/>
                  </a:lnTo>
                  <a:lnTo>
                    <a:pt x="181918" y="285148"/>
                  </a:lnTo>
                  <a:lnTo>
                    <a:pt x="211221" y="251135"/>
                  </a:lnTo>
                  <a:lnTo>
                    <a:pt x="242322" y="218902"/>
                  </a:lnTo>
                  <a:lnTo>
                    <a:pt x="275140" y="188532"/>
                  </a:lnTo>
                  <a:lnTo>
                    <a:pt x="309594" y="160110"/>
                  </a:lnTo>
                  <a:lnTo>
                    <a:pt x="345604" y="133720"/>
                  </a:lnTo>
                  <a:lnTo>
                    <a:pt x="383088" y="109445"/>
                  </a:lnTo>
                  <a:lnTo>
                    <a:pt x="421965" y="87370"/>
                  </a:lnTo>
                  <a:lnTo>
                    <a:pt x="462155" y="67577"/>
                  </a:lnTo>
                  <a:lnTo>
                    <a:pt x="503576" y="50151"/>
                  </a:lnTo>
                  <a:lnTo>
                    <a:pt x="546148" y="35177"/>
                  </a:lnTo>
                  <a:lnTo>
                    <a:pt x="589789" y="22736"/>
                  </a:lnTo>
                  <a:lnTo>
                    <a:pt x="634418" y="12915"/>
                  </a:lnTo>
                  <a:lnTo>
                    <a:pt x="679956" y="5796"/>
                  </a:lnTo>
                  <a:lnTo>
                    <a:pt x="726320" y="1462"/>
                  </a:lnTo>
                  <a:lnTo>
                    <a:pt x="773429" y="0"/>
                  </a:lnTo>
                  <a:lnTo>
                    <a:pt x="820539" y="1462"/>
                  </a:lnTo>
                  <a:lnTo>
                    <a:pt x="866903" y="5796"/>
                  </a:lnTo>
                  <a:lnTo>
                    <a:pt x="912441" y="12915"/>
                  </a:lnTo>
                  <a:lnTo>
                    <a:pt x="957070" y="22736"/>
                  </a:lnTo>
                  <a:lnTo>
                    <a:pt x="1000711" y="35177"/>
                  </a:lnTo>
                  <a:lnTo>
                    <a:pt x="1043283" y="50151"/>
                  </a:lnTo>
                  <a:lnTo>
                    <a:pt x="1084704" y="67577"/>
                  </a:lnTo>
                  <a:lnTo>
                    <a:pt x="1124894" y="87370"/>
                  </a:lnTo>
                  <a:lnTo>
                    <a:pt x="1163771" y="109445"/>
                  </a:lnTo>
                  <a:lnTo>
                    <a:pt x="1201255" y="133720"/>
                  </a:lnTo>
                  <a:lnTo>
                    <a:pt x="1237265" y="160110"/>
                  </a:lnTo>
                  <a:lnTo>
                    <a:pt x="1271719" y="188532"/>
                  </a:lnTo>
                  <a:lnTo>
                    <a:pt x="1304537" y="218902"/>
                  </a:lnTo>
                  <a:lnTo>
                    <a:pt x="1335638" y="251135"/>
                  </a:lnTo>
                  <a:lnTo>
                    <a:pt x="1364941" y="285148"/>
                  </a:lnTo>
                  <a:lnTo>
                    <a:pt x="1392365" y="320858"/>
                  </a:lnTo>
                  <a:lnTo>
                    <a:pt x="1417829" y="358180"/>
                  </a:lnTo>
                  <a:lnTo>
                    <a:pt x="1441252" y="397030"/>
                  </a:lnTo>
                  <a:lnTo>
                    <a:pt x="1462553" y="437324"/>
                  </a:lnTo>
                  <a:lnTo>
                    <a:pt x="1481651" y="478980"/>
                  </a:lnTo>
                  <a:lnTo>
                    <a:pt x="1498466" y="521912"/>
                  </a:lnTo>
                  <a:lnTo>
                    <a:pt x="1512915" y="566037"/>
                  </a:lnTo>
                  <a:lnTo>
                    <a:pt x="1524919" y="611272"/>
                  </a:lnTo>
                  <a:lnTo>
                    <a:pt x="1534397" y="657531"/>
                  </a:lnTo>
                  <a:lnTo>
                    <a:pt x="1541267" y="704732"/>
                  </a:lnTo>
                  <a:lnTo>
                    <a:pt x="1545448" y="752791"/>
                  </a:lnTo>
                  <a:lnTo>
                    <a:pt x="1546859" y="801623"/>
                  </a:lnTo>
                  <a:lnTo>
                    <a:pt x="1545448" y="850456"/>
                  </a:lnTo>
                  <a:lnTo>
                    <a:pt x="1541267" y="898515"/>
                  </a:lnTo>
                  <a:lnTo>
                    <a:pt x="1534397" y="945716"/>
                  </a:lnTo>
                  <a:lnTo>
                    <a:pt x="1524919" y="991975"/>
                  </a:lnTo>
                  <a:lnTo>
                    <a:pt x="1512915" y="1037210"/>
                  </a:lnTo>
                  <a:lnTo>
                    <a:pt x="1498466" y="1081335"/>
                  </a:lnTo>
                  <a:lnTo>
                    <a:pt x="1481651" y="1124267"/>
                  </a:lnTo>
                  <a:lnTo>
                    <a:pt x="1462553" y="1165923"/>
                  </a:lnTo>
                  <a:lnTo>
                    <a:pt x="1441252" y="1206217"/>
                  </a:lnTo>
                  <a:lnTo>
                    <a:pt x="1417829" y="1245067"/>
                  </a:lnTo>
                  <a:lnTo>
                    <a:pt x="1392365" y="1282389"/>
                  </a:lnTo>
                  <a:lnTo>
                    <a:pt x="1364941" y="1318099"/>
                  </a:lnTo>
                  <a:lnTo>
                    <a:pt x="1335638" y="1352112"/>
                  </a:lnTo>
                  <a:lnTo>
                    <a:pt x="1304537" y="1384345"/>
                  </a:lnTo>
                  <a:lnTo>
                    <a:pt x="1271719" y="1414715"/>
                  </a:lnTo>
                  <a:lnTo>
                    <a:pt x="1237265" y="1443137"/>
                  </a:lnTo>
                  <a:lnTo>
                    <a:pt x="1201255" y="1469527"/>
                  </a:lnTo>
                  <a:lnTo>
                    <a:pt x="1163771" y="1493802"/>
                  </a:lnTo>
                  <a:lnTo>
                    <a:pt x="1124894" y="1515877"/>
                  </a:lnTo>
                  <a:lnTo>
                    <a:pt x="1084704" y="1535670"/>
                  </a:lnTo>
                  <a:lnTo>
                    <a:pt x="1043283" y="1553096"/>
                  </a:lnTo>
                  <a:lnTo>
                    <a:pt x="1000711" y="1568070"/>
                  </a:lnTo>
                  <a:lnTo>
                    <a:pt x="957070" y="1580511"/>
                  </a:lnTo>
                  <a:lnTo>
                    <a:pt x="912441" y="1590332"/>
                  </a:lnTo>
                  <a:lnTo>
                    <a:pt x="866903" y="1597451"/>
                  </a:lnTo>
                  <a:lnTo>
                    <a:pt x="820539" y="1601785"/>
                  </a:lnTo>
                  <a:lnTo>
                    <a:pt x="773429" y="1603247"/>
                  </a:lnTo>
                  <a:lnTo>
                    <a:pt x="726320" y="1601785"/>
                  </a:lnTo>
                  <a:lnTo>
                    <a:pt x="679956" y="1597451"/>
                  </a:lnTo>
                  <a:lnTo>
                    <a:pt x="634418" y="1590332"/>
                  </a:lnTo>
                  <a:lnTo>
                    <a:pt x="589789" y="1580511"/>
                  </a:lnTo>
                  <a:lnTo>
                    <a:pt x="546148" y="1568070"/>
                  </a:lnTo>
                  <a:lnTo>
                    <a:pt x="503576" y="1553096"/>
                  </a:lnTo>
                  <a:lnTo>
                    <a:pt x="462155" y="1535670"/>
                  </a:lnTo>
                  <a:lnTo>
                    <a:pt x="421965" y="1515877"/>
                  </a:lnTo>
                  <a:lnTo>
                    <a:pt x="383088" y="1493802"/>
                  </a:lnTo>
                  <a:lnTo>
                    <a:pt x="345604" y="1469527"/>
                  </a:lnTo>
                  <a:lnTo>
                    <a:pt x="309594" y="1443137"/>
                  </a:lnTo>
                  <a:lnTo>
                    <a:pt x="275140" y="1414715"/>
                  </a:lnTo>
                  <a:lnTo>
                    <a:pt x="242322" y="1384345"/>
                  </a:lnTo>
                  <a:lnTo>
                    <a:pt x="211221" y="1352112"/>
                  </a:lnTo>
                  <a:lnTo>
                    <a:pt x="181918" y="1318099"/>
                  </a:lnTo>
                  <a:lnTo>
                    <a:pt x="154494" y="1282389"/>
                  </a:lnTo>
                  <a:lnTo>
                    <a:pt x="129030" y="1245067"/>
                  </a:lnTo>
                  <a:lnTo>
                    <a:pt x="105607" y="1206217"/>
                  </a:lnTo>
                  <a:lnTo>
                    <a:pt x="84306" y="1165923"/>
                  </a:lnTo>
                  <a:lnTo>
                    <a:pt x="65208" y="1124267"/>
                  </a:lnTo>
                  <a:lnTo>
                    <a:pt x="48393" y="1081335"/>
                  </a:lnTo>
                  <a:lnTo>
                    <a:pt x="33944" y="1037210"/>
                  </a:lnTo>
                  <a:lnTo>
                    <a:pt x="21940" y="991975"/>
                  </a:lnTo>
                  <a:lnTo>
                    <a:pt x="12462" y="945716"/>
                  </a:lnTo>
                  <a:lnTo>
                    <a:pt x="5592" y="898515"/>
                  </a:lnTo>
                  <a:lnTo>
                    <a:pt x="1411" y="850456"/>
                  </a:lnTo>
                  <a:lnTo>
                    <a:pt x="0" y="801623"/>
                  </a:lnTo>
                  <a:close/>
                </a:path>
              </a:pathLst>
            </a:custGeom>
            <a:ln w="12700">
              <a:solidFill>
                <a:srgbClr val="A1C1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24243" y="3378707"/>
              <a:ext cx="1259205" cy="1229995"/>
            </a:xfrm>
            <a:custGeom>
              <a:avLst/>
              <a:gdLst/>
              <a:ahLst/>
              <a:cxnLst/>
              <a:rect l="l" t="t" r="r" b="b"/>
              <a:pathLst>
                <a:path w="1259204" h="1229995">
                  <a:moveTo>
                    <a:pt x="629411" y="0"/>
                  </a:moveTo>
                  <a:lnTo>
                    <a:pt x="580225" y="1850"/>
                  </a:lnTo>
                  <a:lnTo>
                    <a:pt x="532074" y="7309"/>
                  </a:lnTo>
                  <a:lnTo>
                    <a:pt x="485098" y="16241"/>
                  </a:lnTo>
                  <a:lnTo>
                    <a:pt x="439437" y="28509"/>
                  </a:lnTo>
                  <a:lnTo>
                    <a:pt x="395230" y="43976"/>
                  </a:lnTo>
                  <a:lnTo>
                    <a:pt x="352619" y="62506"/>
                  </a:lnTo>
                  <a:lnTo>
                    <a:pt x="311742" y="83961"/>
                  </a:lnTo>
                  <a:lnTo>
                    <a:pt x="272740" y="108204"/>
                  </a:lnTo>
                  <a:lnTo>
                    <a:pt x="235753" y="135100"/>
                  </a:lnTo>
                  <a:lnTo>
                    <a:pt x="200920" y="164511"/>
                  </a:lnTo>
                  <a:lnTo>
                    <a:pt x="168382" y="196301"/>
                  </a:lnTo>
                  <a:lnTo>
                    <a:pt x="138279" y="230332"/>
                  </a:lnTo>
                  <a:lnTo>
                    <a:pt x="110750" y="266469"/>
                  </a:lnTo>
                  <a:lnTo>
                    <a:pt x="85936" y="304574"/>
                  </a:lnTo>
                  <a:lnTo>
                    <a:pt x="63976" y="344510"/>
                  </a:lnTo>
                  <a:lnTo>
                    <a:pt x="45011" y="386141"/>
                  </a:lnTo>
                  <a:lnTo>
                    <a:pt x="29180" y="429331"/>
                  </a:lnTo>
                  <a:lnTo>
                    <a:pt x="16624" y="473941"/>
                  </a:lnTo>
                  <a:lnTo>
                    <a:pt x="7481" y="519836"/>
                  </a:lnTo>
                  <a:lnTo>
                    <a:pt x="1893" y="566879"/>
                  </a:lnTo>
                  <a:lnTo>
                    <a:pt x="0" y="614933"/>
                  </a:lnTo>
                  <a:lnTo>
                    <a:pt x="1893" y="662988"/>
                  </a:lnTo>
                  <a:lnTo>
                    <a:pt x="7481" y="710031"/>
                  </a:lnTo>
                  <a:lnTo>
                    <a:pt x="16624" y="755926"/>
                  </a:lnTo>
                  <a:lnTo>
                    <a:pt x="29180" y="800536"/>
                  </a:lnTo>
                  <a:lnTo>
                    <a:pt x="45011" y="843726"/>
                  </a:lnTo>
                  <a:lnTo>
                    <a:pt x="63976" y="885357"/>
                  </a:lnTo>
                  <a:lnTo>
                    <a:pt x="85936" y="925293"/>
                  </a:lnTo>
                  <a:lnTo>
                    <a:pt x="110750" y="963398"/>
                  </a:lnTo>
                  <a:lnTo>
                    <a:pt x="138279" y="999535"/>
                  </a:lnTo>
                  <a:lnTo>
                    <a:pt x="168382" y="1033566"/>
                  </a:lnTo>
                  <a:lnTo>
                    <a:pt x="200920" y="1065356"/>
                  </a:lnTo>
                  <a:lnTo>
                    <a:pt x="235753" y="1094767"/>
                  </a:lnTo>
                  <a:lnTo>
                    <a:pt x="272740" y="1121663"/>
                  </a:lnTo>
                  <a:lnTo>
                    <a:pt x="311742" y="1145906"/>
                  </a:lnTo>
                  <a:lnTo>
                    <a:pt x="352619" y="1167361"/>
                  </a:lnTo>
                  <a:lnTo>
                    <a:pt x="395230" y="1185891"/>
                  </a:lnTo>
                  <a:lnTo>
                    <a:pt x="439437" y="1201358"/>
                  </a:lnTo>
                  <a:lnTo>
                    <a:pt x="485098" y="1213626"/>
                  </a:lnTo>
                  <a:lnTo>
                    <a:pt x="532074" y="1222558"/>
                  </a:lnTo>
                  <a:lnTo>
                    <a:pt x="580225" y="1228017"/>
                  </a:lnTo>
                  <a:lnTo>
                    <a:pt x="629411" y="1229867"/>
                  </a:lnTo>
                  <a:lnTo>
                    <a:pt x="678598" y="1228017"/>
                  </a:lnTo>
                  <a:lnTo>
                    <a:pt x="726749" y="1222558"/>
                  </a:lnTo>
                  <a:lnTo>
                    <a:pt x="773725" y="1213626"/>
                  </a:lnTo>
                  <a:lnTo>
                    <a:pt x="819386" y="1201358"/>
                  </a:lnTo>
                  <a:lnTo>
                    <a:pt x="863593" y="1185891"/>
                  </a:lnTo>
                  <a:lnTo>
                    <a:pt x="906204" y="1167361"/>
                  </a:lnTo>
                  <a:lnTo>
                    <a:pt x="947081" y="1145906"/>
                  </a:lnTo>
                  <a:lnTo>
                    <a:pt x="986083" y="1121663"/>
                  </a:lnTo>
                  <a:lnTo>
                    <a:pt x="1023070" y="1094767"/>
                  </a:lnTo>
                  <a:lnTo>
                    <a:pt x="1057903" y="1065356"/>
                  </a:lnTo>
                  <a:lnTo>
                    <a:pt x="1090441" y="1033566"/>
                  </a:lnTo>
                  <a:lnTo>
                    <a:pt x="1120544" y="999535"/>
                  </a:lnTo>
                  <a:lnTo>
                    <a:pt x="1148073" y="963398"/>
                  </a:lnTo>
                  <a:lnTo>
                    <a:pt x="1172887" y="925293"/>
                  </a:lnTo>
                  <a:lnTo>
                    <a:pt x="1194847" y="885357"/>
                  </a:lnTo>
                  <a:lnTo>
                    <a:pt x="1213812" y="843726"/>
                  </a:lnTo>
                  <a:lnTo>
                    <a:pt x="1229643" y="800536"/>
                  </a:lnTo>
                  <a:lnTo>
                    <a:pt x="1242199" y="755926"/>
                  </a:lnTo>
                  <a:lnTo>
                    <a:pt x="1251342" y="710031"/>
                  </a:lnTo>
                  <a:lnTo>
                    <a:pt x="1256930" y="662988"/>
                  </a:lnTo>
                  <a:lnTo>
                    <a:pt x="1258824" y="614933"/>
                  </a:lnTo>
                  <a:lnTo>
                    <a:pt x="1256930" y="566879"/>
                  </a:lnTo>
                  <a:lnTo>
                    <a:pt x="1251342" y="519836"/>
                  </a:lnTo>
                  <a:lnTo>
                    <a:pt x="1242199" y="473941"/>
                  </a:lnTo>
                  <a:lnTo>
                    <a:pt x="1229643" y="429331"/>
                  </a:lnTo>
                  <a:lnTo>
                    <a:pt x="1213812" y="386141"/>
                  </a:lnTo>
                  <a:lnTo>
                    <a:pt x="1194847" y="344510"/>
                  </a:lnTo>
                  <a:lnTo>
                    <a:pt x="1172887" y="304574"/>
                  </a:lnTo>
                  <a:lnTo>
                    <a:pt x="1148073" y="266469"/>
                  </a:lnTo>
                  <a:lnTo>
                    <a:pt x="1120544" y="230332"/>
                  </a:lnTo>
                  <a:lnTo>
                    <a:pt x="1090441" y="196301"/>
                  </a:lnTo>
                  <a:lnTo>
                    <a:pt x="1057903" y="164511"/>
                  </a:lnTo>
                  <a:lnTo>
                    <a:pt x="1023070" y="135100"/>
                  </a:lnTo>
                  <a:lnTo>
                    <a:pt x="986083" y="108204"/>
                  </a:lnTo>
                  <a:lnTo>
                    <a:pt x="947081" y="83961"/>
                  </a:lnTo>
                  <a:lnTo>
                    <a:pt x="906204" y="62506"/>
                  </a:lnTo>
                  <a:lnTo>
                    <a:pt x="863593" y="43976"/>
                  </a:lnTo>
                  <a:lnTo>
                    <a:pt x="819386" y="28509"/>
                  </a:lnTo>
                  <a:lnTo>
                    <a:pt x="773725" y="16241"/>
                  </a:lnTo>
                  <a:lnTo>
                    <a:pt x="726749" y="7309"/>
                  </a:lnTo>
                  <a:lnTo>
                    <a:pt x="678598" y="1850"/>
                  </a:lnTo>
                  <a:lnTo>
                    <a:pt x="629411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24243" y="3378707"/>
              <a:ext cx="1259205" cy="1229995"/>
            </a:xfrm>
            <a:custGeom>
              <a:avLst/>
              <a:gdLst/>
              <a:ahLst/>
              <a:cxnLst/>
              <a:rect l="l" t="t" r="r" b="b"/>
              <a:pathLst>
                <a:path w="1259204" h="1229995">
                  <a:moveTo>
                    <a:pt x="0" y="614933"/>
                  </a:moveTo>
                  <a:lnTo>
                    <a:pt x="1893" y="566879"/>
                  </a:lnTo>
                  <a:lnTo>
                    <a:pt x="7481" y="519836"/>
                  </a:lnTo>
                  <a:lnTo>
                    <a:pt x="16624" y="473941"/>
                  </a:lnTo>
                  <a:lnTo>
                    <a:pt x="29180" y="429331"/>
                  </a:lnTo>
                  <a:lnTo>
                    <a:pt x="45011" y="386141"/>
                  </a:lnTo>
                  <a:lnTo>
                    <a:pt x="63976" y="344510"/>
                  </a:lnTo>
                  <a:lnTo>
                    <a:pt x="85936" y="304574"/>
                  </a:lnTo>
                  <a:lnTo>
                    <a:pt x="110750" y="266469"/>
                  </a:lnTo>
                  <a:lnTo>
                    <a:pt x="138279" y="230332"/>
                  </a:lnTo>
                  <a:lnTo>
                    <a:pt x="168382" y="196301"/>
                  </a:lnTo>
                  <a:lnTo>
                    <a:pt x="200920" y="164511"/>
                  </a:lnTo>
                  <a:lnTo>
                    <a:pt x="235753" y="135100"/>
                  </a:lnTo>
                  <a:lnTo>
                    <a:pt x="272740" y="108204"/>
                  </a:lnTo>
                  <a:lnTo>
                    <a:pt x="311742" y="83961"/>
                  </a:lnTo>
                  <a:lnTo>
                    <a:pt x="352619" y="62506"/>
                  </a:lnTo>
                  <a:lnTo>
                    <a:pt x="395230" y="43976"/>
                  </a:lnTo>
                  <a:lnTo>
                    <a:pt x="439437" y="28509"/>
                  </a:lnTo>
                  <a:lnTo>
                    <a:pt x="485098" y="16241"/>
                  </a:lnTo>
                  <a:lnTo>
                    <a:pt x="532074" y="7309"/>
                  </a:lnTo>
                  <a:lnTo>
                    <a:pt x="580225" y="1850"/>
                  </a:lnTo>
                  <a:lnTo>
                    <a:pt x="629411" y="0"/>
                  </a:lnTo>
                  <a:lnTo>
                    <a:pt x="678598" y="1850"/>
                  </a:lnTo>
                  <a:lnTo>
                    <a:pt x="726749" y="7309"/>
                  </a:lnTo>
                  <a:lnTo>
                    <a:pt x="773725" y="16241"/>
                  </a:lnTo>
                  <a:lnTo>
                    <a:pt x="819386" y="28509"/>
                  </a:lnTo>
                  <a:lnTo>
                    <a:pt x="863593" y="43976"/>
                  </a:lnTo>
                  <a:lnTo>
                    <a:pt x="906204" y="62506"/>
                  </a:lnTo>
                  <a:lnTo>
                    <a:pt x="947081" y="83961"/>
                  </a:lnTo>
                  <a:lnTo>
                    <a:pt x="986083" y="108204"/>
                  </a:lnTo>
                  <a:lnTo>
                    <a:pt x="1023070" y="135100"/>
                  </a:lnTo>
                  <a:lnTo>
                    <a:pt x="1057903" y="164511"/>
                  </a:lnTo>
                  <a:lnTo>
                    <a:pt x="1090441" y="196301"/>
                  </a:lnTo>
                  <a:lnTo>
                    <a:pt x="1120544" y="230332"/>
                  </a:lnTo>
                  <a:lnTo>
                    <a:pt x="1148073" y="266469"/>
                  </a:lnTo>
                  <a:lnTo>
                    <a:pt x="1172887" y="304574"/>
                  </a:lnTo>
                  <a:lnTo>
                    <a:pt x="1194847" y="344510"/>
                  </a:lnTo>
                  <a:lnTo>
                    <a:pt x="1213812" y="386141"/>
                  </a:lnTo>
                  <a:lnTo>
                    <a:pt x="1229643" y="429331"/>
                  </a:lnTo>
                  <a:lnTo>
                    <a:pt x="1242199" y="473941"/>
                  </a:lnTo>
                  <a:lnTo>
                    <a:pt x="1251342" y="519836"/>
                  </a:lnTo>
                  <a:lnTo>
                    <a:pt x="1256930" y="566879"/>
                  </a:lnTo>
                  <a:lnTo>
                    <a:pt x="1258824" y="614933"/>
                  </a:lnTo>
                  <a:lnTo>
                    <a:pt x="1256930" y="662988"/>
                  </a:lnTo>
                  <a:lnTo>
                    <a:pt x="1251342" y="710031"/>
                  </a:lnTo>
                  <a:lnTo>
                    <a:pt x="1242199" y="755926"/>
                  </a:lnTo>
                  <a:lnTo>
                    <a:pt x="1229643" y="800536"/>
                  </a:lnTo>
                  <a:lnTo>
                    <a:pt x="1213812" y="843726"/>
                  </a:lnTo>
                  <a:lnTo>
                    <a:pt x="1194847" y="885357"/>
                  </a:lnTo>
                  <a:lnTo>
                    <a:pt x="1172887" y="925293"/>
                  </a:lnTo>
                  <a:lnTo>
                    <a:pt x="1148073" y="963398"/>
                  </a:lnTo>
                  <a:lnTo>
                    <a:pt x="1120544" y="999535"/>
                  </a:lnTo>
                  <a:lnTo>
                    <a:pt x="1090441" y="1033566"/>
                  </a:lnTo>
                  <a:lnTo>
                    <a:pt x="1057903" y="1065356"/>
                  </a:lnTo>
                  <a:lnTo>
                    <a:pt x="1023070" y="1094767"/>
                  </a:lnTo>
                  <a:lnTo>
                    <a:pt x="986083" y="1121663"/>
                  </a:lnTo>
                  <a:lnTo>
                    <a:pt x="947081" y="1145906"/>
                  </a:lnTo>
                  <a:lnTo>
                    <a:pt x="906204" y="1167361"/>
                  </a:lnTo>
                  <a:lnTo>
                    <a:pt x="863593" y="1185891"/>
                  </a:lnTo>
                  <a:lnTo>
                    <a:pt x="819386" y="1201358"/>
                  </a:lnTo>
                  <a:lnTo>
                    <a:pt x="773725" y="1213626"/>
                  </a:lnTo>
                  <a:lnTo>
                    <a:pt x="726749" y="1222558"/>
                  </a:lnTo>
                  <a:lnTo>
                    <a:pt x="678598" y="1228017"/>
                  </a:lnTo>
                  <a:lnTo>
                    <a:pt x="629411" y="1229867"/>
                  </a:lnTo>
                  <a:lnTo>
                    <a:pt x="580225" y="1228017"/>
                  </a:lnTo>
                  <a:lnTo>
                    <a:pt x="532074" y="1222558"/>
                  </a:lnTo>
                  <a:lnTo>
                    <a:pt x="485098" y="1213626"/>
                  </a:lnTo>
                  <a:lnTo>
                    <a:pt x="439437" y="1201358"/>
                  </a:lnTo>
                  <a:lnTo>
                    <a:pt x="395230" y="1185891"/>
                  </a:lnTo>
                  <a:lnTo>
                    <a:pt x="352619" y="1167361"/>
                  </a:lnTo>
                  <a:lnTo>
                    <a:pt x="311742" y="1145906"/>
                  </a:lnTo>
                  <a:lnTo>
                    <a:pt x="272740" y="1121663"/>
                  </a:lnTo>
                  <a:lnTo>
                    <a:pt x="235753" y="1094767"/>
                  </a:lnTo>
                  <a:lnTo>
                    <a:pt x="200920" y="1065356"/>
                  </a:lnTo>
                  <a:lnTo>
                    <a:pt x="168382" y="1033566"/>
                  </a:lnTo>
                  <a:lnTo>
                    <a:pt x="138279" y="999535"/>
                  </a:lnTo>
                  <a:lnTo>
                    <a:pt x="110750" y="963398"/>
                  </a:lnTo>
                  <a:lnTo>
                    <a:pt x="85936" y="925293"/>
                  </a:lnTo>
                  <a:lnTo>
                    <a:pt x="63976" y="885357"/>
                  </a:lnTo>
                  <a:lnTo>
                    <a:pt x="45011" y="843726"/>
                  </a:lnTo>
                  <a:lnTo>
                    <a:pt x="29180" y="800536"/>
                  </a:lnTo>
                  <a:lnTo>
                    <a:pt x="16624" y="755926"/>
                  </a:lnTo>
                  <a:lnTo>
                    <a:pt x="7481" y="710031"/>
                  </a:lnTo>
                  <a:lnTo>
                    <a:pt x="1893" y="662988"/>
                  </a:lnTo>
                  <a:lnTo>
                    <a:pt x="0" y="61493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58939" y="3657599"/>
              <a:ext cx="170815" cy="629920"/>
            </a:xfrm>
            <a:custGeom>
              <a:avLst/>
              <a:gdLst/>
              <a:ahLst/>
              <a:cxnLst/>
              <a:rect l="l" t="t" r="r" b="b"/>
              <a:pathLst>
                <a:path w="170815" h="629920">
                  <a:moveTo>
                    <a:pt x="85343" y="0"/>
                  </a:moveTo>
                  <a:lnTo>
                    <a:pt x="47819" y="31977"/>
                  </a:lnTo>
                  <a:lnTo>
                    <a:pt x="31972" y="69119"/>
                  </a:lnTo>
                  <a:lnTo>
                    <a:pt x="18754" y="117850"/>
                  </a:lnTo>
                  <a:lnTo>
                    <a:pt x="8677" y="176281"/>
                  </a:lnTo>
                  <a:lnTo>
                    <a:pt x="2254" y="242529"/>
                  </a:lnTo>
                  <a:lnTo>
                    <a:pt x="0" y="314706"/>
                  </a:lnTo>
                  <a:lnTo>
                    <a:pt x="2254" y="386882"/>
                  </a:lnTo>
                  <a:lnTo>
                    <a:pt x="8677" y="453130"/>
                  </a:lnTo>
                  <a:lnTo>
                    <a:pt x="18754" y="511561"/>
                  </a:lnTo>
                  <a:lnTo>
                    <a:pt x="31972" y="560292"/>
                  </a:lnTo>
                  <a:lnTo>
                    <a:pt x="47819" y="597434"/>
                  </a:lnTo>
                  <a:lnTo>
                    <a:pt x="85343" y="629412"/>
                  </a:lnTo>
                  <a:lnTo>
                    <a:pt x="104907" y="621103"/>
                  </a:lnTo>
                  <a:lnTo>
                    <a:pt x="138715" y="560292"/>
                  </a:lnTo>
                  <a:lnTo>
                    <a:pt x="151933" y="511561"/>
                  </a:lnTo>
                  <a:lnTo>
                    <a:pt x="162010" y="453130"/>
                  </a:lnTo>
                  <a:lnTo>
                    <a:pt x="168433" y="386882"/>
                  </a:lnTo>
                  <a:lnTo>
                    <a:pt x="170687" y="314706"/>
                  </a:lnTo>
                  <a:lnTo>
                    <a:pt x="168433" y="242529"/>
                  </a:lnTo>
                  <a:lnTo>
                    <a:pt x="162010" y="176281"/>
                  </a:lnTo>
                  <a:lnTo>
                    <a:pt x="151933" y="117850"/>
                  </a:lnTo>
                  <a:lnTo>
                    <a:pt x="138715" y="69119"/>
                  </a:lnTo>
                  <a:lnTo>
                    <a:pt x="122868" y="31977"/>
                  </a:lnTo>
                  <a:lnTo>
                    <a:pt x="85343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58939" y="3657599"/>
              <a:ext cx="170815" cy="629920"/>
            </a:xfrm>
            <a:custGeom>
              <a:avLst/>
              <a:gdLst/>
              <a:ahLst/>
              <a:cxnLst/>
              <a:rect l="l" t="t" r="r" b="b"/>
              <a:pathLst>
                <a:path w="170815" h="629920">
                  <a:moveTo>
                    <a:pt x="0" y="314706"/>
                  </a:moveTo>
                  <a:lnTo>
                    <a:pt x="2254" y="242529"/>
                  </a:lnTo>
                  <a:lnTo>
                    <a:pt x="8677" y="176281"/>
                  </a:lnTo>
                  <a:lnTo>
                    <a:pt x="18754" y="117850"/>
                  </a:lnTo>
                  <a:lnTo>
                    <a:pt x="31972" y="69119"/>
                  </a:lnTo>
                  <a:lnTo>
                    <a:pt x="47819" y="31977"/>
                  </a:lnTo>
                  <a:lnTo>
                    <a:pt x="85343" y="0"/>
                  </a:lnTo>
                  <a:lnTo>
                    <a:pt x="104907" y="8308"/>
                  </a:lnTo>
                  <a:lnTo>
                    <a:pt x="138715" y="69119"/>
                  </a:lnTo>
                  <a:lnTo>
                    <a:pt x="151933" y="117850"/>
                  </a:lnTo>
                  <a:lnTo>
                    <a:pt x="162010" y="176281"/>
                  </a:lnTo>
                  <a:lnTo>
                    <a:pt x="168433" y="242529"/>
                  </a:lnTo>
                  <a:lnTo>
                    <a:pt x="170687" y="314706"/>
                  </a:lnTo>
                  <a:lnTo>
                    <a:pt x="168433" y="386882"/>
                  </a:lnTo>
                  <a:lnTo>
                    <a:pt x="162010" y="453130"/>
                  </a:lnTo>
                  <a:lnTo>
                    <a:pt x="151933" y="511561"/>
                  </a:lnTo>
                  <a:lnTo>
                    <a:pt x="138715" y="560292"/>
                  </a:lnTo>
                  <a:lnTo>
                    <a:pt x="122868" y="597434"/>
                  </a:lnTo>
                  <a:lnTo>
                    <a:pt x="85343" y="629412"/>
                  </a:lnTo>
                  <a:lnTo>
                    <a:pt x="65780" y="621103"/>
                  </a:lnTo>
                  <a:lnTo>
                    <a:pt x="31972" y="560292"/>
                  </a:lnTo>
                  <a:lnTo>
                    <a:pt x="18754" y="511561"/>
                  </a:lnTo>
                  <a:lnTo>
                    <a:pt x="8677" y="453130"/>
                  </a:lnTo>
                  <a:lnTo>
                    <a:pt x="2254" y="386882"/>
                  </a:lnTo>
                  <a:lnTo>
                    <a:pt x="0" y="314706"/>
                  </a:lnTo>
                  <a:close/>
                </a:path>
              </a:pathLst>
            </a:custGeom>
            <a:ln w="12700">
              <a:solidFill>
                <a:srgbClr val="EDEB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13852" y="3102482"/>
              <a:ext cx="1067435" cy="390525"/>
            </a:xfrm>
            <a:custGeom>
              <a:avLst/>
              <a:gdLst/>
              <a:ahLst/>
              <a:cxnLst/>
              <a:rect l="l" t="t" r="r" b="b"/>
              <a:pathLst>
                <a:path w="1067434" h="390525">
                  <a:moveTo>
                    <a:pt x="660526" y="0"/>
                  </a:moveTo>
                  <a:lnTo>
                    <a:pt x="673989" y="99187"/>
                  </a:lnTo>
                  <a:lnTo>
                    <a:pt x="0" y="190500"/>
                  </a:lnTo>
                  <a:lnTo>
                    <a:pt x="26035" y="382524"/>
                  </a:lnTo>
                  <a:lnTo>
                    <a:pt x="700024" y="291211"/>
                  </a:lnTo>
                  <a:lnTo>
                    <a:pt x="713358" y="390397"/>
                  </a:lnTo>
                  <a:lnTo>
                    <a:pt x="1067053" y="143763"/>
                  </a:lnTo>
                  <a:lnTo>
                    <a:pt x="660526" y="0"/>
                  </a:lnTo>
                  <a:close/>
                </a:path>
              </a:pathLst>
            </a:custGeom>
            <a:solidFill>
              <a:srgbClr val="38BB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816341" y="4451349"/>
              <a:ext cx="969644" cy="615950"/>
            </a:xfrm>
            <a:custGeom>
              <a:avLst/>
              <a:gdLst/>
              <a:ahLst/>
              <a:cxnLst/>
              <a:rect l="l" t="t" r="r" b="b"/>
              <a:pathLst>
                <a:path w="969645" h="615950">
                  <a:moveTo>
                    <a:pt x="96900" y="0"/>
                  </a:moveTo>
                  <a:lnTo>
                    <a:pt x="0" y="167767"/>
                  </a:lnTo>
                  <a:lnTo>
                    <a:pt x="588899" y="507873"/>
                  </a:lnTo>
                  <a:lnTo>
                    <a:pt x="538860" y="594487"/>
                  </a:lnTo>
                  <a:lnTo>
                    <a:pt x="969517" y="615695"/>
                  </a:lnTo>
                  <a:lnTo>
                    <a:pt x="735837" y="253364"/>
                  </a:lnTo>
                  <a:lnTo>
                    <a:pt x="685800" y="339979"/>
                  </a:lnTo>
                  <a:lnTo>
                    <a:pt x="969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383026" y="3386073"/>
            <a:ext cx="1249045" cy="1249045"/>
            <a:chOff x="3383026" y="3386073"/>
            <a:chExt cx="1249045" cy="1249045"/>
          </a:xfrm>
        </p:grpSpPr>
        <p:sp>
          <p:nvSpPr>
            <p:cNvPr id="16" name="object 16"/>
            <p:cNvSpPr/>
            <p:nvPr/>
          </p:nvSpPr>
          <p:spPr>
            <a:xfrm>
              <a:off x="3572307" y="3575227"/>
              <a:ext cx="1059815" cy="1059815"/>
            </a:xfrm>
            <a:custGeom>
              <a:avLst/>
              <a:gdLst/>
              <a:ahLst/>
              <a:cxnLst/>
              <a:rect l="l" t="t" r="r" b="b"/>
              <a:pathLst>
                <a:path w="1059814" h="1059814">
                  <a:moveTo>
                    <a:pt x="1059383" y="473151"/>
                  </a:moveTo>
                  <a:lnTo>
                    <a:pt x="1058659" y="444652"/>
                  </a:lnTo>
                  <a:lnTo>
                    <a:pt x="1058621" y="442925"/>
                  </a:lnTo>
                  <a:lnTo>
                    <a:pt x="1056449" y="414731"/>
                  </a:lnTo>
                  <a:lnTo>
                    <a:pt x="1047445" y="355041"/>
                  </a:lnTo>
                  <a:lnTo>
                    <a:pt x="1032967" y="298780"/>
                  </a:lnTo>
                  <a:lnTo>
                    <a:pt x="1013282" y="244932"/>
                  </a:lnTo>
                  <a:lnTo>
                    <a:pt x="988517" y="193751"/>
                  </a:lnTo>
                  <a:lnTo>
                    <a:pt x="959180" y="145364"/>
                  </a:lnTo>
                  <a:lnTo>
                    <a:pt x="925398" y="100279"/>
                  </a:lnTo>
                  <a:lnTo>
                    <a:pt x="887552" y="58623"/>
                  </a:lnTo>
                  <a:lnTo>
                    <a:pt x="845896" y="20777"/>
                  </a:lnTo>
                  <a:lnTo>
                    <a:pt x="819010" y="0"/>
                  </a:lnTo>
                  <a:lnTo>
                    <a:pt x="837247" y="19685"/>
                  </a:lnTo>
                  <a:lnTo>
                    <a:pt x="843127" y="27101"/>
                  </a:lnTo>
                  <a:lnTo>
                    <a:pt x="848525" y="33921"/>
                  </a:lnTo>
                  <a:lnTo>
                    <a:pt x="865022" y="54711"/>
                  </a:lnTo>
                  <a:lnTo>
                    <a:pt x="889952" y="91617"/>
                  </a:lnTo>
                  <a:lnTo>
                    <a:pt x="912114" y="130581"/>
                  </a:lnTo>
                  <a:lnTo>
                    <a:pt x="931265" y="171348"/>
                  </a:lnTo>
                  <a:lnTo>
                    <a:pt x="947267" y="213779"/>
                  </a:lnTo>
                  <a:lnTo>
                    <a:pt x="959980" y="257721"/>
                  </a:lnTo>
                  <a:lnTo>
                    <a:pt x="969238" y="303022"/>
                  </a:lnTo>
                  <a:lnTo>
                    <a:pt x="974902" y="349516"/>
                  </a:lnTo>
                  <a:lnTo>
                    <a:pt x="976833" y="397078"/>
                  </a:lnTo>
                  <a:lnTo>
                    <a:pt x="974902" y="444652"/>
                  </a:lnTo>
                  <a:lnTo>
                    <a:pt x="969238" y="491147"/>
                  </a:lnTo>
                  <a:lnTo>
                    <a:pt x="959980" y="536448"/>
                  </a:lnTo>
                  <a:lnTo>
                    <a:pt x="947267" y="580390"/>
                  </a:lnTo>
                  <a:lnTo>
                    <a:pt x="931265" y="622820"/>
                  </a:lnTo>
                  <a:lnTo>
                    <a:pt x="912114" y="663587"/>
                  </a:lnTo>
                  <a:lnTo>
                    <a:pt x="889952" y="702551"/>
                  </a:lnTo>
                  <a:lnTo>
                    <a:pt x="864958" y="739571"/>
                  </a:lnTo>
                  <a:lnTo>
                    <a:pt x="837247" y="774484"/>
                  </a:lnTo>
                  <a:lnTo>
                    <a:pt x="806996" y="807135"/>
                  </a:lnTo>
                  <a:lnTo>
                    <a:pt x="774344" y="837387"/>
                  </a:lnTo>
                  <a:lnTo>
                    <a:pt x="739432" y="865098"/>
                  </a:lnTo>
                  <a:lnTo>
                    <a:pt x="702411" y="890092"/>
                  </a:lnTo>
                  <a:lnTo>
                    <a:pt x="663448" y="912253"/>
                  </a:lnTo>
                  <a:lnTo>
                    <a:pt x="622681" y="931405"/>
                  </a:lnTo>
                  <a:lnTo>
                    <a:pt x="580250" y="947407"/>
                  </a:lnTo>
                  <a:lnTo>
                    <a:pt x="536308" y="960120"/>
                  </a:lnTo>
                  <a:lnTo>
                    <a:pt x="491007" y="969378"/>
                  </a:lnTo>
                  <a:lnTo>
                    <a:pt x="444512" y="975042"/>
                  </a:lnTo>
                  <a:lnTo>
                    <a:pt x="396951" y="976960"/>
                  </a:lnTo>
                  <a:lnTo>
                    <a:pt x="349377" y="975042"/>
                  </a:lnTo>
                  <a:lnTo>
                    <a:pt x="302882" y="969378"/>
                  </a:lnTo>
                  <a:lnTo>
                    <a:pt x="257581" y="960120"/>
                  </a:lnTo>
                  <a:lnTo>
                    <a:pt x="213639" y="947407"/>
                  </a:lnTo>
                  <a:lnTo>
                    <a:pt x="171208" y="931405"/>
                  </a:lnTo>
                  <a:lnTo>
                    <a:pt x="130441" y="912253"/>
                  </a:lnTo>
                  <a:lnTo>
                    <a:pt x="91478" y="890092"/>
                  </a:lnTo>
                  <a:lnTo>
                    <a:pt x="54457" y="865098"/>
                  </a:lnTo>
                  <a:lnTo>
                    <a:pt x="19545" y="837387"/>
                  </a:lnTo>
                  <a:lnTo>
                    <a:pt x="0" y="819277"/>
                  </a:lnTo>
                  <a:lnTo>
                    <a:pt x="3505" y="824179"/>
                  </a:lnTo>
                  <a:lnTo>
                    <a:pt x="39319" y="867613"/>
                  </a:lnTo>
                  <a:lnTo>
                    <a:pt x="79070" y="907364"/>
                  </a:lnTo>
                  <a:lnTo>
                    <a:pt x="122504" y="943178"/>
                  </a:lnTo>
                  <a:lnTo>
                    <a:pt x="169240" y="974674"/>
                  </a:lnTo>
                  <a:lnTo>
                    <a:pt x="219151" y="1001725"/>
                  </a:lnTo>
                  <a:lnTo>
                    <a:pt x="271729" y="1023950"/>
                  </a:lnTo>
                  <a:lnTo>
                    <a:pt x="326847" y="1041095"/>
                  </a:lnTo>
                  <a:lnTo>
                    <a:pt x="383997" y="1052779"/>
                  </a:lnTo>
                  <a:lnTo>
                    <a:pt x="443179" y="1058748"/>
                  </a:lnTo>
                  <a:lnTo>
                    <a:pt x="473278" y="1059510"/>
                  </a:lnTo>
                  <a:lnTo>
                    <a:pt x="503504" y="1058748"/>
                  </a:lnTo>
                  <a:lnTo>
                    <a:pt x="533222" y="1056462"/>
                  </a:lnTo>
                  <a:lnTo>
                    <a:pt x="562559" y="1052779"/>
                  </a:lnTo>
                  <a:lnTo>
                    <a:pt x="591388" y="1047572"/>
                  </a:lnTo>
                  <a:lnTo>
                    <a:pt x="594664" y="1046810"/>
                  </a:lnTo>
                  <a:lnTo>
                    <a:pt x="619836" y="1040968"/>
                  </a:lnTo>
                  <a:lnTo>
                    <a:pt x="674446" y="1023950"/>
                  </a:lnTo>
                  <a:lnTo>
                    <a:pt x="727125" y="1001725"/>
                  </a:lnTo>
                  <a:lnTo>
                    <a:pt x="777087" y="974674"/>
                  </a:lnTo>
                  <a:lnTo>
                    <a:pt x="824052" y="942924"/>
                  </a:lnTo>
                  <a:lnTo>
                    <a:pt x="867486" y="907110"/>
                  </a:lnTo>
                  <a:lnTo>
                    <a:pt x="907237" y="867359"/>
                  </a:lnTo>
                  <a:lnTo>
                    <a:pt x="943051" y="823925"/>
                  </a:lnTo>
                  <a:lnTo>
                    <a:pt x="974547" y="777189"/>
                  </a:lnTo>
                  <a:lnTo>
                    <a:pt x="1001598" y="727278"/>
                  </a:lnTo>
                  <a:lnTo>
                    <a:pt x="1023823" y="674700"/>
                  </a:lnTo>
                  <a:lnTo>
                    <a:pt x="1040968" y="619582"/>
                  </a:lnTo>
                  <a:lnTo>
                    <a:pt x="1052652" y="562432"/>
                  </a:lnTo>
                  <a:lnTo>
                    <a:pt x="1058621" y="503250"/>
                  </a:lnTo>
                  <a:lnTo>
                    <a:pt x="1059370" y="473405"/>
                  </a:lnTo>
                  <a:lnTo>
                    <a:pt x="1059383" y="473151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9376" y="3392423"/>
              <a:ext cx="1159764" cy="115976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389376" y="3392423"/>
              <a:ext cx="1160145" cy="1160145"/>
            </a:xfrm>
            <a:custGeom>
              <a:avLst/>
              <a:gdLst/>
              <a:ahLst/>
              <a:cxnLst/>
              <a:rect l="l" t="t" r="r" b="b"/>
              <a:pathLst>
                <a:path w="1160145" h="1160145">
                  <a:moveTo>
                    <a:pt x="0" y="579882"/>
                  </a:moveTo>
                  <a:lnTo>
                    <a:pt x="1922" y="532318"/>
                  </a:lnTo>
                  <a:lnTo>
                    <a:pt x="7588" y="485813"/>
                  </a:lnTo>
                  <a:lnTo>
                    <a:pt x="16850" y="440518"/>
                  </a:lnTo>
                  <a:lnTo>
                    <a:pt x="29559" y="396581"/>
                  </a:lnTo>
                  <a:lnTo>
                    <a:pt x="45565" y="354151"/>
                  </a:lnTo>
                  <a:lnTo>
                    <a:pt x="64718" y="313377"/>
                  </a:lnTo>
                  <a:lnTo>
                    <a:pt x="86871" y="274409"/>
                  </a:lnTo>
                  <a:lnTo>
                    <a:pt x="111873" y="237396"/>
                  </a:lnTo>
                  <a:lnTo>
                    <a:pt x="139576" y="202487"/>
                  </a:lnTo>
                  <a:lnTo>
                    <a:pt x="169830" y="169830"/>
                  </a:lnTo>
                  <a:lnTo>
                    <a:pt x="202487" y="139576"/>
                  </a:lnTo>
                  <a:lnTo>
                    <a:pt x="237396" y="111873"/>
                  </a:lnTo>
                  <a:lnTo>
                    <a:pt x="274409" y="86871"/>
                  </a:lnTo>
                  <a:lnTo>
                    <a:pt x="313377" y="64718"/>
                  </a:lnTo>
                  <a:lnTo>
                    <a:pt x="354151" y="45565"/>
                  </a:lnTo>
                  <a:lnTo>
                    <a:pt x="396581" y="29559"/>
                  </a:lnTo>
                  <a:lnTo>
                    <a:pt x="440518" y="16850"/>
                  </a:lnTo>
                  <a:lnTo>
                    <a:pt x="485813" y="7588"/>
                  </a:lnTo>
                  <a:lnTo>
                    <a:pt x="532318" y="1922"/>
                  </a:lnTo>
                  <a:lnTo>
                    <a:pt x="579882" y="0"/>
                  </a:lnTo>
                  <a:lnTo>
                    <a:pt x="627445" y="1922"/>
                  </a:lnTo>
                  <a:lnTo>
                    <a:pt x="673950" y="7588"/>
                  </a:lnTo>
                  <a:lnTo>
                    <a:pt x="719245" y="16850"/>
                  </a:lnTo>
                  <a:lnTo>
                    <a:pt x="763182" y="29559"/>
                  </a:lnTo>
                  <a:lnTo>
                    <a:pt x="805612" y="45565"/>
                  </a:lnTo>
                  <a:lnTo>
                    <a:pt x="846386" y="64718"/>
                  </a:lnTo>
                  <a:lnTo>
                    <a:pt x="885354" y="86871"/>
                  </a:lnTo>
                  <a:lnTo>
                    <a:pt x="922367" y="111873"/>
                  </a:lnTo>
                  <a:lnTo>
                    <a:pt x="957276" y="139576"/>
                  </a:lnTo>
                  <a:lnTo>
                    <a:pt x="989933" y="169830"/>
                  </a:lnTo>
                  <a:lnTo>
                    <a:pt x="1020187" y="202487"/>
                  </a:lnTo>
                  <a:lnTo>
                    <a:pt x="1047890" y="237396"/>
                  </a:lnTo>
                  <a:lnTo>
                    <a:pt x="1072892" y="274409"/>
                  </a:lnTo>
                  <a:lnTo>
                    <a:pt x="1095045" y="313377"/>
                  </a:lnTo>
                  <a:lnTo>
                    <a:pt x="1114198" y="354151"/>
                  </a:lnTo>
                  <a:lnTo>
                    <a:pt x="1130204" y="396581"/>
                  </a:lnTo>
                  <a:lnTo>
                    <a:pt x="1142913" y="440518"/>
                  </a:lnTo>
                  <a:lnTo>
                    <a:pt x="1152175" y="485813"/>
                  </a:lnTo>
                  <a:lnTo>
                    <a:pt x="1157841" y="532318"/>
                  </a:lnTo>
                  <a:lnTo>
                    <a:pt x="1159764" y="579882"/>
                  </a:lnTo>
                  <a:lnTo>
                    <a:pt x="1157841" y="627445"/>
                  </a:lnTo>
                  <a:lnTo>
                    <a:pt x="1152175" y="673950"/>
                  </a:lnTo>
                  <a:lnTo>
                    <a:pt x="1142913" y="719245"/>
                  </a:lnTo>
                  <a:lnTo>
                    <a:pt x="1130204" y="763182"/>
                  </a:lnTo>
                  <a:lnTo>
                    <a:pt x="1114198" y="805612"/>
                  </a:lnTo>
                  <a:lnTo>
                    <a:pt x="1095045" y="846386"/>
                  </a:lnTo>
                  <a:lnTo>
                    <a:pt x="1072892" y="885354"/>
                  </a:lnTo>
                  <a:lnTo>
                    <a:pt x="1047890" y="922367"/>
                  </a:lnTo>
                  <a:lnTo>
                    <a:pt x="1020187" y="957276"/>
                  </a:lnTo>
                  <a:lnTo>
                    <a:pt x="989933" y="989933"/>
                  </a:lnTo>
                  <a:lnTo>
                    <a:pt x="957276" y="1020187"/>
                  </a:lnTo>
                  <a:lnTo>
                    <a:pt x="922367" y="1047890"/>
                  </a:lnTo>
                  <a:lnTo>
                    <a:pt x="885354" y="1072892"/>
                  </a:lnTo>
                  <a:lnTo>
                    <a:pt x="846386" y="1095045"/>
                  </a:lnTo>
                  <a:lnTo>
                    <a:pt x="805612" y="1114198"/>
                  </a:lnTo>
                  <a:lnTo>
                    <a:pt x="763182" y="1130204"/>
                  </a:lnTo>
                  <a:lnTo>
                    <a:pt x="719245" y="1142913"/>
                  </a:lnTo>
                  <a:lnTo>
                    <a:pt x="673950" y="1152175"/>
                  </a:lnTo>
                  <a:lnTo>
                    <a:pt x="627445" y="1157841"/>
                  </a:lnTo>
                  <a:lnTo>
                    <a:pt x="579882" y="1159764"/>
                  </a:lnTo>
                  <a:lnTo>
                    <a:pt x="532318" y="1157841"/>
                  </a:lnTo>
                  <a:lnTo>
                    <a:pt x="485813" y="1152175"/>
                  </a:lnTo>
                  <a:lnTo>
                    <a:pt x="440518" y="1142913"/>
                  </a:lnTo>
                  <a:lnTo>
                    <a:pt x="396581" y="1130204"/>
                  </a:lnTo>
                  <a:lnTo>
                    <a:pt x="354151" y="1114198"/>
                  </a:lnTo>
                  <a:lnTo>
                    <a:pt x="313377" y="1095045"/>
                  </a:lnTo>
                  <a:lnTo>
                    <a:pt x="274409" y="1072892"/>
                  </a:lnTo>
                  <a:lnTo>
                    <a:pt x="237396" y="1047890"/>
                  </a:lnTo>
                  <a:lnTo>
                    <a:pt x="202487" y="1020187"/>
                  </a:lnTo>
                  <a:lnTo>
                    <a:pt x="169830" y="989933"/>
                  </a:lnTo>
                  <a:lnTo>
                    <a:pt x="139576" y="957276"/>
                  </a:lnTo>
                  <a:lnTo>
                    <a:pt x="111873" y="922367"/>
                  </a:lnTo>
                  <a:lnTo>
                    <a:pt x="86871" y="885354"/>
                  </a:lnTo>
                  <a:lnTo>
                    <a:pt x="64718" y="846386"/>
                  </a:lnTo>
                  <a:lnTo>
                    <a:pt x="45565" y="805612"/>
                  </a:lnTo>
                  <a:lnTo>
                    <a:pt x="29559" y="763182"/>
                  </a:lnTo>
                  <a:lnTo>
                    <a:pt x="16850" y="719245"/>
                  </a:lnTo>
                  <a:lnTo>
                    <a:pt x="7588" y="673950"/>
                  </a:lnTo>
                  <a:lnTo>
                    <a:pt x="1922" y="627445"/>
                  </a:lnTo>
                  <a:lnTo>
                    <a:pt x="0" y="579882"/>
                  </a:lnTo>
                  <a:close/>
                </a:path>
              </a:pathLst>
            </a:custGeom>
            <a:ln w="12700">
              <a:solidFill>
                <a:srgbClr val="A1C1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32632" y="3549395"/>
              <a:ext cx="859790" cy="859790"/>
            </a:xfrm>
            <a:custGeom>
              <a:avLst/>
              <a:gdLst/>
              <a:ahLst/>
              <a:cxnLst/>
              <a:rect l="l" t="t" r="r" b="b"/>
              <a:pathLst>
                <a:path w="859789" h="859789">
                  <a:moveTo>
                    <a:pt x="429767" y="0"/>
                  </a:moveTo>
                  <a:lnTo>
                    <a:pt x="382938" y="2521"/>
                  </a:lnTo>
                  <a:lnTo>
                    <a:pt x="337570" y="9912"/>
                  </a:lnTo>
                  <a:lnTo>
                    <a:pt x="293924" y="21909"/>
                  </a:lnTo>
                  <a:lnTo>
                    <a:pt x="252264" y="38250"/>
                  </a:lnTo>
                  <a:lnTo>
                    <a:pt x="212851" y="58673"/>
                  </a:lnTo>
                  <a:lnTo>
                    <a:pt x="175948" y="82917"/>
                  </a:lnTo>
                  <a:lnTo>
                    <a:pt x="141817" y="110719"/>
                  </a:lnTo>
                  <a:lnTo>
                    <a:pt x="110719" y="141817"/>
                  </a:lnTo>
                  <a:lnTo>
                    <a:pt x="82917" y="175948"/>
                  </a:lnTo>
                  <a:lnTo>
                    <a:pt x="58674" y="212851"/>
                  </a:lnTo>
                  <a:lnTo>
                    <a:pt x="38250" y="252264"/>
                  </a:lnTo>
                  <a:lnTo>
                    <a:pt x="21909" y="293924"/>
                  </a:lnTo>
                  <a:lnTo>
                    <a:pt x="9912" y="337570"/>
                  </a:lnTo>
                  <a:lnTo>
                    <a:pt x="2521" y="382938"/>
                  </a:lnTo>
                  <a:lnTo>
                    <a:pt x="0" y="429767"/>
                  </a:lnTo>
                  <a:lnTo>
                    <a:pt x="2521" y="476597"/>
                  </a:lnTo>
                  <a:lnTo>
                    <a:pt x="9912" y="521965"/>
                  </a:lnTo>
                  <a:lnTo>
                    <a:pt x="21909" y="565611"/>
                  </a:lnTo>
                  <a:lnTo>
                    <a:pt x="38250" y="607271"/>
                  </a:lnTo>
                  <a:lnTo>
                    <a:pt x="58673" y="646683"/>
                  </a:lnTo>
                  <a:lnTo>
                    <a:pt x="82917" y="683587"/>
                  </a:lnTo>
                  <a:lnTo>
                    <a:pt x="110719" y="717718"/>
                  </a:lnTo>
                  <a:lnTo>
                    <a:pt x="141817" y="748816"/>
                  </a:lnTo>
                  <a:lnTo>
                    <a:pt x="175948" y="776618"/>
                  </a:lnTo>
                  <a:lnTo>
                    <a:pt x="212851" y="800862"/>
                  </a:lnTo>
                  <a:lnTo>
                    <a:pt x="252264" y="821285"/>
                  </a:lnTo>
                  <a:lnTo>
                    <a:pt x="293924" y="837626"/>
                  </a:lnTo>
                  <a:lnTo>
                    <a:pt x="337570" y="849623"/>
                  </a:lnTo>
                  <a:lnTo>
                    <a:pt x="382938" y="857014"/>
                  </a:lnTo>
                  <a:lnTo>
                    <a:pt x="429767" y="859535"/>
                  </a:lnTo>
                  <a:lnTo>
                    <a:pt x="476597" y="857014"/>
                  </a:lnTo>
                  <a:lnTo>
                    <a:pt x="521965" y="849623"/>
                  </a:lnTo>
                  <a:lnTo>
                    <a:pt x="565611" y="837626"/>
                  </a:lnTo>
                  <a:lnTo>
                    <a:pt x="607271" y="821285"/>
                  </a:lnTo>
                  <a:lnTo>
                    <a:pt x="646683" y="800862"/>
                  </a:lnTo>
                  <a:lnTo>
                    <a:pt x="683587" y="776618"/>
                  </a:lnTo>
                  <a:lnTo>
                    <a:pt x="717718" y="748816"/>
                  </a:lnTo>
                  <a:lnTo>
                    <a:pt x="748816" y="717718"/>
                  </a:lnTo>
                  <a:lnTo>
                    <a:pt x="776618" y="683587"/>
                  </a:lnTo>
                  <a:lnTo>
                    <a:pt x="800861" y="646683"/>
                  </a:lnTo>
                  <a:lnTo>
                    <a:pt x="821285" y="607271"/>
                  </a:lnTo>
                  <a:lnTo>
                    <a:pt x="837626" y="565611"/>
                  </a:lnTo>
                  <a:lnTo>
                    <a:pt x="849623" y="521965"/>
                  </a:lnTo>
                  <a:lnTo>
                    <a:pt x="857014" y="476597"/>
                  </a:lnTo>
                  <a:lnTo>
                    <a:pt x="859535" y="429767"/>
                  </a:lnTo>
                  <a:lnTo>
                    <a:pt x="857014" y="382938"/>
                  </a:lnTo>
                  <a:lnTo>
                    <a:pt x="849623" y="337570"/>
                  </a:lnTo>
                  <a:lnTo>
                    <a:pt x="837626" y="293924"/>
                  </a:lnTo>
                  <a:lnTo>
                    <a:pt x="821285" y="252264"/>
                  </a:lnTo>
                  <a:lnTo>
                    <a:pt x="800862" y="212851"/>
                  </a:lnTo>
                  <a:lnTo>
                    <a:pt x="776618" y="175948"/>
                  </a:lnTo>
                  <a:lnTo>
                    <a:pt x="748816" y="141817"/>
                  </a:lnTo>
                  <a:lnTo>
                    <a:pt x="717718" y="110719"/>
                  </a:lnTo>
                  <a:lnTo>
                    <a:pt x="683587" y="82917"/>
                  </a:lnTo>
                  <a:lnTo>
                    <a:pt x="646684" y="58674"/>
                  </a:lnTo>
                  <a:lnTo>
                    <a:pt x="607271" y="38250"/>
                  </a:lnTo>
                  <a:lnTo>
                    <a:pt x="565611" y="21909"/>
                  </a:lnTo>
                  <a:lnTo>
                    <a:pt x="521965" y="9912"/>
                  </a:lnTo>
                  <a:lnTo>
                    <a:pt x="476597" y="2521"/>
                  </a:lnTo>
                  <a:lnTo>
                    <a:pt x="429767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32632" y="3549395"/>
              <a:ext cx="859790" cy="859790"/>
            </a:xfrm>
            <a:custGeom>
              <a:avLst/>
              <a:gdLst/>
              <a:ahLst/>
              <a:cxnLst/>
              <a:rect l="l" t="t" r="r" b="b"/>
              <a:pathLst>
                <a:path w="859789" h="859789">
                  <a:moveTo>
                    <a:pt x="0" y="429767"/>
                  </a:moveTo>
                  <a:lnTo>
                    <a:pt x="2521" y="382938"/>
                  </a:lnTo>
                  <a:lnTo>
                    <a:pt x="9912" y="337570"/>
                  </a:lnTo>
                  <a:lnTo>
                    <a:pt x="21909" y="293924"/>
                  </a:lnTo>
                  <a:lnTo>
                    <a:pt x="38250" y="252264"/>
                  </a:lnTo>
                  <a:lnTo>
                    <a:pt x="58674" y="212851"/>
                  </a:lnTo>
                  <a:lnTo>
                    <a:pt x="82917" y="175948"/>
                  </a:lnTo>
                  <a:lnTo>
                    <a:pt x="110719" y="141817"/>
                  </a:lnTo>
                  <a:lnTo>
                    <a:pt x="141817" y="110719"/>
                  </a:lnTo>
                  <a:lnTo>
                    <a:pt x="175948" y="82917"/>
                  </a:lnTo>
                  <a:lnTo>
                    <a:pt x="212851" y="58673"/>
                  </a:lnTo>
                  <a:lnTo>
                    <a:pt x="252264" y="38250"/>
                  </a:lnTo>
                  <a:lnTo>
                    <a:pt x="293924" y="21909"/>
                  </a:lnTo>
                  <a:lnTo>
                    <a:pt x="337570" y="9912"/>
                  </a:lnTo>
                  <a:lnTo>
                    <a:pt x="382938" y="2521"/>
                  </a:lnTo>
                  <a:lnTo>
                    <a:pt x="429767" y="0"/>
                  </a:lnTo>
                  <a:lnTo>
                    <a:pt x="476597" y="2521"/>
                  </a:lnTo>
                  <a:lnTo>
                    <a:pt x="521965" y="9912"/>
                  </a:lnTo>
                  <a:lnTo>
                    <a:pt x="565611" y="21909"/>
                  </a:lnTo>
                  <a:lnTo>
                    <a:pt x="607271" y="38250"/>
                  </a:lnTo>
                  <a:lnTo>
                    <a:pt x="646684" y="58674"/>
                  </a:lnTo>
                  <a:lnTo>
                    <a:pt x="683587" y="82917"/>
                  </a:lnTo>
                  <a:lnTo>
                    <a:pt x="717718" y="110719"/>
                  </a:lnTo>
                  <a:lnTo>
                    <a:pt x="748816" y="141817"/>
                  </a:lnTo>
                  <a:lnTo>
                    <a:pt x="776618" y="175948"/>
                  </a:lnTo>
                  <a:lnTo>
                    <a:pt x="800862" y="212851"/>
                  </a:lnTo>
                  <a:lnTo>
                    <a:pt x="821285" y="252264"/>
                  </a:lnTo>
                  <a:lnTo>
                    <a:pt x="837626" y="293924"/>
                  </a:lnTo>
                  <a:lnTo>
                    <a:pt x="849623" y="337570"/>
                  </a:lnTo>
                  <a:lnTo>
                    <a:pt x="857014" y="382938"/>
                  </a:lnTo>
                  <a:lnTo>
                    <a:pt x="859535" y="429767"/>
                  </a:lnTo>
                  <a:lnTo>
                    <a:pt x="857014" y="476597"/>
                  </a:lnTo>
                  <a:lnTo>
                    <a:pt x="849623" y="521965"/>
                  </a:lnTo>
                  <a:lnTo>
                    <a:pt x="837626" y="565611"/>
                  </a:lnTo>
                  <a:lnTo>
                    <a:pt x="821285" y="607271"/>
                  </a:lnTo>
                  <a:lnTo>
                    <a:pt x="800861" y="646683"/>
                  </a:lnTo>
                  <a:lnTo>
                    <a:pt x="776618" y="683587"/>
                  </a:lnTo>
                  <a:lnTo>
                    <a:pt x="748816" y="717718"/>
                  </a:lnTo>
                  <a:lnTo>
                    <a:pt x="717718" y="748816"/>
                  </a:lnTo>
                  <a:lnTo>
                    <a:pt x="683587" y="776618"/>
                  </a:lnTo>
                  <a:lnTo>
                    <a:pt x="646683" y="800862"/>
                  </a:lnTo>
                  <a:lnTo>
                    <a:pt x="607271" y="821285"/>
                  </a:lnTo>
                  <a:lnTo>
                    <a:pt x="565611" y="837626"/>
                  </a:lnTo>
                  <a:lnTo>
                    <a:pt x="521965" y="849623"/>
                  </a:lnTo>
                  <a:lnTo>
                    <a:pt x="476597" y="857014"/>
                  </a:lnTo>
                  <a:lnTo>
                    <a:pt x="429767" y="859535"/>
                  </a:lnTo>
                  <a:lnTo>
                    <a:pt x="382938" y="857014"/>
                  </a:lnTo>
                  <a:lnTo>
                    <a:pt x="337570" y="849623"/>
                  </a:lnTo>
                  <a:lnTo>
                    <a:pt x="293924" y="837626"/>
                  </a:lnTo>
                  <a:lnTo>
                    <a:pt x="252264" y="821285"/>
                  </a:lnTo>
                  <a:lnTo>
                    <a:pt x="212851" y="800862"/>
                  </a:lnTo>
                  <a:lnTo>
                    <a:pt x="175948" y="776618"/>
                  </a:lnTo>
                  <a:lnTo>
                    <a:pt x="141817" y="748816"/>
                  </a:lnTo>
                  <a:lnTo>
                    <a:pt x="110719" y="717718"/>
                  </a:lnTo>
                  <a:lnTo>
                    <a:pt x="82917" y="683587"/>
                  </a:lnTo>
                  <a:lnTo>
                    <a:pt x="58673" y="646683"/>
                  </a:lnTo>
                  <a:lnTo>
                    <a:pt x="38250" y="607271"/>
                  </a:lnTo>
                  <a:lnTo>
                    <a:pt x="21909" y="565611"/>
                  </a:lnTo>
                  <a:lnTo>
                    <a:pt x="9912" y="521965"/>
                  </a:lnTo>
                  <a:lnTo>
                    <a:pt x="2521" y="476597"/>
                  </a:lnTo>
                  <a:lnTo>
                    <a:pt x="0" y="42976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04260" y="3649979"/>
              <a:ext cx="643255" cy="673735"/>
            </a:xfrm>
            <a:custGeom>
              <a:avLst/>
              <a:gdLst/>
              <a:ahLst/>
              <a:cxnLst/>
              <a:rect l="l" t="t" r="r" b="b"/>
              <a:pathLst>
                <a:path w="643254" h="673735">
                  <a:moveTo>
                    <a:pt x="321563" y="0"/>
                  </a:moveTo>
                  <a:lnTo>
                    <a:pt x="274056" y="3650"/>
                  </a:lnTo>
                  <a:lnTo>
                    <a:pt x="228709" y="14256"/>
                  </a:lnTo>
                  <a:lnTo>
                    <a:pt x="186021" y="31296"/>
                  </a:lnTo>
                  <a:lnTo>
                    <a:pt x="146490" y="54250"/>
                  </a:lnTo>
                  <a:lnTo>
                    <a:pt x="110614" y="82597"/>
                  </a:lnTo>
                  <a:lnTo>
                    <a:pt x="78890" y="115818"/>
                  </a:lnTo>
                  <a:lnTo>
                    <a:pt x="51818" y="153391"/>
                  </a:lnTo>
                  <a:lnTo>
                    <a:pt x="29894" y="194797"/>
                  </a:lnTo>
                  <a:lnTo>
                    <a:pt x="13618" y="239514"/>
                  </a:lnTo>
                  <a:lnTo>
                    <a:pt x="3487" y="287023"/>
                  </a:lnTo>
                  <a:lnTo>
                    <a:pt x="0" y="336804"/>
                  </a:lnTo>
                  <a:lnTo>
                    <a:pt x="3487" y="386584"/>
                  </a:lnTo>
                  <a:lnTo>
                    <a:pt x="13618" y="434093"/>
                  </a:lnTo>
                  <a:lnTo>
                    <a:pt x="29894" y="478810"/>
                  </a:lnTo>
                  <a:lnTo>
                    <a:pt x="51818" y="520216"/>
                  </a:lnTo>
                  <a:lnTo>
                    <a:pt x="78890" y="557789"/>
                  </a:lnTo>
                  <a:lnTo>
                    <a:pt x="110614" y="591010"/>
                  </a:lnTo>
                  <a:lnTo>
                    <a:pt x="146490" y="619357"/>
                  </a:lnTo>
                  <a:lnTo>
                    <a:pt x="186021" y="642311"/>
                  </a:lnTo>
                  <a:lnTo>
                    <a:pt x="228709" y="659351"/>
                  </a:lnTo>
                  <a:lnTo>
                    <a:pt x="274056" y="669957"/>
                  </a:lnTo>
                  <a:lnTo>
                    <a:pt x="321563" y="673608"/>
                  </a:lnTo>
                  <a:lnTo>
                    <a:pt x="369071" y="669957"/>
                  </a:lnTo>
                  <a:lnTo>
                    <a:pt x="414418" y="659351"/>
                  </a:lnTo>
                  <a:lnTo>
                    <a:pt x="457106" y="642311"/>
                  </a:lnTo>
                  <a:lnTo>
                    <a:pt x="496637" y="619357"/>
                  </a:lnTo>
                  <a:lnTo>
                    <a:pt x="532513" y="591010"/>
                  </a:lnTo>
                  <a:lnTo>
                    <a:pt x="564237" y="557789"/>
                  </a:lnTo>
                  <a:lnTo>
                    <a:pt x="591309" y="520216"/>
                  </a:lnTo>
                  <a:lnTo>
                    <a:pt x="613233" y="478810"/>
                  </a:lnTo>
                  <a:lnTo>
                    <a:pt x="629509" y="434093"/>
                  </a:lnTo>
                  <a:lnTo>
                    <a:pt x="639640" y="386584"/>
                  </a:lnTo>
                  <a:lnTo>
                    <a:pt x="643127" y="336804"/>
                  </a:lnTo>
                  <a:lnTo>
                    <a:pt x="639640" y="287023"/>
                  </a:lnTo>
                  <a:lnTo>
                    <a:pt x="629509" y="239514"/>
                  </a:lnTo>
                  <a:lnTo>
                    <a:pt x="613233" y="194797"/>
                  </a:lnTo>
                  <a:lnTo>
                    <a:pt x="591309" y="153391"/>
                  </a:lnTo>
                  <a:lnTo>
                    <a:pt x="564237" y="115818"/>
                  </a:lnTo>
                  <a:lnTo>
                    <a:pt x="532513" y="82597"/>
                  </a:lnTo>
                  <a:lnTo>
                    <a:pt x="496637" y="54250"/>
                  </a:lnTo>
                  <a:lnTo>
                    <a:pt x="457106" y="31296"/>
                  </a:lnTo>
                  <a:lnTo>
                    <a:pt x="414418" y="14256"/>
                  </a:lnTo>
                  <a:lnTo>
                    <a:pt x="369071" y="3650"/>
                  </a:lnTo>
                  <a:lnTo>
                    <a:pt x="321563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4260" y="3649979"/>
              <a:ext cx="643255" cy="673735"/>
            </a:xfrm>
            <a:custGeom>
              <a:avLst/>
              <a:gdLst/>
              <a:ahLst/>
              <a:cxnLst/>
              <a:rect l="l" t="t" r="r" b="b"/>
              <a:pathLst>
                <a:path w="643254" h="673735">
                  <a:moveTo>
                    <a:pt x="0" y="336804"/>
                  </a:moveTo>
                  <a:lnTo>
                    <a:pt x="3487" y="287023"/>
                  </a:lnTo>
                  <a:lnTo>
                    <a:pt x="13618" y="239514"/>
                  </a:lnTo>
                  <a:lnTo>
                    <a:pt x="29894" y="194797"/>
                  </a:lnTo>
                  <a:lnTo>
                    <a:pt x="51818" y="153391"/>
                  </a:lnTo>
                  <a:lnTo>
                    <a:pt x="78890" y="115818"/>
                  </a:lnTo>
                  <a:lnTo>
                    <a:pt x="110614" y="82597"/>
                  </a:lnTo>
                  <a:lnTo>
                    <a:pt x="146490" y="54250"/>
                  </a:lnTo>
                  <a:lnTo>
                    <a:pt x="186021" y="31296"/>
                  </a:lnTo>
                  <a:lnTo>
                    <a:pt x="228709" y="14256"/>
                  </a:lnTo>
                  <a:lnTo>
                    <a:pt x="274056" y="3650"/>
                  </a:lnTo>
                  <a:lnTo>
                    <a:pt x="321563" y="0"/>
                  </a:lnTo>
                  <a:lnTo>
                    <a:pt x="369071" y="3650"/>
                  </a:lnTo>
                  <a:lnTo>
                    <a:pt x="414418" y="14256"/>
                  </a:lnTo>
                  <a:lnTo>
                    <a:pt x="457106" y="31296"/>
                  </a:lnTo>
                  <a:lnTo>
                    <a:pt x="496637" y="54250"/>
                  </a:lnTo>
                  <a:lnTo>
                    <a:pt x="532513" y="82597"/>
                  </a:lnTo>
                  <a:lnTo>
                    <a:pt x="564237" y="115818"/>
                  </a:lnTo>
                  <a:lnTo>
                    <a:pt x="591309" y="153391"/>
                  </a:lnTo>
                  <a:lnTo>
                    <a:pt x="613233" y="194797"/>
                  </a:lnTo>
                  <a:lnTo>
                    <a:pt x="629509" y="239514"/>
                  </a:lnTo>
                  <a:lnTo>
                    <a:pt x="639640" y="287023"/>
                  </a:lnTo>
                  <a:lnTo>
                    <a:pt x="643127" y="336804"/>
                  </a:lnTo>
                  <a:lnTo>
                    <a:pt x="639640" y="386584"/>
                  </a:lnTo>
                  <a:lnTo>
                    <a:pt x="629509" y="434093"/>
                  </a:lnTo>
                  <a:lnTo>
                    <a:pt x="613233" y="478810"/>
                  </a:lnTo>
                  <a:lnTo>
                    <a:pt x="591309" y="520216"/>
                  </a:lnTo>
                  <a:lnTo>
                    <a:pt x="564237" y="557789"/>
                  </a:lnTo>
                  <a:lnTo>
                    <a:pt x="532513" y="591010"/>
                  </a:lnTo>
                  <a:lnTo>
                    <a:pt x="496637" y="619357"/>
                  </a:lnTo>
                  <a:lnTo>
                    <a:pt x="457106" y="642311"/>
                  </a:lnTo>
                  <a:lnTo>
                    <a:pt x="414418" y="659351"/>
                  </a:lnTo>
                  <a:lnTo>
                    <a:pt x="369071" y="669957"/>
                  </a:lnTo>
                  <a:lnTo>
                    <a:pt x="321563" y="673608"/>
                  </a:lnTo>
                  <a:lnTo>
                    <a:pt x="274056" y="669957"/>
                  </a:lnTo>
                  <a:lnTo>
                    <a:pt x="228709" y="659351"/>
                  </a:lnTo>
                  <a:lnTo>
                    <a:pt x="186021" y="642311"/>
                  </a:lnTo>
                  <a:lnTo>
                    <a:pt x="146490" y="619357"/>
                  </a:lnTo>
                  <a:lnTo>
                    <a:pt x="110614" y="591010"/>
                  </a:lnTo>
                  <a:lnTo>
                    <a:pt x="78890" y="557789"/>
                  </a:lnTo>
                  <a:lnTo>
                    <a:pt x="51818" y="520216"/>
                  </a:lnTo>
                  <a:lnTo>
                    <a:pt x="29894" y="478810"/>
                  </a:lnTo>
                  <a:lnTo>
                    <a:pt x="13618" y="434093"/>
                  </a:lnTo>
                  <a:lnTo>
                    <a:pt x="3487" y="386584"/>
                  </a:lnTo>
                  <a:lnTo>
                    <a:pt x="0" y="336804"/>
                  </a:lnTo>
                  <a:close/>
                </a:path>
              </a:pathLst>
            </a:custGeom>
            <a:ln w="12699">
              <a:solidFill>
                <a:srgbClr val="EDEB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4742434" y="3285490"/>
            <a:ext cx="1390650" cy="1421130"/>
            <a:chOff x="4742434" y="3285490"/>
            <a:chExt cx="1390650" cy="1421130"/>
          </a:xfrm>
        </p:grpSpPr>
        <p:sp>
          <p:nvSpPr>
            <p:cNvPr id="24" name="object 24"/>
            <p:cNvSpPr/>
            <p:nvPr/>
          </p:nvSpPr>
          <p:spPr>
            <a:xfrm>
              <a:off x="4955730" y="3491318"/>
              <a:ext cx="1177290" cy="1215390"/>
            </a:xfrm>
            <a:custGeom>
              <a:avLst/>
              <a:gdLst/>
              <a:ahLst/>
              <a:cxnLst/>
              <a:rect l="l" t="t" r="r" b="b"/>
              <a:pathLst>
                <a:path w="1177289" h="1215389">
                  <a:moveTo>
                    <a:pt x="1177099" y="542582"/>
                  </a:moveTo>
                  <a:lnTo>
                    <a:pt x="1176235" y="508927"/>
                  </a:lnTo>
                  <a:lnTo>
                    <a:pt x="1176210" y="507911"/>
                  </a:lnTo>
                  <a:lnTo>
                    <a:pt x="1173772" y="475399"/>
                  </a:lnTo>
                  <a:lnTo>
                    <a:pt x="1163764" y="407073"/>
                  </a:lnTo>
                  <a:lnTo>
                    <a:pt x="1147508" y="342684"/>
                  </a:lnTo>
                  <a:lnTo>
                    <a:pt x="1125410" y="280962"/>
                  </a:lnTo>
                  <a:lnTo>
                    <a:pt x="1097724" y="222161"/>
                  </a:lnTo>
                  <a:lnTo>
                    <a:pt x="1064831" y="166662"/>
                  </a:lnTo>
                  <a:lnTo>
                    <a:pt x="1026985" y="114973"/>
                  </a:lnTo>
                  <a:lnTo>
                    <a:pt x="984567" y="67221"/>
                  </a:lnTo>
                  <a:lnTo>
                    <a:pt x="937958" y="23914"/>
                  </a:lnTo>
                  <a:lnTo>
                    <a:pt x="907745" y="0"/>
                  </a:lnTo>
                  <a:lnTo>
                    <a:pt x="919048" y="11582"/>
                  </a:lnTo>
                  <a:lnTo>
                    <a:pt x="947674" y="45046"/>
                  </a:lnTo>
                  <a:lnTo>
                    <a:pt x="974090" y="80429"/>
                  </a:lnTo>
                  <a:lnTo>
                    <a:pt x="998194" y="117614"/>
                  </a:lnTo>
                  <a:lnTo>
                    <a:pt x="1019873" y="156489"/>
                  </a:lnTo>
                  <a:lnTo>
                    <a:pt x="1039025" y="196938"/>
                  </a:lnTo>
                  <a:lnTo>
                    <a:pt x="1055535" y="238861"/>
                  </a:lnTo>
                  <a:lnTo>
                    <a:pt x="1069276" y="282143"/>
                  </a:lnTo>
                  <a:lnTo>
                    <a:pt x="1080173" y="326656"/>
                  </a:lnTo>
                  <a:lnTo>
                    <a:pt x="1088085" y="372300"/>
                  </a:lnTo>
                  <a:lnTo>
                    <a:pt x="1092911" y="418960"/>
                  </a:lnTo>
                  <a:lnTo>
                    <a:pt x="1094549" y="466509"/>
                  </a:lnTo>
                  <a:lnTo>
                    <a:pt x="1092911" y="514070"/>
                  </a:lnTo>
                  <a:lnTo>
                    <a:pt x="1088085" y="560730"/>
                  </a:lnTo>
                  <a:lnTo>
                    <a:pt x="1080173" y="606374"/>
                  </a:lnTo>
                  <a:lnTo>
                    <a:pt x="1069276" y="650887"/>
                  </a:lnTo>
                  <a:lnTo>
                    <a:pt x="1055535" y="694169"/>
                  </a:lnTo>
                  <a:lnTo>
                    <a:pt x="1039025" y="736092"/>
                  </a:lnTo>
                  <a:lnTo>
                    <a:pt x="1019873" y="776541"/>
                  </a:lnTo>
                  <a:lnTo>
                    <a:pt x="998194" y="815416"/>
                  </a:lnTo>
                  <a:lnTo>
                    <a:pt x="974090" y="852601"/>
                  </a:lnTo>
                  <a:lnTo>
                    <a:pt x="947674" y="887984"/>
                  </a:lnTo>
                  <a:lnTo>
                    <a:pt x="919048" y="921448"/>
                  </a:lnTo>
                  <a:lnTo>
                    <a:pt x="888339" y="952893"/>
                  </a:lnTo>
                  <a:lnTo>
                    <a:pt x="855637" y="982179"/>
                  </a:lnTo>
                  <a:lnTo>
                    <a:pt x="821067" y="1009218"/>
                  </a:lnTo>
                  <a:lnTo>
                    <a:pt x="784733" y="1033894"/>
                  </a:lnTo>
                  <a:lnTo>
                    <a:pt x="746747" y="1056081"/>
                  </a:lnTo>
                  <a:lnTo>
                    <a:pt x="707212" y="1075677"/>
                  </a:lnTo>
                  <a:lnTo>
                    <a:pt x="666242" y="1092581"/>
                  </a:lnTo>
                  <a:lnTo>
                    <a:pt x="623963" y="1106652"/>
                  </a:lnTo>
                  <a:lnTo>
                    <a:pt x="580466" y="1117790"/>
                  </a:lnTo>
                  <a:lnTo>
                    <a:pt x="535863" y="1125893"/>
                  </a:lnTo>
                  <a:lnTo>
                    <a:pt x="490270" y="1130833"/>
                  </a:lnTo>
                  <a:lnTo>
                    <a:pt x="443801" y="1132497"/>
                  </a:lnTo>
                  <a:lnTo>
                    <a:pt x="397319" y="1130833"/>
                  </a:lnTo>
                  <a:lnTo>
                    <a:pt x="351726" y="1125893"/>
                  </a:lnTo>
                  <a:lnTo>
                    <a:pt x="307124" y="1117790"/>
                  </a:lnTo>
                  <a:lnTo>
                    <a:pt x="263626" y="1106652"/>
                  </a:lnTo>
                  <a:lnTo>
                    <a:pt x="221348" y="1092581"/>
                  </a:lnTo>
                  <a:lnTo>
                    <a:pt x="180378" y="1075677"/>
                  </a:lnTo>
                  <a:lnTo>
                    <a:pt x="140843" y="1056081"/>
                  </a:lnTo>
                  <a:lnTo>
                    <a:pt x="102857" y="1033894"/>
                  </a:lnTo>
                  <a:lnTo>
                    <a:pt x="66522" y="1009218"/>
                  </a:lnTo>
                  <a:lnTo>
                    <a:pt x="31953" y="982179"/>
                  </a:lnTo>
                  <a:lnTo>
                    <a:pt x="0" y="953566"/>
                  </a:lnTo>
                  <a:lnTo>
                    <a:pt x="13017" y="970445"/>
                  </a:lnTo>
                  <a:lnTo>
                    <a:pt x="55435" y="1018197"/>
                  </a:lnTo>
                  <a:lnTo>
                    <a:pt x="102044" y="1061504"/>
                  </a:lnTo>
                  <a:lnTo>
                    <a:pt x="152717" y="1100239"/>
                  </a:lnTo>
                  <a:lnTo>
                    <a:pt x="206819" y="1133894"/>
                  </a:lnTo>
                  <a:lnTo>
                    <a:pt x="264350" y="1162215"/>
                  </a:lnTo>
                  <a:lnTo>
                    <a:pt x="324675" y="1184821"/>
                  </a:lnTo>
                  <a:lnTo>
                    <a:pt x="387667" y="1201458"/>
                  </a:lnTo>
                  <a:lnTo>
                    <a:pt x="452945" y="1211618"/>
                  </a:lnTo>
                  <a:lnTo>
                    <a:pt x="520128" y="1215047"/>
                  </a:lnTo>
                  <a:lnTo>
                    <a:pt x="554037" y="1214158"/>
                  </a:lnTo>
                  <a:lnTo>
                    <a:pt x="587311" y="1211618"/>
                  </a:lnTo>
                  <a:lnTo>
                    <a:pt x="620204" y="1207300"/>
                  </a:lnTo>
                  <a:lnTo>
                    <a:pt x="647065" y="1202347"/>
                  </a:lnTo>
                  <a:lnTo>
                    <a:pt x="651891" y="1201458"/>
                  </a:lnTo>
                  <a:lnTo>
                    <a:pt x="652043" y="1201458"/>
                  </a:lnTo>
                  <a:lnTo>
                    <a:pt x="683920" y="1193965"/>
                  </a:lnTo>
                  <a:lnTo>
                    <a:pt x="745807" y="1174280"/>
                  </a:lnTo>
                  <a:lnTo>
                    <a:pt x="805116" y="1148626"/>
                  </a:lnTo>
                  <a:lnTo>
                    <a:pt x="860615" y="1117790"/>
                  </a:lnTo>
                  <a:lnTo>
                    <a:pt x="913320" y="1081316"/>
                  </a:lnTo>
                  <a:lnTo>
                    <a:pt x="961961" y="1040168"/>
                  </a:lnTo>
                  <a:lnTo>
                    <a:pt x="1006538" y="994575"/>
                  </a:lnTo>
                  <a:lnTo>
                    <a:pt x="1046670" y="944791"/>
                  </a:lnTo>
                  <a:lnTo>
                    <a:pt x="1082103" y="891197"/>
                  </a:lnTo>
                  <a:lnTo>
                    <a:pt x="1112329" y="834047"/>
                  </a:lnTo>
                  <a:lnTo>
                    <a:pt x="1137348" y="773722"/>
                  </a:lnTo>
                  <a:lnTo>
                    <a:pt x="1156398" y="710603"/>
                  </a:lnTo>
                  <a:lnTo>
                    <a:pt x="1169606" y="644944"/>
                  </a:lnTo>
                  <a:lnTo>
                    <a:pt x="1176210" y="577126"/>
                  </a:lnTo>
                  <a:lnTo>
                    <a:pt x="1177086" y="542836"/>
                  </a:lnTo>
                  <a:lnTo>
                    <a:pt x="1177099" y="542582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48784" y="3291840"/>
              <a:ext cx="1301495" cy="133197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748784" y="3291840"/>
              <a:ext cx="1301750" cy="1332230"/>
            </a:xfrm>
            <a:custGeom>
              <a:avLst/>
              <a:gdLst/>
              <a:ahLst/>
              <a:cxnLst/>
              <a:rect l="l" t="t" r="r" b="b"/>
              <a:pathLst>
                <a:path w="1301750" h="1332229">
                  <a:moveTo>
                    <a:pt x="0" y="665988"/>
                  </a:moveTo>
                  <a:lnTo>
                    <a:pt x="1633" y="618428"/>
                  </a:lnTo>
                  <a:lnTo>
                    <a:pt x="6462" y="571771"/>
                  </a:lnTo>
                  <a:lnTo>
                    <a:pt x="14374" y="526128"/>
                  </a:lnTo>
                  <a:lnTo>
                    <a:pt x="25260" y="481613"/>
                  </a:lnTo>
                  <a:lnTo>
                    <a:pt x="39011" y="438339"/>
                  </a:lnTo>
                  <a:lnTo>
                    <a:pt x="55515" y="396417"/>
                  </a:lnTo>
                  <a:lnTo>
                    <a:pt x="74663" y="355961"/>
                  </a:lnTo>
                  <a:lnTo>
                    <a:pt x="96345" y="317084"/>
                  </a:lnTo>
                  <a:lnTo>
                    <a:pt x="120450" y="279898"/>
                  </a:lnTo>
                  <a:lnTo>
                    <a:pt x="146869" y="244516"/>
                  </a:lnTo>
                  <a:lnTo>
                    <a:pt x="175492" y="211050"/>
                  </a:lnTo>
                  <a:lnTo>
                    <a:pt x="206207" y="179614"/>
                  </a:lnTo>
                  <a:lnTo>
                    <a:pt x="238906" y="150320"/>
                  </a:lnTo>
                  <a:lnTo>
                    <a:pt x="273478" y="123281"/>
                  </a:lnTo>
                  <a:lnTo>
                    <a:pt x="309813" y="98610"/>
                  </a:lnTo>
                  <a:lnTo>
                    <a:pt x="347801" y="76419"/>
                  </a:lnTo>
                  <a:lnTo>
                    <a:pt x="387331" y="56821"/>
                  </a:lnTo>
                  <a:lnTo>
                    <a:pt x="428294" y="39928"/>
                  </a:lnTo>
                  <a:lnTo>
                    <a:pt x="470580" y="25855"/>
                  </a:lnTo>
                  <a:lnTo>
                    <a:pt x="514079" y="14712"/>
                  </a:lnTo>
                  <a:lnTo>
                    <a:pt x="558679" y="6614"/>
                  </a:lnTo>
                  <a:lnTo>
                    <a:pt x="604272" y="1672"/>
                  </a:lnTo>
                  <a:lnTo>
                    <a:pt x="650748" y="0"/>
                  </a:lnTo>
                  <a:lnTo>
                    <a:pt x="697223" y="1672"/>
                  </a:lnTo>
                  <a:lnTo>
                    <a:pt x="742816" y="6614"/>
                  </a:lnTo>
                  <a:lnTo>
                    <a:pt x="787416" y="14712"/>
                  </a:lnTo>
                  <a:lnTo>
                    <a:pt x="830915" y="25855"/>
                  </a:lnTo>
                  <a:lnTo>
                    <a:pt x="873201" y="39928"/>
                  </a:lnTo>
                  <a:lnTo>
                    <a:pt x="914164" y="56821"/>
                  </a:lnTo>
                  <a:lnTo>
                    <a:pt x="953694" y="76419"/>
                  </a:lnTo>
                  <a:lnTo>
                    <a:pt x="991682" y="98610"/>
                  </a:lnTo>
                  <a:lnTo>
                    <a:pt x="1028017" y="123281"/>
                  </a:lnTo>
                  <a:lnTo>
                    <a:pt x="1062589" y="150320"/>
                  </a:lnTo>
                  <a:lnTo>
                    <a:pt x="1095288" y="179614"/>
                  </a:lnTo>
                  <a:lnTo>
                    <a:pt x="1126003" y="211050"/>
                  </a:lnTo>
                  <a:lnTo>
                    <a:pt x="1154626" y="244516"/>
                  </a:lnTo>
                  <a:lnTo>
                    <a:pt x="1181045" y="279898"/>
                  </a:lnTo>
                  <a:lnTo>
                    <a:pt x="1205150" y="317084"/>
                  </a:lnTo>
                  <a:lnTo>
                    <a:pt x="1226832" y="355961"/>
                  </a:lnTo>
                  <a:lnTo>
                    <a:pt x="1245980" y="396417"/>
                  </a:lnTo>
                  <a:lnTo>
                    <a:pt x="1262484" y="438339"/>
                  </a:lnTo>
                  <a:lnTo>
                    <a:pt x="1276235" y="481613"/>
                  </a:lnTo>
                  <a:lnTo>
                    <a:pt x="1287121" y="526128"/>
                  </a:lnTo>
                  <a:lnTo>
                    <a:pt x="1295033" y="571771"/>
                  </a:lnTo>
                  <a:lnTo>
                    <a:pt x="1299862" y="618428"/>
                  </a:lnTo>
                  <a:lnTo>
                    <a:pt x="1301495" y="665988"/>
                  </a:lnTo>
                  <a:lnTo>
                    <a:pt x="1299862" y="713547"/>
                  </a:lnTo>
                  <a:lnTo>
                    <a:pt x="1295033" y="760204"/>
                  </a:lnTo>
                  <a:lnTo>
                    <a:pt x="1287121" y="805847"/>
                  </a:lnTo>
                  <a:lnTo>
                    <a:pt x="1276235" y="850362"/>
                  </a:lnTo>
                  <a:lnTo>
                    <a:pt x="1262484" y="893636"/>
                  </a:lnTo>
                  <a:lnTo>
                    <a:pt x="1245980" y="935558"/>
                  </a:lnTo>
                  <a:lnTo>
                    <a:pt x="1226832" y="976014"/>
                  </a:lnTo>
                  <a:lnTo>
                    <a:pt x="1205150" y="1014891"/>
                  </a:lnTo>
                  <a:lnTo>
                    <a:pt x="1181045" y="1052077"/>
                  </a:lnTo>
                  <a:lnTo>
                    <a:pt x="1154626" y="1087459"/>
                  </a:lnTo>
                  <a:lnTo>
                    <a:pt x="1126003" y="1120925"/>
                  </a:lnTo>
                  <a:lnTo>
                    <a:pt x="1095288" y="1152361"/>
                  </a:lnTo>
                  <a:lnTo>
                    <a:pt x="1062589" y="1181655"/>
                  </a:lnTo>
                  <a:lnTo>
                    <a:pt x="1028017" y="1208694"/>
                  </a:lnTo>
                  <a:lnTo>
                    <a:pt x="991682" y="1233365"/>
                  </a:lnTo>
                  <a:lnTo>
                    <a:pt x="953694" y="1255556"/>
                  </a:lnTo>
                  <a:lnTo>
                    <a:pt x="914164" y="1275154"/>
                  </a:lnTo>
                  <a:lnTo>
                    <a:pt x="873201" y="1292047"/>
                  </a:lnTo>
                  <a:lnTo>
                    <a:pt x="830915" y="1306120"/>
                  </a:lnTo>
                  <a:lnTo>
                    <a:pt x="787416" y="1317263"/>
                  </a:lnTo>
                  <a:lnTo>
                    <a:pt x="742816" y="1325361"/>
                  </a:lnTo>
                  <a:lnTo>
                    <a:pt x="697223" y="1330303"/>
                  </a:lnTo>
                  <a:lnTo>
                    <a:pt x="650748" y="1331976"/>
                  </a:lnTo>
                  <a:lnTo>
                    <a:pt x="604272" y="1330303"/>
                  </a:lnTo>
                  <a:lnTo>
                    <a:pt x="558679" y="1325361"/>
                  </a:lnTo>
                  <a:lnTo>
                    <a:pt x="514079" y="1317263"/>
                  </a:lnTo>
                  <a:lnTo>
                    <a:pt x="470580" y="1306120"/>
                  </a:lnTo>
                  <a:lnTo>
                    <a:pt x="428294" y="1292047"/>
                  </a:lnTo>
                  <a:lnTo>
                    <a:pt x="387331" y="1275154"/>
                  </a:lnTo>
                  <a:lnTo>
                    <a:pt x="347801" y="1255556"/>
                  </a:lnTo>
                  <a:lnTo>
                    <a:pt x="309813" y="1233365"/>
                  </a:lnTo>
                  <a:lnTo>
                    <a:pt x="273478" y="1208694"/>
                  </a:lnTo>
                  <a:lnTo>
                    <a:pt x="238906" y="1181655"/>
                  </a:lnTo>
                  <a:lnTo>
                    <a:pt x="206207" y="1152361"/>
                  </a:lnTo>
                  <a:lnTo>
                    <a:pt x="175492" y="1120925"/>
                  </a:lnTo>
                  <a:lnTo>
                    <a:pt x="146869" y="1087459"/>
                  </a:lnTo>
                  <a:lnTo>
                    <a:pt x="120450" y="1052077"/>
                  </a:lnTo>
                  <a:lnTo>
                    <a:pt x="96345" y="1014891"/>
                  </a:lnTo>
                  <a:lnTo>
                    <a:pt x="74663" y="976014"/>
                  </a:lnTo>
                  <a:lnTo>
                    <a:pt x="55515" y="935558"/>
                  </a:lnTo>
                  <a:lnTo>
                    <a:pt x="39011" y="893636"/>
                  </a:lnTo>
                  <a:lnTo>
                    <a:pt x="25260" y="850362"/>
                  </a:lnTo>
                  <a:lnTo>
                    <a:pt x="14374" y="805847"/>
                  </a:lnTo>
                  <a:lnTo>
                    <a:pt x="6462" y="760204"/>
                  </a:lnTo>
                  <a:lnTo>
                    <a:pt x="1633" y="713547"/>
                  </a:lnTo>
                  <a:lnTo>
                    <a:pt x="0" y="665988"/>
                  </a:lnTo>
                  <a:close/>
                </a:path>
              </a:pathLst>
            </a:custGeom>
            <a:ln w="12700">
              <a:solidFill>
                <a:srgbClr val="A1C1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892040" y="3464052"/>
              <a:ext cx="1030605" cy="1016635"/>
            </a:xfrm>
            <a:custGeom>
              <a:avLst/>
              <a:gdLst/>
              <a:ahLst/>
              <a:cxnLst/>
              <a:rect l="l" t="t" r="r" b="b"/>
              <a:pathLst>
                <a:path w="1030604" h="1016635">
                  <a:moveTo>
                    <a:pt x="515112" y="0"/>
                  </a:moveTo>
                  <a:lnTo>
                    <a:pt x="468227" y="2077"/>
                  </a:lnTo>
                  <a:lnTo>
                    <a:pt x="422522" y="8189"/>
                  </a:lnTo>
                  <a:lnTo>
                    <a:pt x="378177" y="18157"/>
                  </a:lnTo>
                  <a:lnTo>
                    <a:pt x="335376" y="31801"/>
                  </a:lnTo>
                  <a:lnTo>
                    <a:pt x="294299" y="48941"/>
                  </a:lnTo>
                  <a:lnTo>
                    <a:pt x="255128" y="69398"/>
                  </a:lnTo>
                  <a:lnTo>
                    <a:pt x="218046" y="92992"/>
                  </a:lnTo>
                  <a:lnTo>
                    <a:pt x="183235" y="119545"/>
                  </a:lnTo>
                  <a:lnTo>
                    <a:pt x="150876" y="148875"/>
                  </a:lnTo>
                  <a:lnTo>
                    <a:pt x="121150" y="180805"/>
                  </a:lnTo>
                  <a:lnTo>
                    <a:pt x="94241" y="215153"/>
                  </a:lnTo>
                  <a:lnTo>
                    <a:pt x="70329" y="251742"/>
                  </a:lnTo>
                  <a:lnTo>
                    <a:pt x="49597" y="290390"/>
                  </a:lnTo>
                  <a:lnTo>
                    <a:pt x="32227" y="330920"/>
                  </a:lnTo>
                  <a:lnTo>
                    <a:pt x="18400" y="373150"/>
                  </a:lnTo>
                  <a:lnTo>
                    <a:pt x="8299" y="416902"/>
                  </a:lnTo>
                  <a:lnTo>
                    <a:pt x="2105" y="461997"/>
                  </a:lnTo>
                  <a:lnTo>
                    <a:pt x="0" y="508254"/>
                  </a:lnTo>
                  <a:lnTo>
                    <a:pt x="2105" y="554510"/>
                  </a:lnTo>
                  <a:lnTo>
                    <a:pt x="8299" y="599605"/>
                  </a:lnTo>
                  <a:lnTo>
                    <a:pt x="18400" y="643357"/>
                  </a:lnTo>
                  <a:lnTo>
                    <a:pt x="32227" y="685587"/>
                  </a:lnTo>
                  <a:lnTo>
                    <a:pt x="49597" y="726117"/>
                  </a:lnTo>
                  <a:lnTo>
                    <a:pt x="70329" y="764765"/>
                  </a:lnTo>
                  <a:lnTo>
                    <a:pt x="94241" y="801354"/>
                  </a:lnTo>
                  <a:lnTo>
                    <a:pt x="121150" y="835702"/>
                  </a:lnTo>
                  <a:lnTo>
                    <a:pt x="150875" y="867632"/>
                  </a:lnTo>
                  <a:lnTo>
                    <a:pt x="183235" y="896962"/>
                  </a:lnTo>
                  <a:lnTo>
                    <a:pt x="218046" y="923515"/>
                  </a:lnTo>
                  <a:lnTo>
                    <a:pt x="255128" y="947109"/>
                  </a:lnTo>
                  <a:lnTo>
                    <a:pt x="294299" y="967566"/>
                  </a:lnTo>
                  <a:lnTo>
                    <a:pt x="335376" y="984706"/>
                  </a:lnTo>
                  <a:lnTo>
                    <a:pt x="378177" y="998350"/>
                  </a:lnTo>
                  <a:lnTo>
                    <a:pt x="422522" y="1008318"/>
                  </a:lnTo>
                  <a:lnTo>
                    <a:pt x="468227" y="1014430"/>
                  </a:lnTo>
                  <a:lnTo>
                    <a:pt x="515112" y="1016508"/>
                  </a:lnTo>
                  <a:lnTo>
                    <a:pt x="561996" y="1014430"/>
                  </a:lnTo>
                  <a:lnTo>
                    <a:pt x="607701" y="1008318"/>
                  </a:lnTo>
                  <a:lnTo>
                    <a:pt x="652046" y="998350"/>
                  </a:lnTo>
                  <a:lnTo>
                    <a:pt x="694847" y="984706"/>
                  </a:lnTo>
                  <a:lnTo>
                    <a:pt x="735924" y="967566"/>
                  </a:lnTo>
                  <a:lnTo>
                    <a:pt x="775095" y="947109"/>
                  </a:lnTo>
                  <a:lnTo>
                    <a:pt x="812177" y="923515"/>
                  </a:lnTo>
                  <a:lnTo>
                    <a:pt x="846988" y="896962"/>
                  </a:lnTo>
                  <a:lnTo>
                    <a:pt x="879348" y="867632"/>
                  </a:lnTo>
                  <a:lnTo>
                    <a:pt x="909073" y="835702"/>
                  </a:lnTo>
                  <a:lnTo>
                    <a:pt x="935982" y="801354"/>
                  </a:lnTo>
                  <a:lnTo>
                    <a:pt x="959894" y="764765"/>
                  </a:lnTo>
                  <a:lnTo>
                    <a:pt x="980626" y="726117"/>
                  </a:lnTo>
                  <a:lnTo>
                    <a:pt x="997996" y="685587"/>
                  </a:lnTo>
                  <a:lnTo>
                    <a:pt x="1011823" y="643357"/>
                  </a:lnTo>
                  <a:lnTo>
                    <a:pt x="1021924" y="599605"/>
                  </a:lnTo>
                  <a:lnTo>
                    <a:pt x="1028118" y="554510"/>
                  </a:lnTo>
                  <a:lnTo>
                    <a:pt x="1030224" y="508254"/>
                  </a:lnTo>
                  <a:lnTo>
                    <a:pt x="1028118" y="461997"/>
                  </a:lnTo>
                  <a:lnTo>
                    <a:pt x="1021924" y="416902"/>
                  </a:lnTo>
                  <a:lnTo>
                    <a:pt x="1011823" y="373150"/>
                  </a:lnTo>
                  <a:lnTo>
                    <a:pt x="997996" y="330920"/>
                  </a:lnTo>
                  <a:lnTo>
                    <a:pt x="980626" y="290390"/>
                  </a:lnTo>
                  <a:lnTo>
                    <a:pt x="959894" y="251742"/>
                  </a:lnTo>
                  <a:lnTo>
                    <a:pt x="935982" y="215153"/>
                  </a:lnTo>
                  <a:lnTo>
                    <a:pt x="909073" y="180805"/>
                  </a:lnTo>
                  <a:lnTo>
                    <a:pt x="879348" y="148875"/>
                  </a:lnTo>
                  <a:lnTo>
                    <a:pt x="846988" y="119545"/>
                  </a:lnTo>
                  <a:lnTo>
                    <a:pt x="812177" y="92992"/>
                  </a:lnTo>
                  <a:lnTo>
                    <a:pt x="775095" y="69398"/>
                  </a:lnTo>
                  <a:lnTo>
                    <a:pt x="735924" y="48941"/>
                  </a:lnTo>
                  <a:lnTo>
                    <a:pt x="694847" y="31801"/>
                  </a:lnTo>
                  <a:lnTo>
                    <a:pt x="652046" y="18157"/>
                  </a:lnTo>
                  <a:lnTo>
                    <a:pt x="607701" y="8189"/>
                  </a:lnTo>
                  <a:lnTo>
                    <a:pt x="561996" y="2077"/>
                  </a:lnTo>
                  <a:lnTo>
                    <a:pt x="515112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892040" y="3464052"/>
              <a:ext cx="1030605" cy="1016635"/>
            </a:xfrm>
            <a:custGeom>
              <a:avLst/>
              <a:gdLst/>
              <a:ahLst/>
              <a:cxnLst/>
              <a:rect l="l" t="t" r="r" b="b"/>
              <a:pathLst>
                <a:path w="1030604" h="1016635">
                  <a:moveTo>
                    <a:pt x="0" y="508254"/>
                  </a:moveTo>
                  <a:lnTo>
                    <a:pt x="2105" y="461997"/>
                  </a:lnTo>
                  <a:lnTo>
                    <a:pt x="8299" y="416902"/>
                  </a:lnTo>
                  <a:lnTo>
                    <a:pt x="18400" y="373150"/>
                  </a:lnTo>
                  <a:lnTo>
                    <a:pt x="32227" y="330920"/>
                  </a:lnTo>
                  <a:lnTo>
                    <a:pt x="49597" y="290390"/>
                  </a:lnTo>
                  <a:lnTo>
                    <a:pt x="70329" y="251742"/>
                  </a:lnTo>
                  <a:lnTo>
                    <a:pt x="94241" y="215153"/>
                  </a:lnTo>
                  <a:lnTo>
                    <a:pt x="121150" y="180805"/>
                  </a:lnTo>
                  <a:lnTo>
                    <a:pt x="150876" y="148875"/>
                  </a:lnTo>
                  <a:lnTo>
                    <a:pt x="183235" y="119545"/>
                  </a:lnTo>
                  <a:lnTo>
                    <a:pt x="218046" y="92992"/>
                  </a:lnTo>
                  <a:lnTo>
                    <a:pt x="255128" y="69398"/>
                  </a:lnTo>
                  <a:lnTo>
                    <a:pt x="294299" y="48941"/>
                  </a:lnTo>
                  <a:lnTo>
                    <a:pt x="335376" y="31801"/>
                  </a:lnTo>
                  <a:lnTo>
                    <a:pt x="378177" y="18157"/>
                  </a:lnTo>
                  <a:lnTo>
                    <a:pt x="422522" y="8189"/>
                  </a:lnTo>
                  <a:lnTo>
                    <a:pt x="468227" y="2077"/>
                  </a:lnTo>
                  <a:lnTo>
                    <a:pt x="515112" y="0"/>
                  </a:lnTo>
                  <a:lnTo>
                    <a:pt x="561996" y="2077"/>
                  </a:lnTo>
                  <a:lnTo>
                    <a:pt x="607701" y="8189"/>
                  </a:lnTo>
                  <a:lnTo>
                    <a:pt x="652046" y="18157"/>
                  </a:lnTo>
                  <a:lnTo>
                    <a:pt x="694847" y="31801"/>
                  </a:lnTo>
                  <a:lnTo>
                    <a:pt x="735924" y="48941"/>
                  </a:lnTo>
                  <a:lnTo>
                    <a:pt x="775095" y="69398"/>
                  </a:lnTo>
                  <a:lnTo>
                    <a:pt x="812177" y="92992"/>
                  </a:lnTo>
                  <a:lnTo>
                    <a:pt x="846988" y="119545"/>
                  </a:lnTo>
                  <a:lnTo>
                    <a:pt x="879348" y="148875"/>
                  </a:lnTo>
                  <a:lnTo>
                    <a:pt x="909073" y="180805"/>
                  </a:lnTo>
                  <a:lnTo>
                    <a:pt x="935982" y="215153"/>
                  </a:lnTo>
                  <a:lnTo>
                    <a:pt x="959894" y="251742"/>
                  </a:lnTo>
                  <a:lnTo>
                    <a:pt x="980626" y="290390"/>
                  </a:lnTo>
                  <a:lnTo>
                    <a:pt x="997996" y="330920"/>
                  </a:lnTo>
                  <a:lnTo>
                    <a:pt x="1011823" y="373150"/>
                  </a:lnTo>
                  <a:lnTo>
                    <a:pt x="1021924" y="416902"/>
                  </a:lnTo>
                  <a:lnTo>
                    <a:pt x="1028118" y="461997"/>
                  </a:lnTo>
                  <a:lnTo>
                    <a:pt x="1030224" y="508254"/>
                  </a:lnTo>
                  <a:lnTo>
                    <a:pt x="1028118" y="554510"/>
                  </a:lnTo>
                  <a:lnTo>
                    <a:pt x="1021924" y="599605"/>
                  </a:lnTo>
                  <a:lnTo>
                    <a:pt x="1011823" y="643357"/>
                  </a:lnTo>
                  <a:lnTo>
                    <a:pt x="997996" y="685587"/>
                  </a:lnTo>
                  <a:lnTo>
                    <a:pt x="980626" y="726117"/>
                  </a:lnTo>
                  <a:lnTo>
                    <a:pt x="959894" y="764765"/>
                  </a:lnTo>
                  <a:lnTo>
                    <a:pt x="935982" y="801354"/>
                  </a:lnTo>
                  <a:lnTo>
                    <a:pt x="909073" y="835702"/>
                  </a:lnTo>
                  <a:lnTo>
                    <a:pt x="879348" y="867632"/>
                  </a:lnTo>
                  <a:lnTo>
                    <a:pt x="846988" y="896962"/>
                  </a:lnTo>
                  <a:lnTo>
                    <a:pt x="812177" y="923515"/>
                  </a:lnTo>
                  <a:lnTo>
                    <a:pt x="775095" y="947109"/>
                  </a:lnTo>
                  <a:lnTo>
                    <a:pt x="735924" y="967566"/>
                  </a:lnTo>
                  <a:lnTo>
                    <a:pt x="694847" y="984706"/>
                  </a:lnTo>
                  <a:lnTo>
                    <a:pt x="652046" y="998350"/>
                  </a:lnTo>
                  <a:lnTo>
                    <a:pt x="607701" y="1008318"/>
                  </a:lnTo>
                  <a:lnTo>
                    <a:pt x="561996" y="1014430"/>
                  </a:lnTo>
                  <a:lnTo>
                    <a:pt x="515112" y="1016508"/>
                  </a:lnTo>
                  <a:lnTo>
                    <a:pt x="468227" y="1014430"/>
                  </a:lnTo>
                  <a:lnTo>
                    <a:pt x="422522" y="1008318"/>
                  </a:lnTo>
                  <a:lnTo>
                    <a:pt x="378177" y="998350"/>
                  </a:lnTo>
                  <a:lnTo>
                    <a:pt x="335376" y="984706"/>
                  </a:lnTo>
                  <a:lnTo>
                    <a:pt x="294299" y="967566"/>
                  </a:lnTo>
                  <a:lnTo>
                    <a:pt x="255128" y="947109"/>
                  </a:lnTo>
                  <a:lnTo>
                    <a:pt x="218046" y="923515"/>
                  </a:lnTo>
                  <a:lnTo>
                    <a:pt x="183235" y="896962"/>
                  </a:lnTo>
                  <a:lnTo>
                    <a:pt x="150875" y="867632"/>
                  </a:lnTo>
                  <a:lnTo>
                    <a:pt x="121150" y="835702"/>
                  </a:lnTo>
                  <a:lnTo>
                    <a:pt x="94241" y="801354"/>
                  </a:lnTo>
                  <a:lnTo>
                    <a:pt x="70329" y="764765"/>
                  </a:lnTo>
                  <a:lnTo>
                    <a:pt x="49597" y="726117"/>
                  </a:lnTo>
                  <a:lnTo>
                    <a:pt x="32227" y="685587"/>
                  </a:lnTo>
                  <a:lnTo>
                    <a:pt x="18400" y="643357"/>
                  </a:lnTo>
                  <a:lnTo>
                    <a:pt x="8299" y="599605"/>
                  </a:lnTo>
                  <a:lnTo>
                    <a:pt x="2105" y="554510"/>
                  </a:lnTo>
                  <a:lnTo>
                    <a:pt x="0" y="50825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042916" y="3657600"/>
              <a:ext cx="528955" cy="673735"/>
            </a:xfrm>
            <a:custGeom>
              <a:avLst/>
              <a:gdLst/>
              <a:ahLst/>
              <a:cxnLst/>
              <a:rect l="l" t="t" r="r" b="b"/>
              <a:pathLst>
                <a:path w="528954" h="673735">
                  <a:moveTo>
                    <a:pt x="264413" y="0"/>
                  </a:moveTo>
                  <a:lnTo>
                    <a:pt x="221520" y="4407"/>
                  </a:lnTo>
                  <a:lnTo>
                    <a:pt x="180831" y="17166"/>
                  </a:lnTo>
                  <a:lnTo>
                    <a:pt x="142892" y="37585"/>
                  </a:lnTo>
                  <a:lnTo>
                    <a:pt x="108246" y="64971"/>
                  </a:lnTo>
                  <a:lnTo>
                    <a:pt x="77438" y="98631"/>
                  </a:lnTo>
                  <a:lnTo>
                    <a:pt x="51011" y="137873"/>
                  </a:lnTo>
                  <a:lnTo>
                    <a:pt x="29509" y="182004"/>
                  </a:lnTo>
                  <a:lnTo>
                    <a:pt x="13478" y="230331"/>
                  </a:lnTo>
                  <a:lnTo>
                    <a:pt x="3460" y="282162"/>
                  </a:lnTo>
                  <a:lnTo>
                    <a:pt x="0" y="336804"/>
                  </a:lnTo>
                  <a:lnTo>
                    <a:pt x="3460" y="391445"/>
                  </a:lnTo>
                  <a:lnTo>
                    <a:pt x="13478" y="443276"/>
                  </a:lnTo>
                  <a:lnTo>
                    <a:pt x="29509" y="491603"/>
                  </a:lnTo>
                  <a:lnTo>
                    <a:pt x="51011" y="535734"/>
                  </a:lnTo>
                  <a:lnTo>
                    <a:pt x="77438" y="574976"/>
                  </a:lnTo>
                  <a:lnTo>
                    <a:pt x="108246" y="608636"/>
                  </a:lnTo>
                  <a:lnTo>
                    <a:pt x="142892" y="636022"/>
                  </a:lnTo>
                  <a:lnTo>
                    <a:pt x="180831" y="656441"/>
                  </a:lnTo>
                  <a:lnTo>
                    <a:pt x="221520" y="669200"/>
                  </a:lnTo>
                  <a:lnTo>
                    <a:pt x="264413" y="673607"/>
                  </a:lnTo>
                  <a:lnTo>
                    <a:pt x="307307" y="669200"/>
                  </a:lnTo>
                  <a:lnTo>
                    <a:pt x="347996" y="656441"/>
                  </a:lnTo>
                  <a:lnTo>
                    <a:pt x="385935" y="636022"/>
                  </a:lnTo>
                  <a:lnTo>
                    <a:pt x="420581" y="608636"/>
                  </a:lnTo>
                  <a:lnTo>
                    <a:pt x="451389" y="574976"/>
                  </a:lnTo>
                  <a:lnTo>
                    <a:pt x="477816" y="535734"/>
                  </a:lnTo>
                  <a:lnTo>
                    <a:pt x="499318" y="491603"/>
                  </a:lnTo>
                  <a:lnTo>
                    <a:pt x="515349" y="443276"/>
                  </a:lnTo>
                  <a:lnTo>
                    <a:pt x="525367" y="391445"/>
                  </a:lnTo>
                  <a:lnTo>
                    <a:pt x="528828" y="336804"/>
                  </a:lnTo>
                  <a:lnTo>
                    <a:pt x="525367" y="282162"/>
                  </a:lnTo>
                  <a:lnTo>
                    <a:pt x="515349" y="230331"/>
                  </a:lnTo>
                  <a:lnTo>
                    <a:pt x="499318" y="182004"/>
                  </a:lnTo>
                  <a:lnTo>
                    <a:pt x="477816" y="137873"/>
                  </a:lnTo>
                  <a:lnTo>
                    <a:pt x="451389" y="98631"/>
                  </a:lnTo>
                  <a:lnTo>
                    <a:pt x="420581" y="64971"/>
                  </a:lnTo>
                  <a:lnTo>
                    <a:pt x="385935" y="37585"/>
                  </a:lnTo>
                  <a:lnTo>
                    <a:pt x="347996" y="17166"/>
                  </a:lnTo>
                  <a:lnTo>
                    <a:pt x="307307" y="4407"/>
                  </a:lnTo>
                  <a:lnTo>
                    <a:pt x="264413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042916" y="3657600"/>
              <a:ext cx="528955" cy="673735"/>
            </a:xfrm>
            <a:custGeom>
              <a:avLst/>
              <a:gdLst/>
              <a:ahLst/>
              <a:cxnLst/>
              <a:rect l="l" t="t" r="r" b="b"/>
              <a:pathLst>
                <a:path w="528954" h="673735">
                  <a:moveTo>
                    <a:pt x="0" y="336804"/>
                  </a:moveTo>
                  <a:lnTo>
                    <a:pt x="3460" y="282162"/>
                  </a:lnTo>
                  <a:lnTo>
                    <a:pt x="13478" y="230331"/>
                  </a:lnTo>
                  <a:lnTo>
                    <a:pt x="29509" y="182004"/>
                  </a:lnTo>
                  <a:lnTo>
                    <a:pt x="51011" y="137873"/>
                  </a:lnTo>
                  <a:lnTo>
                    <a:pt x="77438" y="98631"/>
                  </a:lnTo>
                  <a:lnTo>
                    <a:pt x="108246" y="64971"/>
                  </a:lnTo>
                  <a:lnTo>
                    <a:pt x="142892" y="37585"/>
                  </a:lnTo>
                  <a:lnTo>
                    <a:pt x="180831" y="17166"/>
                  </a:lnTo>
                  <a:lnTo>
                    <a:pt x="221520" y="4407"/>
                  </a:lnTo>
                  <a:lnTo>
                    <a:pt x="264413" y="0"/>
                  </a:lnTo>
                  <a:lnTo>
                    <a:pt x="307307" y="4407"/>
                  </a:lnTo>
                  <a:lnTo>
                    <a:pt x="347996" y="17166"/>
                  </a:lnTo>
                  <a:lnTo>
                    <a:pt x="385935" y="37585"/>
                  </a:lnTo>
                  <a:lnTo>
                    <a:pt x="420581" y="64971"/>
                  </a:lnTo>
                  <a:lnTo>
                    <a:pt x="451389" y="98631"/>
                  </a:lnTo>
                  <a:lnTo>
                    <a:pt x="477816" y="137873"/>
                  </a:lnTo>
                  <a:lnTo>
                    <a:pt x="499318" y="182004"/>
                  </a:lnTo>
                  <a:lnTo>
                    <a:pt x="515349" y="230331"/>
                  </a:lnTo>
                  <a:lnTo>
                    <a:pt x="525367" y="282162"/>
                  </a:lnTo>
                  <a:lnTo>
                    <a:pt x="528828" y="336804"/>
                  </a:lnTo>
                  <a:lnTo>
                    <a:pt x="525367" y="391445"/>
                  </a:lnTo>
                  <a:lnTo>
                    <a:pt x="515349" y="443276"/>
                  </a:lnTo>
                  <a:lnTo>
                    <a:pt x="499318" y="491603"/>
                  </a:lnTo>
                  <a:lnTo>
                    <a:pt x="477816" y="535734"/>
                  </a:lnTo>
                  <a:lnTo>
                    <a:pt x="451389" y="574976"/>
                  </a:lnTo>
                  <a:lnTo>
                    <a:pt x="420581" y="608636"/>
                  </a:lnTo>
                  <a:lnTo>
                    <a:pt x="385935" y="636022"/>
                  </a:lnTo>
                  <a:lnTo>
                    <a:pt x="347996" y="656441"/>
                  </a:lnTo>
                  <a:lnTo>
                    <a:pt x="307307" y="669200"/>
                  </a:lnTo>
                  <a:lnTo>
                    <a:pt x="264413" y="673607"/>
                  </a:lnTo>
                  <a:lnTo>
                    <a:pt x="221520" y="669200"/>
                  </a:lnTo>
                  <a:lnTo>
                    <a:pt x="180831" y="656441"/>
                  </a:lnTo>
                  <a:lnTo>
                    <a:pt x="142892" y="636022"/>
                  </a:lnTo>
                  <a:lnTo>
                    <a:pt x="108246" y="608636"/>
                  </a:lnTo>
                  <a:lnTo>
                    <a:pt x="77438" y="574976"/>
                  </a:lnTo>
                  <a:lnTo>
                    <a:pt x="51011" y="535734"/>
                  </a:lnTo>
                  <a:lnTo>
                    <a:pt x="29509" y="491603"/>
                  </a:lnTo>
                  <a:lnTo>
                    <a:pt x="13478" y="443276"/>
                  </a:lnTo>
                  <a:lnTo>
                    <a:pt x="3460" y="391445"/>
                  </a:lnTo>
                  <a:lnTo>
                    <a:pt x="0" y="336804"/>
                  </a:lnTo>
                  <a:close/>
                </a:path>
              </a:pathLst>
            </a:custGeom>
            <a:ln w="12699">
              <a:solidFill>
                <a:srgbClr val="EDEB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2046477" y="3457702"/>
            <a:ext cx="1249045" cy="1219835"/>
            <a:chOff x="2046477" y="3457702"/>
            <a:chExt cx="1249045" cy="1219835"/>
          </a:xfrm>
        </p:grpSpPr>
        <p:sp>
          <p:nvSpPr>
            <p:cNvPr id="32" name="object 32"/>
            <p:cNvSpPr/>
            <p:nvPr/>
          </p:nvSpPr>
          <p:spPr>
            <a:xfrm>
              <a:off x="2231339" y="3647262"/>
              <a:ext cx="1064260" cy="1030605"/>
            </a:xfrm>
            <a:custGeom>
              <a:avLst/>
              <a:gdLst/>
              <a:ahLst/>
              <a:cxnLst/>
              <a:rect l="l" t="t" r="r" b="b"/>
              <a:pathLst>
                <a:path w="1064260" h="1030604">
                  <a:moveTo>
                    <a:pt x="1063790" y="458266"/>
                  </a:moveTo>
                  <a:lnTo>
                    <a:pt x="1060754" y="399719"/>
                  </a:lnTo>
                  <a:lnTo>
                    <a:pt x="1051852" y="342950"/>
                  </a:lnTo>
                  <a:lnTo>
                    <a:pt x="1037386" y="288213"/>
                  </a:lnTo>
                  <a:lnTo>
                    <a:pt x="1017701" y="235635"/>
                  </a:lnTo>
                  <a:lnTo>
                    <a:pt x="992936" y="185724"/>
                  </a:lnTo>
                  <a:lnTo>
                    <a:pt x="963599" y="138480"/>
                  </a:lnTo>
                  <a:lnTo>
                    <a:pt x="929817" y="94538"/>
                  </a:lnTo>
                  <a:lnTo>
                    <a:pt x="891971" y="53898"/>
                  </a:lnTo>
                  <a:lnTo>
                    <a:pt x="850315" y="17068"/>
                  </a:lnTo>
                  <a:lnTo>
                    <a:pt x="828141" y="0"/>
                  </a:lnTo>
                  <a:lnTo>
                    <a:pt x="841667" y="14224"/>
                  </a:lnTo>
                  <a:lnTo>
                    <a:pt x="851725" y="26593"/>
                  </a:lnTo>
                  <a:lnTo>
                    <a:pt x="869378" y="48272"/>
                  </a:lnTo>
                  <a:lnTo>
                    <a:pt x="873315" y="53962"/>
                  </a:lnTo>
                  <a:lnTo>
                    <a:pt x="894372" y="84353"/>
                  </a:lnTo>
                  <a:lnTo>
                    <a:pt x="916533" y="122351"/>
                  </a:lnTo>
                  <a:lnTo>
                    <a:pt x="935685" y="162102"/>
                  </a:lnTo>
                  <a:lnTo>
                    <a:pt x="951687" y="203479"/>
                  </a:lnTo>
                  <a:lnTo>
                    <a:pt x="964399" y="246316"/>
                  </a:lnTo>
                  <a:lnTo>
                    <a:pt x="973658" y="290487"/>
                  </a:lnTo>
                  <a:lnTo>
                    <a:pt x="979322" y="335826"/>
                  </a:lnTo>
                  <a:lnTo>
                    <a:pt x="981252" y="382193"/>
                  </a:lnTo>
                  <a:lnTo>
                    <a:pt x="979322" y="428574"/>
                  </a:lnTo>
                  <a:lnTo>
                    <a:pt x="973658" y="473913"/>
                  </a:lnTo>
                  <a:lnTo>
                    <a:pt x="964399" y="518083"/>
                  </a:lnTo>
                  <a:lnTo>
                    <a:pt x="951687" y="560920"/>
                  </a:lnTo>
                  <a:lnTo>
                    <a:pt x="935685" y="602297"/>
                  </a:lnTo>
                  <a:lnTo>
                    <a:pt x="916533" y="642048"/>
                  </a:lnTo>
                  <a:lnTo>
                    <a:pt x="894372" y="680046"/>
                  </a:lnTo>
                  <a:lnTo>
                    <a:pt x="869378" y="716127"/>
                  </a:lnTo>
                  <a:lnTo>
                    <a:pt x="841667" y="750176"/>
                  </a:lnTo>
                  <a:lnTo>
                    <a:pt x="811415" y="782015"/>
                  </a:lnTo>
                  <a:lnTo>
                    <a:pt x="778764" y="811517"/>
                  </a:lnTo>
                  <a:lnTo>
                    <a:pt x="743851" y="838517"/>
                  </a:lnTo>
                  <a:lnTo>
                    <a:pt x="706831" y="862901"/>
                  </a:lnTo>
                  <a:lnTo>
                    <a:pt x="667867" y="884504"/>
                  </a:lnTo>
                  <a:lnTo>
                    <a:pt x="627100" y="903173"/>
                  </a:lnTo>
                  <a:lnTo>
                    <a:pt x="584669" y="918781"/>
                  </a:lnTo>
                  <a:lnTo>
                    <a:pt x="540727" y="931176"/>
                  </a:lnTo>
                  <a:lnTo>
                    <a:pt x="495427" y="940206"/>
                  </a:lnTo>
                  <a:lnTo>
                    <a:pt x="448932" y="945730"/>
                  </a:lnTo>
                  <a:lnTo>
                    <a:pt x="401370" y="947597"/>
                  </a:lnTo>
                  <a:lnTo>
                    <a:pt x="353796" y="945730"/>
                  </a:lnTo>
                  <a:lnTo>
                    <a:pt x="307301" y="940206"/>
                  </a:lnTo>
                  <a:lnTo>
                    <a:pt x="262001" y="931176"/>
                  </a:lnTo>
                  <a:lnTo>
                    <a:pt x="218059" y="918781"/>
                  </a:lnTo>
                  <a:lnTo>
                    <a:pt x="175628" y="903173"/>
                  </a:lnTo>
                  <a:lnTo>
                    <a:pt x="134861" y="884504"/>
                  </a:lnTo>
                  <a:lnTo>
                    <a:pt x="95897" y="862901"/>
                  </a:lnTo>
                  <a:lnTo>
                    <a:pt x="58877" y="838517"/>
                  </a:lnTo>
                  <a:lnTo>
                    <a:pt x="52971" y="833958"/>
                  </a:lnTo>
                  <a:lnTo>
                    <a:pt x="49923" y="831596"/>
                  </a:lnTo>
                  <a:lnTo>
                    <a:pt x="27203" y="814006"/>
                  </a:lnTo>
                  <a:lnTo>
                    <a:pt x="23964" y="811517"/>
                  </a:lnTo>
                  <a:lnTo>
                    <a:pt x="0" y="789851"/>
                  </a:lnTo>
                  <a:lnTo>
                    <a:pt x="7924" y="800658"/>
                  </a:lnTo>
                  <a:lnTo>
                    <a:pt x="25323" y="822248"/>
                  </a:lnTo>
                  <a:lnTo>
                    <a:pt x="63169" y="862901"/>
                  </a:lnTo>
                  <a:lnTo>
                    <a:pt x="104825" y="899718"/>
                  </a:lnTo>
                  <a:lnTo>
                    <a:pt x="150037" y="932611"/>
                  </a:lnTo>
                  <a:lnTo>
                    <a:pt x="198297" y="961186"/>
                  </a:lnTo>
                  <a:lnTo>
                    <a:pt x="249605" y="985316"/>
                  </a:lnTo>
                  <a:lnTo>
                    <a:pt x="303453" y="1004493"/>
                  </a:lnTo>
                  <a:lnTo>
                    <a:pt x="359587" y="1018590"/>
                  </a:lnTo>
                  <a:lnTo>
                    <a:pt x="417753" y="1027226"/>
                  </a:lnTo>
                  <a:lnTo>
                    <a:pt x="477697" y="1030147"/>
                  </a:lnTo>
                  <a:lnTo>
                    <a:pt x="507923" y="1029385"/>
                  </a:lnTo>
                  <a:lnTo>
                    <a:pt x="537641" y="1027226"/>
                  </a:lnTo>
                  <a:lnTo>
                    <a:pt x="566978" y="1023543"/>
                  </a:lnTo>
                  <a:lnTo>
                    <a:pt x="595083" y="1018590"/>
                  </a:lnTo>
                  <a:lnTo>
                    <a:pt x="595236" y="1018590"/>
                  </a:lnTo>
                  <a:lnTo>
                    <a:pt x="600329" y="1017447"/>
                  </a:lnTo>
                  <a:lnTo>
                    <a:pt x="623557" y="1012240"/>
                  </a:lnTo>
                  <a:lnTo>
                    <a:pt x="651484" y="1004493"/>
                  </a:lnTo>
                  <a:lnTo>
                    <a:pt x="705789" y="985189"/>
                  </a:lnTo>
                  <a:lnTo>
                    <a:pt x="756843" y="961186"/>
                  </a:lnTo>
                  <a:lnTo>
                    <a:pt x="805154" y="932611"/>
                  </a:lnTo>
                  <a:lnTo>
                    <a:pt x="850392" y="899718"/>
                  </a:lnTo>
                  <a:lnTo>
                    <a:pt x="892098" y="862634"/>
                  </a:lnTo>
                  <a:lnTo>
                    <a:pt x="929944" y="821994"/>
                  </a:lnTo>
                  <a:lnTo>
                    <a:pt x="963726" y="778052"/>
                  </a:lnTo>
                  <a:lnTo>
                    <a:pt x="993063" y="730808"/>
                  </a:lnTo>
                  <a:lnTo>
                    <a:pt x="1017828" y="680897"/>
                  </a:lnTo>
                  <a:lnTo>
                    <a:pt x="1037513" y="628319"/>
                  </a:lnTo>
                  <a:lnTo>
                    <a:pt x="1051852" y="573455"/>
                  </a:lnTo>
                  <a:lnTo>
                    <a:pt x="1060754" y="516686"/>
                  </a:lnTo>
                  <a:lnTo>
                    <a:pt x="1063790" y="458520"/>
                  </a:lnTo>
                  <a:lnTo>
                    <a:pt x="1063790" y="458266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52827" y="3464052"/>
              <a:ext cx="1159764" cy="113080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052827" y="3464052"/>
              <a:ext cx="1160145" cy="1130935"/>
            </a:xfrm>
            <a:custGeom>
              <a:avLst/>
              <a:gdLst/>
              <a:ahLst/>
              <a:cxnLst/>
              <a:rect l="l" t="t" r="r" b="b"/>
              <a:pathLst>
                <a:path w="1160145" h="1130935">
                  <a:moveTo>
                    <a:pt x="0" y="565404"/>
                  </a:moveTo>
                  <a:lnTo>
                    <a:pt x="1922" y="519028"/>
                  </a:lnTo>
                  <a:lnTo>
                    <a:pt x="7588" y="473685"/>
                  </a:lnTo>
                  <a:lnTo>
                    <a:pt x="16850" y="429521"/>
                  </a:lnTo>
                  <a:lnTo>
                    <a:pt x="29559" y="386681"/>
                  </a:lnTo>
                  <a:lnTo>
                    <a:pt x="45565" y="345311"/>
                  </a:lnTo>
                  <a:lnTo>
                    <a:pt x="64718" y="305555"/>
                  </a:lnTo>
                  <a:lnTo>
                    <a:pt x="86871" y="267560"/>
                  </a:lnTo>
                  <a:lnTo>
                    <a:pt x="111873" y="231471"/>
                  </a:lnTo>
                  <a:lnTo>
                    <a:pt x="139576" y="197433"/>
                  </a:lnTo>
                  <a:lnTo>
                    <a:pt x="169830" y="165592"/>
                  </a:lnTo>
                  <a:lnTo>
                    <a:pt x="202487" y="136093"/>
                  </a:lnTo>
                  <a:lnTo>
                    <a:pt x="237396" y="109081"/>
                  </a:lnTo>
                  <a:lnTo>
                    <a:pt x="274409" y="84703"/>
                  </a:lnTo>
                  <a:lnTo>
                    <a:pt x="313377" y="63103"/>
                  </a:lnTo>
                  <a:lnTo>
                    <a:pt x="354151" y="44428"/>
                  </a:lnTo>
                  <a:lnTo>
                    <a:pt x="396581" y="28821"/>
                  </a:lnTo>
                  <a:lnTo>
                    <a:pt x="440518" y="16430"/>
                  </a:lnTo>
                  <a:lnTo>
                    <a:pt x="485813" y="7399"/>
                  </a:lnTo>
                  <a:lnTo>
                    <a:pt x="532318" y="1874"/>
                  </a:lnTo>
                  <a:lnTo>
                    <a:pt x="579882" y="0"/>
                  </a:lnTo>
                  <a:lnTo>
                    <a:pt x="627445" y="1874"/>
                  </a:lnTo>
                  <a:lnTo>
                    <a:pt x="673950" y="7399"/>
                  </a:lnTo>
                  <a:lnTo>
                    <a:pt x="719245" y="16430"/>
                  </a:lnTo>
                  <a:lnTo>
                    <a:pt x="763182" y="28821"/>
                  </a:lnTo>
                  <a:lnTo>
                    <a:pt x="805612" y="44428"/>
                  </a:lnTo>
                  <a:lnTo>
                    <a:pt x="846386" y="63103"/>
                  </a:lnTo>
                  <a:lnTo>
                    <a:pt x="885354" y="84703"/>
                  </a:lnTo>
                  <a:lnTo>
                    <a:pt x="922367" y="109081"/>
                  </a:lnTo>
                  <a:lnTo>
                    <a:pt x="957276" y="136093"/>
                  </a:lnTo>
                  <a:lnTo>
                    <a:pt x="989933" y="165592"/>
                  </a:lnTo>
                  <a:lnTo>
                    <a:pt x="1020187" y="197433"/>
                  </a:lnTo>
                  <a:lnTo>
                    <a:pt x="1047890" y="231471"/>
                  </a:lnTo>
                  <a:lnTo>
                    <a:pt x="1072892" y="267560"/>
                  </a:lnTo>
                  <a:lnTo>
                    <a:pt x="1095045" y="305555"/>
                  </a:lnTo>
                  <a:lnTo>
                    <a:pt x="1114198" y="345311"/>
                  </a:lnTo>
                  <a:lnTo>
                    <a:pt x="1130204" y="386681"/>
                  </a:lnTo>
                  <a:lnTo>
                    <a:pt x="1142913" y="429521"/>
                  </a:lnTo>
                  <a:lnTo>
                    <a:pt x="1152175" y="473685"/>
                  </a:lnTo>
                  <a:lnTo>
                    <a:pt x="1157841" y="519028"/>
                  </a:lnTo>
                  <a:lnTo>
                    <a:pt x="1159764" y="565404"/>
                  </a:lnTo>
                  <a:lnTo>
                    <a:pt x="1157841" y="611779"/>
                  </a:lnTo>
                  <a:lnTo>
                    <a:pt x="1152175" y="657122"/>
                  </a:lnTo>
                  <a:lnTo>
                    <a:pt x="1142913" y="701286"/>
                  </a:lnTo>
                  <a:lnTo>
                    <a:pt x="1130204" y="744126"/>
                  </a:lnTo>
                  <a:lnTo>
                    <a:pt x="1114198" y="785496"/>
                  </a:lnTo>
                  <a:lnTo>
                    <a:pt x="1095045" y="825252"/>
                  </a:lnTo>
                  <a:lnTo>
                    <a:pt x="1072892" y="863247"/>
                  </a:lnTo>
                  <a:lnTo>
                    <a:pt x="1047890" y="899336"/>
                  </a:lnTo>
                  <a:lnTo>
                    <a:pt x="1020187" y="933374"/>
                  </a:lnTo>
                  <a:lnTo>
                    <a:pt x="989933" y="965215"/>
                  </a:lnTo>
                  <a:lnTo>
                    <a:pt x="957276" y="994714"/>
                  </a:lnTo>
                  <a:lnTo>
                    <a:pt x="922367" y="1021726"/>
                  </a:lnTo>
                  <a:lnTo>
                    <a:pt x="885354" y="1046104"/>
                  </a:lnTo>
                  <a:lnTo>
                    <a:pt x="846386" y="1067704"/>
                  </a:lnTo>
                  <a:lnTo>
                    <a:pt x="805612" y="1086379"/>
                  </a:lnTo>
                  <a:lnTo>
                    <a:pt x="763182" y="1101986"/>
                  </a:lnTo>
                  <a:lnTo>
                    <a:pt x="719245" y="1114377"/>
                  </a:lnTo>
                  <a:lnTo>
                    <a:pt x="673950" y="1123408"/>
                  </a:lnTo>
                  <a:lnTo>
                    <a:pt x="627445" y="1128933"/>
                  </a:lnTo>
                  <a:lnTo>
                    <a:pt x="579882" y="1130808"/>
                  </a:lnTo>
                  <a:lnTo>
                    <a:pt x="532318" y="1128933"/>
                  </a:lnTo>
                  <a:lnTo>
                    <a:pt x="485813" y="1123408"/>
                  </a:lnTo>
                  <a:lnTo>
                    <a:pt x="440518" y="1114377"/>
                  </a:lnTo>
                  <a:lnTo>
                    <a:pt x="396581" y="1101986"/>
                  </a:lnTo>
                  <a:lnTo>
                    <a:pt x="354151" y="1086379"/>
                  </a:lnTo>
                  <a:lnTo>
                    <a:pt x="313377" y="1067704"/>
                  </a:lnTo>
                  <a:lnTo>
                    <a:pt x="274409" y="1046104"/>
                  </a:lnTo>
                  <a:lnTo>
                    <a:pt x="237396" y="1021726"/>
                  </a:lnTo>
                  <a:lnTo>
                    <a:pt x="202487" y="994714"/>
                  </a:lnTo>
                  <a:lnTo>
                    <a:pt x="169830" y="965215"/>
                  </a:lnTo>
                  <a:lnTo>
                    <a:pt x="139576" y="933374"/>
                  </a:lnTo>
                  <a:lnTo>
                    <a:pt x="111873" y="899336"/>
                  </a:lnTo>
                  <a:lnTo>
                    <a:pt x="86871" y="863247"/>
                  </a:lnTo>
                  <a:lnTo>
                    <a:pt x="64718" y="825252"/>
                  </a:lnTo>
                  <a:lnTo>
                    <a:pt x="45565" y="785496"/>
                  </a:lnTo>
                  <a:lnTo>
                    <a:pt x="29559" y="744126"/>
                  </a:lnTo>
                  <a:lnTo>
                    <a:pt x="16850" y="701286"/>
                  </a:lnTo>
                  <a:lnTo>
                    <a:pt x="7588" y="657122"/>
                  </a:lnTo>
                  <a:lnTo>
                    <a:pt x="1922" y="611779"/>
                  </a:lnTo>
                  <a:lnTo>
                    <a:pt x="0" y="565404"/>
                  </a:lnTo>
                  <a:close/>
                </a:path>
              </a:pathLst>
            </a:custGeom>
            <a:ln w="12700">
              <a:solidFill>
                <a:srgbClr val="A1C1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26563" y="3614928"/>
              <a:ext cx="843280" cy="844550"/>
            </a:xfrm>
            <a:custGeom>
              <a:avLst/>
              <a:gdLst/>
              <a:ahLst/>
              <a:cxnLst/>
              <a:rect l="l" t="t" r="r" b="b"/>
              <a:pathLst>
                <a:path w="843280" h="844550">
                  <a:moveTo>
                    <a:pt x="421386" y="0"/>
                  </a:moveTo>
                  <a:lnTo>
                    <a:pt x="372254" y="2839"/>
                  </a:lnTo>
                  <a:lnTo>
                    <a:pt x="324785" y="11147"/>
                  </a:lnTo>
                  <a:lnTo>
                    <a:pt x="279294" y="24607"/>
                  </a:lnTo>
                  <a:lnTo>
                    <a:pt x="236097" y="42903"/>
                  </a:lnTo>
                  <a:lnTo>
                    <a:pt x="195512" y="65716"/>
                  </a:lnTo>
                  <a:lnTo>
                    <a:pt x="157856" y="92732"/>
                  </a:lnTo>
                  <a:lnTo>
                    <a:pt x="123443" y="123634"/>
                  </a:lnTo>
                  <a:lnTo>
                    <a:pt x="92592" y="158105"/>
                  </a:lnTo>
                  <a:lnTo>
                    <a:pt x="65619" y="195827"/>
                  </a:lnTo>
                  <a:lnTo>
                    <a:pt x="42840" y="236486"/>
                  </a:lnTo>
                  <a:lnTo>
                    <a:pt x="24572" y="279764"/>
                  </a:lnTo>
                  <a:lnTo>
                    <a:pt x="11132" y="325345"/>
                  </a:lnTo>
                  <a:lnTo>
                    <a:pt x="2835" y="372911"/>
                  </a:lnTo>
                  <a:lnTo>
                    <a:pt x="0" y="422148"/>
                  </a:lnTo>
                  <a:lnTo>
                    <a:pt x="2835" y="471384"/>
                  </a:lnTo>
                  <a:lnTo>
                    <a:pt x="11132" y="518950"/>
                  </a:lnTo>
                  <a:lnTo>
                    <a:pt x="24572" y="564531"/>
                  </a:lnTo>
                  <a:lnTo>
                    <a:pt x="42840" y="607809"/>
                  </a:lnTo>
                  <a:lnTo>
                    <a:pt x="65619" y="648468"/>
                  </a:lnTo>
                  <a:lnTo>
                    <a:pt x="92592" y="686190"/>
                  </a:lnTo>
                  <a:lnTo>
                    <a:pt x="123443" y="720661"/>
                  </a:lnTo>
                  <a:lnTo>
                    <a:pt x="157856" y="751563"/>
                  </a:lnTo>
                  <a:lnTo>
                    <a:pt x="195512" y="778579"/>
                  </a:lnTo>
                  <a:lnTo>
                    <a:pt x="236097" y="801392"/>
                  </a:lnTo>
                  <a:lnTo>
                    <a:pt x="279294" y="819688"/>
                  </a:lnTo>
                  <a:lnTo>
                    <a:pt x="324785" y="833148"/>
                  </a:lnTo>
                  <a:lnTo>
                    <a:pt x="372254" y="841456"/>
                  </a:lnTo>
                  <a:lnTo>
                    <a:pt x="421386" y="844296"/>
                  </a:lnTo>
                  <a:lnTo>
                    <a:pt x="470517" y="841456"/>
                  </a:lnTo>
                  <a:lnTo>
                    <a:pt x="517986" y="833148"/>
                  </a:lnTo>
                  <a:lnTo>
                    <a:pt x="563477" y="819688"/>
                  </a:lnTo>
                  <a:lnTo>
                    <a:pt x="606674" y="801392"/>
                  </a:lnTo>
                  <a:lnTo>
                    <a:pt x="647259" y="778579"/>
                  </a:lnTo>
                  <a:lnTo>
                    <a:pt x="684915" y="751563"/>
                  </a:lnTo>
                  <a:lnTo>
                    <a:pt x="719328" y="720661"/>
                  </a:lnTo>
                  <a:lnTo>
                    <a:pt x="750179" y="686190"/>
                  </a:lnTo>
                  <a:lnTo>
                    <a:pt x="777152" y="648468"/>
                  </a:lnTo>
                  <a:lnTo>
                    <a:pt x="799931" y="607809"/>
                  </a:lnTo>
                  <a:lnTo>
                    <a:pt x="818199" y="564531"/>
                  </a:lnTo>
                  <a:lnTo>
                    <a:pt x="831639" y="518950"/>
                  </a:lnTo>
                  <a:lnTo>
                    <a:pt x="839936" y="471384"/>
                  </a:lnTo>
                  <a:lnTo>
                    <a:pt x="842772" y="422148"/>
                  </a:lnTo>
                  <a:lnTo>
                    <a:pt x="839936" y="372911"/>
                  </a:lnTo>
                  <a:lnTo>
                    <a:pt x="831639" y="325345"/>
                  </a:lnTo>
                  <a:lnTo>
                    <a:pt x="818199" y="279764"/>
                  </a:lnTo>
                  <a:lnTo>
                    <a:pt x="799931" y="236486"/>
                  </a:lnTo>
                  <a:lnTo>
                    <a:pt x="777152" y="195827"/>
                  </a:lnTo>
                  <a:lnTo>
                    <a:pt x="750179" y="158105"/>
                  </a:lnTo>
                  <a:lnTo>
                    <a:pt x="719328" y="123634"/>
                  </a:lnTo>
                  <a:lnTo>
                    <a:pt x="684915" y="92732"/>
                  </a:lnTo>
                  <a:lnTo>
                    <a:pt x="647259" y="65716"/>
                  </a:lnTo>
                  <a:lnTo>
                    <a:pt x="606674" y="42903"/>
                  </a:lnTo>
                  <a:lnTo>
                    <a:pt x="563477" y="24607"/>
                  </a:lnTo>
                  <a:lnTo>
                    <a:pt x="517986" y="11147"/>
                  </a:lnTo>
                  <a:lnTo>
                    <a:pt x="470517" y="2839"/>
                  </a:lnTo>
                  <a:lnTo>
                    <a:pt x="421386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226563" y="3614928"/>
              <a:ext cx="843280" cy="844550"/>
            </a:xfrm>
            <a:custGeom>
              <a:avLst/>
              <a:gdLst/>
              <a:ahLst/>
              <a:cxnLst/>
              <a:rect l="l" t="t" r="r" b="b"/>
              <a:pathLst>
                <a:path w="843280" h="844550">
                  <a:moveTo>
                    <a:pt x="0" y="422148"/>
                  </a:moveTo>
                  <a:lnTo>
                    <a:pt x="2835" y="372911"/>
                  </a:lnTo>
                  <a:lnTo>
                    <a:pt x="11132" y="325345"/>
                  </a:lnTo>
                  <a:lnTo>
                    <a:pt x="24572" y="279764"/>
                  </a:lnTo>
                  <a:lnTo>
                    <a:pt x="42840" y="236486"/>
                  </a:lnTo>
                  <a:lnTo>
                    <a:pt x="65619" y="195827"/>
                  </a:lnTo>
                  <a:lnTo>
                    <a:pt x="92592" y="158105"/>
                  </a:lnTo>
                  <a:lnTo>
                    <a:pt x="123443" y="123634"/>
                  </a:lnTo>
                  <a:lnTo>
                    <a:pt x="157856" y="92732"/>
                  </a:lnTo>
                  <a:lnTo>
                    <a:pt x="195512" y="65716"/>
                  </a:lnTo>
                  <a:lnTo>
                    <a:pt x="236097" y="42903"/>
                  </a:lnTo>
                  <a:lnTo>
                    <a:pt x="279294" y="24607"/>
                  </a:lnTo>
                  <a:lnTo>
                    <a:pt x="324785" y="11147"/>
                  </a:lnTo>
                  <a:lnTo>
                    <a:pt x="372254" y="2839"/>
                  </a:lnTo>
                  <a:lnTo>
                    <a:pt x="421386" y="0"/>
                  </a:lnTo>
                  <a:lnTo>
                    <a:pt x="470517" y="2839"/>
                  </a:lnTo>
                  <a:lnTo>
                    <a:pt x="517986" y="11147"/>
                  </a:lnTo>
                  <a:lnTo>
                    <a:pt x="563477" y="24607"/>
                  </a:lnTo>
                  <a:lnTo>
                    <a:pt x="606674" y="42903"/>
                  </a:lnTo>
                  <a:lnTo>
                    <a:pt x="647259" y="65716"/>
                  </a:lnTo>
                  <a:lnTo>
                    <a:pt x="684915" y="92732"/>
                  </a:lnTo>
                  <a:lnTo>
                    <a:pt x="719328" y="123634"/>
                  </a:lnTo>
                  <a:lnTo>
                    <a:pt x="750179" y="158105"/>
                  </a:lnTo>
                  <a:lnTo>
                    <a:pt x="777152" y="195827"/>
                  </a:lnTo>
                  <a:lnTo>
                    <a:pt x="799931" y="236486"/>
                  </a:lnTo>
                  <a:lnTo>
                    <a:pt x="818199" y="279764"/>
                  </a:lnTo>
                  <a:lnTo>
                    <a:pt x="831639" y="325345"/>
                  </a:lnTo>
                  <a:lnTo>
                    <a:pt x="839936" y="372911"/>
                  </a:lnTo>
                  <a:lnTo>
                    <a:pt x="842772" y="422148"/>
                  </a:lnTo>
                  <a:lnTo>
                    <a:pt x="839936" y="471384"/>
                  </a:lnTo>
                  <a:lnTo>
                    <a:pt x="831639" y="518950"/>
                  </a:lnTo>
                  <a:lnTo>
                    <a:pt x="818199" y="564531"/>
                  </a:lnTo>
                  <a:lnTo>
                    <a:pt x="799931" y="607809"/>
                  </a:lnTo>
                  <a:lnTo>
                    <a:pt x="777152" y="648468"/>
                  </a:lnTo>
                  <a:lnTo>
                    <a:pt x="750179" y="686190"/>
                  </a:lnTo>
                  <a:lnTo>
                    <a:pt x="719328" y="720661"/>
                  </a:lnTo>
                  <a:lnTo>
                    <a:pt x="684915" y="751563"/>
                  </a:lnTo>
                  <a:lnTo>
                    <a:pt x="647259" y="778579"/>
                  </a:lnTo>
                  <a:lnTo>
                    <a:pt x="606674" y="801392"/>
                  </a:lnTo>
                  <a:lnTo>
                    <a:pt x="563477" y="819688"/>
                  </a:lnTo>
                  <a:lnTo>
                    <a:pt x="517986" y="833148"/>
                  </a:lnTo>
                  <a:lnTo>
                    <a:pt x="470517" y="841456"/>
                  </a:lnTo>
                  <a:lnTo>
                    <a:pt x="421386" y="844296"/>
                  </a:lnTo>
                  <a:lnTo>
                    <a:pt x="372254" y="841456"/>
                  </a:lnTo>
                  <a:lnTo>
                    <a:pt x="324785" y="833148"/>
                  </a:lnTo>
                  <a:lnTo>
                    <a:pt x="279294" y="819688"/>
                  </a:lnTo>
                  <a:lnTo>
                    <a:pt x="236097" y="801392"/>
                  </a:lnTo>
                  <a:lnTo>
                    <a:pt x="195512" y="778579"/>
                  </a:lnTo>
                  <a:lnTo>
                    <a:pt x="157856" y="751563"/>
                  </a:lnTo>
                  <a:lnTo>
                    <a:pt x="123443" y="720661"/>
                  </a:lnTo>
                  <a:lnTo>
                    <a:pt x="92592" y="686190"/>
                  </a:lnTo>
                  <a:lnTo>
                    <a:pt x="65619" y="648468"/>
                  </a:lnTo>
                  <a:lnTo>
                    <a:pt x="42840" y="607809"/>
                  </a:lnTo>
                  <a:lnTo>
                    <a:pt x="24572" y="564531"/>
                  </a:lnTo>
                  <a:lnTo>
                    <a:pt x="11132" y="518950"/>
                  </a:lnTo>
                  <a:lnTo>
                    <a:pt x="2835" y="471384"/>
                  </a:lnTo>
                  <a:lnTo>
                    <a:pt x="0" y="422148"/>
                  </a:lnTo>
                  <a:close/>
                </a:path>
              </a:pathLst>
            </a:custGeom>
            <a:ln w="12699">
              <a:solidFill>
                <a:srgbClr val="EDEB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888617" y="1975815"/>
            <a:ext cx="8081009" cy="2087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marR="471170" indent="-339725" algn="just">
              <a:lnSpc>
                <a:spcPct val="100000"/>
              </a:lnSpc>
              <a:spcBef>
                <a:spcPts val="100"/>
              </a:spcBef>
              <a:buClr>
                <a:srgbClr val="E4342D"/>
              </a:buClr>
              <a:buSzPct val="108333"/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La</a:t>
            </a:r>
            <a:r>
              <a:rPr sz="1800" spc="2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inflamación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local</a:t>
            </a:r>
            <a:r>
              <a:rPr sz="1800" spc="2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2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sistémica</a:t>
            </a:r>
            <a:r>
              <a:rPr sz="1800" spc="2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desempeña</a:t>
            </a:r>
            <a:r>
              <a:rPr sz="1800" spc="2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2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papel</a:t>
            </a:r>
            <a:r>
              <a:rPr sz="1800" spc="2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crítico</a:t>
            </a:r>
            <a:r>
              <a:rPr sz="1800" spc="2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2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2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proceso 	</a:t>
            </a:r>
            <a:r>
              <a:rPr sz="1800" dirty="0">
                <a:latin typeface="Calibri"/>
                <a:cs typeface="Calibri"/>
              </a:rPr>
              <a:t>complejo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relativamente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impredecible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permite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progresión </a:t>
            </a:r>
            <a:r>
              <a:rPr sz="1800" dirty="0">
                <a:latin typeface="Calibri"/>
                <a:cs typeface="Calibri"/>
              </a:rPr>
              <a:t>rápida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la 	</a:t>
            </a:r>
            <a:r>
              <a:rPr sz="1800" spc="-10" dirty="0">
                <a:latin typeface="Calibri"/>
                <a:cs typeface="Calibri"/>
              </a:rPr>
              <a:t>enfermedad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coronaria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crónica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(ECC)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síndrome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coronario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agudo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(SCA)</a:t>
            </a:r>
            <a:endParaRPr sz="1800">
              <a:latin typeface="Calibri"/>
              <a:cs typeface="Calibri"/>
            </a:endParaRPr>
          </a:p>
          <a:p>
            <a:pPr marL="7011034" marR="5080">
              <a:lnSpc>
                <a:spcPts val="1630"/>
              </a:lnSpc>
              <a:spcBef>
                <a:spcPts val="620"/>
              </a:spcBef>
            </a:pPr>
            <a:r>
              <a:rPr sz="1600" spc="-10" dirty="0">
                <a:latin typeface="Calibri"/>
                <a:cs typeface="Calibri"/>
              </a:rPr>
              <a:t>Enfermedad asintomática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Calibri"/>
              <a:cs typeface="Calibri"/>
            </a:endParaRPr>
          </a:p>
          <a:p>
            <a:pPr marL="708787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ECC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estable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955292" y="4946903"/>
            <a:ext cx="6548755" cy="901065"/>
            <a:chOff x="1955292" y="4946903"/>
            <a:chExt cx="6548755" cy="901065"/>
          </a:xfrm>
        </p:grpSpPr>
        <p:sp>
          <p:nvSpPr>
            <p:cNvPr id="39" name="object 39"/>
            <p:cNvSpPr/>
            <p:nvPr/>
          </p:nvSpPr>
          <p:spPr>
            <a:xfrm>
              <a:off x="2129028" y="4946903"/>
              <a:ext cx="6375400" cy="901065"/>
            </a:xfrm>
            <a:custGeom>
              <a:avLst/>
              <a:gdLst/>
              <a:ahLst/>
              <a:cxnLst/>
              <a:rect l="l" t="t" r="r" b="b"/>
              <a:pathLst>
                <a:path w="6375400" h="901064">
                  <a:moveTo>
                    <a:pt x="5511038" y="0"/>
                  </a:moveTo>
                  <a:lnTo>
                    <a:pt x="5511038" y="187452"/>
                  </a:lnTo>
                  <a:lnTo>
                    <a:pt x="0" y="187452"/>
                  </a:lnTo>
                  <a:lnTo>
                    <a:pt x="0" y="713295"/>
                  </a:lnTo>
                  <a:lnTo>
                    <a:pt x="5511038" y="713295"/>
                  </a:lnTo>
                  <a:lnTo>
                    <a:pt x="5511038" y="900684"/>
                  </a:lnTo>
                  <a:lnTo>
                    <a:pt x="6374892" y="450342"/>
                  </a:lnTo>
                  <a:lnTo>
                    <a:pt x="5511038" y="0"/>
                  </a:lnTo>
                  <a:close/>
                </a:path>
              </a:pathLst>
            </a:custGeom>
            <a:solidFill>
              <a:srgbClr val="E434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55292" y="5152643"/>
              <a:ext cx="6477761" cy="56769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56816" y="5154167"/>
              <a:ext cx="5895594" cy="564641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2103247" y="4737303"/>
            <a:ext cx="7182484" cy="802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C00000"/>
                </a:solidFill>
                <a:latin typeface="Calibri"/>
                <a:cs typeface="Calibri"/>
              </a:rPr>
              <a:t>SCA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Progresión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modulada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por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factores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locales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sistémicos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40284" y="179577"/>
            <a:ext cx="10725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6FC0"/>
                </a:solidFill>
                <a:latin typeface="Arial"/>
                <a:cs typeface="Arial"/>
              </a:rPr>
              <a:t>4.</a:t>
            </a:r>
            <a:r>
              <a:rPr sz="14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Arial"/>
                <a:cs typeface="Arial"/>
              </a:rPr>
              <a:t>Patogenia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8340" y="611250"/>
            <a:ext cx="2432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Fisiopatología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58567" y="1196339"/>
            <a:ext cx="8138159" cy="5661660"/>
            <a:chOff x="2258567" y="1196339"/>
            <a:chExt cx="8138159" cy="5661660"/>
          </a:xfrm>
        </p:grpSpPr>
        <p:pic>
          <p:nvPicPr>
            <p:cNvPr id="4" name="object 4" descr="fig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9035" y="1196339"/>
              <a:ext cx="3093719" cy="257860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58567" y="3774946"/>
              <a:ext cx="8138159" cy="30830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2519" y="305257"/>
            <a:ext cx="7747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solidFill>
                  <a:srgbClr val="006FC0"/>
                </a:solidFill>
                <a:latin typeface="Arial"/>
                <a:cs typeface="Arial"/>
              </a:rPr>
              <a:t>SCA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1317" y="5326126"/>
            <a:ext cx="2684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“OBSTRUCCIÓN</a:t>
            </a:r>
            <a:r>
              <a:rPr sz="1800" b="1" spc="-9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COMPLETA”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 descr="0001"/>
          <p:cNvGrpSpPr/>
          <p:nvPr/>
        </p:nvGrpSpPr>
        <p:grpSpPr>
          <a:xfrm>
            <a:off x="2629217" y="2115629"/>
            <a:ext cx="3035300" cy="3129915"/>
            <a:chOff x="2629217" y="2115629"/>
            <a:chExt cx="3035300" cy="3129915"/>
          </a:xfrm>
        </p:grpSpPr>
        <p:pic>
          <p:nvPicPr>
            <p:cNvPr id="5" name="object 5" descr="000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57855" y="2144268"/>
              <a:ext cx="2977896" cy="307238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43504" y="2129917"/>
              <a:ext cx="3006725" cy="3101340"/>
            </a:xfrm>
            <a:custGeom>
              <a:avLst/>
              <a:gdLst/>
              <a:ahLst/>
              <a:cxnLst/>
              <a:rect l="l" t="t" r="r" b="b"/>
              <a:pathLst>
                <a:path w="3006725" h="3101340">
                  <a:moveTo>
                    <a:pt x="0" y="3100958"/>
                  </a:moveTo>
                  <a:lnTo>
                    <a:pt x="3006471" y="3100958"/>
                  </a:lnTo>
                  <a:lnTo>
                    <a:pt x="3006471" y="0"/>
                  </a:lnTo>
                  <a:lnTo>
                    <a:pt x="0" y="0"/>
                  </a:lnTo>
                  <a:lnTo>
                    <a:pt x="0" y="3100958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 descr="0001"/>
          <p:cNvGrpSpPr/>
          <p:nvPr/>
        </p:nvGrpSpPr>
        <p:grpSpPr>
          <a:xfrm>
            <a:off x="6664769" y="2115629"/>
            <a:ext cx="2898140" cy="3084195"/>
            <a:chOff x="6664769" y="2115629"/>
            <a:chExt cx="2898140" cy="3084195"/>
          </a:xfrm>
        </p:grpSpPr>
        <p:pic>
          <p:nvPicPr>
            <p:cNvPr id="8" name="object 8" descr="000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3407" y="2144268"/>
              <a:ext cx="2840736" cy="302666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679056" y="2129917"/>
              <a:ext cx="2869565" cy="3055620"/>
            </a:xfrm>
            <a:custGeom>
              <a:avLst/>
              <a:gdLst/>
              <a:ahLst/>
              <a:cxnLst/>
              <a:rect l="l" t="t" r="r" b="b"/>
              <a:pathLst>
                <a:path w="2869565" h="3055620">
                  <a:moveTo>
                    <a:pt x="0" y="3055238"/>
                  </a:moveTo>
                  <a:lnTo>
                    <a:pt x="2869310" y="3055238"/>
                  </a:lnTo>
                  <a:lnTo>
                    <a:pt x="2869310" y="0"/>
                  </a:lnTo>
                  <a:lnTo>
                    <a:pt x="0" y="0"/>
                  </a:lnTo>
                  <a:lnTo>
                    <a:pt x="0" y="3055238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158489" y="1121790"/>
            <a:ext cx="1610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Con</a:t>
            </a:r>
            <a:r>
              <a:rPr sz="1800" b="1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elevación</a:t>
            </a:r>
            <a:r>
              <a:rPr sz="1800" b="1" spc="-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b="1" spc="-35" dirty="0">
                <a:solidFill>
                  <a:srgbClr val="1F487C"/>
                </a:solidFill>
                <a:latin typeface="Calibri"/>
                <a:cs typeface="Calibri"/>
              </a:rPr>
              <a:t>ST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09409" y="1161034"/>
            <a:ext cx="1531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Sin</a:t>
            </a:r>
            <a:r>
              <a:rPr sz="1800" b="1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87C"/>
                </a:solidFill>
                <a:latin typeface="Calibri"/>
                <a:cs typeface="Calibri"/>
              </a:rPr>
              <a:t>elevación</a:t>
            </a:r>
            <a:r>
              <a:rPr sz="1800" b="1" spc="-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1F487C"/>
                </a:solidFill>
                <a:latin typeface="Calibri"/>
                <a:cs typeface="Calibri"/>
              </a:rPr>
              <a:t>ST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3876" y="1088136"/>
            <a:ext cx="890015" cy="78028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38031" y="1057655"/>
            <a:ext cx="1792224" cy="82600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898385" y="5364886"/>
            <a:ext cx="2430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“OBSTRUCCIÓN</a:t>
            </a:r>
            <a:r>
              <a:rPr sz="1800" b="1" spc="-90" dirty="0">
                <a:latin typeface="Calibri"/>
                <a:cs typeface="Calibri"/>
              </a:rPr>
              <a:t> </a:t>
            </a:r>
            <a:r>
              <a:rPr sz="1800" b="1" spc="-30" dirty="0">
                <a:latin typeface="Calibri"/>
                <a:cs typeface="Calibri"/>
              </a:rPr>
              <a:t>PARCIAL”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3273" y="154380"/>
            <a:ext cx="107315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6FC0"/>
                </a:solidFill>
                <a:latin typeface="Arial"/>
                <a:cs typeface="Arial"/>
              </a:rPr>
              <a:t>4.</a:t>
            </a:r>
            <a:r>
              <a:rPr sz="14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Arial"/>
                <a:cs typeface="Arial"/>
              </a:rPr>
              <a:t>Patogenia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" dirty="0">
                <a:latin typeface="Calibri"/>
                <a:cs typeface="Calibri"/>
              </a:rPr>
              <a:t>Índice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82317" y="1369009"/>
            <a:ext cx="475996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indent="-30162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Introducción</a:t>
            </a:r>
            <a:endParaRPr sz="2400">
              <a:latin typeface="Calibri"/>
              <a:cs typeface="Calibri"/>
            </a:endParaRPr>
          </a:p>
          <a:p>
            <a:pPr marL="246379" indent="-243204">
              <a:lnSpc>
                <a:spcPct val="100000"/>
              </a:lnSpc>
              <a:spcBef>
                <a:spcPts val="5"/>
              </a:spcBef>
              <a:buSzPct val="93750"/>
              <a:buAutoNum type="arabicPeriod"/>
              <a:tabLst>
                <a:tab pos="246379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Definiciones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Clasificación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Patogenia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/>
              <a:tabLst>
                <a:tab pos="314325" algn="l"/>
              </a:tabLst>
            </a:pPr>
            <a:r>
              <a:rPr sz="2400" b="1" dirty="0">
                <a:latin typeface="Calibri"/>
                <a:cs typeface="Calibri"/>
              </a:rPr>
              <a:t>Historia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clínica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Electrocardiograma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Biomarcadores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Tratamiento: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38239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Manejo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buAutoNum type="arabicPeriod"/>
              <a:tabLst>
                <a:tab pos="1382395" algn="l"/>
              </a:tabLst>
            </a:pPr>
            <a:r>
              <a:rPr sz="2400" b="1" spc="-30" dirty="0">
                <a:solidFill>
                  <a:srgbClr val="D9D9D9"/>
                </a:solidFill>
                <a:latin typeface="Calibri"/>
                <a:cs typeface="Calibri"/>
              </a:rPr>
              <a:t>Tratamiento</a:t>
            </a:r>
            <a:r>
              <a:rPr sz="2400" b="1" spc="-6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médico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buAutoNum type="arabicPeriod"/>
              <a:tabLst>
                <a:tab pos="1382395" algn="l"/>
              </a:tabLst>
            </a:pPr>
            <a:r>
              <a:rPr sz="2400" b="1" spc="-30" dirty="0">
                <a:solidFill>
                  <a:srgbClr val="D9D9D9"/>
                </a:solidFill>
                <a:latin typeface="Calibri"/>
                <a:cs typeface="Calibri"/>
              </a:rPr>
              <a:t>Tratamiento</a:t>
            </a:r>
            <a:r>
              <a:rPr sz="2400" b="1" spc="-6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antiagregante</a:t>
            </a:r>
            <a:endParaRPr sz="2400">
              <a:latin typeface="Calibri"/>
              <a:cs typeface="Calibri"/>
            </a:endParaRPr>
          </a:p>
          <a:p>
            <a:pPr marL="1381760" lvl="1" indent="-454659">
              <a:lnSpc>
                <a:spcPct val="100000"/>
              </a:lnSpc>
              <a:buAutoNum type="arabicPeriod"/>
              <a:tabLst>
                <a:tab pos="1381760" algn="l"/>
              </a:tabLst>
            </a:pPr>
            <a:r>
              <a:rPr sz="2400" b="1" spc="-30" dirty="0">
                <a:solidFill>
                  <a:srgbClr val="D9D9D9"/>
                </a:solidFill>
                <a:latin typeface="Calibri"/>
                <a:cs typeface="Calibri"/>
              </a:rPr>
              <a:t>Terapias</a:t>
            </a:r>
            <a:r>
              <a:rPr sz="2400" b="1" spc="-6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D9D9D9"/>
                </a:solidFill>
                <a:latin typeface="Calibri"/>
                <a:cs typeface="Calibri"/>
              </a:rPr>
              <a:t>de</a:t>
            </a:r>
            <a:r>
              <a:rPr sz="2400" b="1" spc="-5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reperfusión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1000" y="-40564"/>
            <a:ext cx="8596668" cy="132080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 err="1"/>
              <a:t>Clínica</a:t>
            </a:r>
            <a:br>
              <a:rPr lang="es-ES" spc="-10" dirty="0"/>
            </a:b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6200" y="762000"/>
            <a:ext cx="7752182" cy="58734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La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historia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clínica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CLAVE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DIAGNÓSTICA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dolor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torácico.</a:t>
            </a:r>
            <a:endParaRPr sz="20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libri"/>
                <a:cs typeface="Calibri"/>
              </a:rPr>
              <a:t>Anamnesis: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Breve,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rápida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dirigida.</a:t>
            </a:r>
            <a:endParaRPr sz="2000" dirty="0">
              <a:latin typeface="Calibri"/>
              <a:cs typeface="Calibri"/>
            </a:endParaRPr>
          </a:p>
          <a:p>
            <a:pPr marL="1270000" marR="7620" indent="-342900">
              <a:lnSpc>
                <a:spcPct val="100000"/>
              </a:lnSpc>
              <a:spcBef>
                <a:spcPts val="2880"/>
              </a:spcBef>
              <a:buFont typeface="Arial MT"/>
              <a:buChar char="•"/>
              <a:tabLst>
                <a:tab pos="1270000" algn="l"/>
              </a:tabLst>
            </a:pPr>
            <a:r>
              <a:rPr sz="2000" dirty="0">
                <a:latin typeface="Calibri"/>
                <a:cs typeface="Calibri"/>
              </a:rPr>
              <a:t>Dolor: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características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(típicas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no),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irradiación,</a:t>
            </a:r>
            <a:r>
              <a:rPr sz="2000" spc="3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duración,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desencadenantes, </a:t>
            </a:r>
            <a:r>
              <a:rPr sz="2000" dirty="0">
                <a:latin typeface="Calibri"/>
                <a:cs typeface="Calibri"/>
              </a:rPr>
              <a:t>cortejo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vegetativo,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recuerda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dolores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previos.</a:t>
            </a:r>
            <a:endParaRPr sz="2000" dirty="0">
              <a:latin typeface="Calibri"/>
              <a:cs typeface="Calibri"/>
            </a:endParaRPr>
          </a:p>
          <a:p>
            <a:pPr marL="1270000" indent="-342900">
              <a:lnSpc>
                <a:spcPct val="100000"/>
              </a:lnSpc>
              <a:spcBef>
                <a:spcPts val="2880"/>
              </a:spcBef>
              <a:buFont typeface="Arial MT"/>
              <a:buChar char="•"/>
              <a:tabLst>
                <a:tab pos="1270000" algn="l"/>
              </a:tabLst>
            </a:pPr>
            <a:r>
              <a:rPr sz="2000" dirty="0">
                <a:latin typeface="Calibri"/>
                <a:cs typeface="Calibri"/>
              </a:rPr>
              <a:t>Síntomas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atípicos: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localización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epigastrio,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ancianos,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diabéticos,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mujeres.</a:t>
            </a:r>
            <a:endParaRPr sz="2000" dirty="0">
              <a:latin typeface="Calibri"/>
              <a:cs typeface="Calibri"/>
            </a:endParaRPr>
          </a:p>
          <a:p>
            <a:pPr marL="1270000" indent="-342900">
              <a:lnSpc>
                <a:spcPct val="100000"/>
              </a:lnSpc>
              <a:spcBef>
                <a:spcPts val="2885"/>
              </a:spcBef>
              <a:buFont typeface="Arial MT"/>
              <a:buChar char="•"/>
              <a:tabLst>
                <a:tab pos="1270000" algn="l"/>
              </a:tabLst>
            </a:pPr>
            <a:r>
              <a:rPr sz="2000" dirty="0">
                <a:latin typeface="Calibri"/>
                <a:cs typeface="Calibri"/>
              </a:rPr>
              <a:t>Síntomas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acompañantes: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disnea,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síncope,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arritmias.</a:t>
            </a:r>
            <a:endParaRPr sz="2000" dirty="0">
              <a:latin typeface="Calibri"/>
              <a:cs typeface="Calibri"/>
            </a:endParaRPr>
          </a:p>
          <a:p>
            <a:pPr marL="1270000" marR="5080" indent="-342900">
              <a:lnSpc>
                <a:spcPct val="100000"/>
              </a:lnSpc>
              <a:spcBef>
                <a:spcPts val="2880"/>
              </a:spcBef>
              <a:buFont typeface="Arial MT"/>
              <a:buChar char="•"/>
              <a:tabLst>
                <a:tab pos="1270000" algn="l"/>
                <a:tab pos="3304540" algn="l"/>
                <a:tab pos="4170679" algn="l"/>
                <a:tab pos="5112385" algn="l"/>
                <a:tab pos="6287770" algn="l"/>
                <a:tab pos="6845300" algn="l"/>
                <a:tab pos="8477885" algn="l"/>
                <a:tab pos="9970135" algn="l"/>
                <a:tab pos="10354310" algn="l"/>
              </a:tabLst>
            </a:pPr>
            <a:r>
              <a:rPr sz="2000" spc="-10" dirty="0">
                <a:latin typeface="Calibri"/>
                <a:cs typeface="Calibri"/>
              </a:rPr>
              <a:t>Antecedentes: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sexo,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edad,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historia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de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cardiopatía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isquémica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0" dirty="0">
                <a:latin typeface="Calibri"/>
                <a:cs typeface="Calibri"/>
              </a:rPr>
              <a:t>y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FRCV </a:t>
            </a:r>
            <a:r>
              <a:rPr sz="2000" spc="-10" dirty="0">
                <a:latin typeface="Calibri"/>
                <a:cs typeface="Calibri"/>
              </a:rPr>
              <a:t>(tabaquismo,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HTA, </a:t>
            </a:r>
            <a:r>
              <a:rPr sz="2000" spc="-10" dirty="0">
                <a:latin typeface="Calibri"/>
                <a:cs typeface="Calibri"/>
              </a:rPr>
              <a:t>diabetes,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dislipemia).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45" dirty="0">
                <a:latin typeface="Calibri"/>
                <a:cs typeface="Calibri"/>
              </a:rPr>
              <a:t>Toma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cocaina.</a:t>
            </a:r>
            <a:endParaRPr sz="2000" dirty="0">
              <a:latin typeface="Calibri"/>
              <a:cs typeface="Calibri"/>
            </a:endParaRPr>
          </a:p>
          <a:p>
            <a:pPr marL="1270000" indent="-342900">
              <a:lnSpc>
                <a:spcPct val="100000"/>
              </a:lnSpc>
              <a:spcBef>
                <a:spcPts val="2880"/>
              </a:spcBef>
              <a:buFont typeface="Arial MT"/>
              <a:buChar char="•"/>
              <a:tabLst>
                <a:tab pos="1270000" algn="l"/>
              </a:tabLst>
            </a:pPr>
            <a:r>
              <a:rPr sz="2000" spc="-10" dirty="0">
                <a:latin typeface="Calibri"/>
                <a:cs typeface="Calibri"/>
              </a:rPr>
              <a:t>Preguntar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antecedentes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sugieran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contraindicación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anticoagulación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Historia</a:t>
            </a:r>
            <a:r>
              <a:rPr spc="-114" dirty="0"/>
              <a:t> </a:t>
            </a:r>
            <a:r>
              <a:rPr spc="-10" dirty="0"/>
              <a:t>clínica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59148" y="6544157"/>
            <a:ext cx="35280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ESC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GUIDELINES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European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Heart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Journal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2011.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32,</a:t>
            </a:r>
            <a:r>
              <a:rPr sz="1100" spc="-10" dirty="0">
                <a:latin typeface="Calibri"/>
                <a:cs typeface="Calibri"/>
              </a:rPr>
              <a:t> 2999-</a:t>
            </a:r>
            <a:r>
              <a:rPr sz="1100" spc="-20" dirty="0">
                <a:latin typeface="Calibri"/>
                <a:cs typeface="Calibri"/>
              </a:rPr>
              <a:t>3054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813305" y="1727580"/>
          <a:ext cx="8002905" cy="3850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02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9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ANMANESIS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11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Cuándo</a:t>
                      </a:r>
                      <a:r>
                        <a:rPr sz="24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ha</a:t>
                      </a:r>
                      <a:r>
                        <a:rPr sz="24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comenzado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11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Qué</a:t>
                      </a:r>
                      <a:r>
                        <a:rPr sz="2400" b="1" spc="-8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estaba</a:t>
                      </a:r>
                      <a:r>
                        <a:rPr sz="2400" b="1" spc="-8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haciendo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11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Duración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11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Episodios</a:t>
                      </a:r>
                      <a:r>
                        <a:rPr sz="2400" b="1" spc="-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previos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31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Toma</a:t>
                      </a:r>
                      <a:r>
                        <a:rPr sz="24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24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medicación</a:t>
                      </a:r>
                      <a:r>
                        <a:rPr sz="24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momento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sz="24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efecto</a:t>
                      </a:r>
                      <a:r>
                        <a:rPr sz="24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24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24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misma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11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Características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r>
                        <a:rPr sz="24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dolor,</a:t>
                      </a:r>
                      <a:r>
                        <a:rPr sz="24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irradiación,</a:t>
                      </a:r>
                      <a:r>
                        <a:rPr sz="24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cortejo</a:t>
                      </a:r>
                      <a:r>
                        <a:rPr sz="24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vegetativo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Clínica</a:t>
            </a:r>
          </a:p>
        </p:txBody>
      </p:sp>
      <p:pic>
        <p:nvPicPr>
          <p:cNvPr id="3" name="object 3" descr="http://2.bp.blogspot.com/_e3nHE4r6vPU/TM3KAHs-IQI/AAAAAAAABFQ/s6Xoi6UYHeQ/s1600/Angina+de+Pech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8457" y="3429000"/>
            <a:ext cx="3672627" cy="29260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65733" y="1291844"/>
            <a:ext cx="10828655" cy="32746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55600" marR="5080" indent="-342900">
              <a:lnSpc>
                <a:spcPct val="101099"/>
              </a:lnSpc>
              <a:spcBef>
                <a:spcPts val="6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b="1" dirty="0">
                <a:latin typeface="Calibri"/>
                <a:cs typeface="Calibri"/>
              </a:rPr>
              <a:t>Dolor</a:t>
            </a:r>
            <a:r>
              <a:rPr sz="3200" b="1" spc="254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torácico:</a:t>
            </a:r>
            <a:r>
              <a:rPr sz="3200" b="1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definido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opresión,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ardor,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tumefacción,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constricción,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con </a:t>
            </a:r>
            <a:r>
              <a:rPr sz="2400" dirty="0">
                <a:latin typeface="Calibri"/>
                <a:cs typeface="Calibri"/>
              </a:rPr>
              <a:t>inicio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gradual,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intensidad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variable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duración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mayor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30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minutos.</a:t>
            </a:r>
            <a:endParaRPr sz="24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80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En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región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retro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esternal,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irradiación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cuello,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mandíbula,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hombro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izdo.</a:t>
            </a:r>
            <a:endParaRPr sz="24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Asociado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frecuencia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disnea,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sudoración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náuseas,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vómitos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2400" dirty="0">
              <a:latin typeface="Calibri"/>
              <a:cs typeface="Calibri"/>
            </a:endParaRPr>
          </a:p>
          <a:p>
            <a:pPr marL="4620260" marR="370205" algn="just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Ojo:</a:t>
            </a:r>
            <a:r>
              <a:rPr sz="2400" spc="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formas</a:t>
            </a:r>
            <a:r>
              <a:rPr sz="2400" spc="5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atípicas:</a:t>
            </a:r>
            <a:r>
              <a:rPr sz="2400" spc="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dolor</a:t>
            </a:r>
            <a:r>
              <a:rPr sz="2400" spc="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3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epigastrio</a:t>
            </a:r>
            <a:r>
              <a:rPr sz="2400" spc="40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diabéticos,</a:t>
            </a:r>
            <a:r>
              <a:rPr sz="2400" spc="509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ancianos</a:t>
            </a:r>
            <a:r>
              <a:rPr sz="2400" spc="509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51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mujeres</a:t>
            </a:r>
            <a:r>
              <a:rPr sz="2400" spc="51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meno</a:t>
            </a:r>
            <a:r>
              <a:rPr sz="2400" spc="515" dirty="0">
                <a:latin typeface="Calibri"/>
                <a:cs typeface="Calibri"/>
              </a:rPr>
              <a:t>  </a:t>
            </a:r>
            <a:r>
              <a:rPr sz="2400" spc="-50" dirty="0">
                <a:latin typeface="Calibri"/>
                <a:cs typeface="Calibri"/>
              </a:rPr>
              <a:t>o </a:t>
            </a:r>
            <a:r>
              <a:rPr sz="2400" spc="-10" dirty="0">
                <a:latin typeface="Calibri"/>
                <a:cs typeface="Calibri"/>
              </a:rPr>
              <a:t>perimenopaúsicas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escudo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51064" y="4479034"/>
            <a:ext cx="2898648" cy="237591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627736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chemeClr val="tx1"/>
                </a:solidFill>
              </a:rPr>
              <a:t>Clínica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85288" y="981455"/>
            <a:ext cx="8950452" cy="563575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" dirty="0">
                <a:latin typeface="Calibri"/>
                <a:cs typeface="Calibri"/>
              </a:rPr>
              <a:t>Índice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82317" y="1369009"/>
            <a:ext cx="475996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indent="-30162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Introducción</a:t>
            </a:r>
            <a:endParaRPr sz="2400">
              <a:latin typeface="Calibri"/>
              <a:cs typeface="Calibri"/>
            </a:endParaRPr>
          </a:p>
          <a:p>
            <a:pPr marL="246379" indent="-243204">
              <a:lnSpc>
                <a:spcPct val="100000"/>
              </a:lnSpc>
              <a:spcBef>
                <a:spcPts val="5"/>
              </a:spcBef>
              <a:buSzPct val="93750"/>
              <a:buAutoNum type="arabicPeriod"/>
              <a:tabLst>
                <a:tab pos="246379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Definiciones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Clasificación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Patogenia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/>
              <a:tabLst>
                <a:tab pos="314325" algn="l"/>
              </a:tabLst>
            </a:pPr>
            <a:r>
              <a:rPr sz="2400" b="1" dirty="0">
                <a:solidFill>
                  <a:srgbClr val="D9D9D9"/>
                </a:solidFill>
                <a:latin typeface="Calibri"/>
                <a:cs typeface="Calibri"/>
              </a:rPr>
              <a:t>Historia</a:t>
            </a:r>
            <a:r>
              <a:rPr sz="2400" b="1" spc="-8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clínica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/>
              <a:tabLst>
                <a:tab pos="314325" algn="l"/>
              </a:tabLst>
            </a:pPr>
            <a:r>
              <a:rPr sz="2400" b="1" spc="-10" dirty="0">
                <a:latin typeface="Calibri"/>
                <a:cs typeface="Calibri"/>
              </a:rPr>
              <a:t>Electrocardiograma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Biomarcadores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Tratamiento: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38239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Manejo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buAutoNum type="arabicPeriod"/>
              <a:tabLst>
                <a:tab pos="1382395" algn="l"/>
              </a:tabLst>
            </a:pPr>
            <a:r>
              <a:rPr sz="2400" b="1" spc="-30" dirty="0">
                <a:solidFill>
                  <a:srgbClr val="D9D9D9"/>
                </a:solidFill>
                <a:latin typeface="Calibri"/>
                <a:cs typeface="Calibri"/>
              </a:rPr>
              <a:t>Tratamiento</a:t>
            </a:r>
            <a:r>
              <a:rPr sz="2400" b="1" spc="-6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médico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buAutoNum type="arabicPeriod"/>
              <a:tabLst>
                <a:tab pos="1382395" algn="l"/>
              </a:tabLst>
            </a:pPr>
            <a:r>
              <a:rPr sz="2400" b="1" spc="-30" dirty="0">
                <a:solidFill>
                  <a:srgbClr val="D9D9D9"/>
                </a:solidFill>
                <a:latin typeface="Calibri"/>
                <a:cs typeface="Calibri"/>
              </a:rPr>
              <a:t>Tratamiento</a:t>
            </a:r>
            <a:r>
              <a:rPr sz="2400" b="1" spc="-6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antiagregante</a:t>
            </a:r>
            <a:endParaRPr sz="2400">
              <a:latin typeface="Calibri"/>
              <a:cs typeface="Calibri"/>
            </a:endParaRPr>
          </a:p>
          <a:p>
            <a:pPr marL="1381760" lvl="1" indent="-454659">
              <a:lnSpc>
                <a:spcPct val="100000"/>
              </a:lnSpc>
              <a:buAutoNum type="arabicPeriod"/>
              <a:tabLst>
                <a:tab pos="1381760" algn="l"/>
              </a:tabLst>
            </a:pPr>
            <a:r>
              <a:rPr sz="2400" b="1" spc="-30" dirty="0">
                <a:solidFill>
                  <a:srgbClr val="D9D9D9"/>
                </a:solidFill>
                <a:latin typeface="Calibri"/>
                <a:cs typeface="Calibri"/>
              </a:rPr>
              <a:t>Terapias</a:t>
            </a:r>
            <a:r>
              <a:rPr sz="2400" b="1" spc="-6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D9D9D9"/>
                </a:solidFill>
                <a:latin typeface="Calibri"/>
                <a:cs typeface="Calibri"/>
              </a:rPr>
              <a:t>de</a:t>
            </a:r>
            <a:r>
              <a:rPr sz="2400" b="1" spc="-5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reperfusión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71217" y="565480"/>
            <a:ext cx="336740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Arial"/>
                <a:cs typeface="Arial"/>
              </a:rPr>
              <a:t>Electrocardiograma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3119" y="1737817"/>
            <a:ext cx="9328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20" dirty="0">
                <a:latin typeface="Calibri"/>
                <a:cs typeface="Calibri"/>
              </a:rPr>
              <a:t>ECG: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4435" y="1796795"/>
            <a:ext cx="935736" cy="98145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77824" y="2982467"/>
            <a:ext cx="1750060" cy="798830"/>
            <a:chOff x="877824" y="2982467"/>
            <a:chExt cx="1750060" cy="798830"/>
          </a:xfrm>
        </p:grpSpPr>
        <p:sp>
          <p:nvSpPr>
            <p:cNvPr id="6" name="object 6"/>
            <p:cNvSpPr/>
            <p:nvPr/>
          </p:nvSpPr>
          <p:spPr>
            <a:xfrm>
              <a:off x="883920" y="2988563"/>
              <a:ext cx="1737360" cy="786765"/>
            </a:xfrm>
            <a:custGeom>
              <a:avLst/>
              <a:gdLst/>
              <a:ahLst/>
              <a:cxnLst/>
              <a:rect l="l" t="t" r="r" b="b"/>
              <a:pathLst>
                <a:path w="1737360" h="786764">
                  <a:moveTo>
                    <a:pt x="868680" y="0"/>
                  </a:moveTo>
                  <a:lnTo>
                    <a:pt x="803843" y="1078"/>
                  </a:lnTo>
                  <a:lnTo>
                    <a:pt x="740302" y="4262"/>
                  </a:lnTo>
                  <a:lnTo>
                    <a:pt x="678223" y="9477"/>
                  </a:lnTo>
                  <a:lnTo>
                    <a:pt x="617776" y="16646"/>
                  </a:lnTo>
                  <a:lnTo>
                    <a:pt x="559127" y="25692"/>
                  </a:lnTo>
                  <a:lnTo>
                    <a:pt x="502445" y="36541"/>
                  </a:lnTo>
                  <a:lnTo>
                    <a:pt x="447898" y="49116"/>
                  </a:lnTo>
                  <a:lnTo>
                    <a:pt x="395653" y="63341"/>
                  </a:lnTo>
                  <a:lnTo>
                    <a:pt x="345879" y="79140"/>
                  </a:lnTo>
                  <a:lnTo>
                    <a:pt x="298742" y="96437"/>
                  </a:lnTo>
                  <a:lnTo>
                    <a:pt x="254412" y="115157"/>
                  </a:lnTo>
                  <a:lnTo>
                    <a:pt x="213056" y="135222"/>
                  </a:lnTo>
                  <a:lnTo>
                    <a:pt x="174842" y="156558"/>
                  </a:lnTo>
                  <a:lnTo>
                    <a:pt x="139937" y="179087"/>
                  </a:lnTo>
                  <a:lnTo>
                    <a:pt x="108510" y="202735"/>
                  </a:lnTo>
                  <a:lnTo>
                    <a:pt x="56761" y="253081"/>
                  </a:lnTo>
                  <a:lnTo>
                    <a:pt x="20937" y="306987"/>
                  </a:lnTo>
                  <a:lnTo>
                    <a:pt x="2382" y="363845"/>
                  </a:lnTo>
                  <a:lnTo>
                    <a:pt x="0" y="393191"/>
                  </a:lnTo>
                  <a:lnTo>
                    <a:pt x="2382" y="422538"/>
                  </a:lnTo>
                  <a:lnTo>
                    <a:pt x="20937" y="479396"/>
                  </a:lnTo>
                  <a:lnTo>
                    <a:pt x="56761" y="533302"/>
                  </a:lnTo>
                  <a:lnTo>
                    <a:pt x="108510" y="583648"/>
                  </a:lnTo>
                  <a:lnTo>
                    <a:pt x="139937" y="607296"/>
                  </a:lnTo>
                  <a:lnTo>
                    <a:pt x="174842" y="629825"/>
                  </a:lnTo>
                  <a:lnTo>
                    <a:pt x="213056" y="651161"/>
                  </a:lnTo>
                  <a:lnTo>
                    <a:pt x="254412" y="671226"/>
                  </a:lnTo>
                  <a:lnTo>
                    <a:pt x="298742" y="689946"/>
                  </a:lnTo>
                  <a:lnTo>
                    <a:pt x="345879" y="707243"/>
                  </a:lnTo>
                  <a:lnTo>
                    <a:pt x="395653" y="723042"/>
                  </a:lnTo>
                  <a:lnTo>
                    <a:pt x="447898" y="737267"/>
                  </a:lnTo>
                  <a:lnTo>
                    <a:pt x="502445" y="749842"/>
                  </a:lnTo>
                  <a:lnTo>
                    <a:pt x="559127" y="760691"/>
                  </a:lnTo>
                  <a:lnTo>
                    <a:pt x="617776" y="769737"/>
                  </a:lnTo>
                  <a:lnTo>
                    <a:pt x="678223" y="776906"/>
                  </a:lnTo>
                  <a:lnTo>
                    <a:pt x="740302" y="782121"/>
                  </a:lnTo>
                  <a:lnTo>
                    <a:pt x="803843" y="785305"/>
                  </a:lnTo>
                  <a:lnTo>
                    <a:pt x="868680" y="786384"/>
                  </a:lnTo>
                  <a:lnTo>
                    <a:pt x="933516" y="785305"/>
                  </a:lnTo>
                  <a:lnTo>
                    <a:pt x="997057" y="782121"/>
                  </a:lnTo>
                  <a:lnTo>
                    <a:pt x="1059136" y="776906"/>
                  </a:lnTo>
                  <a:lnTo>
                    <a:pt x="1119583" y="769737"/>
                  </a:lnTo>
                  <a:lnTo>
                    <a:pt x="1178232" y="760691"/>
                  </a:lnTo>
                  <a:lnTo>
                    <a:pt x="1234914" y="749842"/>
                  </a:lnTo>
                  <a:lnTo>
                    <a:pt x="1289461" y="737267"/>
                  </a:lnTo>
                  <a:lnTo>
                    <a:pt x="1341706" y="723042"/>
                  </a:lnTo>
                  <a:lnTo>
                    <a:pt x="1391480" y="707243"/>
                  </a:lnTo>
                  <a:lnTo>
                    <a:pt x="1438617" y="689946"/>
                  </a:lnTo>
                  <a:lnTo>
                    <a:pt x="1482947" y="671226"/>
                  </a:lnTo>
                  <a:lnTo>
                    <a:pt x="1524303" y="651161"/>
                  </a:lnTo>
                  <a:lnTo>
                    <a:pt x="1562517" y="629825"/>
                  </a:lnTo>
                  <a:lnTo>
                    <a:pt x="1597422" y="607296"/>
                  </a:lnTo>
                  <a:lnTo>
                    <a:pt x="1628849" y="583648"/>
                  </a:lnTo>
                  <a:lnTo>
                    <a:pt x="1680598" y="533302"/>
                  </a:lnTo>
                  <a:lnTo>
                    <a:pt x="1716422" y="479396"/>
                  </a:lnTo>
                  <a:lnTo>
                    <a:pt x="1734977" y="422538"/>
                  </a:lnTo>
                  <a:lnTo>
                    <a:pt x="1737360" y="393191"/>
                  </a:lnTo>
                  <a:lnTo>
                    <a:pt x="1734977" y="363845"/>
                  </a:lnTo>
                  <a:lnTo>
                    <a:pt x="1716422" y="306987"/>
                  </a:lnTo>
                  <a:lnTo>
                    <a:pt x="1680598" y="253081"/>
                  </a:lnTo>
                  <a:lnTo>
                    <a:pt x="1628849" y="202735"/>
                  </a:lnTo>
                  <a:lnTo>
                    <a:pt x="1597422" y="179087"/>
                  </a:lnTo>
                  <a:lnTo>
                    <a:pt x="1562517" y="156558"/>
                  </a:lnTo>
                  <a:lnTo>
                    <a:pt x="1524303" y="135222"/>
                  </a:lnTo>
                  <a:lnTo>
                    <a:pt x="1482947" y="115157"/>
                  </a:lnTo>
                  <a:lnTo>
                    <a:pt x="1438617" y="96437"/>
                  </a:lnTo>
                  <a:lnTo>
                    <a:pt x="1391480" y="79140"/>
                  </a:lnTo>
                  <a:lnTo>
                    <a:pt x="1341706" y="63341"/>
                  </a:lnTo>
                  <a:lnTo>
                    <a:pt x="1289461" y="49116"/>
                  </a:lnTo>
                  <a:lnTo>
                    <a:pt x="1234914" y="36541"/>
                  </a:lnTo>
                  <a:lnTo>
                    <a:pt x="1178232" y="25692"/>
                  </a:lnTo>
                  <a:lnTo>
                    <a:pt x="1119583" y="16646"/>
                  </a:lnTo>
                  <a:lnTo>
                    <a:pt x="1059136" y="9477"/>
                  </a:lnTo>
                  <a:lnTo>
                    <a:pt x="997057" y="4262"/>
                  </a:lnTo>
                  <a:lnTo>
                    <a:pt x="933516" y="1078"/>
                  </a:lnTo>
                  <a:lnTo>
                    <a:pt x="86868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83920" y="2988563"/>
              <a:ext cx="1737360" cy="786765"/>
            </a:xfrm>
            <a:custGeom>
              <a:avLst/>
              <a:gdLst/>
              <a:ahLst/>
              <a:cxnLst/>
              <a:rect l="l" t="t" r="r" b="b"/>
              <a:pathLst>
                <a:path w="1737360" h="786764">
                  <a:moveTo>
                    <a:pt x="0" y="393191"/>
                  </a:moveTo>
                  <a:lnTo>
                    <a:pt x="9417" y="335085"/>
                  </a:lnTo>
                  <a:lnTo>
                    <a:pt x="36775" y="279627"/>
                  </a:lnTo>
                  <a:lnTo>
                    <a:pt x="80729" y="227425"/>
                  </a:lnTo>
                  <a:lnTo>
                    <a:pt x="139937" y="179087"/>
                  </a:lnTo>
                  <a:lnTo>
                    <a:pt x="174842" y="156558"/>
                  </a:lnTo>
                  <a:lnTo>
                    <a:pt x="213056" y="135222"/>
                  </a:lnTo>
                  <a:lnTo>
                    <a:pt x="254412" y="115157"/>
                  </a:lnTo>
                  <a:lnTo>
                    <a:pt x="298742" y="96437"/>
                  </a:lnTo>
                  <a:lnTo>
                    <a:pt x="345879" y="79140"/>
                  </a:lnTo>
                  <a:lnTo>
                    <a:pt x="395653" y="63341"/>
                  </a:lnTo>
                  <a:lnTo>
                    <a:pt x="447898" y="49116"/>
                  </a:lnTo>
                  <a:lnTo>
                    <a:pt x="502445" y="36541"/>
                  </a:lnTo>
                  <a:lnTo>
                    <a:pt x="559127" y="25692"/>
                  </a:lnTo>
                  <a:lnTo>
                    <a:pt x="617776" y="16646"/>
                  </a:lnTo>
                  <a:lnTo>
                    <a:pt x="678223" y="9477"/>
                  </a:lnTo>
                  <a:lnTo>
                    <a:pt x="740302" y="4262"/>
                  </a:lnTo>
                  <a:lnTo>
                    <a:pt x="803843" y="1078"/>
                  </a:lnTo>
                  <a:lnTo>
                    <a:pt x="868680" y="0"/>
                  </a:lnTo>
                  <a:lnTo>
                    <a:pt x="933516" y="1078"/>
                  </a:lnTo>
                  <a:lnTo>
                    <a:pt x="997057" y="4262"/>
                  </a:lnTo>
                  <a:lnTo>
                    <a:pt x="1059136" y="9477"/>
                  </a:lnTo>
                  <a:lnTo>
                    <a:pt x="1119583" y="16646"/>
                  </a:lnTo>
                  <a:lnTo>
                    <a:pt x="1178232" y="25692"/>
                  </a:lnTo>
                  <a:lnTo>
                    <a:pt x="1234914" y="36541"/>
                  </a:lnTo>
                  <a:lnTo>
                    <a:pt x="1289461" y="49116"/>
                  </a:lnTo>
                  <a:lnTo>
                    <a:pt x="1341706" y="63341"/>
                  </a:lnTo>
                  <a:lnTo>
                    <a:pt x="1391480" y="79140"/>
                  </a:lnTo>
                  <a:lnTo>
                    <a:pt x="1438617" y="96437"/>
                  </a:lnTo>
                  <a:lnTo>
                    <a:pt x="1482947" y="115157"/>
                  </a:lnTo>
                  <a:lnTo>
                    <a:pt x="1524303" y="135222"/>
                  </a:lnTo>
                  <a:lnTo>
                    <a:pt x="1562517" y="156558"/>
                  </a:lnTo>
                  <a:lnTo>
                    <a:pt x="1597422" y="179087"/>
                  </a:lnTo>
                  <a:lnTo>
                    <a:pt x="1628849" y="202735"/>
                  </a:lnTo>
                  <a:lnTo>
                    <a:pt x="1680598" y="253081"/>
                  </a:lnTo>
                  <a:lnTo>
                    <a:pt x="1716422" y="306987"/>
                  </a:lnTo>
                  <a:lnTo>
                    <a:pt x="1734977" y="363845"/>
                  </a:lnTo>
                  <a:lnTo>
                    <a:pt x="1737360" y="393191"/>
                  </a:lnTo>
                  <a:lnTo>
                    <a:pt x="1734977" y="422538"/>
                  </a:lnTo>
                  <a:lnTo>
                    <a:pt x="1716422" y="479396"/>
                  </a:lnTo>
                  <a:lnTo>
                    <a:pt x="1680598" y="533302"/>
                  </a:lnTo>
                  <a:lnTo>
                    <a:pt x="1628849" y="583648"/>
                  </a:lnTo>
                  <a:lnTo>
                    <a:pt x="1597422" y="607296"/>
                  </a:lnTo>
                  <a:lnTo>
                    <a:pt x="1562517" y="629825"/>
                  </a:lnTo>
                  <a:lnTo>
                    <a:pt x="1524303" y="651161"/>
                  </a:lnTo>
                  <a:lnTo>
                    <a:pt x="1482947" y="671226"/>
                  </a:lnTo>
                  <a:lnTo>
                    <a:pt x="1438617" y="689946"/>
                  </a:lnTo>
                  <a:lnTo>
                    <a:pt x="1391480" y="707243"/>
                  </a:lnTo>
                  <a:lnTo>
                    <a:pt x="1341706" y="723042"/>
                  </a:lnTo>
                  <a:lnTo>
                    <a:pt x="1289461" y="737267"/>
                  </a:lnTo>
                  <a:lnTo>
                    <a:pt x="1234914" y="749842"/>
                  </a:lnTo>
                  <a:lnTo>
                    <a:pt x="1178232" y="760691"/>
                  </a:lnTo>
                  <a:lnTo>
                    <a:pt x="1119583" y="769737"/>
                  </a:lnTo>
                  <a:lnTo>
                    <a:pt x="1059136" y="776906"/>
                  </a:lnTo>
                  <a:lnTo>
                    <a:pt x="997057" y="782121"/>
                  </a:lnTo>
                  <a:lnTo>
                    <a:pt x="933516" y="785305"/>
                  </a:lnTo>
                  <a:lnTo>
                    <a:pt x="868680" y="786384"/>
                  </a:lnTo>
                  <a:lnTo>
                    <a:pt x="803843" y="785305"/>
                  </a:lnTo>
                  <a:lnTo>
                    <a:pt x="740302" y="782121"/>
                  </a:lnTo>
                  <a:lnTo>
                    <a:pt x="678223" y="776906"/>
                  </a:lnTo>
                  <a:lnTo>
                    <a:pt x="617776" y="769737"/>
                  </a:lnTo>
                  <a:lnTo>
                    <a:pt x="559127" y="760691"/>
                  </a:lnTo>
                  <a:lnTo>
                    <a:pt x="502445" y="749842"/>
                  </a:lnTo>
                  <a:lnTo>
                    <a:pt x="447898" y="737267"/>
                  </a:lnTo>
                  <a:lnTo>
                    <a:pt x="395653" y="723042"/>
                  </a:lnTo>
                  <a:lnTo>
                    <a:pt x="345879" y="707243"/>
                  </a:lnTo>
                  <a:lnTo>
                    <a:pt x="298742" y="689946"/>
                  </a:lnTo>
                  <a:lnTo>
                    <a:pt x="254412" y="671226"/>
                  </a:lnTo>
                  <a:lnTo>
                    <a:pt x="213056" y="651161"/>
                  </a:lnTo>
                  <a:lnTo>
                    <a:pt x="174842" y="629825"/>
                  </a:lnTo>
                  <a:lnTo>
                    <a:pt x="139937" y="607296"/>
                  </a:lnTo>
                  <a:lnTo>
                    <a:pt x="108510" y="583648"/>
                  </a:lnTo>
                  <a:lnTo>
                    <a:pt x="56761" y="533302"/>
                  </a:lnTo>
                  <a:lnTo>
                    <a:pt x="20937" y="479396"/>
                  </a:lnTo>
                  <a:lnTo>
                    <a:pt x="2382" y="422538"/>
                  </a:lnTo>
                  <a:lnTo>
                    <a:pt x="0" y="393191"/>
                  </a:lnTo>
                  <a:close/>
                </a:path>
              </a:pathLst>
            </a:custGeom>
            <a:ln w="12191">
              <a:solidFill>
                <a:srgbClr val="2B4F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32408" y="3233115"/>
            <a:ext cx="104266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&lt;10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min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8316" y="4208526"/>
            <a:ext cx="987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dolor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0171" y="1708880"/>
            <a:ext cx="7049134" cy="397891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4330" algn="l"/>
              </a:tabLst>
            </a:pPr>
            <a:r>
              <a:rPr sz="3200" dirty="0">
                <a:latin typeface="Calibri"/>
                <a:cs typeface="Calibri"/>
              </a:rPr>
              <a:t>Clave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del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diagnóstico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Realizarlo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primeros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10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minutos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Inespecífico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primeros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momentos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Onda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lesión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tarda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20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40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minutos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Permite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clasificación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del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paciente:</a:t>
            </a:r>
            <a:endParaRPr sz="32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10" dirty="0">
                <a:latin typeface="Calibri"/>
                <a:cs typeface="Calibri"/>
              </a:rPr>
              <a:t>SCACEST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spc="-10" dirty="0">
                <a:latin typeface="Calibri"/>
                <a:cs typeface="Calibri"/>
              </a:rPr>
              <a:t>SCASEST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3119" y="1737817"/>
            <a:ext cx="9328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20" dirty="0">
                <a:latin typeface="Calibri"/>
                <a:cs typeface="Calibri"/>
              </a:rPr>
              <a:t>ECG: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4435" y="1796795"/>
            <a:ext cx="935736" cy="98145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77824" y="2982467"/>
            <a:ext cx="1750060" cy="798830"/>
            <a:chOff x="877824" y="2982467"/>
            <a:chExt cx="1750060" cy="798830"/>
          </a:xfrm>
        </p:grpSpPr>
        <p:sp>
          <p:nvSpPr>
            <p:cNvPr id="6" name="object 6"/>
            <p:cNvSpPr/>
            <p:nvPr/>
          </p:nvSpPr>
          <p:spPr>
            <a:xfrm>
              <a:off x="883920" y="2988563"/>
              <a:ext cx="1737360" cy="786765"/>
            </a:xfrm>
            <a:custGeom>
              <a:avLst/>
              <a:gdLst/>
              <a:ahLst/>
              <a:cxnLst/>
              <a:rect l="l" t="t" r="r" b="b"/>
              <a:pathLst>
                <a:path w="1737360" h="786764">
                  <a:moveTo>
                    <a:pt x="868680" y="0"/>
                  </a:moveTo>
                  <a:lnTo>
                    <a:pt x="803843" y="1078"/>
                  </a:lnTo>
                  <a:lnTo>
                    <a:pt x="740302" y="4262"/>
                  </a:lnTo>
                  <a:lnTo>
                    <a:pt x="678223" y="9477"/>
                  </a:lnTo>
                  <a:lnTo>
                    <a:pt x="617776" y="16646"/>
                  </a:lnTo>
                  <a:lnTo>
                    <a:pt x="559127" y="25692"/>
                  </a:lnTo>
                  <a:lnTo>
                    <a:pt x="502445" y="36541"/>
                  </a:lnTo>
                  <a:lnTo>
                    <a:pt x="447898" y="49116"/>
                  </a:lnTo>
                  <a:lnTo>
                    <a:pt x="395653" y="63341"/>
                  </a:lnTo>
                  <a:lnTo>
                    <a:pt x="345879" y="79140"/>
                  </a:lnTo>
                  <a:lnTo>
                    <a:pt x="298742" y="96437"/>
                  </a:lnTo>
                  <a:lnTo>
                    <a:pt x="254412" y="115157"/>
                  </a:lnTo>
                  <a:lnTo>
                    <a:pt x="213056" y="135222"/>
                  </a:lnTo>
                  <a:lnTo>
                    <a:pt x="174842" y="156558"/>
                  </a:lnTo>
                  <a:lnTo>
                    <a:pt x="139937" y="179087"/>
                  </a:lnTo>
                  <a:lnTo>
                    <a:pt x="108510" y="202735"/>
                  </a:lnTo>
                  <a:lnTo>
                    <a:pt x="56761" y="253081"/>
                  </a:lnTo>
                  <a:lnTo>
                    <a:pt x="20937" y="306987"/>
                  </a:lnTo>
                  <a:lnTo>
                    <a:pt x="2382" y="363845"/>
                  </a:lnTo>
                  <a:lnTo>
                    <a:pt x="0" y="393191"/>
                  </a:lnTo>
                  <a:lnTo>
                    <a:pt x="2382" y="422538"/>
                  </a:lnTo>
                  <a:lnTo>
                    <a:pt x="20937" y="479396"/>
                  </a:lnTo>
                  <a:lnTo>
                    <a:pt x="56761" y="533302"/>
                  </a:lnTo>
                  <a:lnTo>
                    <a:pt x="108510" y="583648"/>
                  </a:lnTo>
                  <a:lnTo>
                    <a:pt x="139937" y="607296"/>
                  </a:lnTo>
                  <a:lnTo>
                    <a:pt x="174842" y="629825"/>
                  </a:lnTo>
                  <a:lnTo>
                    <a:pt x="213056" y="651161"/>
                  </a:lnTo>
                  <a:lnTo>
                    <a:pt x="254412" y="671226"/>
                  </a:lnTo>
                  <a:lnTo>
                    <a:pt x="298742" y="689946"/>
                  </a:lnTo>
                  <a:lnTo>
                    <a:pt x="345879" y="707243"/>
                  </a:lnTo>
                  <a:lnTo>
                    <a:pt x="395653" y="723042"/>
                  </a:lnTo>
                  <a:lnTo>
                    <a:pt x="447898" y="737267"/>
                  </a:lnTo>
                  <a:lnTo>
                    <a:pt x="502445" y="749842"/>
                  </a:lnTo>
                  <a:lnTo>
                    <a:pt x="559127" y="760691"/>
                  </a:lnTo>
                  <a:lnTo>
                    <a:pt x="617776" y="769737"/>
                  </a:lnTo>
                  <a:lnTo>
                    <a:pt x="678223" y="776906"/>
                  </a:lnTo>
                  <a:lnTo>
                    <a:pt x="740302" y="782121"/>
                  </a:lnTo>
                  <a:lnTo>
                    <a:pt x="803843" y="785305"/>
                  </a:lnTo>
                  <a:lnTo>
                    <a:pt x="868680" y="786384"/>
                  </a:lnTo>
                  <a:lnTo>
                    <a:pt x="933516" y="785305"/>
                  </a:lnTo>
                  <a:lnTo>
                    <a:pt x="997057" y="782121"/>
                  </a:lnTo>
                  <a:lnTo>
                    <a:pt x="1059136" y="776906"/>
                  </a:lnTo>
                  <a:lnTo>
                    <a:pt x="1119583" y="769737"/>
                  </a:lnTo>
                  <a:lnTo>
                    <a:pt x="1178232" y="760691"/>
                  </a:lnTo>
                  <a:lnTo>
                    <a:pt x="1234914" y="749842"/>
                  </a:lnTo>
                  <a:lnTo>
                    <a:pt x="1289461" y="737267"/>
                  </a:lnTo>
                  <a:lnTo>
                    <a:pt x="1341706" y="723042"/>
                  </a:lnTo>
                  <a:lnTo>
                    <a:pt x="1391480" y="707243"/>
                  </a:lnTo>
                  <a:lnTo>
                    <a:pt x="1438617" y="689946"/>
                  </a:lnTo>
                  <a:lnTo>
                    <a:pt x="1482947" y="671226"/>
                  </a:lnTo>
                  <a:lnTo>
                    <a:pt x="1524303" y="651161"/>
                  </a:lnTo>
                  <a:lnTo>
                    <a:pt x="1562517" y="629825"/>
                  </a:lnTo>
                  <a:lnTo>
                    <a:pt x="1597422" y="607296"/>
                  </a:lnTo>
                  <a:lnTo>
                    <a:pt x="1628849" y="583648"/>
                  </a:lnTo>
                  <a:lnTo>
                    <a:pt x="1680598" y="533302"/>
                  </a:lnTo>
                  <a:lnTo>
                    <a:pt x="1716422" y="479396"/>
                  </a:lnTo>
                  <a:lnTo>
                    <a:pt x="1734977" y="422538"/>
                  </a:lnTo>
                  <a:lnTo>
                    <a:pt x="1737360" y="393191"/>
                  </a:lnTo>
                  <a:lnTo>
                    <a:pt x="1734977" y="363845"/>
                  </a:lnTo>
                  <a:lnTo>
                    <a:pt x="1716422" y="306987"/>
                  </a:lnTo>
                  <a:lnTo>
                    <a:pt x="1680598" y="253081"/>
                  </a:lnTo>
                  <a:lnTo>
                    <a:pt x="1628849" y="202735"/>
                  </a:lnTo>
                  <a:lnTo>
                    <a:pt x="1597422" y="179087"/>
                  </a:lnTo>
                  <a:lnTo>
                    <a:pt x="1562517" y="156558"/>
                  </a:lnTo>
                  <a:lnTo>
                    <a:pt x="1524303" y="135222"/>
                  </a:lnTo>
                  <a:lnTo>
                    <a:pt x="1482947" y="115157"/>
                  </a:lnTo>
                  <a:lnTo>
                    <a:pt x="1438617" y="96437"/>
                  </a:lnTo>
                  <a:lnTo>
                    <a:pt x="1391480" y="79140"/>
                  </a:lnTo>
                  <a:lnTo>
                    <a:pt x="1341706" y="63341"/>
                  </a:lnTo>
                  <a:lnTo>
                    <a:pt x="1289461" y="49116"/>
                  </a:lnTo>
                  <a:lnTo>
                    <a:pt x="1234914" y="36541"/>
                  </a:lnTo>
                  <a:lnTo>
                    <a:pt x="1178232" y="25692"/>
                  </a:lnTo>
                  <a:lnTo>
                    <a:pt x="1119583" y="16646"/>
                  </a:lnTo>
                  <a:lnTo>
                    <a:pt x="1059136" y="9477"/>
                  </a:lnTo>
                  <a:lnTo>
                    <a:pt x="997057" y="4262"/>
                  </a:lnTo>
                  <a:lnTo>
                    <a:pt x="933516" y="1078"/>
                  </a:lnTo>
                  <a:lnTo>
                    <a:pt x="86868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83920" y="2988563"/>
              <a:ext cx="1737360" cy="786765"/>
            </a:xfrm>
            <a:custGeom>
              <a:avLst/>
              <a:gdLst/>
              <a:ahLst/>
              <a:cxnLst/>
              <a:rect l="l" t="t" r="r" b="b"/>
              <a:pathLst>
                <a:path w="1737360" h="786764">
                  <a:moveTo>
                    <a:pt x="0" y="393191"/>
                  </a:moveTo>
                  <a:lnTo>
                    <a:pt x="9417" y="335085"/>
                  </a:lnTo>
                  <a:lnTo>
                    <a:pt x="36775" y="279627"/>
                  </a:lnTo>
                  <a:lnTo>
                    <a:pt x="80729" y="227425"/>
                  </a:lnTo>
                  <a:lnTo>
                    <a:pt x="139937" y="179087"/>
                  </a:lnTo>
                  <a:lnTo>
                    <a:pt x="174842" y="156558"/>
                  </a:lnTo>
                  <a:lnTo>
                    <a:pt x="213056" y="135222"/>
                  </a:lnTo>
                  <a:lnTo>
                    <a:pt x="254412" y="115157"/>
                  </a:lnTo>
                  <a:lnTo>
                    <a:pt x="298742" y="96437"/>
                  </a:lnTo>
                  <a:lnTo>
                    <a:pt x="345879" y="79140"/>
                  </a:lnTo>
                  <a:lnTo>
                    <a:pt x="395653" y="63341"/>
                  </a:lnTo>
                  <a:lnTo>
                    <a:pt x="447898" y="49116"/>
                  </a:lnTo>
                  <a:lnTo>
                    <a:pt x="502445" y="36541"/>
                  </a:lnTo>
                  <a:lnTo>
                    <a:pt x="559127" y="25692"/>
                  </a:lnTo>
                  <a:lnTo>
                    <a:pt x="617776" y="16646"/>
                  </a:lnTo>
                  <a:lnTo>
                    <a:pt x="678223" y="9477"/>
                  </a:lnTo>
                  <a:lnTo>
                    <a:pt x="740302" y="4262"/>
                  </a:lnTo>
                  <a:lnTo>
                    <a:pt x="803843" y="1078"/>
                  </a:lnTo>
                  <a:lnTo>
                    <a:pt x="868680" y="0"/>
                  </a:lnTo>
                  <a:lnTo>
                    <a:pt x="933516" y="1078"/>
                  </a:lnTo>
                  <a:lnTo>
                    <a:pt x="997057" y="4262"/>
                  </a:lnTo>
                  <a:lnTo>
                    <a:pt x="1059136" y="9477"/>
                  </a:lnTo>
                  <a:lnTo>
                    <a:pt x="1119583" y="16646"/>
                  </a:lnTo>
                  <a:lnTo>
                    <a:pt x="1178232" y="25692"/>
                  </a:lnTo>
                  <a:lnTo>
                    <a:pt x="1234914" y="36541"/>
                  </a:lnTo>
                  <a:lnTo>
                    <a:pt x="1289461" y="49116"/>
                  </a:lnTo>
                  <a:lnTo>
                    <a:pt x="1341706" y="63341"/>
                  </a:lnTo>
                  <a:lnTo>
                    <a:pt x="1391480" y="79140"/>
                  </a:lnTo>
                  <a:lnTo>
                    <a:pt x="1438617" y="96437"/>
                  </a:lnTo>
                  <a:lnTo>
                    <a:pt x="1482947" y="115157"/>
                  </a:lnTo>
                  <a:lnTo>
                    <a:pt x="1524303" y="135222"/>
                  </a:lnTo>
                  <a:lnTo>
                    <a:pt x="1562517" y="156558"/>
                  </a:lnTo>
                  <a:lnTo>
                    <a:pt x="1597422" y="179087"/>
                  </a:lnTo>
                  <a:lnTo>
                    <a:pt x="1628849" y="202735"/>
                  </a:lnTo>
                  <a:lnTo>
                    <a:pt x="1680598" y="253081"/>
                  </a:lnTo>
                  <a:lnTo>
                    <a:pt x="1716422" y="306987"/>
                  </a:lnTo>
                  <a:lnTo>
                    <a:pt x="1734977" y="363845"/>
                  </a:lnTo>
                  <a:lnTo>
                    <a:pt x="1737360" y="393191"/>
                  </a:lnTo>
                  <a:lnTo>
                    <a:pt x="1734977" y="422538"/>
                  </a:lnTo>
                  <a:lnTo>
                    <a:pt x="1716422" y="479396"/>
                  </a:lnTo>
                  <a:lnTo>
                    <a:pt x="1680598" y="533302"/>
                  </a:lnTo>
                  <a:lnTo>
                    <a:pt x="1628849" y="583648"/>
                  </a:lnTo>
                  <a:lnTo>
                    <a:pt x="1597422" y="607296"/>
                  </a:lnTo>
                  <a:lnTo>
                    <a:pt x="1562517" y="629825"/>
                  </a:lnTo>
                  <a:lnTo>
                    <a:pt x="1524303" y="651161"/>
                  </a:lnTo>
                  <a:lnTo>
                    <a:pt x="1482947" y="671226"/>
                  </a:lnTo>
                  <a:lnTo>
                    <a:pt x="1438617" y="689946"/>
                  </a:lnTo>
                  <a:lnTo>
                    <a:pt x="1391480" y="707243"/>
                  </a:lnTo>
                  <a:lnTo>
                    <a:pt x="1341706" y="723042"/>
                  </a:lnTo>
                  <a:lnTo>
                    <a:pt x="1289461" y="737267"/>
                  </a:lnTo>
                  <a:lnTo>
                    <a:pt x="1234914" y="749842"/>
                  </a:lnTo>
                  <a:lnTo>
                    <a:pt x="1178232" y="760691"/>
                  </a:lnTo>
                  <a:lnTo>
                    <a:pt x="1119583" y="769737"/>
                  </a:lnTo>
                  <a:lnTo>
                    <a:pt x="1059136" y="776906"/>
                  </a:lnTo>
                  <a:lnTo>
                    <a:pt x="997057" y="782121"/>
                  </a:lnTo>
                  <a:lnTo>
                    <a:pt x="933516" y="785305"/>
                  </a:lnTo>
                  <a:lnTo>
                    <a:pt x="868680" y="786384"/>
                  </a:lnTo>
                  <a:lnTo>
                    <a:pt x="803843" y="785305"/>
                  </a:lnTo>
                  <a:lnTo>
                    <a:pt x="740302" y="782121"/>
                  </a:lnTo>
                  <a:lnTo>
                    <a:pt x="678223" y="776906"/>
                  </a:lnTo>
                  <a:lnTo>
                    <a:pt x="617776" y="769737"/>
                  </a:lnTo>
                  <a:lnTo>
                    <a:pt x="559127" y="760691"/>
                  </a:lnTo>
                  <a:lnTo>
                    <a:pt x="502445" y="749842"/>
                  </a:lnTo>
                  <a:lnTo>
                    <a:pt x="447898" y="737267"/>
                  </a:lnTo>
                  <a:lnTo>
                    <a:pt x="395653" y="723042"/>
                  </a:lnTo>
                  <a:lnTo>
                    <a:pt x="345879" y="707243"/>
                  </a:lnTo>
                  <a:lnTo>
                    <a:pt x="298742" y="689946"/>
                  </a:lnTo>
                  <a:lnTo>
                    <a:pt x="254412" y="671226"/>
                  </a:lnTo>
                  <a:lnTo>
                    <a:pt x="213056" y="651161"/>
                  </a:lnTo>
                  <a:lnTo>
                    <a:pt x="174842" y="629825"/>
                  </a:lnTo>
                  <a:lnTo>
                    <a:pt x="139937" y="607296"/>
                  </a:lnTo>
                  <a:lnTo>
                    <a:pt x="108510" y="583648"/>
                  </a:lnTo>
                  <a:lnTo>
                    <a:pt x="56761" y="533302"/>
                  </a:lnTo>
                  <a:lnTo>
                    <a:pt x="20937" y="479396"/>
                  </a:lnTo>
                  <a:lnTo>
                    <a:pt x="2382" y="422538"/>
                  </a:lnTo>
                  <a:lnTo>
                    <a:pt x="0" y="393191"/>
                  </a:lnTo>
                  <a:close/>
                </a:path>
              </a:pathLst>
            </a:custGeom>
            <a:ln w="12191">
              <a:solidFill>
                <a:srgbClr val="2B4F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32408" y="3233115"/>
            <a:ext cx="104266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&lt;10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min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8316" y="4208526"/>
            <a:ext cx="987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dolor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16273" y="1483207"/>
            <a:ext cx="4821555" cy="119634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spc="-10" dirty="0">
                <a:latin typeface="Calibri"/>
                <a:cs typeface="Calibri"/>
              </a:rPr>
              <a:t>COMPRENDE: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spc="-20" dirty="0">
                <a:latin typeface="Calibri"/>
                <a:cs typeface="Calibri"/>
              </a:rPr>
              <a:t>1.-</a:t>
            </a:r>
            <a:r>
              <a:rPr sz="3200" dirty="0">
                <a:latin typeface="Calibri"/>
                <a:cs typeface="Calibri"/>
              </a:rPr>
              <a:t>Elevación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del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segmento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16273" y="2750947"/>
            <a:ext cx="5656327" cy="366574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tabLst>
                <a:tab pos="2115820" algn="l"/>
                <a:tab pos="3973829" algn="l"/>
                <a:tab pos="4686935" algn="l"/>
                <a:tab pos="5831205" algn="l"/>
                <a:tab pos="7642225" algn="l"/>
              </a:tabLst>
            </a:pPr>
            <a:r>
              <a:rPr sz="3200" spc="-20" dirty="0">
                <a:latin typeface="Calibri"/>
                <a:cs typeface="Calibri"/>
              </a:rPr>
              <a:t>2.-</a:t>
            </a:r>
            <a:r>
              <a:rPr sz="3200" spc="-10" dirty="0">
                <a:latin typeface="Calibri"/>
                <a:cs typeface="Calibri"/>
              </a:rPr>
              <a:t>Bloqueo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completo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de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rama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izquierda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de </a:t>
            </a:r>
            <a:r>
              <a:rPr sz="3200" dirty="0">
                <a:latin typeface="Calibri"/>
                <a:cs typeface="Calibri"/>
              </a:rPr>
              <a:t>reciente</a:t>
            </a:r>
            <a:r>
              <a:rPr sz="3200" spc="-1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aparición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10" dirty="0">
                <a:latin typeface="Calibri"/>
                <a:cs typeface="Calibri"/>
              </a:rPr>
              <a:t>3.-</a:t>
            </a:r>
            <a:r>
              <a:rPr sz="3200" dirty="0">
                <a:latin typeface="Calibri"/>
                <a:cs typeface="Calibri"/>
              </a:rPr>
              <a:t>Ondas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altas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hiperagudas</a:t>
            </a: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spc="-20" dirty="0">
                <a:latin typeface="Calibri"/>
                <a:cs typeface="Calibri"/>
              </a:rPr>
              <a:t>4.-</a:t>
            </a:r>
            <a:r>
              <a:rPr sz="3200" dirty="0">
                <a:latin typeface="Calibri"/>
                <a:cs typeface="Calibri"/>
              </a:rPr>
              <a:t>Corriente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posterior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lesión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aguda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2288" y="1561294"/>
            <a:ext cx="9177467" cy="42771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830311" y="4578096"/>
            <a:ext cx="294640" cy="3689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111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45"/>
              </a:spcBef>
            </a:pPr>
            <a:r>
              <a:rPr sz="1800" spc="-50" dirty="0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Electrocardiograma</a:t>
            </a:r>
            <a:r>
              <a:rPr spc="-95" dirty="0"/>
              <a:t> </a:t>
            </a:r>
            <a:r>
              <a:rPr spc="-10" dirty="0"/>
              <a:t>SCACEST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SCACEST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5240" y="1296416"/>
            <a:ext cx="531304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330" algn="l"/>
                <a:tab pos="2246630" algn="l"/>
                <a:tab pos="3054350" algn="l"/>
                <a:tab pos="3655060" algn="l"/>
                <a:tab pos="4098925" algn="l"/>
                <a:tab pos="4815205" algn="l"/>
              </a:tabLst>
            </a:pPr>
            <a:r>
              <a:rPr sz="2800" spc="-10" dirty="0">
                <a:latin typeface="Calibri"/>
                <a:cs typeface="Calibri"/>
              </a:rPr>
              <a:t>ELEVACIÓN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DEL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ST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&gt;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0,1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mV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800" spc="-10" dirty="0">
                <a:latin typeface="Calibri"/>
                <a:cs typeface="Calibri"/>
              </a:rPr>
              <a:t>consecutivas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V2-</a:t>
            </a:r>
            <a:r>
              <a:rPr sz="2800" spc="-10" dirty="0">
                <a:latin typeface="Calibri"/>
                <a:cs typeface="Calibri"/>
              </a:rPr>
              <a:t>V3&gt;0,2mV)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39280" y="1296416"/>
            <a:ext cx="42322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41985" algn="l"/>
                <a:tab pos="1088390" algn="l"/>
                <a:tab pos="1543050" algn="l"/>
                <a:tab pos="2404110" algn="l"/>
              </a:tabLst>
            </a:pPr>
            <a:r>
              <a:rPr sz="2800" spc="-25" dirty="0">
                <a:latin typeface="Calibri"/>
                <a:cs typeface="Calibri"/>
              </a:rPr>
              <a:t>en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2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ó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más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derivaciones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44752" y="2118360"/>
            <a:ext cx="9372600" cy="4421505"/>
            <a:chOff x="1444752" y="2118360"/>
            <a:chExt cx="9372600" cy="4421505"/>
          </a:xfrm>
        </p:grpSpPr>
        <p:pic>
          <p:nvPicPr>
            <p:cNvPr id="6" name="object 6" descr="SCAEST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8404" y="2726436"/>
              <a:ext cx="6766559" cy="3262884"/>
            </a:xfrm>
            <a:prstGeom prst="rect">
              <a:avLst/>
            </a:prstGeom>
          </p:spPr>
        </p:pic>
        <p:pic>
          <p:nvPicPr>
            <p:cNvPr id="7" name="object 7" descr="Imagen que contiene blanco, negro, ladrillo, luz  Descripción generada automáticamente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6964" y="2871216"/>
              <a:ext cx="6858000" cy="31181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9636" y="2705100"/>
              <a:ext cx="6431279" cy="3834384"/>
            </a:xfrm>
            <a:prstGeom prst="rect">
              <a:avLst/>
            </a:prstGeom>
          </p:spPr>
        </p:pic>
        <p:pic>
          <p:nvPicPr>
            <p:cNvPr id="9" name="object 9" descr="Texto  Descripción generada automáticamente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76628" y="2118360"/>
              <a:ext cx="7252716" cy="4215384"/>
            </a:xfrm>
            <a:prstGeom prst="rect">
              <a:avLst/>
            </a:prstGeom>
          </p:spPr>
        </p:pic>
        <p:pic>
          <p:nvPicPr>
            <p:cNvPr id="10" name="object 10" descr="Escala de tiempo  Descripción generada automáticamente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61516" y="2764536"/>
              <a:ext cx="9070848" cy="3300984"/>
            </a:xfrm>
            <a:prstGeom prst="rect">
              <a:avLst/>
            </a:prstGeom>
          </p:spPr>
        </p:pic>
        <p:pic>
          <p:nvPicPr>
            <p:cNvPr id="11" name="object 11" descr="Escala de tiempo  Descripción generada automáticamente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44752" y="2542032"/>
              <a:ext cx="9372600" cy="352348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33273" y="154380"/>
            <a:ext cx="6083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6FC0"/>
                </a:solidFill>
                <a:latin typeface="Arial"/>
                <a:cs typeface="Arial"/>
              </a:rPr>
              <a:t>6.</a:t>
            </a:r>
            <a:r>
              <a:rPr sz="14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006FC0"/>
                </a:solidFill>
                <a:latin typeface="Arial"/>
                <a:cs typeface="Arial"/>
              </a:rPr>
              <a:t>ECG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magen que contiene texto  Descripción generada con confianza muy alta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7311" y="3468623"/>
            <a:ext cx="5283708" cy="30205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35657" y="552958"/>
            <a:ext cx="1719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chemeClr val="accent1"/>
                </a:solidFill>
                <a:latin typeface="Arial"/>
                <a:cs typeface="Arial"/>
              </a:rPr>
              <a:t>SCACEST</a:t>
            </a:r>
            <a:endParaRPr sz="280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6763" y="1293368"/>
            <a:ext cx="37445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1294130" algn="l"/>
                <a:tab pos="2169160" algn="l"/>
              </a:tabLst>
            </a:pPr>
            <a:r>
              <a:rPr sz="3200" spc="-25" dirty="0">
                <a:latin typeface="Calibri"/>
                <a:cs typeface="Calibri"/>
              </a:rPr>
              <a:t>ECG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con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elevación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11726" y="1293368"/>
            <a:ext cx="730313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98830" algn="l"/>
                <a:tab pos="2711450" algn="l"/>
                <a:tab pos="3369945" algn="l"/>
                <a:tab pos="4060825" algn="l"/>
                <a:tab pos="5029835" algn="l"/>
                <a:tab pos="6626225" algn="l"/>
              </a:tabLst>
            </a:pPr>
            <a:r>
              <a:rPr sz="3200" spc="-25" dirty="0">
                <a:latin typeface="Calibri"/>
                <a:cs typeface="Calibri"/>
              </a:rPr>
              <a:t>del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segmento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ST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en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cara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inferior: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ECG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9663" y="1780743"/>
            <a:ext cx="1095565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2372995" algn="l"/>
                <a:tab pos="3072765" algn="l"/>
                <a:tab pos="5382260" algn="l"/>
                <a:tab pos="7157720" algn="l"/>
                <a:tab pos="8220075" algn="l"/>
                <a:tab pos="8688070" algn="l"/>
                <a:tab pos="9750425" algn="l"/>
              </a:tabLst>
            </a:pPr>
            <a:r>
              <a:rPr sz="3200" spc="-10" dirty="0">
                <a:latin typeface="Calibri"/>
                <a:cs typeface="Calibri"/>
              </a:rPr>
              <a:t>derivaciones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de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precordiales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derechas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(V3R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50" dirty="0">
                <a:latin typeface="Calibri"/>
                <a:cs typeface="Calibri"/>
              </a:rPr>
              <a:t>y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V4R)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posible </a:t>
            </a:r>
            <a:r>
              <a:rPr sz="3200" dirty="0">
                <a:latin typeface="Calibri"/>
                <a:cs typeface="Calibri"/>
              </a:rPr>
              <a:t>alteración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del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segmento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del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ventrículo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derecho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asociado.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7" name="object 7" descr="Imagen que contiene edificio, texto  Descripción generada con confianza alta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0980" y="3214116"/>
            <a:ext cx="6220967" cy="354939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corriente_posterior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9379" y="3058667"/>
            <a:ext cx="6196584" cy="296113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SCACEST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454" y="1165987"/>
            <a:ext cx="11298555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ECG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descenso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del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</a:t>
            </a:r>
            <a:r>
              <a:rPr sz="3200" spc="-10" dirty="0">
                <a:latin typeface="Calibri"/>
                <a:cs typeface="Calibri"/>
              </a:rPr>
              <a:t> persistente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y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profundo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V1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V3,</a:t>
            </a:r>
            <a:r>
              <a:rPr sz="3200" spc="-10" dirty="0">
                <a:latin typeface="Calibri"/>
                <a:cs typeface="Calibri"/>
              </a:rPr>
              <a:t> realizar </a:t>
            </a:r>
            <a:r>
              <a:rPr sz="3200" dirty="0">
                <a:latin typeface="Calibri"/>
                <a:cs typeface="Calibri"/>
              </a:rPr>
              <a:t>ECG</a:t>
            </a:r>
            <a:r>
              <a:rPr sz="3200" spc="3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</a:t>
            </a:r>
            <a:r>
              <a:rPr sz="3200" spc="3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derivaciones</a:t>
            </a:r>
            <a:r>
              <a:rPr sz="3200" spc="3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posteriores:</a:t>
            </a:r>
            <a:r>
              <a:rPr sz="3200" spc="3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puede</a:t>
            </a:r>
            <a:r>
              <a:rPr sz="3200" spc="3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ser</a:t>
            </a:r>
            <a:r>
              <a:rPr sz="3200" spc="3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</a:t>
            </a:r>
            <a:r>
              <a:rPr sz="3200" spc="3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imagen</a:t>
            </a:r>
            <a:r>
              <a:rPr sz="3200" spc="3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especular </a:t>
            </a:r>
            <a:r>
              <a:rPr sz="3200" dirty="0">
                <a:latin typeface="Calibri"/>
                <a:cs typeface="Calibri"/>
              </a:rPr>
              <a:t>de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infarto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posterior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(corriente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posterior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lesión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aguda).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3051" y="2706623"/>
            <a:ext cx="5344667" cy="370027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SCACEST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454" y="1165987"/>
            <a:ext cx="98329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ECG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descenso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del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persistente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y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profundo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V1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V3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magen que contiene texto  Descripción generada automáticament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8404" y="2302764"/>
            <a:ext cx="8246364" cy="435102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SCASEST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454" y="1165987"/>
            <a:ext cx="1130109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Inversión</a:t>
            </a:r>
            <a:r>
              <a:rPr sz="3200" spc="11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simétrica</a:t>
            </a:r>
            <a:r>
              <a:rPr sz="3200" spc="114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de</a:t>
            </a:r>
            <a:r>
              <a:rPr sz="3200" spc="10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la</a:t>
            </a:r>
            <a:r>
              <a:rPr sz="3200" spc="12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onda</a:t>
            </a:r>
            <a:r>
              <a:rPr sz="3200" spc="11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</a:t>
            </a:r>
            <a:r>
              <a:rPr sz="3200" spc="12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en</a:t>
            </a:r>
            <a:r>
              <a:rPr sz="3200" spc="11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dos</a:t>
            </a:r>
            <a:r>
              <a:rPr sz="3200" spc="114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ó</a:t>
            </a:r>
            <a:r>
              <a:rPr sz="3200" spc="11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más</a:t>
            </a:r>
            <a:r>
              <a:rPr sz="3200" spc="120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derivaciones consecutivas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551" y="335279"/>
            <a:ext cx="5954267" cy="637489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" dirty="0">
                <a:latin typeface="Calibri"/>
                <a:cs typeface="Calibri"/>
              </a:rPr>
              <a:t>Índice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89328" y="1313179"/>
            <a:ext cx="475996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960" indent="-30226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AutoNum type="arabicPeriod"/>
              <a:tabLst>
                <a:tab pos="314960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Introducción</a:t>
            </a:r>
            <a:endParaRPr sz="2400">
              <a:latin typeface="Calibri"/>
              <a:cs typeface="Calibri"/>
            </a:endParaRPr>
          </a:p>
          <a:p>
            <a:pPr marL="246379" indent="-243204">
              <a:lnSpc>
                <a:spcPct val="100000"/>
              </a:lnSpc>
              <a:buSzPct val="93750"/>
              <a:buAutoNum type="arabicPeriod"/>
              <a:tabLst>
                <a:tab pos="246379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Definiciones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Clasificación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D9D9D9"/>
                </a:solidFill>
                <a:latin typeface="Calibri"/>
                <a:cs typeface="Calibri"/>
              </a:rPr>
              <a:t>3.</a:t>
            </a:r>
            <a:r>
              <a:rPr sz="2400" b="1" spc="-2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Patogenia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 startAt="5"/>
              <a:tabLst>
                <a:tab pos="314325" algn="l"/>
              </a:tabLst>
            </a:pPr>
            <a:r>
              <a:rPr sz="2400" b="1" dirty="0">
                <a:solidFill>
                  <a:srgbClr val="D9D9D9"/>
                </a:solidFill>
                <a:latin typeface="Calibri"/>
                <a:cs typeface="Calibri"/>
              </a:rPr>
              <a:t>Historia</a:t>
            </a:r>
            <a:r>
              <a:rPr sz="2400" b="1" spc="-8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clínica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 startAt="5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Electrocardiograma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 startAt="5"/>
              <a:tabLst>
                <a:tab pos="314325" algn="l"/>
              </a:tabLst>
            </a:pPr>
            <a:r>
              <a:rPr sz="2400" b="1" spc="-10" dirty="0">
                <a:latin typeface="Calibri"/>
                <a:cs typeface="Calibri"/>
              </a:rPr>
              <a:t>Biomarcadores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Tratamiento: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buAutoNum type="arabicPeriod"/>
              <a:tabLst>
                <a:tab pos="138239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Manejo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buAutoNum type="arabicPeriod"/>
              <a:tabLst>
                <a:tab pos="1382395" algn="l"/>
              </a:tabLst>
            </a:pPr>
            <a:r>
              <a:rPr sz="2400" b="1" spc="-30" dirty="0">
                <a:solidFill>
                  <a:srgbClr val="D9D9D9"/>
                </a:solidFill>
                <a:latin typeface="Calibri"/>
                <a:cs typeface="Calibri"/>
              </a:rPr>
              <a:t>Tratamiento</a:t>
            </a:r>
            <a:r>
              <a:rPr sz="2400" b="1" spc="-5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médico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buAutoNum type="arabicPeriod"/>
              <a:tabLst>
                <a:tab pos="1382395" algn="l"/>
              </a:tabLst>
            </a:pPr>
            <a:r>
              <a:rPr sz="2400" b="1" spc="-30" dirty="0">
                <a:solidFill>
                  <a:srgbClr val="D9D9D9"/>
                </a:solidFill>
                <a:latin typeface="Calibri"/>
                <a:cs typeface="Calibri"/>
              </a:rPr>
              <a:t>Tratamiento</a:t>
            </a:r>
            <a:r>
              <a:rPr sz="2400" b="1" spc="-5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antiagregante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buAutoNum type="arabicPeriod"/>
              <a:tabLst>
                <a:tab pos="1382395" algn="l"/>
              </a:tabLst>
            </a:pPr>
            <a:r>
              <a:rPr sz="2400" b="1" spc="-35" dirty="0">
                <a:solidFill>
                  <a:srgbClr val="D9D9D9"/>
                </a:solidFill>
                <a:latin typeface="Calibri"/>
                <a:cs typeface="Calibri"/>
              </a:rPr>
              <a:t>Terapias</a:t>
            </a:r>
            <a:r>
              <a:rPr sz="2400" b="1" spc="-5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D9D9D9"/>
                </a:solidFill>
                <a:latin typeface="Calibri"/>
                <a:cs typeface="Calibri"/>
              </a:rPr>
              <a:t>de</a:t>
            </a:r>
            <a:r>
              <a:rPr sz="2400" b="1" spc="-4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reperfusión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3917" y="565480"/>
            <a:ext cx="9873615" cy="4207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135880" algn="ctr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006FC0"/>
                </a:solidFill>
                <a:latin typeface="Arial"/>
                <a:cs typeface="Arial"/>
              </a:rPr>
              <a:t>Biomarcadores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85"/>
              </a:spcBef>
            </a:pPr>
            <a:endParaRPr sz="2800">
              <a:latin typeface="Arial"/>
              <a:cs typeface="Arial"/>
            </a:endParaRPr>
          </a:p>
          <a:p>
            <a:pPr marL="12700" marR="7620">
              <a:lnSpc>
                <a:spcPct val="100000"/>
              </a:lnSpc>
            </a:pPr>
            <a:r>
              <a:rPr sz="3600" dirty="0">
                <a:latin typeface="Calibri"/>
                <a:cs typeface="Calibri"/>
              </a:rPr>
              <a:t>La</a:t>
            </a:r>
            <a:r>
              <a:rPr sz="3600" spc="59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elevación</a:t>
            </a:r>
            <a:r>
              <a:rPr sz="3600" spc="59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de</a:t>
            </a:r>
            <a:r>
              <a:rPr sz="3600" spc="5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enzimas</a:t>
            </a:r>
            <a:r>
              <a:rPr sz="3600" spc="60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cardiacas</a:t>
            </a:r>
            <a:r>
              <a:rPr sz="3600" spc="59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indica:</a:t>
            </a:r>
            <a:r>
              <a:rPr sz="3600" spc="59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necrosis: INFARTO.</a:t>
            </a:r>
            <a:endParaRPr sz="3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360"/>
              </a:spcBef>
            </a:pPr>
            <a:r>
              <a:rPr sz="3600" dirty="0">
                <a:latin typeface="Calibri"/>
                <a:cs typeface="Calibri"/>
              </a:rPr>
              <a:t>Es</a:t>
            </a:r>
            <a:r>
              <a:rPr sz="3600" spc="37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posible</a:t>
            </a:r>
            <a:r>
              <a:rPr sz="3600" spc="36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que</a:t>
            </a:r>
            <a:r>
              <a:rPr sz="3600" spc="36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estén</a:t>
            </a:r>
            <a:r>
              <a:rPr sz="3600" spc="3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normales</a:t>
            </a:r>
            <a:r>
              <a:rPr sz="3600" spc="3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en</a:t>
            </a:r>
            <a:r>
              <a:rPr sz="3600" spc="39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cualquier</a:t>
            </a:r>
            <a:r>
              <a:rPr sz="3600" spc="3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tipo</a:t>
            </a:r>
            <a:r>
              <a:rPr sz="3600" spc="37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de </a:t>
            </a:r>
            <a:r>
              <a:rPr sz="3600" dirty="0">
                <a:latin typeface="Calibri"/>
                <a:cs typeface="Calibri"/>
              </a:rPr>
              <a:t>SCA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al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principio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de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su</a:t>
            </a:r>
            <a:r>
              <a:rPr sz="3600" spc="-10" dirty="0">
                <a:latin typeface="Calibri"/>
                <a:cs typeface="Calibri"/>
              </a:rPr>
              <a:t> determinación:</a:t>
            </a:r>
            <a:endParaRPr sz="3600">
              <a:latin typeface="Calibri"/>
              <a:cs typeface="Calibri"/>
            </a:endParaRPr>
          </a:p>
          <a:p>
            <a:pPr marR="5051425" algn="ctr">
              <a:lnSpc>
                <a:spcPct val="100000"/>
              </a:lnSpc>
              <a:spcBef>
                <a:spcPts val="5"/>
              </a:spcBef>
            </a:pPr>
            <a:r>
              <a:rPr sz="3600" dirty="0">
                <a:latin typeface="Calibri"/>
                <a:cs typeface="Calibri"/>
              </a:rPr>
              <a:t>SCAEST=</a:t>
            </a:r>
            <a:r>
              <a:rPr sz="3600" spc="-16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IAMEST.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3273" y="154380"/>
            <a:ext cx="151955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6FC0"/>
                </a:solidFill>
                <a:latin typeface="Arial"/>
                <a:cs typeface="Arial"/>
              </a:rPr>
              <a:t>7.</a:t>
            </a:r>
            <a:r>
              <a:rPr sz="14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Arial"/>
                <a:cs typeface="Arial"/>
              </a:rPr>
              <a:t>Biomarcadores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894" y="565480"/>
            <a:ext cx="11244580" cy="5304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07795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006FC0"/>
                </a:solidFill>
                <a:latin typeface="Arial"/>
                <a:cs typeface="Arial"/>
              </a:rPr>
              <a:t>Biomarcadores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85"/>
              </a:spcBef>
            </a:pP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600" dirty="0">
                <a:latin typeface="Calibri"/>
                <a:cs typeface="Calibri"/>
              </a:rPr>
              <a:t>Cobran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una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mayor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relevancia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en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el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SCASEST:</a:t>
            </a:r>
            <a:endParaRPr sz="3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360"/>
              </a:spcBef>
              <a:tabLst>
                <a:tab pos="705485" algn="l"/>
                <a:tab pos="2338070" algn="l"/>
                <a:tab pos="4683760" algn="l"/>
                <a:tab pos="5349875" algn="l"/>
                <a:tab pos="5933440" algn="l"/>
                <a:tab pos="7207884" algn="l"/>
              </a:tabLst>
            </a:pPr>
            <a:r>
              <a:rPr sz="3600" spc="-25" dirty="0">
                <a:latin typeface="Calibri"/>
                <a:cs typeface="Calibri"/>
              </a:rPr>
              <a:t>Lo</a:t>
            </a:r>
            <a:r>
              <a:rPr sz="3600" dirty="0">
                <a:latin typeface="Calibri"/>
                <a:cs typeface="Calibri"/>
              </a:rPr>
              <a:t>	que</a:t>
            </a:r>
            <a:r>
              <a:rPr sz="3600" spc="195" dirty="0">
                <a:latin typeface="Calibri"/>
                <a:cs typeface="Calibri"/>
              </a:rPr>
              <a:t>  </a:t>
            </a:r>
            <a:r>
              <a:rPr sz="3600" spc="-25" dirty="0">
                <a:latin typeface="Calibri"/>
                <a:cs typeface="Calibri"/>
              </a:rPr>
              <a:t>es</a:t>
            </a:r>
            <a:r>
              <a:rPr sz="3600" dirty="0">
                <a:latin typeface="Calibri"/>
                <a:cs typeface="Calibri"/>
              </a:rPr>
              <a:t>	</a:t>
            </a:r>
            <a:r>
              <a:rPr sz="3600" spc="-10" dirty="0">
                <a:latin typeface="Calibri"/>
                <a:cs typeface="Calibri"/>
              </a:rPr>
              <a:t>importante</a:t>
            </a:r>
            <a:r>
              <a:rPr sz="3600" dirty="0">
                <a:latin typeface="Calibri"/>
                <a:cs typeface="Calibri"/>
              </a:rPr>
              <a:t>	</a:t>
            </a:r>
            <a:r>
              <a:rPr sz="3600" spc="-25" dirty="0">
                <a:latin typeface="Calibri"/>
                <a:cs typeface="Calibri"/>
              </a:rPr>
              <a:t>es</a:t>
            </a:r>
            <a:r>
              <a:rPr sz="3600" dirty="0">
                <a:latin typeface="Calibri"/>
                <a:cs typeface="Calibri"/>
              </a:rPr>
              <a:t>	</a:t>
            </a:r>
            <a:r>
              <a:rPr sz="3600" spc="-25" dirty="0">
                <a:latin typeface="Calibri"/>
                <a:cs typeface="Calibri"/>
              </a:rPr>
              <a:t>la</a:t>
            </a:r>
            <a:r>
              <a:rPr sz="3600" dirty="0">
                <a:latin typeface="Calibri"/>
                <a:cs typeface="Calibri"/>
              </a:rPr>
              <a:t>	</a:t>
            </a:r>
            <a:r>
              <a:rPr sz="3600" spc="-10" dirty="0">
                <a:latin typeface="Calibri"/>
                <a:cs typeface="Calibri"/>
              </a:rPr>
              <a:t>curva</a:t>
            </a:r>
            <a:r>
              <a:rPr sz="3600" dirty="0">
                <a:latin typeface="Calibri"/>
                <a:cs typeface="Calibri"/>
              </a:rPr>
              <a:t>	que</a:t>
            </a:r>
            <a:r>
              <a:rPr sz="3600" spc="195" dirty="0">
                <a:latin typeface="Calibri"/>
                <a:cs typeface="Calibri"/>
              </a:rPr>
              <a:t>  </a:t>
            </a:r>
            <a:r>
              <a:rPr sz="3600" dirty="0">
                <a:latin typeface="Calibri"/>
                <a:cs typeface="Calibri"/>
              </a:rPr>
              <a:t>puede</a:t>
            </a:r>
            <a:r>
              <a:rPr sz="3600" spc="200" dirty="0">
                <a:latin typeface="Calibri"/>
                <a:cs typeface="Calibri"/>
              </a:rPr>
              <a:t>  </a:t>
            </a:r>
            <a:r>
              <a:rPr sz="3600" dirty="0">
                <a:latin typeface="Calibri"/>
                <a:cs typeface="Calibri"/>
              </a:rPr>
              <a:t>hacer</a:t>
            </a:r>
            <a:r>
              <a:rPr sz="3600" spc="200" dirty="0">
                <a:latin typeface="Calibri"/>
                <a:cs typeface="Calibri"/>
              </a:rPr>
              <a:t>  </a:t>
            </a:r>
            <a:r>
              <a:rPr sz="3600" spc="-25" dirty="0">
                <a:latin typeface="Calibri"/>
                <a:cs typeface="Calibri"/>
              </a:rPr>
              <a:t>la </a:t>
            </a:r>
            <a:r>
              <a:rPr sz="3600" dirty="0">
                <a:latin typeface="Calibri"/>
                <a:cs typeface="Calibri"/>
              </a:rPr>
              <a:t>elevación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de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las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enzimas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cardíacas:</a:t>
            </a:r>
            <a:endParaRPr sz="3600">
              <a:latin typeface="Calibri"/>
              <a:cs typeface="Calibri"/>
            </a:endParaRPr>
          </a:p>
          <a:p>
            <a:pPr marL="1053465" indent="-241300">
              <a:lnSpc>
                <a:spcPct val="100000"/>
              </a:lnSpc>
              <a:spcBef>
                <a:spcPts val="5"/>
              </a:spcBef>
              <a:buChar char="-"/>
              <a:tabLst>
                <a:tab pos="1053465" algn="l"/>
              </a:tabLst>
            </a:pPr>
            <a:r>
              <a:rPr sz="3600" dirty="0">
                <a:latin typeface="Calibri"/>
                <a:cs typeface="Calibri"/>
              </a:rPr>
              <a:t>SCASEST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con</a:t>
            </a:r>
            <a:r>
              <a:rPr sz="3600" spc="-9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seriación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troponinas</a:t>
            </a:r>
            <a:r>
              <a:rPr sz="3600" spc="-10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positivas=</a:t>
            </a:r>
            <a:r>
              <a:rPr sz="3600" spc="-10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IAMSEST</a:t>
            </a:r>
            <a:endParaRPr sz="3600">
              <a:latin typeface="Calibri"/>
              <a:cs typeface="Calibri"/>
            </a:endParaRPr>
          </a:p>
          <a:p>
            <a:pPr marL="12700" marR="8255" indent="1147445">
              <a:lnSpc>
                <a:spcPct val="100000"/>
              </a:lnSpc>
              <a:spcBef>
                <a:spcPts val="4320"/>
              </a:spcBef>
              <a:buChar char="-"/>
              <a:tabLst>
                <a:tab pos="1160145" algn="l"/>
              </a:tabLst>
            </a:pPr>
            <a:r>
              <a:rPr sz="3600" dirty="0">
                <a:latin typeface="Calibri"/>
                <a:cs typeface="Calibri"/>
              </a:rPr>
              <a:t>SCASEST</a:t>
            </a:r>
            <a:r>
              <a:rPr sz="3600" spc="6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con</a:t>
            </a:r>
            <a:r>
              <a:rPr sz="3600" spc="6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seriación</a:t>
            </a:r>
            <a:r>
              <a:rPr sz="3600" spc="70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troponinas</a:t>
            </a:r>
            <a:r>
              <a:rPr sz="3600" spc="6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negativas:</a:t>
            </a:r>
            <a:r>
              <a:rPr sz="3600" spc="68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angina inestable.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3273" y="154380"/>
            <a:ext cx="151955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6FC0"/>
                </a:solidFill>
                <a:latin typeface="Arial"/>
                <a:cs typeface="Arial"/>
              </a:rPr>
              <a:t>7.</a:t>
            </a:r>
            <a:r>
              <a:rPr sz="14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Arial"/>
                <a:cs typeface="Arial"/>
              </a:rPr>
              <a:t>Biomarcadores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800" y="239521"/>
            <a:ext cx="8596668" cy="132080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Clasificación</a:t>
            </a:r>
            <a:r>
              <a:rPr spc="-95" dirty="0"/>
              <a:t> </a:t>
            </a:r>
            <a:r>
              <a:rPr dirty="0"/>
              <a:t>del</a:t>
            </a:r>
            <a:r>
              <a:rPr spc="-95" dirty="0"/>
              <a:t> </a:t>
            </a:r>
            <a:r>
              <a:rPr spc="-25" dirty="0"/>
              <a:t>SCA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59148" y="6544157"/>
            <a:ext cx="35280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ESC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GUIDELINES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European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Heart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Journal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2011.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32,</a:t>
            </a:r>
            <a:r>
              <a:rPr sz="1100" spc="-10" dirty="0">
                <a:latin typeface="Calibri"/>
                <a:cs typeface="Calibri"/>
              </a:rPr>
              <a:t> 2999-</a:t>
            </a:r>
            <a:r>
              <a:rPr sz="1100" spc="-20" dirty="0">
                <a:latin typeface="Calibri"/>
                <a:cs typeface="Calibri"/>
              </a:rPr>
              <a:t>3054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2511" y="1048510"/>
            <a:ext cx="7228332" cy="573176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792" y="126"/>
            <a:ext cx="1518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6FC0"/>
                </a:solidFill>
                <a:latin typeface="Arial"/>
                <a:cs typeface="Arial"/>
              </a:rPr>
              <a:t>3.</a:t>
            </a:r>
            <a:r>
              <a:rPr sz="14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6FC0"/>
                </a:solidFill>
                <a:latin typeface="Arial"/>
                <a:cs typeface="Arial"/>
              </a:rPr>
              <a:t>Biomarcadores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3997" y="1065275"/>
            <a:ext cx="5238750" cy="533437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8348" y="2758439"/>
            <a:ext cx="3948684" cy="299466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Biomarcadores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0293678" y="1189988"/>
            <a:ext cx="1779270" cy="1456055"/>
            <a:chOff x="10293678" y="1189988"/>
            <a:chExt cx="1779270" cy="1456055"/>
          </a:xfrm>
        </p:grpSpPr>
        <p:sp>
          <p:nvSpPr>
            <p:cNvPr id="5" name="object 5"/>
            <p:cNvSpPr/>
            <p:nvPr/>
          </p:nvSpPr>
          <p:spPr>
            <a:xfrm>
              <a:off x="10299774" y="1195450"/>
              <a:ext cx="1767205" cy="1444625"/>
            </a:xfrm>
            <a:custGeom>
              <a:avLst/>
              <a:gdLst/>
              <a:ahLst/>
              <a:cxnLst/>
              <a:rect l="l" t="t" r="r" b="b"/>
              <a:pathLst>
                <a:path w="1767204" h="1444625">
                  <a:moveTo>
                    <a:pt x="898323" y="0"/>
                  </a:moveTo>
                  <a:lnTo>
                    <a:pt x="846195" y="506"/>
                  </a:lnTo>
                  <a:lnTo>
                    <a:pt x="794338" y="3236"/>
                  </a:lnTo>
                  <a:lnTo>
                    <a:pt x="742892" y="8160"/>
                  </a:lnTo>
                  <a:lnTo>
                    <a:pt x="691993" y="15252"/>
                  </a:lnTo>
                  <a:lnTo>
                    <a:pt x="641779" y="24482"/>
                  </a:lnTo>
                  <a:lnTo>
                    <a:pt x="592389" y="35823"/>
                  </a:lnTo>
                  <a:lnTo>
                    <a:pt x="543960" y="49247"/>
                  </a:lnTo>
                  <a:lnTo>
                    <a:pt x="496630" y="64726"/>
                  </a:lnTo>
                  <a:lnTo>
                    <a:pt x="450537" y="82232"/>
                  </a:lnTo>
                  <a:lnTo>
                    <a:pt x="405818" y="101737"/>
                  </a:lnTo>
                  <a:lnTo>
                    <a:pt x="362612" y="123213"/>
                  </a:lnTo>
                  <a:lnTo>
                    <a:pt x="321056" y="146633"/>
                  </a:lnTo>
                  <a:lnTo>
                    <a:pt x="281288" y="171967"/>
                  </a:lnTo>
                  <a:lnTo>
                    <a:pt x="243447" y="199189"/>
                  </a:lnTo>
                  <a:lnTo>
                    <a:pt x="207669" y="228270"/>
                  </a:lnTo>
                  <a:lnTo>
                    <a:pt x="174093" y="259183"/>
                  </a:lnTo>
                  <a:lnTo>
                    <a:pt x="142857" y="291898"/>
                  </a:lnTo>
                  <a:lnTo>
                    <a:pt x="114098" y="326389"/>
                  </a:lnTo>
                  <a:lnTo>
                    <a:pt x="87203" y="363802"/>
                  </a:lnTo>
                  <a:lnTo>
                    <a:pt x="64006" y="401894"/>
                  </a:lnTo>
                  <a:lnTo>
                    <a:pt x="44463" y="440553"/>
                  </a:lnTo>
                  <a:lnTo>
                    <a:pt x="28529" y="479662"/>
                  </a:lnTo>
                  <a:lnTo>
                    <a:pt x="16159" y="519105"/>
                  </a:lnTo>
                  <a:lnTo>
                    <a:pt x="7311" y="558769"/>
                  </a:lnTo>
                  <a:lnTo>
                    <a:pt x="1939" y="598537"/>
                  </a:lnTo>
                  <a:lnTo>
                    <a:pt x="0" y="638294"/>
                  </a:lnTo>
                  <a:lnTo>
                    <a:pt x="1448" y="677924"/>
                  </a:lnTo>
                  <a:lnTo>
                    <a:pt x="6241" y="717314"/>
                  </a:lnTo>
                  <a:lnTo>
                    <a:pt x="14334" y="756346"/>
                  </a:lnTo>
                  <a:lnTo>
                    <a:pt x="25682" y="794907"/>
                  </a:lnTo>
                  <a:lnTo>
                    <a:pt x="40242" y="832880"/>
                  </a:lnTo>
                  <a:lnTo>
                    <a:pt x="57970" y="870151"/>
                  </a:lnTo>
                  <a:lnTo>
                    <a:pt x="78820" y="906604"/>
                  </a:lnTo>
                  <a:lnTo>
                    <a:pt x="102750" y="942123"/>
                  </a:lnTo>
                  <a:lnTo>
                    <a:pt x="129714" y="976594"/>
                  </a:lnTo>
                  <a:lnTo>
                    <a:pt x="159669" y="1009902"/>
                  </a:lnTo>
                  <a:lnTo>
                    <a:pt x="192570" y="1041930"/>
                  </a:lnTo>
                  <a:lnTo>
                    <a:pt x="228373" y="1072564"/>
                  </a:lnTo>
                  <a:lnTo>
                    <a:pt x="267035" y="1101689"/>
                  </a:lnTo>
                  <a:lnTo>
                    <a:pt x="308510" y="1129188"/>
                  </a:lnTo>
                  <a:lnTo>
                    <a:pt x="352755" y="1154948"/>
                  </a:lnTo>
                  <a:lnTo>
                    <a:pt x="399726" y="1178851"/>
                  </a:lnTo>
                  <a:lnTo>
                    <a:pt x="449378" y="1200785"/>
                  </a:lnTo>
                  <a:lnTo>
                    <a:pt x="515291" y="1444116"/>
                  </a:lnTo>
                  <a:lnTo>
                    <a:pt x="769037" y="1278254"/>
                  </a:lnTo>
                  <a:lnTo>
                    <a:pt x="822510" y="1282123"/>
                  </a:lnTo>
                  <a:lnTo>
                    <a:pt x="875749" y="1283626"/>
                  </a:lnTo>
                  <a:lnTo>
                    <a:pt x="928630" y="1282806"/>
                  </a:lnTo>
                  <a:lnTo>
                    <a:pt x="981028" y="1279709"/>
                  </a:lnTo>
                  <a:lnTo>
                    <a:pt x="1032820" y="1274381"/>
                  </a:lnTo>
                  <a:lnTo>
                    <a:pt x="1083881" y="1266866"/>
                  </a:lnTo>
                  <a:lnTo>
                    <a:pt x="1134087" y="1257208"/>
                  </a:lnTo>
                  <a:lnTo>
                    <a:pt x="1183315" y="1245454"/>
                  </a:lnTo>
                  <a:lnTo>
                    <a:pt x="1231440" y="1231648"/>
                  </a:lnTo>
                  <a:lnTo>
                    <a:pt x="1278338" y="1215834"/>
                  </a:lnTo>
                  <a:lnTo>
                    <a:pt x="1323886" y="1198058"/>
                  </a:lnTo>
                  <a:lnTo>
                    <a:pt x="1367960" y="1178365"/>
                  </a:lnTo>
                  <a:lnTo>
                    <a:pt x="1410434" y="1156800"/>
                  </a:lnTo>
                  <a:lnTo>
                    <a:pt x="1451186" y="1133408"/>
                  </a:lnTo>
                  <a:lnTo>
                    <a:pt x="1490091" y="1108233"/>
                  </a:lnTo>
                  <a:lnTo>
                    <a:pt x="1527026" y="1081321"/>
                  </a:lnTo>
                  <a:lnTo>
                    <a:pt x="1561865" y="1052717"/>
                  </a:lnTo>
                  <a:lnTo>
                    <a:pt x="1594486" y="1022465"/>
                  </a:lnTo>
                  <a:lnTo>
                    <a:pt x="1624764" y="990610"/>
                  </a:lnTo>
                  <a:lnTo>
                    <a:pt x="1652576" y="957199"/>
                  </a:lnTo>
                  <a:lnTo>
                    <a:pt x="1679470" y="919786"/>
                  </a:lnTo>
                  <a:lnTo>
                    <a:pt x="1702667" y="881694"/>
                  </a:lnTo>
                  <a:lnTo>
                    <a:pt x="1722210" y="843035"/>
                  </a:lnTo>
                  <a:lnTo>
                    <a:pt x="1738145" y="803926"/>
                  </a:lnTo>
                  <a:lnTo>
                    <a:pt x="1750514" y="764483"/>
                  </a:lnTo>
                  <a:lnTo>
                    <a:pt x="1759363" y="724819"/>
                  </a:lnTo>
                  <a:lnTo>
                    <a:pt x="1764734" y="685051"/>
                  </a:lnTo>
                  <a:lnTo>
                    <a:pt x="1766674" y="645294"/>
                  </a:lnTo>
                  <a:lnTo>
                    <a:pt x="1765225" y="605664"/>
                  </a:lnTo>
                  <a:lnTo>
                    <a:pt x="1760432" y="566274"/>
                  </a:lnTo>
                  <a:lnTo>
                    <a:pt x="1752339" y="527242"/>
                  </a:lnTo>
                  <a:lnTo>
                    <a:pt x="1740991" y="488681"/>
                  </a:lnTo>
                  <a:lnTo>
                    <a:pt x="1726431" y="450708"/>
                  </a:lnTo>
                  <a:lnTo>
                    <a:pt x="1708704" y="413437"/>
                  </a:lnTo>
                  <a:lnTo>
                    <a:pt x="1687853" y="376984"/>
                  </a:lnTo>
                  <a:lnTo>
                    <a:pt x="1663924" y="341465"/>
                  </a:lnTo>
                  <a:lnTo>
                    <a:pt x="1636960" y="306994"/>
                  </a:lnTo>
                  <a:lnTo>
                    <a:pt x="1607005" y="273686"/>
                  </a:lnTo>
                  <a:lnTo>
                    <a:pt x="1574104" y="241658"/>
                  </a:lnTo>
                  <a:lnTo>
                    <a:pt x="1538300" y="211024"/>
                  </a:lnTo>
                  <a:lnTo>
                    <a:pt x="1499639" y="181899"/>
                  </a:lnTo>
                  <a:lnTo>
                    <a:pt x="1458163" y="154400"/>
                  </a:lnTo>
                  <a:lnTo>
                    <a:pt x="1413918" y="128640"/>
                  </a:lnTo>
                  <a:lnTo>
                    <a:pt x="1366948" y="104737"/>
                  </a:lnTo>
                  <a:lnTo>
                    <a:pt x="1317296" y="82803"/>
                  </a:lnTo>
                  <a:lnTo>
                    <a:pt x="1272661" y="65702"/>
                  </a:lnTo>
                  <a:lnTo>
                    <a:pt x="1227303" y="50623"/>
                  </a:lnTo>
                  <a:lnTo>
                    <a:pt x="1181326" y="37544"/>
                  </a:lnTo>
                  <a:lnTo>
                    <a:pt x="1134835" y="26448"/>
                  </a:lnTo>
                  <a:lnTo>
                    <a:pt x="1087934" y="17314"/>
                  </a:lnTo>
                  <a:lnTo>
                    <a:pt x="1040727" y="10122"/>
                  </a:lnTo>
                  <a:lnTo>
                    <a:pt x="993320" y="4852"/>
                  </a:lnTo>
                  <a:lnTo>
                    <a:pt x="945817" y="1484"/>
                  </a:lnTo>
                  <a:lnTo>
                    <a:pt x="898323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299774" y="1196084"/>
              <a:ext cx="1767205" cy="1443990"/>
            </a:xfrm>
            <a:custGeom>
              <a:avLst/>
              <a:gdLst/>
              <a:ahLst/>
              <a:cxnLst/>
              <a:rect l="l" t="t" r="r" b="b"/>
              <a:pathLst>
                <a:path w="1767204" h="1443989">
                  <a:moveTo>
                    <a:pt x="515291" y="1443483"/>
                  </a:moveTo>
                  <a:lnTo>
                    <a:pt x="449378" y="1200278"/>
                  </a:lnTo>
                  <a:lnTo>
                    <a:pt x="399726" y="1178361"/>
                  </a:lnTo>
                  <a:lnTo>
                    <a:pt x="352755" y="1154474"/>
                  </a:lnTo>
                  <a:lnTo>
                    <a:pt x="308510" y="1128732"/>
                  </a:lnTo>
                  <a:lnTo>
                    <a:pt x="267035" y="1101251"/>
                  </a:lnTo>
                  <a:lnTo>
                    <a:pt x="228373" y="1072146"/>
                  </a:lnTo>
                  <a:lnTo>
                    <a:pt x="192570" y="1041532"/>
                  </a:lnTo>
                  <a:lnTo>
                    <a:pt x="159669" y="1009523"/>
                  </a:lnTo>
                  <a:lnTo>
                    <a:pt x="129714" y="976236"/>
                  </a:lnTo>
                  <a:lnTo>
                    <a:pt x="102750" y="941785"/>
                  </a:lnTo>
                  <a:lnTo>
                    <a:pt x="78820" y="906286"/>
                  </a:lnTo>
                  <a:lnTo>
                    <a:pt x="57970" y="869853"/>
                  </a:lnTo>
                  <a:lnTo>
                    <a:pt x="40242" y="832602"/>
                  </a:lnTo>
                  <a:lnTo>
                    <a:pt x="25682" y="794648"/>
                  </a:lnTo>
                  <a:lnTo>
                    <a:pt x="14334" y="756106"/>
                  </a:lnTo>
                  <a:lnTo>
                    <a:pt x="6241" y="717091"/>
                  </a:lnTo>
                  <a:lnTo>
                    <a:pt x="1448" y="677718"/>
                  </a:lnTo>
                  <a:lnTo>
                    <a:pt x="0" y="638102"/>
                  </a:lnTo>
                  <a:lnTo>
                    <a:pt x="1939" y="598360"/>
                  </a:lnTo>
                  <a:lnTo>
                    <a:pt x="7311" y="558605"/>
                  </a:lnTo>
                  <a:lnTo>
                    <a:pt x="16159" y="518952"/>
                  </a:lnTo>
                  <a:lnTo>
                    <a:pt x="28529" y="479518"/>
                  </a:lnTo>
                  <a:lnTo>
                    <a:pt x="44463" y="440417"/>
                  </a:lnTo>
                  <a:lnTo>
                    <a:pt x="64006" y="401764"/>
                  </a:lnTo>
                  <a:lnTo>
                    <a:pt x="87203" y="363675"/>
                  </a:lnTo>
                  <a:lnTo>
                    <a:pt x="114098" y="326264"/>
                  </a:lnTo>
                  <a:lnTo>
                    <a:pt x="140913" y="293979"/>
                  </a:lnTo>
                  <a:lnTo>
                    <a:pt x="169902" y="263245"/>
                  </a:lnTo>
                  <a:lnTo>
                    <a:pt x="200952" y="234083"/>
                  </a:lnTo>
                  <a:lnTo>
                    <a:pt x="233952" y="206516"/>
                  </a:lnTo>
                  <a:lnTo>
                    <a:pt x="268787" y="180567"/>
                  </a:lnTo>
                  <a:lnTo>
                    <a:pt x="305345" y="156260"/>
                  </a:lnTo>
                  <a:lnTo>
                    <a:pt x="343513" y="133617"/>
                  </a:lnTo>
                  <a:lnTo>
                    <a:pt x="383179" y="112660"/>
                  </a:lnTo>
                  <a:lnTo>
                    <a:pt x="424230" y="93413"/>
                  </a:lnTo>
                  <a:lnTo>
                    <a:pt x="466553" y="75899"/>
                  </a:lnTo>
                  <a:lnTo>
                    <a:pt x="510034" y="60140"/>
                  </a:lnTo>
                  <a:lnTo>
                    <a:pt x="554563" y="46159"/>
                  </a:lnTo>
                  <a:lnTo>
                    <a:pt x="600024" y="33979"/>
                  </a:lnTo>
                  <a:lnTo>
                    <a:pt x="646307" y="23623"/>
                  </a:lnTo>
                  <a:lnTo>
                    <a:pt x="693298" y="15113"/>
                  </a:lnTo>
                  <a:lnTo>
                    <a:pt x="740884" y="8474"/>
                  </a:lnTo>
                  <a:lnTo>
                    <a:pt x="788952" y="3726"/>
                  </a:lnTo>
                  <a:lnTo>
                    <a:pt x="837391" y="894"/>
                  </a:lnTo>
                  <a:lnTo>
                    <a:pt x="886086" y="0"/>
                  </a:lnTo>
                  <a:lnTo>
                    <a:pt x="934925" y="1066"/>
                  </a:lnTo>
                  <a:lnTo>
                    <a:pt x="983796" y="4116"/>
                  </a:lnTo>
                  <a:lnTo>
                    <a:pt x="1032585" y="9173"/>
                  </a:lnTo>
                  <a:lnTo>
                    <a:pt x="1081180" y="16260"/>
                  </a:lnTo>
                  <a:lnTo>
                    <a:pt x="1129468" y="25398"/>
                  </a:lnTo>
                  <a:lnTo>
                    <a:pt x="1177337" y="36612"/>
                  </a:lnTo>
                  <a:lnTo>
                    <a:pt x="1224673" y="49924"/>
                  </a:lnTo>
                  <a:lnTo>
                    <a:pt x="1271363" y="65356"/>
                  </a:lnTo>
                  <a:lnTo>
                    <a:pt x="1317296" y="82932"/>
                  </a:lnTo>
                  <a:lnTo>
                    <a:pt x="1366948" y="104849"/>
                  </a:lnTo>
                  <a:lnTo>
                    <a:pt x="1413918" y="128736"/>
                  </a:lnTo>
                  <a:lnTo>
                    <a:pt x="1458163" y="154477"/>
                  </a:lnTo>
                  <a:lnTo>
                    <a:pt x="1499639" y="181958"/>
                  </a:lnTo>
                  <a:lnTo>
                    <a:pt x="1538300" y="211063"/>
                  </a:lnTo>
                  <a:lnTo>
                    <a:pt x="1574104" y="241676"/>
                  </a:lnTo>
                  <a:lnTo>
                    <a:pt x="1607005" y="273684"/>
                  </a:lnTo>
                  <a:lnTo>
                    <a:pt x="1636960" y="306969"/>
                  </a:lnTo>
                  <a:lnTo>
                    <a:pt x="1663924" y="341418"/>
                  </a:lnTo>
                  <a:lnTo>
                    <a:pt x="1687853" y="376916"/>
                  </a:lnTo>
                  <a:lnTo>
                    <a:pt x="1708704" y="413346"/>
                  </a:lnTo>
                  <a:lnTo>
                    <a:pt x="1726431" y="450594"/>
                  </a:lnTo>
                  <a:lnTo>
                    <a:pt x="1740991" y="488544"/>
                  </a:lnTo>
                  <a:lnTo>
                    <a:pt x="1752339" y="527082"/>
                  </a:lnTo>
                  <a:lnTo>
                    <a:pt x="1760432" y="566092"/>
                  </a:lnTo>
                  <a:lnTo>
                    <a:pt x="1765225" y="605459"/>
                  </a:lnTo>
                  <a:lnTo>
                    <a:pt x="1766674" y="645067"/>
                  </a:lnTo>
                  <a:lnTo>
                    <a:pt x="1764734" y="684803"/>
                  </a:lnTo>
                  <a:lnTo>
                    <a:pt x="1759363" y="724549"/>
                  </a:lnTo>
                  <a:lnTo>
                    <a:pt x="1750514" y="764192"/>
                  </a:lnTo>
                  <a:lnTo>
                    <a:pt x="1738145" y="803616"/>
                  </a:lnTo>
                  <a:lnTo>
                    <a:pt x="1722210" y="842706"/>
                  </a:lnTo>
                  <a:lnTo>
                    <a:pt x="1702667" y="881347"/>
                  </a:lnTo>
                  <a:lnTo>
                    <a:pt x="1679470" y="919423"/>
                  </a:lnTo>
                  <a:lnTo>
                    <a:pt x="1652576" y="956819"/>
                  </a:lnTo>
                  <a:lnTo>
                    <a:pt x="1624764" y="990213"/>
                  </a:lnTo>
                  <a:lnTo>
                    <a:pt x="1594486" y="1022051"/>
                  </a:lnTo>
                  <a:lnTo>
                    <a:pt x="1561865" y="1052288"/>
                  </a:lnTo>
                  <a:lnTo>
                    <a:pt x="1527026" y="1080880"/>
                  </a:lnTo>
                  <a:lnTo>
                    <a:pt x="1490091" y="1107780"/>
                  </a:lnTo>
                  <a:lnTo>
                    <a:pt x="1451186" y="1132945"/>
                  </a:lnTo>
                  <a:lnTo>
                    <a:pt x="1410434" y="1156329"/>
                  </a:lnTo>
                  <a:lnTo>
                    <a:pt x="1367960" y="1177886"/>
                  </a:lnTo>
                  <a:lnTo>
                    <a:pt x="1323886" y="1197573"/>
                  </a:lnTo>
                  <a:lnTo>
                    <a:pt x="1278338" y="1215343"/>
                  </a:lnTo>
                  <a:lnTo>
                    <a:pt x="1231440" y="1231152"/>
                  </a:lnTo>
                  <a:lnTo>
                    <a:pt x="1183315" y="1244955"/>
                  </a:lnTo>
                  <a:lnTo>
                    <a:pt x="1134087" y="1256707"/>
                  </a:lnTo>
                  <a:lnTo>
                    <a:pt x="1083881" y="1266362"/>
                  </a:lnTo>
                  <a:lnTo>
                    <a:pt x="1032820" y="1273876"/>
                  </a:lnTo>
                  <a:lnTo>
                    <a:pt x="981028" y="1279204"/>
                  </a:lnTo>
                  <a:lnTo>
                    <a:pt x="928630" y="1282300"/>
                  </a:lnTo>
                  <a:lnTo>
                    <a:pt x="875749" y="1283119"/>
                  </a:lnTo>
                  <a:lnTo>
                    <a:pt x="822510" y="1281617"/>
                  </a:lnTo>
                  <a:lnTo>
                    <a:pt x="769037" y="1277748"/>
                  </a:lnTo>
                  <a:lnTo>
                    <a:pt x="515291" y="1443483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624184" y="1312926"/>
            <a:ext cx="1417320" cy="94297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 marR="5080" indent="-85725" algn="ctr">
              <a:lnSpc>
                <a:spcPct val="78100"/>
              </a:lnSpc>
              <a:spcBef>
                <a:spcPts val="570"/>
              </a:spcBef>
            </a:pPr>
            <a:r>
              <a:rPr sz="1800" dirty="0">
                <a:latin typeface="Calibri"/>
                <a:cs typeface="Calibri"/>
              </a:rPr>
              <a:t>¡¡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debe </a:t>
            </a:r>
            <a:r>
              <a:rPr sz="1800" dirty="0">
                <a:latin typeface="Calibri"/>
                <a:cs typeface="Calibri"/>
              </a:rPr>
              <a:t>retrasar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el </a:t>
            </a:r>
            <a:r>
              <a:rPr sz="1800" spc="-10" dirty="0">
                <a:latin typeface="Calibri"/>
                <a:cs typeface="Calibri"/>
              </a:rPr>
              <a:t>tratamiento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reperfusión!!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5797" y="1163574"/>
            <a:ext cx="6937375" cy="163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5080" indent="-340360" algn="just">
              <a:lnSpc>
                <a:spcPct val="11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La</a:t>
            </a:r>
            <a:r>
              <a:rPr sz="2400" spc="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Troponina</a:t>
            </a:r>
            <a:r>
              <a:rPr sz="2400" spc="5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cardíaca</a:t>
            </a:r>
            <a:r>
              <a:rPr sz="2400" spc="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(T</a:t>
            </a:r>
            <a:r>
              <a:rPr sz="2400" spc="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hs</a:t>
            </a:r>
            <a:r>
              <a:rPr sz="2400" spc="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5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cTn)</a:t>
            </a:r>
            <a:r>
              <a:rPr sz="2400" spc="5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45" dirty="0">
                <a:latin typeface="Calibri"/>
                <a:cs typeface="Calibri"/>
              </a:rPr>
              <a:t>  </a:t>
            </a:r>
            <a:r>
              <a:rPr sz="2400" spc="-20" dirty="0">
                <a:latin typeface="Calibri"/>
                <a:cs typeface="Calibri"/>
              </a:rPr>
              <a:t>alta 	</a:t>
            </a:r>
            <a:r>
              <a:rPr sz="2400" dirty="0">
                <a:latin typeface="Calibri"/>
                <a:cs typeface="Calibri"/>
              </a:rPr>
              <a:t>sensibilidad,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actualmente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marcador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más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útil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y 	</a:t>
            </a:r>
            <a:r>
              <a:rPr sz="2400" dirty="0">
                <a:latin typeface="Calibri"/>
                <a:cs typeface="Calibri"/>
              </a:rPr>
              <a:t>eficiente</a:t>
            </a:r>
            <a:r>
              <a:rPr sz="2400" spc="1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1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estos</a:t>
            </a:r>
            <a:r>
              <a:rPr sz="2400" spc="11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casos</a:t>
            </a:r>
            <a:r>
              <a:rPr sz="2400" spc="114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ya</a:t>
            </a:r>
            <a:r>
              <a:rPr sz="2400" spc="1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1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posee</a:t>
            </a:r>
            <a:r>
              <a:rPr sz="2400" spc="1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un</a:t>
            </a:r>
            <a:r>
              <a:rPr sz="2400" spc="120" dirty="0">
                <a:latin typeface="Calibri"/>
                <a:cs typeface="Calibri"/>
              </a:rPr>
              <a:t>  </a:t>
            </a:r>
            <a:r>
              <a:rPr sz="2400" b="1" spc="-10" dirty="0">
                <a:solidFill>
                  <a:srgbClr val="4F81BC"/>
                </a:solidFill>
                <a:latin typeface="Calibri"/>
                <a:cs typeface="Calibri"/>
              </a:rPr>
              <a:t>valor 	predictivo</a:t>
            </a:r>
            <a:r>
              <a:rPr sz="2400" b="1" spc="-55" dirty="0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4F81BC"/>
                </a:solidFill>
                <a:latin typeface="Calibri"/>
                <a:cs typeface="Calibri"/>
              </a:rPr>
              <a:t>negativo</a:t>
            </a:r>
            <a:r>
              <a:rPr sz="2400" b="1" spc="-40" dirty="0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C"/>
                </a:solidFill>
                <a:latin typeface="Calibri"/>
                <a:cs typeface="Calibri"/>
              </a:rPr>
              <a:t>en</a:t>
            </a:r>
            <a:r>
              <a:rPr sz="2400" b="1" spc="-55" dirty="0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C"/>
                </a:solidFill>
                <a:latin typeface="Calibri"/>
                <a:cs typeface="Calibri"/>
              </a:rPr>
              <a:t>torno</a:t>
            </a:r>
            <a:r>
              <a:rPr sz="2400" b="1" spc="-60" dirty="0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C"/>
                </a:solidFill>
                <a:latin typeface="Calibri"/>
                <a:cs typeface="Calibri"/>
              </a:rPr>
              <a:t>al</a:t>
            </a:r>
            <a:r>
              <a:rPr sz="2400" b="1" spc="-50" dirty="0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4F81BC"/>
                </a:solidFill>
                <a:latin typeface="Calibri"/>
                <a:cs typeface="Calibri"/>
              </a:rPr>
              <a:t>99%.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5797" y="3322066"/>
            <a:ext cx="6937375" cy="2988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4380" marR="6350" indent="-285115" algn="just">
              <a:lnSpc>
                <a:spcPct val="110000"/>
              </a:lnSpc>
              <a:spcBef>
                <a:spcPts val="100"/>
              </a:spcBef>
              <a:buFont typeface="Arial MT"/>
              <a:buChar char="–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Reduce</a:t>
            </a:r>
            <a:r>
              <a:rPr sz="2400" spc="415" dirty="0">
                <a:latin typeface="Calibri"/>
                <a:cs typeface="Calibri"/>
              </a:rPr>
              <a:t>   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415" dirty="0">
                <a:latin typeface="Calibri"/>
                <a:cs typeface="Calibri"/>
              </a:rPr>
              <a:t>    </a:t>
            </a:r>
            <a:r>
              <a:rPr sz="2400" dirty="0">
                <a:latin typeface="Calibri"/>
                <a:cs typeface="Calibri"/>
              </a:rPr>
              <a:t>solicitud</a:t>
            </a:r>
            <a:r>
              <a:rPr sz="2400" spc="415" dirty="0">
                <a:latin typeface="Calibri"/>
                <a:cs typeface="Calibri"/>
              </a:rPr>
              <a:t>   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415" dirty="0">
                <a:latin typeface="Calibri"/>
                <a:cs typeface="Calibri"/>
              </a:rPr>
              <a:t>    </a:t>
            </a:r>
            <a:r>
              <a:rPr sz="2400" spc="-10" dirty="0">
                <a:latin typeface="Calibri"/>
                <a:cs typeface="Calibri"/>
              </a:rPr>
              <a:t>exploraciones 	complementarias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adicionales.</a:t>
            </a:r>
            <a:endParaRPr sz="2400">
              <a:latin typeface="Calibri"/>
              <a:cs typeface="Calibri"/>
            </a:endParaRPr>
          </a:p>
          <a:p>
            <a:pPr marL="755015" indent="-285115" algn="just">
              <a:lnSpc>
                <a:spcPct val="100000"/>
              </a:lnSpc>
              <a:spcBef>
                <a:spcPts val="860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Reduce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tiempos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estancia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hospitalaria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costes.</a:t>
            </a:r>
            <a:endParaRPr sz="2400">
              <a:latin typeface="Calibri"/>
              <a:cs typeface="Calibri"/>
            </a:endParaRPr>
          </a:p>
          <a:p>
            <a:pPr marL="353060" marR="5080" indent="-340360" algn="just">
              <a:lnSpc>
                <a:spcPct val="1100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Además</a:t>
            </a:r>
            <a:r>
              <a:rPr sz="2400" spc="5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5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una</a:t>
            </a:r>
            <a:r>
              <a:rPr sz="2400" spc="54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C"/>
                </a:solidFill>
                <a:latin typeface="Calibri"/>
                <a:cs typeface="Calibri"/>
              </a:rPr>
              <a:t>utilidad</a:t>
            </a:r>
            <a:r>
              <a:rPr sz="2400" b="1" spc="550" dirty="0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F81BC"/>
                </a:solidFill>
                <a:latin typeface="Calibri"/>
                <a:cs typeface="Calibri"/>
              </a:rPr>
              <a:t>diagnóstica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5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5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troponina 	</a:t>
            </a:r>
            <a:r>
              <a:rPr sz="2400" dirty="0">
                <a:latin typeface="Calibri"/>
                <a:cs typeface="Calibri"/>
              </a:rPr>
              <a:t>añade</a:t>
            </a:r>
            <a:r>
              <a:rPr sz="2400" spc="39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información</a:t>
            </a:r>
            <a:r>
              <a:rPr sz="2400" spc="395" dirty="0"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4F81BC"/>
                </a:solidFill>
                <a:latin typeface="Calibri"/>
                <a:cs typeface="Calibri"/>
              </a:rPr>
              <a:t>pronóstica</a:t>
            </a:r>
            <a:r>
              <a:rPr sz="2400" b="1" spc="390" dirty="0">
                <a:solidFill>
                  <a:srgbClr val="4F81BC"/>
                </a:solidFill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39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términos</a:t>
            </a:r>
            <a:r>
              <a:rPr sz="2400" spc="385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de 	</a:t>
            </a:r>
            <a:r>
              <a:rPr sz="2400" dirty="0">
                <a:latin typeface="Calibri"/>
                <a:cs typeface="Calibri"/>
              </a:rPr>
              <a:t>mortalidad</a:t>
            </a:r>
            <a:r>
              <a:rPr sz="2400" spc="6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corto</a:t>
            </a:r>
            <a:r>
              <a:rPr sz="2400" spc="6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largo</a:t>
            </a:r>
            <a:r>
              <a:rPr sz="2400" spc="6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plazo,</a:t>
            </a:r>
            <a:r>
              <a:rPr sz="2400" spc="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los</a:t>
            </a:r>
            <a:r>
              <a:rPr sz="2400" spc="65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hallazgos 	</a:t>
            </a:r>
            <a:r>
              <a:rPr sz="2400" dirty="0">
                <a:latin typeface="Calibri"/>
                <a:cs typeface="Calibri"/>
              </a:rPr>
              <a:t>clínicos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electrocardiográficos.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8348" y="2758439"/>
            <a:ext cx="3948684" cy="299466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Biomarcadores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0293678" y="1189988"/>
            <a:ext cx="1779270" cy="1456055"/>
            <a:chOff x="10293678" y="1189988"/>
            <a:chExt cx="1779270" cy="1456055"/>
          </a:xfrm>
        </p:grpSpPr>
        <p:sp>
          <p:nvSpPr>
            <p:cNvPr id="5" name="object 5"/>
            <p:cNvSpPr/>
            <p:nvPr/>
          </p:nvSpPr>
          <p:spPr>
            <a:xfrm>
              <a:off x="10299774" y="1195450"/>
              <a:ext cx="1767205" cy="1444625"/>
            </a:xfrm>
            <a:custGeom>
              <a:avLst/>
              <a:gdLst/>
              <a:ahLst/>
              <a:cxnLst/>
              <a:rect l="l" t="t" r="r" b="b"/>
              <a:pathLst>
                <a:path w="1767204" h="1444625">
                  <a:moveTo>
                    <a:pt x="898323" y="0"/>
                  </a:moveTo>
                  <a:lnTo>
                    <a:pt x="846195" y="506"/>
                  </a:lnTo>
                  <a:lnTo>
                    <a:pt x="794338" y="3236"/>
                  </a:lnTo>
                  <a:lnTo>
                    <a:pt x="742892" y="8160"/>
                  </a:lnTo>
                  <a:lnTo>
                    <a:pt x="691993" y="15252"/>
                  </a:lnTo>
                  <a:lnTo>
                    <a:pt x="641779" y="24482"/>
                  </a:lnTo>
                  <a:lnTo>
                    <a:pt x="592389" y="35823"/>
                  </a:lnTo>
                  <a:lnTo>
                    <a:pt x="543960" y="49247"/>
                  </a:lnTo>
                  <a:lnTo>
                    <a:pt x="496630" y="64726"/>
                  </a:lnTo>
                  <a:lnTo>
                    <a:pt x="450537" y="82232"/>
                  </a:lnTo>
                  <a:lnTo>
                    <a:pt x="405818" y="101737"/>
                  </a:lnTo>
                  <a:lnTo>
                    <a:pt x="362612" y="123213"/>
                  </a:lnTo>
                  <a:lnTo>
                    <a:pt x="321056" y="146633"/>
                  </a:lnTo>
                  <a:lnTo>
                    <a:pt x="281288" y="171967"/>
                  </a:lnTo>
                  <a:lnTo>
                    <a:pt x="243447" y="199189"/>
                  </a:lnTo>
                  <a:lnTo>
                    <a:pt x="207669" y="228270"/>
                  </a:lnTo>
                  <a:lnTo>
                    <a:pt x="174093" y="259183"/>
                  </a:lnTo>
                  <a:lnTo>
                    <a:pt x="142857" y="291898"/>
                  </a:lnTo>
                  <a:lnTo>
                    <a:pt x="114098" y="326389"/>
                  </a:lnTo>
                  <a:lnTo>
                    <a:pt x="87203" y="363802"/>
                  </a:lnTo>
                  <a:lnTo>
                    <a:pt x="64006" y="401894"/>
                  </a:lnTo>
                  <a:lnTo>
                    <a:pt x="44463" y="440553"/>
                  </a:lnTo>
                  <a:lnTo>
                    <a:pt x="28529" y="479662"/>
                  </a:lnTo>
                  <a:lnTo>
                    <a:pt x="16159" y="519105"/>
                  </a:lnTo>
                  <a:lnTo>
                    <a:pt x="7311" y="558769"/>
                  </a:lnTo>
                  <a:lnTo>
                    <a:pt x="1939" y="598537"/>
                  </a:lnTo>
                  <a:lnTo>
                    <a:pt x="0" y="638294"/>
                  </a:lnTo>
                  <a:lnTo>
                    <a:pt x="1448" y="677924"/>
                  </a:lnTo>
                  <a:lnTo>
                    <a:pt x="6241" y="717314"/>
                  </a:lnTo>
                  <a:lnTo>
                    <a:pt x="14334" y="756346"/>
                  </a:lnTo>
                  <a:lnTo>
                    <a:pt x="25682" y="794907"/>
                  </a:lnTo>
                  <a:lnTo>
                    <a:pt x="40242" y="832880"/>
                  </a:lnTo>
                  <a:lnTo>
                    <a:pt x="57970" y="870151"/>
                  </a:lnTo>
                  <a:lnTo>
                    <a:pt x="78820" y="906604"/>
                  </a:lnTo>
                  <a:lnTo>
                    <a:pt x="102750" y="942123"/>
                  </a:lnTo>
                  <a:lnTo>
                    <a:pt x="129714" y="976594"/>
                  </a:lnTo>
                  <a:lnTo>
                    <a:pt x="159669" y="1009902"/>
                  </a:lnTo>
                  <a:lnTo>
                    <a:pt x="192570" y="1041930"/>
                  </a:lnTo>
                  <a:lnTo>
                    <a:pt x="228373" y="1072564"/>
                  </a:lnTo>
                  <a:lnTo>
                    <a:pt x="267035" y="1101689"/>
                  </a:lnTo>
                  <a:lnTo>
                    <a:pt x="308510" y="1129188"/>
                  </a:lnTo>
                  <a:lnTo>
                    <a:pt x="352755" y="1154948"/>
                  </a:lnTo>
                  <a:lnTo>
                    <a:pt x="399726" y="1178851"/>
                  </a:lnTo>
                  <a:lnTo>
                    <a:pt x="449378" y="1200785"/>
                  </a:lnTo>
                  <a:lnTo>
                    <a:pt x="515291" y="1444116"/>
                  </a:lnTo>
                  <a:lnTo>
                    <a:pt x="769037" y="1278254"/>
                  </a:lnTo>
                  <a:lnTo>
                    <a:pt x="822510" y="1282123"/>
                  </a:lnTo>
                  <a:lnTo>
                    <a:pt x="875749" y="1283626"/>
                  </a:lnTo>
                  <a:lnTo>
                    <a:pt x="928630" y="1282806"/>
                  </a:lnTo>
                  <a:lnTo>
                    <a:pt x="981028" y="1279709"/>
                  </a:lnTo>
                  <a:lnTo>
                    <a:pt x="1032820" y="1274381"/>
                  </a:lnTo>
                  <a:lnTo>
                    <a:pt x="1083881" y="1266866"/>
                  </a:lnTo>
                  <a:lnTo>
                    <a:pt x="1134087" y="1257208"/>
                  </a:lnTo>
                  <a:lnTo>
                    <a:pt x="1183315" y="1245454"/>
                  </a:lnTo>
                  <a:lnTo>
                    <a:pt x="1231440" y="1231648"/>
                  </a:lnTo>
                  <a:lnTo>
                    <a:pt x="1278338" y="1215834"/>
                  </a:lnTo>
                  <a:lnTo>
                    <a:pt x="1323886" y="1198058"/>
                  </a:lnTo>
                  <a:lnTo>
                    <a:pt x="1367960" y="1178365"/>
                  </a:lnTo>
                  <a:lnTo>
                    <a:pt x="1410434" y="1156800"/>
                  </a:lnTo>
                  <a:lnTo>
                    <a:pt x="1451186" y="1133408"/>
                  </a:lnTo>
                  <a:lnTo>
                    <a:pt x="1490091" y="1108233"/>
                  </a:lnTo>
                  <a:lnTo>
                    <a:pt x="1527026" y="1081321"/>
                  </a:lnTo>
                  <a:lnTo>
                    <a:pt x="1561865" y="1052717"/>
                  </a:lnTo>
                  <a:lnTo>
                    <a:pt x="1594486" y="1022465"/>
                  </a:lnTo>
                  <a:lnTo>
                    <a:pt x="1624764" y="990610"/>
                  </a:lnTo>
                  <a:lnTo>
                    <a:pt x="1652576" y="957199"/>
                  </a:lnTo>
                  <a:lnTo>
                    <a:pt x="1679470" y="919786"/>
                  </a:lnTo>
                  <a:lnTo>
                    <a:pt x="1702667" y="881694"/>
                  </a:lnTo>
                  <a:lnTo>
                    <a:pt x="1722210" y="843035"/>
                  </a:lnTo>
                  <a:lnTo>
                    <a:pt x="1738145" y="803926"/>
                  </a:lnTo>
                  <a:lnTo>
                    <a:pt x="1750514" y="764483"/>
                  </a:lnTo>
                  <a:lnTo>
                    <a:pt x="1759363" y="724819"/>
                  </a:lnTo>
                  <a:lnTo>
                    <a:pt x="1764734" y="685051"/>
                  </a:lnTo>
                  <a:lnTo>
                    <a:pt x="1766674" y="645294"/>
                  </a:lnTo>
                  <a:lnTo>
                    <a:pt x="1765225" y="605664"/>
                  </a:lnTo>
                  <a:lnTo>
                    <a:pt x="1760432" y="566274"/>
                  </a:lnTo>
                  <a:lnTo>
                    <a:pt x="1752339" y="527242"/>
                  </a:lnTo>
                  <a:lnTo>
                    <a:pt x="1740991" y="488681"/>
                  </a:lnTo>
                  <a:lnTo>
                    <a:pt x="1726431" y="450708"/>
                  </a:lnTo>
                  <a:lnTo>
                    <a:pt x="1708704" y="413437"/>
                  </a:lnTo>
                  <a:lnTo>
                    <a:pt x="1687853" y="376984"/>
                  </a:lnTo>
                  <a:lnTo>
                    <a:pt x="1663924" y="341465"/>
                  </a:lnTo>
                  <a:lnTo>
                    <a:pt x="1636960" y="306994"/>
                  </a:lnTo>
                  <a:lnTo>
                    <a:pt x="1607005" y="273686"/>
                  </a:lnTo>
                  <a:lnTo>
                    <a:pt x="1574104" y="241658"/>
                  </a:lnTo>
                  <a:lnTo>
                    <a:pt x="1538300" y="211024"/>
                  </a:lnTo>
                  <a:lnTo>
                    <a:pt x="1499639" y="181899"/>
                  </a:lnTo>
                  <a:lnTo>
                    <a:pt x="1458163" y="154400"/>
                  </a:lnTo>
                  <a:lnTo>
                    <a:pt x="1413918" y="128640"/>
                  </a:lnTo>
                  <a:lnTo>
                    <a:pt x="1366948" y="104737"/>
                  </a:lnTo>
                  <a:lnTo>
                    <a:pt x="1317296" y="82803"/>
                  </a:lnTo>
                  <a:lnTo>
                    <a:pt x="1272661" y="65702"/>
                  </a:lnTo>
                  <a:lnTo>
                    <a:pt x="1227303" y="50623"/>
                  </a:lnTo>
                  <a:lnTo>
                    <a:pt x="1181326" y="37544"/>
                  </a:lnTo>
                  <a:lnTo>
                    <a:pt x="1134835" y="26448"/>
                  </a:lnTo>
                  <a:lnTo>
                    <a:pt x="1087934" y="17314"/>
                  </a:lnTo>
                  <a:lnTo>
                    <a:pt x="1040727" y="10122"/>
                  </a:lnTo>
                  <a:lnTo>
                    <a:pt x="993320" y="4852"/>
                  </a:lnTo>
                  <a:lnTo>
                    <a:pt x="945817" y="1484"/>
                  </a:lnTo>
                  <a:lnTo>
                    <a:pt x="898323" y="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299774" y="1196084"/>
              <a:ext cx="1767205" cy="1443990"/>
            </a:xfrm>
            <a:custGeom>
              <a:avLst/>
              <a:gdLst/>
              <a:ahLst/>
              <a:cxnLst/>
              <a:rect l="l" t="t" r="r" b="b"/>
              <a:pathLst>
                <a:path w="1767204" h="1443989">
                  <a:moveTo>
                    <a:pt x="515291" y="1443483"/>
                  </a:moveTo>
                  <a:lnTo>
                    <a:pt x="449378" y="1200278"/>
                  </a:lnTo>
                  <a:lnTo>
                    <a:pt x="399726" y="1178361"/>
                  </a:lnTo>
                  <a:lnTo>
                    <a:pt x="352755" y="1154474"/>
                  </a:lnTo>
                  <a:lnTo>
                    <a:pt x="308510" y="1128732"/>
                  </a:lnTo>
                  <a:lnTo>
                    <a:pt x="267035" y="1101251"/>
                  </a:lnTo>
                  <a:lnTo>
                    <a:pt x="228373" y="1072146"/>
                  </a:lnTo>
                  <a:lnTo>
                    <a:pt x="192570" y="1041532"/>
                  </a:lnTo>
                  <a:lnTo>
                    <a:pt x="159669" y="1009523"/>
                  </a:lnTo>
                  <a:lnTo>
                    <a:pt x="129714" y="976236"/>
                  </a:lnTo>
                  <a:lnTo>
                    <a:pt x="102750" y="941785"/>
                  </a:lnTo>
                  <a:lnTo>
                    <a:pt x="78820" y="906286"/>
                  </a:lnTo>
                  <a:lnTo>
                    <a:pt x="57970" y="869853"/>
                  </a:lnTo>
                  <a:lnTo>
                    <a:pt x="40242" y="832602"/>
                  </a:lnTo>
                  <a:lnTo>
                    <a:pt x="25682" y="794648"/>
                  </a:lnTo>
                  <a:lnTo>
                    <a:pt x="14334" y="756106"/>
                  </a:lnTo>
                  <a:lnTo>
                    <a:pt x="6241" y="717091"/>
                  </a:lnTo>
                  <a:lnTo>
                    <a:pt x="1448" y="677718"/>
                  </a:lnTo>
                  <a:lnTo>
                    <a:pt x="0" y="638102"/>
                  </a:lnTo>
                  <a:lnTo>
                    <a:pt x="1939" y="598360"/>
                  </a:lnTo>
                  <a:lnTo>
                    <a:pt x="7311" y="558605"/>
                  </a:lnTo>
                  <a:lnTo>
                    <a:pt x="16159" y="518952"/>
                  </a:lnTo>
                  <a:lnTo>
                    <a:pt x="28529" y="479518"/>
                  </a:lnTo>
                  <a:lnTo>
                    <a:pt x="44463" y="440417"/>
                  </a:lnTo>
                  <a:lnTo>
                    <a:pt x="64006" y="401764"/>
                  </a:lnTo>
                  <a:lnTo>
                    <a:pt x="87203" y="363675"/>
                  </a:lnTo>
                  <a:lnTo>
                    <a:pt x="114098" y="326264"/>
                  </a:lnTo>
                  <a:lnTo>
                    <a:pt x="140913" y="293979"/>
                  </a:lnTo>
                  <a:lnTo>
                    <a:pt x="169902" y="263245"/>
                  </a:lnTo>
                  <a:lnTo>
                    <a:pt x="200952" y="234083"/>
                  </a:lnTo>
                  <a:lnTo>
                    <a:pt x="233952" y="206516"/>
                  </a:lnTo>
                  <a:lnTo>
                    <a:pt x="268787" y="180567"/>
                  </a:lnTo>
                  <a:lnTo>
                    <a:pt x="305345" y="156260"/>
                  </a:lnTo>
                  <a:lnTo>
                    <a:pt x="343513" y="133617"/>
                  </a:lnTo>
                  <a:lnTo>
                    <a:pt x="383179" y="112660"/>
                  </a:lnTo>
                  <a:lnTo>
                    <a:pt x="424230" y="93413"/>
                  </a:lnTo>
                  <a:lnTo>
                    <a:pt x="466553" y="75899"/>
                  </a:lnTo>
                  <a:lnTo>
                    <a:pt x="510034" y="60140"/>
                  </a:lnTo>
                  <a:lnTo>
                    <a:pt x="554563" y="46159"/>
                  </a:lnTo>
                  <a:lnTo>
                    <a:pt x="600024" y="33979"/>
                  </a:lnTo>
                  <a:lnTo>
                    <a:pt x="646307" y="23623"/>
                  </a:lnTo>
                  <a:lnTo>
                    <a:pt x="693298" y="15113"/>
                  </a:lnTo>
                  <a:lnTo>
                    <a:pt x="740884" y="8474"/>
                  </a:lnTo>
                  <a:lnTo>
                    <a:pt x="788952" y="3726"/>
                  </a:lnTo>
                  <a:lnTo>
                    <a:pt x="837391" y="894"/>
                  </a:lnTo>
                  <a:lnTo>
                    <a:pt x="886086" y="0"/>
                  </a:lnTo>
                  <a:lnTo>
                    <a:pt x="934925" y="1066"/>
                  </a:lnTo>
                  <a:lnTo>
                    <a:pt x="983796" y="4116"/>
                  </a:lnTo>
                  <a:lnTo>
                    <a:pt x="1032585" y="9173"/>
                  </a:lnTo>
                  <a:lnTo>
                    <a:pt x="1081180" y="16260"/>
                  </a:lnTo>
                  <a:lnTo>
                    <a:pt x="1129468" y="25398"/>
                  </a:lnTo>
                  <a:lnTo>
                    <a:pt x="1177337" y="36612"/>
                  </a:lnTo>
                  <a:lnTo>
                    <a:pt x="1224673" y="49924"/>
                  </a:lnTo>
                  <a:lnTo>
                    <a:pt x="1271363" y="65356"/>
                  </a:lnTo>
                  <a:lnTo>
                    <a:pt x="1317296" y="82932"/>
                  </a:lnTo>
                  <a:lnTo>
                    <a:pt x="1366948" y="104849"/>
                  </a:lnTo>
                  <a:lnTo>
                    <a:pt x="1413918" y="128736"/>
                  </a:lnTo>
                  <a:lnTo>
                    <a:pt x="1458163" y="154477"/>
                  </a:lnTo>
                  <a:lnTo>
                    <a:pt x="1499639" y="181958"/>
                  </a:lnTo>
                  <a:lnTo>
                    <a:pt x="1538300" y="211063"/>
                  </a:lnTo>
                  <a:lnTo>
                    <a:pt x="1574104" y="241676"/>
                  </a:lnTo>
                  <a:lnTo>
                    <a:pt x="1607005" y="273684"/>
                  </a:lnTo>
                  <a:lnTo>
                    <a:pt x="1636960" y="306969"/>
                  </a:lnTo>
                  <a:lnTo>
                    <a:pt x="1663924" y="341418"/>
                  </a:lnTo>
                  <a:lnTo>
                    <a:pt x="1687853" y="376916"/>
                  </a:lnTo>
                  <a:lnTo>
                    <a:pt x="1708704" y="413346"/>
                  </a:lnTo>
                  <a:lnTo>
                    <a:pt x="1726431" y="450594"/>
                  </a:lnTo>
                  <a:lnTo>
                    <a:pt x="1740991" y="488544"/>
                  </a:lnTo>
                  <a:lnTo>
                    <a:pt x="1752339" y="527082"/>
                  </a:lnTo>
                  <a:lnTo>
                    <a:pt x="1760432" y="566092"/>
                  </a:lnTo>
                  <a:lnTo>
                    <a:pt x="1765225" y="605459"/>
                  </a:lnTo>
                  <a:lnTo>
                    <a:pt x="1766674" y="645067"/>
                  </a:lnTo>
                  <a:lnTo>
                    <a:pt x="1764734" y="684803"/>
                  </a:lnTo>
                  <a:lnTo>
                    <a:pt x="1759363" y="724549"/>
                  </a:lnTo>
                  <a:lnTo>
                    <a:pt x="1750514" y="764192"/>
                  </a:lnTo>
                  <a:lnTo>
                    <a:pt x="1738145" y="803616"/>
                  </a:lnTo>
                  <a:lnTo>
                    <a:pt x="1722210" y="842706"/>
                  </a:lnTo>
                  <a:lnTo>
                    <a:pt x="1702667" y="881347"/>
                  </a:lnTo>
                  <a:lnTo>
                    <a:pt x="1679470" y="919423"/>
                  </a:lnTo>
                  <a:lnTo>
                    <a:pt x="1652576" y="956819"/>
                  </a:lnTo>
                  <a:lnTo>
                    <a:pt x="1624764" y="990213"/>
                  </a:lnTo>
                  <a:lnTo>
                    <a:pt x="1594486" y="1022051"/>
                  </a:lnTo>
                  <a:lnTo>
                    <a:pt x="1561865" y="1052288"/>
                  </a:lnTo>
                  <a:lnTo>
                    <a:pt x="1527026" y="1080880"/>
                  </a:lnTo>
                  <a:lnTo>
                    <a:pt x="1490091" y="1107780"/>
                  </a:lnTo>
                  <a:lnTo>
                    <a:pt x="1451186" y="1132945"/>
                  </a:lnTo>
                  <a:lnTo>
                    <a:pt x="1410434" y="1156329"/>
                  </a:lnTo>
                  <a:lnTo>
                    <a:pt x="1367960" y="1177886"/>
                  </a:lnTo>
                  <a:lnTo>
                    <a:pt x="1323886" y="1197573"/>
                  </a:lnTo>
                  <a:lnTo>
                    <a:pt x="1278338" y="1215343"/>
                  </a:lnTo>
                  <a:lnTo>
                    <a:pt x="1231440" y="1231152"/>
                  </a:lnTo>
                  <a:lnTo>
                    <a:pt x="1183315" y="1244955"/>
                  </a:lnTo>
                  <a:lnTo>
                    <a:pt x="1134087" y="1256707"/>
                  </a:lnTo>
                  <a:lnTo>
                    <a:pt x="1083881" y="1266362"/>
                  </a:lnTo>
                  <a:lnTo>
                    <a:pt x="1032820" y="1273876"/>
                  </a:lnTo>
                  <a:lnTo>
                    <a:pt x="981028" y="1279204"/>
                  </a:lnTo>
                  <a:lnTo>
                    <a:pt x="928630" y="1282300"/>
                  </a:lnTo>
                  <a:lnTo>
                    <a:pt x="875749" y="1283119"/>
                  </a:lnTo>
                  <a:lnTo>
                    <a:pt x="822510" y="1281617"/>
                  </a:lnTo>
                  <a:lnTo>
                    <a:pt x="769037" y="1277748"/>
                  </a:lnTo>
                  <a:lnTo>
                    <a:pt x="515291" y="1443483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624184" y="1312926"/>
            <a:ext cx="1417320" cy="94297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 marR="5080" indent="-85725" algn="ctr">
              <a:lnSpc>
                <a:spcPct val="78100"/>
              </a:lnSpc>
              <a:spcBef>
                <a:spcPts val="570"/>
              </a:spcBef>
            </a:pPr>
            <a:r>
              <a:rPr sz="1800" dirty="0">
                <a:latin typeface="Calibri"/>
                <a:cs typeface="Calibri"/>
              </a:rPr>
              <a:t>¡¡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debe </a:t>
            </a:r>
            <a:r>
              <a:rPr sz="1800" dirty="0">
                <a:latin typeface="Calibri"/>
                <a:cs typeface="Calibri"/>
              </a:rPr>
              <a:t>retrasar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el </a:t>
            </a:r>
            <a:r>
              <a:rPr sz="1800" spc="-10" dirty="0">
                <a:latin typeface="Calibri"/>
                <a:cs typeface="Calibri"/>
              </a:rPr>
              <a:t>tratamiento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reperfusión!!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4629" y="1791055"/>
            <a:ext cx="6898640" cy="176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marR="6350" indent="-339725" algn="just">
              <a:lnSpc>
                <a:spcPct val="11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Se</a:t>
            </a:r>
            <a:r>
              <a:rPr sz="2000" spc="4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debe</a:t>
            </a:r>
            <a:r>
              <a:rPr sz="2000" spc="4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EVITAR</a:t>
            </a:r>
            <a:r>
              <a:rPr sz="2000" spc="4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solicitar</a:t>
            </a:r>
            <a:r>
              <a:rPr sz="2000" spc="4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hs-</a:t>
            </a:r>
            <a:r>
              <a:rPr sz="2000" dirty="0">
                <a:latin typeface="Calibri"/>
                <a:cs typeface="Calibri"/>
              </a:rPr>
              <a:t>cTn</a:t>
            </a:r>
            <a:r>
              <a:rPr sz="2000" spc="4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4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todas</a:t>
            </a:r>
            <a:r>
              <a:rPr sz="2000" spc="4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aquellas</a:t>
            </a:r>
            <a:r>
              <a:rPr sz="2000" spc="4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situación 	</a:t>
            </a:r>
            <a:r>
              <a:rPr sz="2000" dirty="0">
                <a:latin typeface="Calibri"/>
                <a:cs typeface="Calibri"/>
              </a:rPr>
              <a:t>dónde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resultado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vaya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repercutir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manejo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clínico.</a:t>
            </a:r>
            <a:endParaRPr sz="2000">
              <a:latin typeface="Calibri"/>
              <a:cs typeface="Calibri"/>
            </a:endParaRPr>
          </a:p>
          <a:p>
            <a:pPr marL="352425" marR="5080" indent="-339725" algn="just">
              <a:lnSpc>
                <a:spcPct val="11000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Pueden</a:t>
            </a:r>
            <a:r>
              <a:rPr sz="2000" spc="40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detectar</a:t>
            </a:r>
            <a:r>
              <a:rPr sz="2000" spc="4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valores</a:t>
            </a:r>
            <a:r>
              <a:rPr sz="2000" spc="4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4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sujetos</a:t>
            </a:r>
            <a:r>
              <a:rPr sz="2000" spc="4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“sanos”</a:t>
            </a:r>
            <a:r>
              <a:rPr sz="2000" spc="40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</a:t>
            </a:r>
            <a:r>
              <a:rPr sz="2000" spc="3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cardiopatía 	</a:t>
            </a:r>
            <a:r>
              <a:rPr sz="2000" dirty="0">
                <a:latin typeface="Calibri"/>
                <a:cs typeface="Calibri"/>
              </a:rPr>
              <a:t>subclínica</a:t>
            </a:r>
            <a:r>
              <a:rPr sz="2000" spc="6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6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existencia</a:t>
            </a:r>
            <a:r>
              <a:rPr sz="2000" spc="5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6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elevaciones</a:t>
            </a:r>
            <a:r>
              <a:rPr sz="2000" spc="7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6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otras</a:t>
            </a:r>
            <a:r>
              <a:rPr sz="2000" spc="60" dirty="0">
                <a:latin typeface="Calibri"/>
                <a:cs typeface="Calibri"/>
              </a:rPr>
              <a:t>  </a:t>
            </a:r>
            <a:r>
              <a:rPr sz="2000" spc="-10" dirty="0">
                <a:latin typeface="Calibri"/>
                <a:cs typeface="Calibri"/>
              </a:rPr>
              <a:t>situaciones 	clínicas.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4629" y="3589222"/>
            <a:ext cx="6897370" cy="109347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354965" algn="l"/>
                <a:tab pos="1421765" algn="l"/>
                <a:tab pos="1873250" algn="l"/>
                <a:tab pos="3127375" algn="l"/>
                <a:tab pos="3970654" algn="l"/>
                <a:tab pos="4473575" algn="l"/>
                <a:tab pos="5781040" algn="l"/>
              </a:tabLst>
            </a:pPr>
            <a:r>
              <a:rPr sz="2000" spc="-10" dirty="0">
                <a:latin typeface="Calibri"/>
                <a:cs typeface="Calibri"/>
              </a:rPr>
              <a:t>Tiempos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de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valoración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deben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ser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uniformes: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algortimos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245"/>
              </a:spcBef>
            </a:pPr>
            <a:r>
              <a:rPr sz="2000" dirty="0">
                <a:latin typeface="Calibri"/>
                <a:cs typeface="Calibri"/>
              </a:rPr>
              <a:t>rápidos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1-</a:t>
            </a:r>
            <a:r>
              <a:rPr sz="2000" dirty="0">
                <a:latin typeface="Calibri"/>
                <a:cs typeface="Calibri"/>
              </a:rPr>
              <a:t>2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horas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horas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Hablamos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porcentajes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elevación.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36675" y="1157477"/>
            <a:ext cx="9313545" cy="5697855"/>
            <a:chOff x="1336675" y="1157477"/>
            <a:chExt cx="9313545" cy="5697855"/>
          </a:xfrm>
        </p:grpSpPr>
        <p:sp>
          <p:nvSpPr>
            <p:cNvPr id="3" name="object 3"/>
            <p:cNvSpPr/>
            <p:nvPr/>
          </p:nvSpPr>
          <p:spPr>
            <a:xfrm>
              <a:off x="1343025" y="1163789"/>
              <a:ext cx="8604885" cy="5334000"/>
            </a:xfrm>
            <a:custGeom>
              <a:avLst/>
              <a:gdLst/>
              <a:ahLst/>
              <a:cxnLst/>
              <a:rect l="l" t="t" r="r" b="b"/>
              <a:pathLst>
                <a:path w="8604885" h="5334000">
                  <a:moveTo>
                    <a:pt x="8604631" y="0"/>
                  </a:moveTo>
                  <a:lnTo>
                    <a:pt x="0" y="0"/>
                  </a:lnTo>
                  <a:lnTo>
                    <a:pt x="0" y="5334000"/>
                  </a:lnTo>
                  <a:lnTo>
                    <a:pt x="8604631" y="5334000"/>
                  </a:lnTo>
                  <a:lnTo>
                    <a:pt x="860463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36675" y="1157477"/>
              <a:ext cx="8617585" cy="5346700"/>
            </a:xfrm>
            <a:custGeom>
              <a:avLst/>
              <a:gdLst/>
              <a:ahLst/>
              <a:cxnLst/>
              <a:rect l="l" t="t" r="r" b="b"/>
              <a:pathLst>
                <a:path w="8617585" h="5346700">
                  <a:moveTo>
                    <a:pt x="6350" y="0"/>
                  </a:moveTo>
                  <a:lnTo>
                    <a:pt x="6350" y="5346661"/>
                  </a:lnTo>
                </a:path>
                <a:path w="8617585" h="5346700">
                  <a:moveTo>
                    <a:pt x="8610854" y="0"/>
                  </a:moveTo>
                  <a:lnTo>
                    <a:pt x="8610854" y="5346661"/>
                  </a:lnTo>
                </a:path>
                <a:path w="8617585" h="5346700">
                  <a:moveTo>
                    <a:pt x="0" y="6350"/>
                  </a:moveTo>
                  <a:lnTo>
                    <a:pt x="8617204" y="6350"/>
                  </a:lnTo>
                </a:path>
                <a:path w="8617585" h="5346700">
                  <a:moveTo>
                    <a:pt x="0" y="5340311"/>
                  </a:moveTo>
                  <a:lnTo>
                    <a:pt x="8617204" y="534031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85800" y="391077"/>
            <a:ext cx="8596668" cy="132080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Biomarcadores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99158" y="1441195"/>
            <a:ext cx="6769734" cy="4754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alibri"/>
                <a:cs typeface="Calibri"/>
              </a:rPr>
              <a:t>ENFERMEDADES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CORONARIAS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CON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TROPONINAS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ELEVADAS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20"/>
              </a:spcBef>
              <a:buAutoNum type="arabicPeriod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I.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congestiva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cardíaca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grave: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aguda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crónica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Disección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aorta,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valvulopatía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aórtica,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miocardiopatía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hipertrófica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Contusión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cardíaca,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ablación,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cardioversión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Enfermedades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inflamatorias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(miocarditis,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pericarditis)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Crisis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hipertensiva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spc="-20" dirty="0">
                <a:latin typeface="Calibri"/>
                <a:cs typeface="Calibri"/>
              </a:rPr>
              <a:t>Taqui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bradiarritmias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Embolia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pulmonar,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HTP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severa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Hipotiroidismo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Disfunción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renal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crónica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aguda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Enfermedad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neurológica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aguda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(ACV,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HSA)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Enfermedades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infiltrativas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(amiloidosis,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sarcoidosis)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spc="-25" dirty="0">
                <a:latin typeface="Calibri"/>
                <a:cs typeface="Calibri"/>
              </a:rPr>
              <a:t>Toxicidad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fármacos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(venenos,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adriamicina)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Quemaduras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más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30%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superficie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corporal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Rabdomiolisis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Pacientes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críticos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(insuficiencia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respiratoria,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sepsis)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" dirty="0">
                <a:latin typeface="Calibri"/>
                <a:cs typeface="Calibri"/>
              </a:rPr>
              <a:t>Índice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82317" y="1369009"/>
            <a:ext cx="475996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indent="-301625">
              <a:lnSpc>
                <a:spcPct val="100000"/>
              </a:lnSpc>
              <a:spcBef>
                <a:spcPts val="100"/>
              </a:spcBef>
              <a:buSzPct val="97916"/>
              <a:buAutoNum type="arabicPeriod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Introducción</a:t>
            </a:r>
            <a:endParaRPr sz="2400">
              <a:latin typeface="Calibri"/>
              <a:cs typeface="Calibri"/>
            </a:endParaRPr>
          </a:p>
          <a:p>
            <a:pPr marL="246379" indent="-243204">
              <a:lnSpc>
                <a:spcPct val="100000"/>
              </a:lnSpc>
              <a:spcBef>
                <a:spcPts val="5"/>
              </a:spcBef>
              <a:buSzPct val="97916"/>
              <a:buAutoNum type="arabicPeriod"/>
              <a:tabLst>
                <a:tab pos="246379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Definiciones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SzPct val="97916"/>
              <a:buAutoNum type="arabicPeriod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Clasificación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D9D9D9"/>
                </a:solidFill>
                <a:latin typeface="Calibri"/>
                <a:cs typeface="Calibri"/>
              </a:rPr>
              <a:t>3.</a:t>
            </a:r>
            <a:r>
              <a:rPr sz="2400" b="1" spc="-1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Patogenia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 startAt="5"/>
              <a:tabLst>
                <a:tab pos="314325" algn="l"/>
              </a:tabLst>
            </a:pPr>
            <a:r>
              <a:rPr sz="2400" b="1" dirty="0">
                <a:solidFill>
                  <a:srgbClr val="D9D9D9"/>
                </a:solidFill>
                <a:latin typeface="Calibri"/>
                <a:cs typeface="Calibri"/>
              </a:rPr>
              <a:t>Historia</a:t>
            </a:r>
            <a:r>
              <a:rPr sz="2400" b="1" spc="-8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clínica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 startAt="5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Electrocardiograma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 startAt="5"/>
              <a:tabLst>
                <a:tab pos="314325" algn="l"/>
              </a:tabLst>
            </a:pPr>
            <a:r>
              <a:rPr sz="2400" b="1" spc="-10" dirty="0">
                <a:solidFill>
                  <a:srgbClr val="D9D9D9"/>
                </a:solidFill>
                <a:latin typeface="Calibri"/>
                <a:cs typeface="Calibri"/>
              </a:rPr>
              <a:t>Biomarcadores</a:t>
            </a:r>
            <a:endParaRPr sz="2400">
              <a:latin typeface="Calibri"/>
              <a:cs typeface="Calibri"/>
            </a:endParaRPr>
          </a:p>
          <a:p>
            <a:pPr marL="314325" indent="-301625">
              <a:lnSpc>
                <a:spcPct val="100000"/>
              </a:lnSpc>
              <a:buAutoNum type="arabicPeriod" startAt="5"/>
              <a:tabLst>
                <a:tab pos="314325" algn="l"/>
              </a:tabLst>
            </a:pPr>
            <a:r>
              <a:rPr sz="2400" b="1" spc="-10" dirty="0">
                <a:latin typeface="Calibri"/>
                <a:cs typeface="Calibri"/>
              </a:rPr>
              <a:t>Tratamiento: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382395" algn="l"/>
              </a:tabLst>
            </a:pPr>
            <a:r>
              <a:rPr sz="2400" b="1" spc="-10" dirty="0">
                <a:latin typeface="Calibri"/>
                <a:cs typeface="Calibri"/>
              </a:rPr>
              <a:t>Manejo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buAutoNum type="arabicPeriod"/>
              <a:tabLst>
                <a:tab pos="1382395" algn="l"/>
              </a:tabLst>
            </a:pPr>
            <a:r>
              <a:rPr sz="2400" b="1" spc="-30" dirty="0">
                <a:latin typeface="Calibri"/>
                <a:cs typeface="Calibri"/>
              </a:rPr>
              <a:t>Tratamiento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médico</a:t>
            </a:r>
            <a:endParaRPr sz="2400">
              <a:latin typeface="Calibri"/>
              <a:cs typeface="Calibri"/>
            </a:endParaRPr>
          </a:p>
          <a:p>
            <a:pPr marL="1382395" lvl="1" indent="-455295">
              <a:lnSpc>
                <a:spcPct val="100000"/>
              </a:lnSpc>
              <a:buAutoNum type="arabicPeriod"/>
              <a:tabLst>
                <a:tab pos="1382395" algn="l"/>
              </a:tabLst>
            </a:pPr>
            <a:r>
              <a:rPr sz="2400" b="1" spc="-30" dirty="0">
                <a:latin typeface="Calibri"/>
                <a:cs typeface="Calibri"/>
              </a:rPr>
              <a:t>Tratamiento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antiagregante</a:t>
            </a:r>
            <a:endParaRPr sz="2400">
              <a:latin typeface="Calibri"/>
              <a:cs typeface="Calibri"/>
            </a:endParaRPr>
          </a:p>
          <a:p>
            <a:pPr marL="1381760" lvl="1" indent="-454659">
              <a:lnSpc>
                <a:spcPct val="100000"/>
              </a:lnSpc>
              <a:buAutoNum type="arabicPeriod"/>
              <a:tabLst>
                <a:tab pos="1381760" algn="l"/>
              </a:tabLst>
            </a:pPr>
            <a:r>
              <a:rPr sz="2400" b="1" spc="-30" dirty="0">
                <a:latin typeface="Calibri"/>
                <a:cs typeface="Calibri"/>
              </a:rPr>
              <a:t>Terapias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reperfusión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8.1</a:t>
            </a:r>
            <a:r>
              <a:rPr spc="-30" dirty="0"/>
              <a:t> </a:t>
            </a:r>
            <a:r>
              <a:rPr spc="-10" dirty="0"/>
              <a:t>Manejo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10969" y="1807972"/>
            <a:ext cx="7109459" cy="26600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Tumbar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paciente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tranquilizar.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Constantes: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TA,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FC,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tª,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pulsiosimetría.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Coger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vía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venosa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periférica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suero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fisiológico.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Sacar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analítica: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BQ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(con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troponina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coagulación.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Monitorizamos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ECG.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Acercamos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desfibrilador.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627736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chemeClr val="accent1"/>
                </a:solidFill>
              </a:rPr>
              <a:t>8.1</a:t>
            </a:r>
            <a:r>
              <a:rPr spc="-70" dirty="0">
                <a:solidFill>
                  <a:schemeClr val="accent1"/>
                </a:solidFill>
              </a:rPr>
              <a:t> </a:t>
            </a:r>
            <a:r>
              <a:rPr dirty="0">
                <a:solidFill>
                  <a:schemeClr val="accent1"/>
                </a:solidFill>
              </a:rPr>
              <a:t>Manejo</a:t>
            </a:r>
            <a:r>
              <a:rPr spc="-60" dirty="0">
                <a:solidFill>
                  <a:schemeClr val="accent1"/>
                </a:solidFill>
              </a:rPr>
              <a:t> </a:t>
            </a:r>
            <a:r>
              <a:rPr spc="-10" dirty="0">
                <a:solidFill>
                  <a:schemeClr val="accent1"/>
                </a:solidFill>
              </a:rPr>
              <a:t>inicial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330" algn="l"/>
              </a:tabLst>
            </a:pPr>
            <a:r>
              <a:rPr dirty="0"/>
              <a:t>Reposo</a:t>
            </a:r>
            <a:r>
              <a:rPr spc="-125" dirty="0"/>
              <a:t> </a:t>
            </a:r>
            <a:r>
              <a:rPr spc="-10" dirty="0"/>
              <a:t>absoluto.</a:t>
            </a:r>
          </a:p>
          <a:p>
            <a:pPr marL="354330" indent="-34163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330" algn="l"/>
              </a:tabLst>
            </a:pPr>
            <a:r>
              <a:rPr dirty="0"/>
              <a:t>Elevación</a:t>
            </a:r>
            <a:r>
              <a:rPr spc="-65" dirty="0"/>
              <a:t> </a:t>
            </a:r>
            <a:r>
              <a:rPr dirty="0"/>
              <a:t>del</a:t>
            </a:r>
            <a:r>
              <a:rPr spc="-50" dirty="0"/>
              <a:t> </a:t>
            </a:r>
            <a:r>
              <a:rPr spc="-10" dirty="0"/>
              <a:t>cabecero.</a:t>
            </a:r>
          </a:p>
          <a:p>
            <a:pPr marL="353695" indent="-34099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3695" algn="l"/>
              </a:tabLst>
            </a:pPr>
            <a:r>
              <a:rPr spc="-25" dirty="0"/>
              <a:t>Tranquilizar</a:t>
            </a:r>
            <a:r>
              <a:rPr spc="-10" dirty="0"/>
              <a:t> </a:t>
            </a:r>
            <a:r>
              <a:rPr dirty="0"/>
              <a:t>e</a:t>
            </a:r>
            <a:r>
              <a:rPr spc="-40" dirty="0"/>
              <a:t> </a:t>
            </a:r>
            <a:r>
              <a:rPr spc="-10" dirty="0"/>
              <a:t>informar.</a:t>
            </a:r>
          </a:p>
          <a:p>
            <a:pPr marL="354330" indent="-34163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330" algn="l"/>
              </a:tabLst>
            </a:pPr>
            <a:r>
              <a:rPr dirty="0"/>
              <a:t>Acceso</a:t>
            </a:r>
            <a:r>
              <a:rPr spc="-55" dirty="0"/>
              <a:t> </a:t>
            </a:r>
            <a:r>
              <a:rPr spc="-10" dirty="0"/>
              <a:t>venoso.</a:t>
            </a:r>
          </a:p>
          <a:p>
            <a:pPr marL="354330" indent="-34163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4330" algn="l"/>
              </a:tabLst>
            </a:pPr>
            <a:r>
              <a:rPr dirty="0"/>
              <a:t>Sacamos</a:t>
            </a:r>
            <a:r>
              <a:rPr spc="-125" dirty="0"/>
              <a:t> </a:t>
            </a:r>
            <a:r>
              <a:rPr spc="-10" dirty="0"/>
              <a:t>analítica.</a:t>
            </a:r>
          </a:p>
          <a:p>
            <a:pPr marL="354330" indent="-34163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330" algn="l"/>
              </a:tabLst>
            </a:pPr>
            <a:r>
              <a:rPr dirty="0"/>
              <a:t>ECG</a:t>
            </a:r>
            <a:r>
              <a:rPr spc="-4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12</a:t>
            </a:r>
            <a:r>
              <a:rPr spc="-10" dirty="0"/>
              <a:t> derivaciones.</a:t>
            </a:r>
          </a:p>
          <a:p>
            <a:pPr marL="354330" indent="-34163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330" algn="l"/>
              </a:tabLst>
            </a:pPr>
            <a:r>
              <a:rPr spc="-10" dirty="0"/>
              <a:t>Monitorización.</a:t>
            </a:r>
          </a:p>
          <a:p>
            <a:pPr marL="353695" indent="-34099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3695" algn="l"/>
              </a:tabLst>
            </a:pPr>
            <a:r>
              <a:rPr dirty="0"/>
              <a:t>Acercamos</a:t>
            </a:r>
            <a:r>
              <a:rPr spc="-70" dirty="0"/>
              <a:t> </a:t>
            </a:r>
            <a:r>
              <a:rPr dirty="0"/>
              <a:t>el</a:t>
            </a:r>
            <a:r>
              <a:rPr spc="-100" dirty="0"/>
              <a:t> </a:t>
            </a:r>
            <a:r>
              <a:rPr spc="-10" dirty="0"/>
              <a:t>desfibrilador.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77102" y="1525041"/>
            <a:ext cx="3354070" cy="25863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330" algn="l"/>
              </a:tabLst>
            </a:pPr>
            <a:r>
              <a:rPr sz="2800" spc="-10" dirty="0">
                <a:latin typeface="Calibri"/>
                <a:cs typeface="Calibri"/>
              </a:rPr>
              <a:t>Oxígeno.</a:t>
            </a:r>
            <a:endParaRPr sz="2800">
              <a:latin typeface="Calibri"/>
              <a:cs typeface="Calibri"/>
            </a:endParaRPr>
          </a:p>
          <a:p>
            <a:pPr marL="354330" indent="-34163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330" algn="l"/>
              </a:tabLst>
            </a:pPr>
            <a:r>
              <a:rPr sz="2800" spc="-10" dirty="0">
                <a:latin typeface="Calibri"/>
                <a:cs typeface="Calibri"/>
              </a:rPr>
              <a:t>Nitratos.</a:t>
            </a:r>
            <a:endParaRPr sz="2800">
              <a:latin typeface="Calibri"/>
              <a:cs typeface="Calibri"/>
            </a:endParaRPr>
          </a:p>
          <a:p>
            <a:pPr marL="353695" indent="-34099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3695" algn="l"/>
              </a:tabLst>
            </a:pPr>
            <a:r>
              <a:rPr sz="2800" dirty="0">
                <a:latin typeface="Calibri"/>
                <a:cs typeface="Calibri"/>
              </a:rPr>
              <a:t>Manejo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dolor.</a:t>
            </a:r>
            <a:endParaRPr sz="2800">
              <a:latin typeface="Calibri"/>
              <a:cs typeface="Calibri"/>
            </a:endParaRPr>
          </a:p>
          <a:p>
            <a:pPr marL="354330" indent="-34163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330" algn="l"/>
              </a:tabLst>
            </a:pPr>
            <a:r>
              <a:rPr sz="2800" dirty="0">
                <a:latin typeface="Calibri"/>
                <a:cs typeface="Calibri"/>
              </a:rPr>
              <a:t>Radiografía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tórax.</a:t>
            </a:r>
            <a:endParaRPr sz="2800">
              <a:latin typeface="Calibri"/>
              <a:cs typeface="Calibri"/>
            </a:endParaRPr>
          </a:p>
          <a:p>
            <a:pPr marL="354330" indent="-34163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4330" algn="l"/>
              </a:tabLst>
            </a:pPr>
            <a:r>
              <a:rPr sz="2800" dirty="0">
                <a:latin typeface="Calibri"/>
                <a:cs typeface="Calibri"/>
              </a:rPr>
              <a:t>Analítica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sanguínea.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8.1</a:t>
            </a:r>
            <a:r>
              <a:rPr spc="-65" dirty="0"/>
              <a:t> </a:t>
            </a:r>
            <a:r>
              <a:rPr dirty="0"/>
              <a:t>Objetivos</a:t>
            </a:r>
            <a:r>
              <a:rPr spc="-55" dirty="0"/>
              <a:t> </a:t>
            </a:r>
            <a:r>
              <a:rPr dirty="0"/>
              <a:t>del</a:t>
            </a:r>
            <a:r>
              <a:rPr spc="-60" dirty="0"/>
              <a:t> </a:t>
            </a:r>
            <a:r>
              <a:rPr spc="-10" dirty="0"/>
              <a:t>tratamiento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2050" y="1462785"/>
            <a:ext cx="9044940" cy="4058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Reducir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cantidad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Calibri"/>
                <a:cs typeface="Calibri"/>
              </a:rPr>
              <a:t>necrosis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miocárdica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pacientes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infarto:</a:t>
            </a:r>
            <a:endParaRPr sz="2400">
              <a:latin typeface="Calibri"/>
              <a:cs typeface="Calibri"/>
            </a:endParaRPr>
          </a:p>
          <a:p>
            <a:pPr marL="1111250" lvl="1" indent="-184785">
              <a:lnSpc>
                <a:spcPct val="100000"/>
              </a:lnSpc>
              <a:spcBef>
                <a:spcPts val="70"/>
              </a:spcBef>
              <a:buChar char="-"/>
              <a:tabLst>
                <a:tab pos="1111250" algn="l"/>
              </a:tabLst>
            </a:pPr>
            <a:r>
              <a:rPr sz="2400" dirty="0">
                <a:latin typeface="Arial MT"/>
                <a:cs typeface="Arial MT"/>
              </a:rPr>
              <a:t>Preservar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función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VI.</a:t>
            </a:r>
            <a:endParaRPr sz="2400">
              <a:latin typeface="Arial MT"/>
              <a:cs typeface="Arial MT"/>
            </a:endParaRPr>
          </a:p>
          <a:p>
            <a:pPr marL="1111250" lvl="1" indent="-184785">
              <a:lnSpc>
                <a:spcPct val="100000"/>
              </a:lnSpc>
              <a:spcBef>
                <a:spcPts val="5"/>
              </a:spcBef>
              <a:buChar char="-"/>
              <a:tabLst>
                <a:tab pos="1111250" algn="l"/>
              </a:tabLst>
            </a:pPr>
            <a:r>
              <a:rPr sz="2400" dirty="0">
                <a:latin typeface="Arial MT"/>
                <a:cs typeface="Arial MT"/>
              </a:rPr>
              <a:t>Prevenir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IC.</a:t>
            </a:r>
            <a:endParaRPr sz="2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20"/>
              </a:spcBef>
              <a:buFont typeface="Arial MT"/>
              <a:buChar char="-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Prevenir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sucesos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adversos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graves:</a:t>
            </a:r>
            <a:endParaRPr sz="2400">
              <a:latin typeface="Arial MT"/>
              <a:cs typeface="Arial MT"/>
            </a:endParaRPr>
          </a:p>
          <a:p>
            <a:pPr marL="926465" lvl="1" indent="-457200">
              <a:lnSpc>
                <a:spcPct val="100000"/>
              </a:lnSpc>
              <a:buChar char="-"/>
              <a:tabLst>
                <a:tab pos="926465" algn="l"/>
              </a:tabLst>
            </a:pPr>
            <a:r>
              <a:rPr sz="2400" spc="-10" dirty="0">
                <a:latin typeface="Arial MT"/>
                <a:cs typeface="Arial MT"/>
              </a:rPr>
              <a:t>Muerte.</a:t>
            </a:r>
            <a:endParaRPr sz="2400">
              <a:latin typeface="Arial MT"/>
              <a:cs typeface="Arial MT"/>
            </a:endParaRPr>
          </a:p>
          <a:p>
            <a:pPr marL="926465" lvl="1" indent="-457200">
              <a:lnSpc>
                <a:spcPct val="100000"/>
              </a:lnSpc>
              <a:buChar char="-"/>
              <a:tabLst>
                <a:tab pos="926465" algn="l"/>
              </a:tabLst>
            </a:pPr>
            <a:r>
              <a:rPr sz="2400" dirty="0">
                <a:latin typeface="Arial MT"/>
                <a:cs typeface="Arial MT"/>
              </a:rPr>
              <a:t>Necesidad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revascularización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urgente.</a:t>
            </a:r>
            <a:endParaRPr sz="2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20"/>
              </a:spcBef>
              <a:buFont typeface="Arial MT"/>
              <a:buChar char="-"/>
            </a:pP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Tratar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complicaciones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potencialmente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mortales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son:</a:t>
            </a:r>
            <a:endParaRPr sz="24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Arial MT"/>
                <a:cs typeface="Arial MT"/>
              </a:rPr>
              <a:t>TVSP/FV.</a:t>
            </a:r>
            <a:endParaRPr sz="24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</a:pPr>
            <a:r>
              <a:rPr sz="2400" spc="-10" dirty="0">
                <a:latin typeface="Arial MT"/>
                <a:cs typeface="Arial MT"/>
              </a:rPr>
              <a:t>Bradicardia.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42288" y="1517903"/>
            <a:ext cx="9107805" cy="5337175"/>
            <a:chOff x="1542288" y="1517903"/>
            <a:chExt cx="9107805" cy="5337175"/>
          </a:xfrm>
        </p:grpSpPr>
        <p:sp>
          <p:nvSpPr>
            <p:cNvPr id="3" name="object 3"/>
            <p:cNvSpPr/>
            <p:nvPr/>
          </p:nvSpPr>
          <p:spPr>
            <a:xfrm>
              <a:off x="1593088" y="1568703"/>
              <a:ext cx="8209915" cy="4589145"/>
            </a:xfrm>
            <a:custGeom>
              <a:avLst/>
              <a:gdLst/>
              <a:ahLst/>
              <a:cxnLst/>
              <a:rect l="l" t="t" r="r" b="b"/>
              <a:pathLst>
                <a:path w="8209915" h="4589145">
                  <a:moveTo>
                    <a:pt x="8209788" y="0"/>
                  </a:moveTo>
                  <a:lnTo>
                    <a:pt x="0" y="0"/>
                  </a:lnTo>
                  <a:lnTo>
                    <a:pt x="0" y="4588764"/>
                  </a:lnTo>
                  <a:lnTo>
                    <a:pt x="8209788" y="4588764"/>
                  </a:lnTo>
                  <a:lnTo>
                    <a:pt x="8209788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42288" y="1517903"/>
              <a:ext cx="8209915" cy="4589145"/>
            </a:xfrm>
            <a:custGeom>
              <a:avLst/>
              <a:gdLst/>
              <a:ahLst/>
              <a:cxnLst/>
              <a:rect l="l" t="t" r="r" b="b"/>
              <a:pathLst>
                <a:path w="8209915" h="4589145">
                  <a:moveTo>
                    <a:pt x="8209788" y="0"/>
                  </a:moveTo>
                  <a:lnTo>
                    <a:pt x="0" y="0"/>
                  </a:lnTo>
                  <a:lnTo>
                    <a:pt x="0" y="4588764"/>
                  </a:lnTo>
                  <a:lnTo>
                    <a:pt x="8209788" y="4588764"/>
                  </a:lnTo>
                  <a:lnTo>
                    <a:pt x="82097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8.1</a:t>
            </a:r>
            <a:r>
              <a:rPr spc="-65" dirty="0"/>
              <a:t> </a:t>
            </a:r>
            <a:r>
              <a:rPr dirty="0"/>
              <a:t>Objetivos</a:t>
            </a:r>
            <a:r>
              <a:rPr spc="-55" dirty="0"/>
              <a:t> </a:t>
            </a:r>
            <a:r>
              <a:rPr dirty="0"/>
              <a:t>del</a:t>
            </a:r>
            <a:r>
              <a:rPr spc="-60" dirty="0"/>
              <a:t> </a:t>
            </a:r>
            <a:r>
              <a:rPr spc="-10" dirty="0"/>
              <a:t>tratamiento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56766" y="1300331"/>
            <a:ext cx="7305675" cy="4721225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507365" indent="-456565">
              <a:lnSpc>
                <a:spcPct val="100000"/>
              </a:lnSpc>
              <a:spcBef>
                <a:spcPts val="1785"/>
              </a:spcBef>
              <a:buFont typeface="Arial MT"/>
              <a:buChar char="•"/>
              <a:tabLst>
                <a:tab pos="507365" algn="l"/>
              </a:tabLst>
            </a:pPr>
            <a:r>
              <a:rPr sz="2800" dirty="0">
                <a:solidFill>
                  <a:srgbClr val="1F487C"/>
                </a:solidFill>
                <a:latin typeface="Calibri"/>
                <a:cs typeface="Calibri"/>
              </a:rPr>
              <a:t>Comienzo:</a:t>
            </a:r>
            <a:r>
              <a:rPr sz="2800" spc="-10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Primer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Contacto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Médico</a:t>
            </a:r>
            <a:endParaRPr sz="2800">
              <a:latin typeface="Calibri"/>
              <a:cs typeface="Calibri"/>
            </a:endParaRPr>
          </a:p>
          <a:p>
            <a:pPr marL="507365" indent="-45656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507365" algn="l"/>
              </a:tabLst>
            </a:pPr>
            <a:r>
              <a:rPr sz="2800" b="1" dirty="0">
                <a:solidFill>
                  <a:srgbClr val="1F487C"/>
                </a:solidFill>
                <a:latin typeface="Calibri"/>
                <a:cs typeface="Calibri"/>
              </a:rPr>
              <a:t>SIN</a:t>
            </a:r>
            <a:r>
              <a:rPr sz="2800" b="1" spc="-9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1F487C"/>
                </a:solidFill>
                <a:latin typeface="Calibri"/>
                <a:cs typeface="Calibri"/>
              </a:rPr>
              <a:t>RETRASAR</a:t>
            </a:r>
            <a:r>
              <a:rPr sz="2800" b="1" spc="-7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1F487C"/>
                </a:solidFill>
                <a:latin typeface="Calibri"/>
                <a:cs typeface="Calibri"/>
              </a:rPr>
              <a:t>TERAPIAS</a:t>
            </a:r>
            <a:r>
              <a:rPr sz="2800" b="1" spc="-7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1F487C"/>
                </a:solidFill>
                <a:latin typeface="Calibri"/>
                <a:cs typeface="Calibri"/>
              </a:rPr>
              <a:t>REPERFUSIÓN</a:t>
            </a:r>
            <a:r>
              <a:rPr sz="2800" b="1" spc="-9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1F487C"/>
                </a:solidFill>
                <a:latin typeface="Calibri"/>
                <a:cs typeface="Calibri"/>
              </a:rPr>
              <a:t>&amp;</a:t>
            </a:r>
            <a:r>
              <a:rPr sz="2800" b="1" spc="-9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1F487C"/>
                </a:solidFill>
                <a:latin typeface="Calibri"/>
                <a:cs typeface="Calibri"/>
              </a:rPr>
              <a:t>ATT</a:t>
            </a:r>
            <a:endParaRPr sz="2800">
              <a:latin typeface="Calibri"/>
              <a:cs typeface="Calibri"/>
            </a:endParaRPr>
          </a:p>
          <a:p>
            <a:pPr marL="507365" indent="-45656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507365" algn="l"/>
              </a:tabLst>
            </a:pPr>
            <a:r>
              <a:rPr sz="2800" spc="-10" dirty="0">
                <a:latin typeface="Calibri"/>
                <a:cs typeface="Calibri"/>
              </a:rPr>
              <a:t>Garantizar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Oxigenación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Miocardio.</a:t>
            </a:r>
            <a:endParaRPr sz="2800">
              <a:latin typeface="Calibri"/>
              <a:cs typeface="Calibri"/>
            </a:endParaRPr>
          </a:p>
          <a:p>
            <a:pPr marL="965200" lvl="1" indent="-457200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965200" algn="l"/>
              </a:tabLst>
            </a:pPr>
            <a:r>
              <a:rPr sz="2800" dirty="0">
                <a:latin typeface="Calibri"/>
                <a:cs typeface="Calibri"/>
              </a:rPr>
              <a:t>↓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Postcarga</a:t>
            </a:r>
            <a:endParaRPr sz="2800">
              <a:latin typeface="Calibri"/>
              <a:cs typeface="Calibri"/>
            </a:endParaRPr>
          </a:p>
          <a:p>
            <a:pPr marL="965200" lvl="1" indent="-45720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965200" algn="l"/>
              </a:tabLst>
            </a:pPr>
            <a:r>
              <a:rPr sz="2800" dirty="0">
                <a:latin typeface="Calibri"/>
                <a:cs typeface="Calibri"/>
              </a:rPr>
              <a:t>↓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Consumo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775" baseline="-21021" dirty="0">
                <a:latin typeface="Calibri"/>
                <a:cs typeface="Calibri"/>
              </a:rPr>
              <a:t>2</a:t>
            </a:r>
            <a:r>
              <a:rPr sz="2775" spc="254" baseline="-21021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miocardio</a:t>
            </a:r>
            <a:endParaRPr sz="2800">
              <a:latin typeface="Calibri"/>
              <a:cs typeface="Calibri"/>
            </a:endParaRPr>
          </a:p>
          <a:p>
            <a:pPr marL="507365" indent="-45656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507365" algn="l"/>
              </a:tabLst>
            </a:pPr>
            <a:r>
              <a:rPr sz="2800" dirty="0">
                <a:latin typeface="Calibri"/>
                <a:cs typeface="Calibri"/>
              </a:rPr>
              <a:t>Profilaxis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Complicaciones: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Arritmias,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ICC,</a:t>
            </a:r>
            <a:endParaRPr sz="2800">
              <a:latin typeface="Calibri"/>
              <a:cs typeface="Calibri"/>
            </a:endParaRPr>
          </a:p>
          <a:p>
            <a:pPr marL="508000">
              <a:lnSpc>
                <a:spcPct val="100000"/>
              </a:lnSpc>
              <a:spcBef>
                <a:spcPts val="3365"/>
              </a:spcBef>
            </a:pPr>
            <a:r>
              <a:rPr sz="2800" dirty="0">
                <a:latin typeface="Calibri"/>
                <a:cs typeface="Calibri"/>
              </a:rPr>
              <a:t>Disfunción</a:t>
            </a:r>
            <a:r>
              <a:rPr sz="2800" spc="-1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VI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46275" y="1290880"/>
            <a:ext cx="9203690" cy="5564505"/>
            <a:chOff x="1446275" y="1290880"/>
            <a:chExt cx="9203690" cy="5564505"/>
          </a:xfrm>
        </p:grpSpPr>
        <p:pic>
          <p:nvPicPr>
            <p:cNvPr id="3" name="object 3" descr="escudo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51063" y="4479034"/>
              <a:ext cx="2898648" cy="237591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6275" y="1290880"/>
              <a:ext cx="9018785" cy="4344717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627736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chemeClr val="accent1"/>
                </a:solidFill>
              </a:rPr>
              <a:t>8.1</a:t>
            </a:r>
            <a:r>
              <a:rPr spc="-30" dirty="0">
                <a:solidFill>
                  <a:schemeClr val="accent1"/>
                </a:solidFill>
              </a:rPr>
              <a:t> </a:t>
            </a:r>
            <a:r>
              <a:rPr spc="-10" dirty="0">
                <a:solidFill>
                  <a:schemeClr val="accent1"/>
                </a:solidFill>
              </a:rPr>
              <a:t>Oxigenoterapia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8.3</a:t>
            </a:r>
            <a:r>
              <a:rPr spc="-135" dirty="0"/>
              <a:t> </a:t>
            </a:r>
            <a:r>
              <a:rPr spc="-10" dirty="0"/>
              <a:t>Antiagregantes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9067" y="4764808"/>
            <a:ext cx="4201160" cy="90360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299085" algn="l"/>
              </a:tabLst>
            </a:pPr>
            <a:r>
              <a:rPr sz="1600" dirty="0">
                <a:latin typeface="Calibri"/>
                <a:cs typeface="Calibri"/>
              </a:rPr>
              <a:t>Dosis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carga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150-</a:t>
            </a:r>
            <a:r>
              <a:rPr sz="1600" dirty="0">
                <a:latin typeface="Calibri"/>
                <a:cs typeface="Calibri"/>
              </a:rPr>
              <a:t>300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mg</a:t>
            </a:r>
            <a:r>
              <a:rPr sz="1600" spc="-20" dirty="0">
                <a:latin typeface="Calibri"/>
                <a:cs typeface="Calibri"/>
              </a:rPr>
              <a:t> oral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385"/>
              </a:spcBef>
              <a:buFont typeface="Arial MT"/>
              <a:buChar char="–"/>
              <a:tabLst>
                <a:tab pos="299085" algn="l"/>
              </a:tabLst>
            </a:pPr>
            <a:r>
              <a:rPr sz="1600" spc="-20" dirty="0">
                <a:latin typeface="Calibri"/>
                <a:cs typeface="Calibri"/>
              </a:rPr>
              <a:t>75-</a:t>
            </a:r>
            <a:r>
              <a:rPr sz="1600" dirty="0">
                <a:latin typeface="Calibri"/>
                <a:cs typeface="Calibri"/>
              </a:rPr>
              <a:t>250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45" dirty="0">
                <a:latin typeface="Calibri"/>
                <a:cs typeface="Calibri"/>
              </a:rPr>
              <a:t>i.v.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vía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oral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es</a:t>
            </a:r>
            <a:r>
              <a:rPr sz="1600" spc="-10" dirty="0">
                <a:latin typeface="Calibri"/>
                <a:cs typeface="Calibri"/>
              </a:rPr>
              <a:t> posible.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385"/>
              </a:spcBef>
              <a:buFont typeface="Arial MT"/>
              <a:buChar char="–"/>
              <a:tabLst>
                <a:tab pos="299085" algn="l"/>
              </a:tabLst>
            </a:pPr>
            <a:r>
              <a:rPr sz="1600" dirty="0">
                <a:latin typeface="Calibri"/>
                <a:cs typeface="Calibri"/>
              </a:rPr>
              <a:t>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todos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pacientes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salvo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contraindicaciones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0876" y="1784096"/>
            <a:ext cx="10241280" cy="2999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La</a:t>
            </a:r>
            <a:r>
              <a:rPr sz="2400" spc="11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activación</a:t>
            </a:r>
            <a:r>
              <a:rPr sz="2400" spc="11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114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agregación</a:t>
            </a:r>
            <a:r>
              <a:rPr sz="2400" spc="11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plaquetarias</a:t>
            </a:r>
            <a:r>
              <a:rPr sz="2400" spc="114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11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siguen</a:t>
            </a:r>
            <a:r>
              <a:rPr sz="2400" spc="114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14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11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rotura</a:t>
            </a:r>
            <a:r>
              <a:rPr sz="2400" spc="11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114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114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placa </a:t>
            </a:r>
            <a:r>
              <a:rPr sz="2400" dirty="0">
                <a:latin typeface="Calibri"/>
                <a:cs typeface="Calibri"/>
              </a:rPr>
              <a:t>aterosclerótica</a:t>
            </a:r>
            <a:r>
              <a:rPr sz="2400" spc="4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son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los</a:t>
            </a:r>
            <a:r>
              <a:rPr sz="2400" spc="3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mecanismos</a:t>
            </a:r>
            <a:r>
              <a:rPr sz="2400" spc="4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fisiopatológicos</a:t>
            </a:r>
            <a:r>
              <a:rPr sz="2400" spc="3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centrales</a:t>
            </a:r>
            <a:r>
              <a:rPr sz="2400" spc="4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4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los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síndromes </a:t>
            </a:r>
            <a:r>
              <a:rPr sz="2400" dirty="0">
                <a:latin typeface="Calibri"/>
                <a:cs typeface="Calibri"/>
              </a:rPr>
              <a:t>coronarios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agudos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620"/>
              </a:spcBef>
            </a:pPr>
            <a:endParaRPr sz="2400" dirty="0">
              <a:latin typeface="Calibri"/>
              <a:cs typeface="Calibri"/>
            </a:endParaRPr>
          </a:p>
          <a:p>
            <a:pPr marL="62801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debe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iniciar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manera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inmediata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antiagregación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con: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2400" dirty="0">
              <a:solidFill>
                <a:schemeClr val="accent1"/>
              </a:solidFill>
              <a:latin typeface="Calibri"/>
              <a:cs typeface="Calibri"/>
            </a:endParaRPr>
          </a:p>
          <a:p>
            <a:pPr marL="213995" algn="ctr">
              <a:lnSpc>
                <a:spcPct val="100000"/>
              </a:lnSpc>
            </a:pPr>
            <a:r>
              <a:rPr sz="2400" b="1" spc="-10" dirty="0">
                <a:solidFill>
                  <a:schemeClr val="accent1"/>
                </a:solidFill>
                <a:latin typeface="Calibri"/>
                <a:cs typeface="Calibri"/>
              </a:rPr>
              <a:t>ASPIRINA:</a:t>
            </a:r>
            <a:endParaRPr sz="2400" dirty="0">
              <a:solidFill>
                <a:schemeClr val="accent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8.3</a:t>
            </a:r>
            <a:r>
              <a:rPr spc="-190" dirty="0"/>
              <a:t> </a:t>
            </a:r>
            <a:r>
              <a:rPr dirty="0"/>
              <a:t>Antiagregantes</a:t>
            </a:r>
            <a:r>
              <a:rPr spc="-55" dirty="0"/>
              <a:t> </a:t>
            </a:r>
            <a:r>
              <a:rPr dirty="0"/>
              <a:t>en</a:t>
            </a:r>
            <a:r>
              <a:rPr spc="-105" dirty="0"/>
              <a:t> </a:t>
            </a:r>
            <a:r>
              <a:rPr spc="-10" dirty="0"/>
              <a:t>SCACEST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56741" y="2154682"/>
            <a:ext cx="8166734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890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AAS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completar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tratamiento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doble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antiagregante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fármaco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inhibidor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ADP.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fármaco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mejor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perfil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riesgo/beneficio </a:t>
            </a:r>
            <a:r>
              <a:rPr sz="1800" spc="-25" dirty="0">
                <a:latin typeface="Calibri"/>
                <a:cs typeface="Calibri"/>
              </a:rPr>
              <a:t>es:</a:t>
            </a:r>
            <a:endParaRPr sz="1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latin typeface="Calibri"/>
                <a:cs typeface="Calibri"/>
              </a:rPr>
              <a:t>Ticagrelor</a:t>
            </a:r>
            <a:r>
              <a:rPr sz="1800" spc="-25" dirty="0">
                <a:latin typeface="Calibri"/>
                <a:cs typeface="Calibri"/>
              </a:rPr>
              <a:t> v.o.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dosis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carga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180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seguida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90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mg/12h.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spc="-10" dirty="0">
                <a:latin typeface="Calibri"/>
                <a:cs typeface="Calibri"/>
              </a:rPr>
              <a:t>Alternativas:</a:t>
            </a:r>
            <a:endParaRPr sz="1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Prasugrel</a:t>
            </a:r>
            <a:r>
              <a:rPr sz="1800" spc="-20" dirty="0">
                <a:latin typeface="Calibri"/>
                <a:cs typeface="Calibri"/>
              </a:rPr>
              <a:t> v.o.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dosis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carga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60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mg.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posteriormente </a:t>
            </a:r>
            <a:r>
              <a:rPr sz="1800" dirty="0">
                <a:latin typeface="Calibri"/>
                <a:cs typeface="Calibri"/>
              </a:rPr>
              <a:t>10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mg./día.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Indicado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en</a:t>
            </a:r>
            <a:endParaRPr sz="1800">
              <a:latin typeface="Calibri"/>
              <a:cs typeface="Calibri"/>
            </a:endParaRPr>
          </a:p>
          <a:p>
            <a:pPr marL="4699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pacientes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75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años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peso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&gt;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60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antecedentes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ictus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previo. </a:t>
            </a:r>
            <a:r>
              <a:rPr sz="1800" dirty="0">
                <a:latin typeface="Calibri"/>
                <a:cs typeface="Calibri"/>
              </a:rPr>
              <a:t>Clopidogrel</a:t>
            </a:r>
            <a:r>
              <a:rPr sz="1800" spc="4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v.o.</a:t>
            </a:r>
            <a:r>
              <a:rPr sz="1800" spc="4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4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dosis</a:t>
            </a:r>
            <a:r>
              <a:rPr sz="1800" spc="4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4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carga</a:t>
            </a:r>
            <a:r>
              <a:rPr sz="1800" spc="4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4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600</a:t>
            </a:r>
            <a:r>
              <a:rPr sz="1800" spc="4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mg</a:t>
            </a:r>
            <a:r>
              <a:rPr sz="1800" spc="4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seguida</a:t>
            </a:r>
            <a:r>
              <a:rPr sz="1800" spc="4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4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75mg/24</a:t>
            </a:r>
            <a:r>
              <a:rPr sz="1800" spc="4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horas.</a:t>
            </a:r>
            <a:r>
              <a:rPr sz="1800" spc="46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Se </a:t>
            </a:r>
            <a:r>
              <a:rPr sz="1800" dirty="0">
                <a:latin typeface="Calibri"/>
                <a:cs typeface="Calibri"/>
              </a:rPr>
              <a:t>administrará cuando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previos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 estén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disponibles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pacientes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se </a:t>
            </a:r>
            <a:r>
              <a:rPr sz="1800" dirty="0">
                <a:latin typeface="Calibri"/>
                <a:cs typeface="Calibri"/>
              </a:rPr>
              <a:t>considere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riesgo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sangrado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elevado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3900" y="1100395"/>
            <a:ext cx="10480040" cy="5755005"/>
            <a:chOff x="723900" y="1100395"/>
            <a:chExt cx="10480040" cy="5755005"/>
          </a:xfrm>
        </p:grpSpPr>
        <p:pic>
          <p:nvPicPr>
            <p:cNvPr id="3" name="object 3" descr="escudo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51064" y="4479034"/>
              <a:ext cx="2898648" cy="237591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900" y="1100395"/>
              <a:ext cx="10479792" cy="5163061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627736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chemeClr val="accent1"/>
                </a:solidFill>
              </a:rPr>
              <a:t>8.3</a:t>
            </a:r>
            <a:r>
              <a:rPr spc="-195" dirty="0">
                <a:solidFill>
                  <a:schemeClr val="accent1"/>
                </a:solidFill>
              </a:rPr>
              <a:t> </a:t>
            </a:r>
            <a:r>
              <a:rPr dirty="0">
                <a:solidFill>
                  <a:schemeClr val="accent1"/>
                </a:solidFill>
              </a:rPr>
              <a:t>Antiagregantes</a:t>
            </a:r>
            <a:r>
              <a:rPr spc="-120" dirty="0">
                <a:solidFill>
                  <a:schemeClr val="accent1"/>
                </a:solidFill>
              </a:rPr>
              <a:t> </a:t>
            </a:r>
            <a:r>
              <a:rPr spc="-10" dirty="0">
                <a:solidFill>
                  <a:schemeClr val="accent1"/>
                </a:solidFill>
              </a:rPr>
              <a:t>SCACEST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3CB999D-DE80-20F4-49AA-73DBC70C022D}"/>
              </a:ext>
            </a:extLst>
          </p:cNvPr>
          <p:cNvSpPr txBox="1"/>
          <p:nvPr/>
        </p:nvSpPr>
        <p:spPr>
          <a:xfrm>
            <a:off x="4800600" y="5757605"/>
            <a:ext cx="479868" cy="276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1200" dirty="0"/>
              <a:t>300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Anticoagulante:</a:t>
            </a:r>
            <a:r>
              <a:rPr spc="-165" dirty="0"/>
              <a:t> </a:t>
            </a:r>
            <a:r>
              <a:rPr spc="-10" dirty="0"/>
              <a:t>SCACEST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2080742"/>
            <a:ext cx="7959090" cy="222250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Heparina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fraccionada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ajustada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según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peso.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Alternativas:</a:t>
            </a:r>
            <a:endParaRPr sz="3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8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10" dirty="0">
                <a:latin typeface="Calibri"/>
                <a:cs typeface="Calibri"/>
              </a:rPr>
              <a:t>Enoxaparina.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10" dirty="0">
                <a:latin typeface="Calibri"/>
                <a:cs typeface="Calibri"/>
              </a:rPr>
              <a:t>Bivalirudina.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8.4</a:t>
            </a:r>
            <a:r>
              <a:rPr spc="-30" dirty="0"/>
              <a:t> </a:t>
            </a:r>
            <a:r>
              <a:rPr spc="-10" dirty="0"/>
              <a:t>Reperfusión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2619" y="1793240"/>
            <a:ext cx="10909935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698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El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objetivo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los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pacientes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SCACEST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lograr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reperfusión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coronaria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el </a:t>
            </a:r>
            <a:r>
              <a:rPr sz="2400" dirty="0">
                <a:latin typeface="Calibri"/>
                <a:cs typeface="Calibri"/>
              </a:rPr>
              <a:t>tiempo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más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breve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posible.</a:t>
            </a:r>
            <a:endParaRPr sz="2400">
              <a:latin typeface="Calibri"/>
              <a:cs typeface="Calibri"/>
            </a:endParaRPr>
          </a:p>
          <a:p>
            <a:pPr marL="354965" marR="5080" indent="-342900">
              <a:lnSpc>
                <a:spcPct val="100000"/>
              </a:lnSpc>
              <a:spcBef>
                <a:spcPts val="288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Existe</a:t>
            </a:r>
            <a:r>
              <a:rPr sz="2400" spc="3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una</a:t>
            </a:r>
            <a:r>
              <a:rPr sz="2400" spc="3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relación</a:t>
            </a:r>
            <a:r>
              <a:rPr sz="2400" spc="3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inversa</a:t>
            </a:r>
            <a:r>
              <a:rPr sz="2400" spc="3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entre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</a:t>
            </a:r>
            <a:r>
              <a:rPr sz="2400" spc="3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tratamiento</a:t>
            </a:r>
            <a:r>
              <a:rPr sz="2400" spc="3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3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</a:t>
            </a:r>
            <a:r>
              <a:rPr sz="2400" spc="3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beneficio</a:t>
            </a:r>
            <a:r>
              <a:rPr sz="2400" spc="3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3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</a:t>
            </a:r>
            <a:r>
              <a:rPr sz="2400" spc="3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relativo</a:t>
            </a:r>
            <a:r>
              <a:rPr sz="2400" spc="3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3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la </a:t>
            </a:r>
            <a:r>
              <a:rPr sz="2400" spc="-10" dirty="0">
                <a:latin typeface="Calibri"/>
                <a:cs typeface="Calibri"/>
              </a:rPr>
              <a:t>supervivencia.</a:t>
            </a:r>
            <a:endParaRPr sz="2400">
              <a:latin typeface="Calibri"/>
              <a:cs typeface="Calibri"/>
            </a:endParaRPr>
          </a:p>
          <a:p>
            <a:pPr marL="354965" marR="5715" indent="-342900">
              <a:lnSpc>
                <a:spcPct val="100000"/>
              </a:lnSpc>
              <a:spcBef>
                <a:spcPts val="2885"/>
              </a:spcBef>
              <a:buFont typeface="Arial MT"/>
              <a:buChar char="•"/>
              <a:tabLst>
                <a:tab pos="354965" algn="l"/>
                <a:tab pos="831215" algn="l"/>
                <a:tab pos="2469515" algn="l"/>
                <a:tab pos="3456940" algn="l"/>
                <a:tab pos="5121910" algn="l"/>
                <a:tab pos="5769610" algn="l"/>
                <a:tab pos="7314565" algn="l"/>
                <a:tab pos="7962900" algn="l"/>
                <a:tab pos="9717405" algn="l"/>
              </a:tabLst>
            </a:pPr>
            <a:r>
              <a:rPr sz="2400" spc="-25" dirty="0">
                <a:latin typeface="Calibri"/>
                <a:cs typeface="Calibri"/>
              </a:rPr>
              <a:t>La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reperfusión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puede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conseguirse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con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fibrinolisis,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con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intervención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coronaria percutánea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(ICP),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combinación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ambas.</a:t>
            </a:r>
            <a:endParaRPr sz="2400">
              <a:latin typeface="Calibri"/>
              <a:cs typeface="Calibri"/>
            </a:endParaRPr>
          </a:p>
          <a:p>
            <a:pPr marL="354965" marR="8255" indent="-342900">
              <a:lnSpc>
                <a:spcPct val="100000"/>
              </a:lnSpc>
              <a:spcBef>
                <a:spcPts val="288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La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eficacia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terapia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reperfusión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profundamente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dependiente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del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intervalo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tiempo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comienzo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síntomas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reperfusió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8.4</a:t>
            </a:r>
            <a:r>
              <a:rPr spc="-30" dirty="0"/>
              <a:t> </a:t>
            </a:r>
            <a:r>
              <a:rPr spc="-10" dirty="0"/>
              <a:t>Reperfusión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2619" y="1793240"/>
            <a:ext cx="1090866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180" marR="698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dirty="0">
                <a:latin typeface="Calibri"/>
                <a:cs typeface="Calibri"/>
              </a:rPr>
              <a:t>La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fibrinolisis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efectiva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específicamente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las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primeras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comienzo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	</a:t>
            </a:r>
            <a:r>
              <a:rPr sz="2400" dirty="0">
                <a:latin typeface="Calibri"/>
                <a:cs typeface="Calibri"/>
              </a:rPr>
              <a:t>los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síntomas;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ICPP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sensible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tiempo.</a:t>
            </a:r>
            <a:endParaRPr sz="2400">
              <a:latin typeface="Calibri"/>
              <a:cs typeface="Calibri"/>
            </a:endParaRPr>
          </a:p>
          <a:p>
            <a:pPr marL="297180" marR="5080" indent="-285115">
              <a:lnSpc>
                <a:spcPct val="100000"/>
              </a:lnSpc>
              <a:spcBef>
                <a:spcPts val="288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 dirty="0">
                <a:latin typeface="Calibri"/>
                <a:cs typeface="Calibri"/>
              </a:rPr>
              <a:t>La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angioplastia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coronaria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convertido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tratamiento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primera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línea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para 	</a:t>
            </a:r>
            <a:r>
              <a:rPr sz="2400" spc="-10" dirty="0">
                <a:latin typeface="Calibri"/>
                <a:cs typeface="Calibri"/>
              </a:rPr>
              <a:t>pacientes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SCAEST.</a:t>
            </a:r>
            <a:endParaRPr sz="24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2885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dirty="0">
                <a:latin typeface="Calibri"/>
                <a:cs typeface="Calibri"/>
              </a:rPr>
              <a:t>La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fibrinolisis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debería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considerarse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existe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demora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importante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ICP.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2633" rIns="0" bIns="0" rtlCol="0">
            <a:spAutoFit/>
          </a:bodyPr>
          <a:lstStyle/>
          <a:p>
            <a:pPr marL="2596515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548ED4"/>
                </a:solidFill>
                <a:latin typeface="Calibri"/>
                <a:cs typeface="Calibri"/>
              </a:rPr>
              <a:t>REPERFUSIÓN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1964" y="1600200"/>
            <a:ext cx="5148072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2633" rIns="0" bIns="0" rtlCol="0">
            <a:spAutoFit/>
          </a:bodyPr>
          <a:lstStyle/>
          <a:p>
            <a:pPr marL="2596515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548ED4"/>
                </a:solidFill>
                <a:latin typeface="Calibri"/>
                <a:cs typeface="Calibri"/>
              </a:rPr>
              <a:t>REPERFUSIÓN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9131" y="1417258"/>
            <a:ext cx="7076772" cy="4939253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35448" y="2867990"/>
            <a:ext cx="25406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0" dirty="0"/>
              <a:t>Gracias</a:t>
            </a:r>
            <a:endParaRPr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{F6CB5D1A-44EA-4143-BD93-D69C73FE2C6F}tf10001060</Template>
  <TotalTime>69</TotalTime>
  <Words>1867</Words>
  <Application>Microsoft Macintosh PowerPoint</Application>
  <PresentationFormat>Panorámica</PresentationFormat>
  <Paragraphs>344</Paragraphs>
  <Slides>53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53</vt:i4>
      </vt:variant>
    </vt:vector>
  </HeadingPairs>
  <TitlesOfParts>
    <vt:vector size="60" baseType="lpstr">
      <vt:lpstr>Arial</vt:lpstr>
      <vt:lpstr>Arial MT</vt:lpstr>
      <vt:lpstr>Calibri</vt:lpstr>
      <vt:lpstr>Trebuchet MS</vt:lpstr>
      <vt:lpstr>Wingdings</vt:lpstr>
      <vt:lpstr>Wingdings 3</vt:lpstr>
      <vt:lpstr>Faceta</vt:lpstr>
      <vt:lpstr>Presentación de PowerPoint</vt:lpstr>
      <vt:lpstr>Índice</vt:lpstr>
      <vt:lpstr>Índice</vt:lpstr>
      <vt:lpstr>Introducción</vt:lpstr>
      <vt:lpstr>Índice</vt:lpstr>
      <vt:lpstr>Síndrome coronario agudo</vt:lpstr>
      <vt:lpstr>Síndrome coronario agudo</vt:lpstr>
      <vt:lpstr>Clasificación del SCA</vt:lpstr>
      <vt:lpstr>Índice</vt:lpstr>
      <vt:lpstr>Clasificación del SCA</vt:lpstr>
      <vt:lpstr>Clasificación del SCA</vt:lpstr>
      <vt:lpstr>Índice</vt:lpstr>
      <vt:lpstr>Placas vulnerables y pacientes vulnerables</vt:lpstr>
      <vt:lpstr>Fisiopatología</vt:lpstr>
      <vt:lpstr>Presentación de PowerPoint</vt:lpstr>
      <vt:lpstr>Índice</vt:lpstr>
      <vt:lpstr>Clínica </vt:lpstr>
      <vt:lpstr>Historia clínica</vt:lpstr>
      <vt:lpstr>Clínica</vt:lpstr>
      <vt:lpstr>Clínica</vt:lpstr>
      <vt:lpstr>Índice</vt:lpstr>
      <vt:lpstr>Presentación de PowerPoint</vt:lpstr>
      <vt:lpstr>Presentación de PowerPoint</vt:lpstr>
      <vt:lpstr>Electrocardiograma SCACEST</vt:lpstr>
      <vt:lpstr>SCACEST</vt:lpstr>
      <vt:lpstr>Presentación de PowerPoint</vt:lpstr>
      <vt:lpstr>SCACEST</vt:lpstr>
      <vt:lpstr>SCACEST</vt:lpstr>
      <vt:lpstr>SCASEST</vt:lpstr>
      <vt:lpstr>Presentación de PowerPoint</vt:lpstr>
      <vt:lpstr>Índice</vt:lpstr>
      <vt:lpstr>Presentación de PowerPoint</vt:lpstr>
      <vt:lpstr>Presentación de PowerPoint</vt:lpstr>
      <vt:lpstr>Clasificación del SCA</vt:lpstr>
      <vt:lpstr>Presentación de PowerPoint</vt:lpstr>
      <vt:lpstr>Biomarcadores</vt:lpstr>
      <vt:lpstr>Biomarcadores</vt:lpstr>
      <vt:lpstr>Biomarcadores</vt:lpstr>
      <vt:lpstr>Índice</vt:lpstr>
      <vt:lpstr>8.1 Manejo</vt:lpstr>
      <vt:lpstr>8.1 Manejo inicial</vt:lpstr>
      <vt:lpstr>8.1 Objetivos del tratamiento</vt:lpstr>
      <vt:lpstr>8.1 Objetivos del tratamiento</vt:lpstr>
      <vt:lpstr>8.1 Oxigenoterapia</vt:lpstr>
      <vt:lpstr>8.3 Antiagregantes</vt:lpstr>
      <vt:lpstr>8.3 Antiagregantes en SCACEST</vt:lpstr>
      <vt:lpstr>8.3 Antiagregantes SCACEST</vt:lpstr>
      <vt:lpstr>Anticoagulante: SCACEST</vt:lpstr>
      <vt:lpstr>8.4 Reperfusión</vt:lpstr>
      <vt:lpstr>8.4 Reperfusión</vt:lpstr>
      <vt:lpstr>REPERFUSIÓN</vt:lpstr>
      <vt:lpstr>REPERFUSIÓN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Susana Sanchez</dc:creator>
  <cp:lastModifiedBy>Microsoft Office User</cp:lastModifiedBy>
  <cp:revision>2</cp:revision>
  <dcterms:created xsi:type="dcterms:W3CDTF">2026-03-03T15:29:45Z</dcterms:created>
  <dcterms:modified xsi:type="dcterms:W3CDTF">2026-03-03T19:45:37Z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2024-02-22T00:00:00Z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2026-03-03T00:00:00Z</vt:filetime>
  </property>
  <property fmtid="{D5CDD505-2E9C-101B-9397-08002B2CF9AE}" pid="5" name="Producer">
    <vt:lpwstr>Microsoft® PowerPoint® para Microsoft 365</vt:lpwstr>
  </property>
</Properties>
</file>