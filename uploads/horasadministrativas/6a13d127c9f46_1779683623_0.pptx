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  <p:sldMasterId id="2147483686" r:id="rId4"/>
  </p:sldMasterIdLst>
  <p:notesMasterIdLst>
    <p:notesMasterId r:id="rId28"/>
  </p:notesMasterIdLst>
  <p:sldIdLst>
    <p:sldId id="256" r:id="rId5"/>
    <p:sldId id="316" r:id="rId6"/>
    <p:sldId id="340" r:id="rId7"/>
    <p:sldId id="262" r:id="rId8"/>
    <p:sldId id="341" r:id="rId9"/>
    <p:sldId id="337" r:id="rId10"/>
    <p:sldId id="270" r:id="rId11"/>
    <p:sldId id="332" r:id="rId12"/>
    <p:sldId id="271" r:id="rId13"/>
    <p:sldId id="269" r:id="rId14"/>
    <p:sldId id="342" r:id="rId15"/>
    <p:sldId id="343" r:id="rId16"/>
    <p:sldId id="275" r:id="rId17"/>
    <p:sldId id="344" r:id="rId18"/>
    <p:sldId id="258" r:id="rId19"/>
    <p:sldId id="261" r:id="rId20"/>
    <p:sldId id="264" r:id="rId21"/>
    <p:sldId id="265" r:id="rId22"/>
    <p:sldId id="345" r:id="rId23"/>
    <p:sldId id="278" r:id="rId24"/>
    <p:sldId id="276" r:id="rId25"/>
    <p:sldId id="346" r:id="rId26"/>
    <p:sldId id="277" r:id="rId2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76" autoAdjust="0"/>
    <p:restoredTop sz="94660"/>
  </p:normalViewPr>
  <p:slideViewPr>
    <p:cSldViewPr snapToGrid="0">
      <p:cViewPr>
        <p:scale>
          <a:sx n="127" d="100"/>
          <a:sy n="127" d="100"/>
        </p:scale>
        <p:origin x="144" y="-1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PCTE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SULFATO DE MAGNESIO 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BA-A443-BE96-0E97D6F61C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67236365"/>
        <c:axId val="788733682"/>
      </c:barChart>
      <c:catAx>
        <c:axId val="6723636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  <c:crossAx val="788733682"/>
        <c:crosses val="autoZero"/>
        <c:auto val="1"/>
        <c:lblAlgn val="ctr"/>
        <c:lblOffset val="100"/>
        <c:noMultiLvlLbl val="0"/>
      </c:catAx>
      <c:valAx>
        <c:axId val="78873368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  <c:crossAx val="6723636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s-MX"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charset="0"/>
              <a:ea typeface="Century Gothic" panose="020B0502020202020204" charset="0"/>
              <a:cs typeface="Century Gothic" panose="020B0502020202020204" charset="0"/>
              <a:sym typeface="Century Gothic" panose="020B0502020202020204" charset="0"/>
            </a:defRPr>
          </a:pPr>
          <a:endParaRPr lang="es-CO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3100f98-3d01-4f0c-8edd-b8ee10b07bcf}"/>
      </c:ext>
    </c:extLst>
  </c:chart>
  <c:spPr>
    <a:noFill/>
    <a:ln>
      <a:noFill/>
    </a:ln>
    <a:effectLst/>
  </c:spPr>
  <c:txPr>
    <a:bodyPr/>
    <a:lstStyle/>
    <a:p>
      <a:pPr>
        <a:defRPr lang="es-MX" sz="1600">
          <a:latin typeface="Century Gothic" panose="020B0502020202020204" charset="0"/>
          <a:ea typeface="Century Gothic" panose="020B0502020202020204" charset="0"/>
          <a:cs typeface="Century Gothic" panose="020B0502020202020204" charset="0"/>
          <a:sym typeface="Century Gothic" panose="020B0502020202020204" charset="0"/>
        </a:defRPr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CANTIDAD DE PARTOS Y CESAREAS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CANTIDAD DE CITAS ASIGNADAS DE POSPARTOS Y CESAREAS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7F-044F-A1D6-4480812101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° DE CITAS ASIGNADAS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CANTIDAD DE CITAS ASIGNADAS DE POSPARTOS Y CESAREAS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7F-044F-A1D6-4480812101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61956843"/>
        <c:axId val="693443963"/>
      </c:barChart>
      <c:catAx>
        <c:axId val="6195684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  <c:crossAx val="693443963"/>
        <c:crosses val="autoZero"/>
        <c:auto val="1"/>
        <c:lblAlgn val="ctr"/>
        <c:lblOffset val="100"/>
        <c:noMultiLvlLbl val="0"/>
      </c:catAx>
      <c:valAx>
        <c:axId val="69344396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9568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s-MX"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charset="0"/>
              <a:ea typeface="Century Gothic" panose="020B0502020202020204" charset="0"/>
              <a:cs typeface="Century Gothic" panose="020B0502020202020204" charset="0"/>
              <a:sym typeface="Century Gothic" panose="020B0502020202020204" charset="0"/>
            </a:defRPr>
          </a:pPr>
          <a:endParaRPr lang="es-CO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f236ae3-eb33-4b8f-a04b-7eda2571ab3d}"/>
      </c:ext>
    </c:extLst>
  </c:chart>
  <c:spPr>
    <a:noFill/>
    <a:ln>
      <a:noFill/>
    </a:ln>
    <a:effectLst/>
  </c:spPr>
  <c:txPr>
    <a:bodyPr/>
    <a:lstStyle/>
    <a:p>
      <a:pPr>
        <a:defRPr lang="es-MX" sz="1600">
          <a:latin typeface="Century Gothic" panose="020B0502020202020204" charset="0"/>
          <a:ea typeface="Century Gothic" panose="020B0502020202020204" charset="0"/>
          <a:cs typeface="Century Gothic" panose="020B0502020202020204" charset="0"/>
          <a:sym typeface="Century Gothic" panose="020B0502020202020204" charset="0"/>
        </a:defRPr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IMPLANTE SUBDERMICO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MÉTODOS ANTICONCEPTIVOS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52-424D-8ACA-07D4DB9733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DIU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MÉTODOS ANTICONCEPTIVOS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52-424D-8ACA-07D4DB9733F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INYECCION TRIMESTRAL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MÉTODOS ANTICONCEPTIVOS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52-424D-8ACA-07D4DB9733F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POMEROY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MÉTODOS ANTICONCEPTIVOS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752-424D-8ACA-07D4DB9733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610567448"/>
        <c:axId val="545891627"/>
      </c:barChart>
      <c:catAx>
        <c:axId val="61056744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  <c:crossAx val="545891627"/>
        <c:crosses val="autoZero"/>
        <c:auto val="1"/>
        <c:lblAlgn val="ctr"/>
        <c:lblOffset val="100"/>
        <c:noMultiLvlLbl val="0"/>
      </c:catAx>
      <c:valAx>
        <c:axId val="5458916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  <c:crossAx val="610567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s-MX"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charset="0"/>
              <a:ea typeface="Century Gothic" panose="020B0502020202020204" charset="0"/>
              <a:cs typeface="Century Gothic" panose="020B0502020202020204" charset="0"/>
              <a:sym typeface="Century Gothic" panose="020B0502020202020204" charset="0"/>
            </a:defRPr>
          </a:pPr>
          <a:endParaRPr lang="es-CO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29cae84-9deb-4dd4-98d6-f1b9497526cc}"/>
      </c:ext>
    </c:extLst>
  </c:chart>
  <c:spPr>
    <a:noFill/>
    <a:ln>
      <a:noFill/>
    </a:ln>
    <a:effectLst/>
  </c:spPr>
  <c:txPr>
    <a:bodyPr/>
    <a:lstStyle/>
    <a:p>
      <a:pPr>
        <a:defRPr lang="es-MX" sz="1800">
          <a:latin typeface="Century Gothic" panose="020B0502020202020204" charset="0"/>
          <a:ea typeface="Century Gothic" panose="020B0502020202020204" charset="0"/>
          <a:cs typeface="Century Gothic" panose="020B0502020202020204" charset="0"/>
          <a:sym typeface="Century Gothic" panose="020B0502020202020204" charset="0"/>
        </a:defRPr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#3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DB5165-29DA-40E4-8CF1-67AA1017F4DF}" type="doc">
      <dgm:prSet loTypeId="urn:microsoft.com/office/officeart/2005/8/layout/vProcess5" loCatId="process" qsTypeId="urn:microsoft.com/office/officeart/2005/8/quickstyle/simple1#3" qsCatId="simple" csTypeId="urn:microsoft.com/office/officeart/2005/8/colors/accent1_5#3" csCatId="accent1" phldr="1"/>
      <dgm:spPr/>
      <dgm:t>
        <a:bodyPr/>
        <a:lstStyle/>
        <a:p>
          <a:endParaRPr lang="zh-CN" altLang="en-US"/>
        </a:p>
      </dgm:t>
    </dgm:pt>
    <dgm:pt modelId="{1F18B811-B6C4-4E9E-B75F-E68888D2B754}">
      <dgm:prSet phldrT="[Texto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sz="3200" b="1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LISTA DE CHEQUEO: 17 PREGUNTAS</a:t>
          </a:r>
          <a:endParaRPr lang="zh-CN" altLang="en-US" sz="3200" b="1">
            <a:latin typeface="Century Gothic" panose="020B0502020202020204" charset="0"/>
            <a:cs typeface="Century Gothic" panose="020B0502020202020204" charset="0"/>
          </a:endParaRPr>
        </a:p>
      </dgm:t>
    </dgm:pt>
    <dgm:pt modelId="{39F221A0-D930-4524-B286-5041480B8FA5}" type="parTrans" cxnId="{2CEFD707-F21A-4E65-B811-0EF726E2AEFE}">
      <dgm:prSet/>
      <dgm:spPr/>
      <dgm:t>
        <a:bodyPr/>
        <a:lstStyle/>
        <a:p>
          <a:endParaRPr lang="zh-CN" altLang="en-US"/>
        </a:p>
      </dgm:t>
    </dgm:pt>
    <dgm:pt modelId="{808440FA-46F9-4FB5-9A52-0D4B96A1C329}" type="sibTrans" cxnId="{2CEFD707-F21A-4E65-B811-0EF726E2AEFE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800">
            <a:latin typeface="Century Gothic" panose="020B0502020202020204" charset="0"/>
            <a:cs typeface="Century Gothic" panose="020B0502020202020204" charset="0"/>
          </a:endParaRPr>
        </a:p>
      </dgm:t>
    </dgm:pt>
    <dgm:pt modelId="{0EC68BAA-45B4-43C2-A277-337EA6F9C30A}">
      <dgm:prSet phldrT="[Texto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sz="2000" b="1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2 MOMENTOS</a:t>
          </a:r>
          <a:endParaRPr lang="es-CO" sz="2000" b="1" spc="-1" dirty="0">
            <a:solidFill>
              <a:schemeClr val="dk1"/>
            </a:solidFill>
            <a:latin typeface="Century Gothic" panose="020B0502020202020204" charset="0"/>
            <a:cs typeface="Century Gothic" panose="020B0502020202020204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sz="2000" b="1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            1 MOMENTO: 6 PREGUNTA </a:t>
          </a:r>
          <a:endParaRPr lang="es-CO" sz="2000" b="1" strike="noStrike" spc="-1" dirty="0">
            <a:solidFill>
              <a:schemeClr val="dk1"/>
            </a:solidFill>
            <a:latin typeface="Century Gothic" panose="020B0502020202020204" charset="0"/>
            <a:cs typeface="Century Gothic" panose="020B0502020202020204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sz="2000" b="1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            2  MOMENTO: 11 PREGUNTAS</a:t>
          </a:r>
          <a:endParaRPr lang="zh-CN" altLang="en-US" sz="2000" b="1">
            <a:latin typeface="Century Gothic" panose="020B0502020202020204" charset="0"/>
            <a:cs typeface="Century Gothic" panose="020B0502020202020204" charset="0"/>
          </a:endParaRPr>
        </a:p>
      </dgm:t>
    </dgm:pt>
    <dgm:pt modelId="{74E1C1F9-DBE5-45DE-ABCA-4EAB89E7BD46}" type="parTrans" cxnId="{9C609834-8102-4299-9313-50B405CDF9CF}">
      <dgm:prSet/>
      <dgm:spPr/>
      <dgm:t>
        <a:bodyPr/>
        <a:lstStyle/>
        <a:p>
          <a:endParaRPr lang="zh-CN" altLang="en-US"/>
        </a:p>
      </dgm:t>
    </dgm:pt>
    <dgm:pt modelId="{B14E47DD-7335-43B1-AA39-9A37DC959B2D}" type="sibTrans" cxnId="{9C609834-8102-4299-9313-50B405CDF9CF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800">
            <a:latin typeface="Century Gothic" panose="020B0502020202020204" charset="0"/>
            <a:cs typeface="Century Gothic" panose="020B0502020202020204" charset="0"/>
          </a:endParaRPr>
        </a:p>
      </dgm:t>
    </dgm:pt>
    <dgm:pt modelId="{9191245A-08B2-492B-8F4C-F0BB23674A76}">
      <dgm:prSet phldrT="[Texto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ES" sz="1400" spc="-1" dirty="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No uso de los campos estériles en el momento de la atención del parto</a:t>
          </a:r>
          <a:r>
            <a:rPr lang="es-CO" altLang="es-ES" sz="1400" spc="-1" dirty="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, paciente en expulsivo en el área de toma de monitoria fetal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altLang="zh-CN" sz="140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</a:rPr>
            <a:t>Adapatacion Neonatal realizada por profesional de enfermeria</a:t>
          </a:r>
        </a:p>
      </dgm:t>
    </dgm:pt>
    <dgm:pt modelId="{88B912E5-FDBE-47AD-B6CC-5D82B19F2810}" type="parTrans" cxnId="{91645335-D510-49B6-9092-88FD0119DC37}">
      <dgm:prSet/>
      <dgm:spPr/>
      <dgm:t>
        <a:bodyPr/>
        <a:lstStyle/>
        <a:p>
          <a:endParaRPr lang="zh-CN" altLang="en-US"/>
        </a:p>
      </dgm:t>
    </dgm:pt>
    <dgm:pt modelId="{BDF1CE3D-63BD-4B26-AEBD-1516CE58D66C}" type="sibTrans" cxnId="{91645335-D510-49B6-9092-88FD0119DC37}">
      <dgm:prSet/>
      <dgm:spPr/>
      <dgm:t>
        <a:bodyPr/>
        <a:lstStyle/>
        <a:p>
          <a:endParaRPr lang="zh-CN" altLang="en-US"/>
        </a:p>
      </dgm:t>
    </dgm:pt>
    <dgm:pt modelId="{A671BA0D-9A2E-4CE0-8FE8-280E4BC39C1C}" type="pres">
      <dgm:prSet presAssocID="{3ADB5165-29DA-40E4-8CF1-67AA1017F4DF}" presName="outerComposite" presStyleCnt="0">
        <dgm:presLayoutVars>
          <dgm:chMax val="5"/>
          <dgm:dir/>
          <dgm:resizeHandles val="exact"/>
        </dgm:presLayoutVars>
      </dgm:prSet>
      <dgm:spPr/>
    </dgm:pt>
    <dgm:pt modelId="{7D0A7625-01FE-4393-9AD9-A3646B94880B}" type="pres">
      <dgm:prSet presAssocID="{3ADB5165-29DA-40E4-8CF1-67AA1017F4DF}" presName="dummyMaxCanvas" presStyleCnt="0">
        <dgm:presLayoutVars/>
      </dgm:prSet>
      <dgm:spPr/>
    </dgm:pt>
    <dgm:pt modelId="{02B81D84-E9B0-4288-A9B0-1C7D3A51837D}" type="pres">
      <dgm:prSet presAssocID="{3ADB5165-29DA-40E4-8CF1-67AA1017F4DF}" presName="ThreeNodes_1" presStyleLbl="node1" presStyleIdx="0" presStyleCnt="3">
        <dgm:presLayoutVars>
          <dgm:bulletEnabled val="1"/>
        </dgm:presLayoutVars>
      </dgm:prSet>
      <dgm:spPr/>
    </dgm:pt>
    <dgm:pt modelId="{AE519131-08E2-4407-9CE3-67BB9E517B65}" type="pres">
      <dgm:prSet presAssocID="{3ADB5165-29DA-40E4-8CF1-67AA1017F4DF}" presName="ThreeNodes_2" presStyleLbl="node1" presStyleIdx="1" presStyleCnt="3">
        <dgm:presLayoutVars>
          <dgm:bulletEnabled val="1"/>
        </dgm:presLayoutVars>
      </dgm:prSet>
      <dgm:spPr/>
    </dgm:pt>
    <dgm:pt modelId="{4DE37EC9-3238-48E8-8583-BB40E5E7B41E}" type="pres">
      <dgm:prSet presAssocID="{3ADB5165-29DA-40E4-8CF1-67AA1017F4DF}" presName="ThreeNodes_3" presStyleLbl="node1" presStyleIdx="2" presStyleCnt="3">
        <dgm:presLayoutVars>
          <dgm:bulletEnabled val="1"/>
        </dgm:presLayoutVars>
      </dgm:prSet>
      <dgm:spPr/>
    </dgm:pt>
    <dgm:pt modelId="{616DF2A7-918E-4967-B3D3-B0F02C6F81A2}" type="pres">
      <dgm:prSet presAssocID="{3ADB5165-29DA-40E4-8CF1-67AA1017F4DF}" presName="ThreeConn_1-2" presStyleLbl="fgAccFollowNode1" presStyleIdx="0" presStyleCnt="2">
        <dgm:presLayoutVars>
          <dgm:bulletEnabled val="1"/>
        </dgm:presLayoutVars>
      </dgm:prSet>
      <dgm:spPr/>
    </dgm:pt>
    <dgm:pt modelId="{3324591E-3737-4FBB-80FB-D84A53062981}" type="pres">
      <dgm:prSet presAssocID="{3ADB5165-29DA-40E4-8CF1-67AA1017F4DF}" presName="ThreeConn_2-3" presStyleLbl="fgAccFollowNode1" presStyleIdx="1" presStyleCnt="2">
        <dgm:presLayoutVars>
          <dgm:bulletEnabled val="1"/>
        </dgm:presLayoutVars>
      </dgm:prSet>
      <dgm:spPr/>
    </dgm:pt>
    <dgm:pt modelId="{96414989-D48D-44BC-A9AF-5B3839293372}" type="pres">
      <dgm:prSet presAssocID="{3ADB5165-29DA-40E4-8CF1-67AA1017F4DF}" presName="ThreeNodes_1_text" presStyleLbl="node1" presStyleIdx="2" presStyleCnt="3">
        <dgm:presLayoutVars>
          <dgm:bulletEnabled val="1"/>
        </dgm:presLayoutVars>
      </dgm:prSet>
      <dgm:spPr/>
    </dgm:pt>
    <dgm:pt modelId="{3C2F03EA-35A8-4014-AE02-3750A8F6FF36}" type="pres">
      <dgm:prSet presAssocID="{3ADB5165-29DA-40E4-8CF1-67AA1017F4DF}" presName="ThreeNodes_2_text" presStyleLbl="node1" presStyleIdx="2" presStyleCnt="3">
        <dgm:presLayoutVars>
          <dgm:bulletEnabled val="1"/>
        </dgm:presLayoutVars>
      </dgm:prSet>
      <dgm:spPr/>
    </dgm:pt>
    <dgm:pt modelId="{C539D2F6-60D3-4363-8C59-7D94634FD7E2}" type="pres">
      <dgm:prSet presAssocID="{3ADB5165-29DA-40E4-8CF1-67AA1017F4D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CEFD707-F21A-4E65-B811-0EF726E2AEFE}" srcId="{3ADB5165-29DA-40E4-8CF1-67AA1017F4DF}" destId="{1F18B811-B6C4-4E9E-B75F-E68888D2B754}" srcOrd="0" destOrd="0" parTransId="{39F221A0-D930-4524-B286-5041480B8FA5}" sibTransId="{808440FA-46F9-4FB5-9A52-0D4B96A1C329}"/>
    <dgm:cxn modelId="{50CEF124-6831-4C18-B069-7EE49D93653D}" type="presOf" srcId="{0EC68BAA-45B4-43C2-A277-337EA6F9C30A}" destId="{AE519131-08E2-4407-9CE3-67BB9E517B65}" srcOrd="0" destOrd="0" presId="urn:microsoft.com/office/officeart/2005/8/layout/vProcess5"/>
    <dgm:cxn modelId="{0C8EBD2D-96E0-4CE6-A04B-20EE7EE326FE}" type="presOf" srcId="{0EC68BAA-45B4-43C2-A277-337EA6F9C30A}" destId="{3C2F03EA-35A8-4014-AE02-3750A8F6FF36}" srcOrd="1" destOrd="0" presId="urn:microsoft.com/office/officeart/2005/8/layout/vProcess5"/>
    <dgm:cxn modelId="{9C609834-8102-4299-9313-50B405CDF9CF}" srcId="{3ADB5165-29DA-40E4-8CF1-67AA1017F4DF}" destId="{0EC68BAA-45B4-43C2-A277-337EA6F9C30A}" srcOrd="1" destOrd="0" parTransId="{74E1C1F9-DBE5-45DE-ABCA-4EAB89E7BD46}" sibTransId="{B14E47DD-7335-43B1-AA39-9A37DC959B2D}"/>
    <dgm:cxn modelId="{0999BF34-E7BF-45A1-BFF7-73941A8DC3DA}" type="presOf" srcId="{3ADB5165-29DA-40E4-8CF1-67AA1017F4DF}" destId="{A671BA0D-9A2E-4CE0-8FE8-280E4BC39C1C}" srcOrd="0" destOrd="0" presId="urn:microsoft.com/office/officeart/2005/8/layout/vProcess5"/>
    <dgm:cxn modelId="{91645335-D510-49B6-9092-88FD0119DC37}" srcId="{3ADB5165-29DA-40E4-8CF1-67AA1017F4DF}" destId="{9191245A-08B2-492B-8F4C-F0BB23674A76}" srcOrd="2" destOrd="0" parTransId="{88B912E5-FDBE-47AD-B6CC-5D82B19F2810}" sibTransId="{BDF1CE3D-63BD-4B26-AEBD-1516CE58D66C}"/>
    <dgm:cxn modelId="{42558939-8066-42BE-8A99-1BC2A3AFE463}" type="presOf" srcId="{1F18B811-B6C4-4E9E-B75F-E68888D2B754}" destId="{02B81D84-E9B0-4288-A9B0-1C7D3A51837D}" srcOrd="0" destOrd="0" presId="urn:microsoft.com/office/officeart/2005/8/layout/vProcess5"/>
    <dgm:cxn modelId="{3FEF1A80-C9CA-4DAA-8B39-F73D81138CBD}" type="presOf" srcId="{1F18B811-B6C4-4E9E-B75F-E68888D2B754}" destId="{96414989-D48D-44BC-A9AF-5B3839293372}" srcOrd="1" destOrd="0" presId="urn:microsoft.com/office/officeart/2005/8/layout/vProcess5"/>
    <dgm:cxn modelId="{F47C6C86-8E8A-4B64-B3BE-4818A37F6D02}" type="presOf" srcId="{9191245A-08B2-492B-8F4C-F0BB23674A76}" destId="{C539D2F6-60D3-4363-8C59-7D94634FD7E2}" srcOrd="1" destOrd="0" presId="urn:microsoft.com/office/officeart/2005/8/layout/vProcess5"/>
    <dgm:cxn modelId="{C6D4F3A0-67EF-4B47-AA6A-2903C4D950F6}" type="presOf" srcId="{B14E47DD-7335-43B1-AA39-9A37DC959B2D}" destId="{3324591E-3737-4FBB-80FB-D84A53062981}" srcOrd="0" destOrd="0" presId="urn:microsoft.com/office/officeart/2005/8/layout/vProcess5"/>
    <dgm:cxn modelId="{FBD3C7D7-92F0-4950-A17B-9665E6882B58}" type="presOf" srcId="{9191245A-08B2-492B-8F4C-F0BB23674A76}" destId="{4DE37EC9-3238-48E8-8583-BB40E5E7B41E}" srcOrd="0" destOrd="0" presId="urn:microsoft.com/office/officeart/2005/8/layout/vProcess5"/>
    <dgm:cxn modelId="{386BF1FE-10E0-482E-9129-488A4A6D484B}" type="presOf" srcId="{808440FA-46F9-4FB5-9A52-0D4B96A1C329}" destId="{616DF2A7-918E-4967-B3D3-B0F02C6F81A2}" srcOrd="0" destOrd="0" presId="urn:microsoft.com/office/officeart/2005/8/layout/vProcess5"/>
    <dgm:cxn modelId="{AAB5FBA5-195D-4FEE-9145-1B381449CEB1}" type="presParOf" srcId="{A671BA0D-9A2E-4CE0-8FE8-280E4BC39C1C}" destId="{7D0A7625-01FE-4393-9AD9-A3646B94880B}" srcOrd="0" destOrd="0" presId="urn:microsoft.com/office/officeart/2005/8/layout/vProcess5"/>
    <dgm:cxn modelId="{139B0F4F-7A31-4FA0-AA69-7924B69983E9}" type="presParOf" srcId="{A671BA0D-9A2E-4CE0-8FE8-280E4BC39C1C}" destId="{02B81D84-E9B0-4288-A9B0-1C7D3A51837D}" srcOrd="1" destOrd="0" presId="urn:microsoft.com/office/officeart/2005/8/layout/vProcess5"/>
    <dgm:cxn modelId="{1AE07B57-CE7B-405D-8A05-C250E2F05BCC}" type="presParOf" srcId="{A671BA0D-9A2E-4CE0-8FE8-280E4BC39C1C}" destId="{AE519131-08E2-4407-9CE3-67BB9E517B65}" srcOrd="2" destOrd="0" presId="urn:microsoft.com/office/officeart/2005/8/layout/vProcess5"/>
    <dgm:cxn modelId="{5311DB91-7F1F-49DB-8CA3-8AD0CCCA6F21}" type="presParOf" srcId="{A671BA0D-9A2E-4CE0-8FE8-280E4BC39C1C}" destId="{4DE37EC9-3238-48E8-8583-BB40E5E7B41E}" srcOrd="3" destOrd="0" presId="urn:microsoft.com/office/officeart/2005/8/layout/vProcess5"/>
    <dgm:cxn modelId="{06356FDA-2AD9-423E-BB99-2907F5F9500D}" type="presParOf" srcId="{A671BA0D-9A2E-4CE0-8FE8-280E4BC39C1C}" destId="{616DF2A7-918E-4967-B3D3-B0F02C6F81A2}" srcOrd="4" destOrd="0" presId="urn:microsoft.com/office/officeart/2005/8/layout/vProcess5"/>
    <dgm:cxn modelId="{B1406E22-595F-49DB-841A-A0476838EF6A}" type="presParOf" srcId="{A671BA0D-9A2E-4CE0-8FE8-280E4BC39C1C}" destId="{3324591E-3737-4FBB-80FB-D84A53062981}" srcOrd="5" destOrd="0" presId="urn:microsoft.com/office/officeart/2005/8/layout/vProcess5"/>
    <dgm:cxn modelId="{52560A8C-820F-4404-A48C-14C41905CD50}" type="presParOf" srcId="{A671BA0D-9A2E-4CE0-8FE8-280E4BC39C1C}" destId="{96414989-D48D-44BC-A9AF-5B3839293372}" srcOrd="6" destOrd="0" presId="urn:microsoft.com/office/officeart/2005/8/layout/vProcess5"/>
    <dgm:cxn modelId="{5106A35E-6D34-433E-B2F9-EDB9AEA529F8}" type="presParOf" srcId="{A671BA0D-9A2E-4CE0-8FE8-280E4BC39C1C}" destId="{3C2F03EA-35A8-4014-AE02-3750A8F6FF36}" srcOrd="7" destOrd="0" presId="urn:microsoft.com/office/officeart/2005/8/layout/vProcess5"/>
    <dgm:cxn modelId="{E9EBB633-4FA2-4248-83A0-96AF49EF4FFB}" type="presParOf" srcId="{A671BA0D-9A2E-4CE0-8FE8-280E4BC39C1C}" destId="{C539D2F6-60D3-4363-8C59-7D94634FD7E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B81D84-E9B0-4288-A9B0-1C7D3A51837D}">
      <dsp:nvSpPr>
        <dsp:cNvPr id="0" name=""/>
        <dsp:cNvSpPr/>
      </dsp:nvSpPr>
      <dsp:spPr bwMode="white">
        <a:xfrm>
          <a:off x="0" y="0"/>
          <a:ext cx="7601839" cy="133578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200" b="1" kern="1200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LISTA DE CHEQUEO: 17 PREGUNTAS</a:t>
          </a:r>
          <a:endParaRPr lang="zh-CN" altLang="en-US" sz="3200" b="1" kern="1200">
            <a:latin typeface="Century Gothic" panose="020B0502020202020204" charset="0"/>
            <a:cs typeface="Century Gothic" panose="020B0502020202020204" charset="0"/>
          </a:endParaRPr>
        </a:p>
      </dsp:txBody>
      <dsp:txXfrm>
        <a:off x="39124" y="39124"/>
        <a:ext cx="6160421" cy="1257537"/>
      </dsp:txXfrm>
    </dsp:sp>
    <dsp:sp modelId="{AE519131-08E2-4407-9CE3-67BB9E517B65}">
      <dsp:nvSpPr>
        <dsp:cNvPr id="0" name=""/>
        <dsp:cNvSpPr/>
      </dsp:nvSpPr>
      <dsp:spPr bwMode="white">
        <a:xfrm>
          <a:off x="670750" y="1558417"/>
          <a:ext cx="7601839" cy="133578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2 MOMENTOS</a:t>
          </a:r>
          <a:endParaRPr lang="es-CO" sz="2000" b="1" kern="1200" spc="-1" dirty="0">
            <a:solidFill>
              <a:schemeClr val="dk1"/>
            </a:solidFill>
            <a:latin typeface="Century Gothic" panose="020B0502020202020204" charset="0"/>
            <a:cs typeface="Century Gothic" panose="020B0502020202020204" charset="0"/>
          </a:endParaRP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            1 MOMENTO: 6 PREGUNTA </a:t>
          </a:r>
          <a:endParaRPr lang="es-CO" sz="2000" b="1" strike="noStrike" kern="1200" spc="-1" dirty="0">
            <a:solidFill>
              <a:schemeClr val="dk1"/>
            </a:solidFill>
            <a:latin typeface="Century Gothic" panose="020B0502020202020204" charset="0"/>
            <a:cs typeface="Century Gothic" panose="020B0502020202020204" charset="0"/>
          </a:endParaRP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            2  MOMENTO: 11 PREGUNTAS</a:t>
          </a:r>
          <a:endParaRPr lang="zh-CN" altLang="en-US" sz="2000" b="1" kern="1200">
            <a:latin typeface="Century Gothic" panose="020B0502020202020204" charset="0"/>
            <a:cs typeface="Century Gothic" panose="020B0502020202020204" charset="0"/>
          </a:endParaRPr>
        </a:p>
      </dsp:txBody>
      <dsp:txXfrm>
        <a:off x="709874" y="1597541"/>
        <a:ext cx="5984579" cy="1257537"/>
      </dsp:txXfrm>
    </dsp:sp>
    <dsp:sp modelId="{4DE37EC9-3238-48E8-8583-BB40E5E7B41E}">
      <dsp:nvSpPr>
        <dsp:cNvPr id="0" name=""/>
        <dsp:cNvSpPr/>
      </dsp:nvSpPr>
      <dsp:spPr bwMode="white">
        <a:xfrm>
          <a:off x="1341500" y="3116834"/>
          <a:ext cx="7601839" cy="133578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spc="-1" dirty="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No uso de los campos estériles en el momento de la atención del parto</a:t>
          </a:r>
          <a:r>
            <a:rPr lang="es-CO" altLang="es-ES" sz="1400" kern="1200" spc="-1" dirty="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, paciente en expulsivo en el área de toma de monitoria fetal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altLang="zh-CN" sz="1400" kern="120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</a:rPr>
            <a:t>Adapatacion Neonatal realizada por profesional de enfermeria</a:t>
          </a:r>
        </a:p>
      </dsp:txBody>
      <dsp:txXfrm>
        <a:off x="1380624" y="3155958"/>
        <a:ext cx="5984579" cy="1257537"/>
      </dsp:txXfrm>
    </dsp:sp>
    <dsp:sp modelId="{616DF2A7-918E-4967-B3D3-B0F02C6F81A2}">
      <dsp:nvSpPr>
        <dsp:cNvPr id="0" name=""/>
        <dsp:cNvSpPr/>
      </dsp:nvSpPr>
      <dsp:spPr bwMode="white">
        <a:xfrm>
          <a:off x="6733578" y="1012971"/>
          <a:ext cx="868260" cy="86826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kern="1200">
            <a:latin typeface="Century Gothic" panose="020B0502020202020204" charset="0"/>
            <a:cs typeface="Century Gothic" panose="020B0502020202020204" charset="0"/>
          </a:endParaRPr>
        </a:p>
      </dsp:txBody>
      <dsp:txXfrm>
        <a:off x="6928936" y="1012971"/>
        <a:ext cx="477544" cy="653366"/>
      </dsp:txXfrm>
    </dsp:sp>
    <dsp:sp modelId="{3324591E-3737-4FBB-80FB-D84A53062981}">
      <dsp:nvSpPr>
        <dsp:cNvPr id="0" name=""/>
        <dsp:cNvSpPr/>
      </dsp:nvSpPr>
      <dsp:spPr bwMode="white">
        <a:xfrm>
          <a:off x="7404328" y="2562482"/>
          <a:ext cx="868260" cy="86826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-4000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kern="1200">
            <a:latin typeface="Century Gothic" panose="020B0502020202020204" charset="0"/>
            <a:cs typeface="Century Gothic" panose="020B0502020202020204" charset="0"/>
          </a:endParaRPr>
        </a:p>
      </dsp:txBody>
      <dsp:txXfrm>
        <a:off x="7599686" y="2562482"/>
        <a:ext cx="477544" cy="6533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32F6B-34BE-EE45-84F4-C70EBABA3775}" type="datetimeFigureOut">
              <a:rPr lang="es-CO" smtClean="0"/>
              <a:t>24/05/26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08438-2734-FA4D-8334-607960EEFC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0688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B9115D-8887-4ED7-9483-3B3B9EA74CBD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B9115D-8887-4ED7-9483-3B3B9EA74CBD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24/05/26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24/05/26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24/05/26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24/05/26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24/05/26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24/05/26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24/05/26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24/05/26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24/05/26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24/05/26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24/05/26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E946494-D10C-4A4E-8DE4-23BF64D8BCE0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0352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CO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1748E6F-9E86-4E2F-A74C-8195ADE15869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0241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6FD045D-9E1F-4A78-98F6-FDA4AC012317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8912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7367FF-C927-403D-9742-67613AED7AF5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6826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21B933A-E852-4FE6-8FF7-24003DA81C8C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7397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CO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9601922-5F5F-40C7-A5CD-87A5F72C7D84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77967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EDEAD30-1DD9-4D27-85DB-1CF7600EABFB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80164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08C806-2CE3-42DD-843B-62864ED66D9C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5518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3566755-ED49-42BB-B2DA-04AAA8DCA67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43201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757295-4C62-4DC4-8EC7-7A8C059B03AB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5821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463AAD2-3058-4004-94D1-0344704C22D9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81615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64387A2-5E16-4155-9354-CBDD9E20773B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0176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00171A-D88C-4346-B9E0-6F3ED7383368}" type="slidenum">
              <a:rPr/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42132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F29B98F-C5CB-4446-B026-91F5DBDC6378}" type="slidenum">
              <a:rPr/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34048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9951271-379C-4080-A1D4-73E4B8B7E5DF}" type="slidenum">
              <a:rPr/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9495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CE6F4E7-4766-441D-A40D-5C7AC39D171E}" type="slidenum">
              <a:rPr/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18396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195E96-D1EC-4CB5-B074-FBDE316A0637}" type="slidenum">
              <a:rPr/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63914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F92CCBA-B09E-420F-98C8-ABAE44F165BE}" type="slidenum">
              <a:rPr/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6752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3DCD76D-55B2-4B11-A14E-C6306421CAC6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68441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C456A59-13F8-4DB7-A854-7379E83F096D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85260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2AB9692-D904-41D5-B224-9F7586B334CE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64623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BAF6939-70C7-4027-AD62-D45D080BA898}" type="slidenum">
              <a:rPr/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55569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3CA4B21-D4A2-44D2-B53D-ABAEC0124804}" type="slidenum">
              <a:rPr/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64793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4041EE1-7AD6-4FAF-BFAA-056BBEC7986F}" type="slidenum">
              <a:rPr/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08393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E946494-D10C-4A4E-8DE4-23BF64D8BCE0}" type="slidenum">
              <a:rPr/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89019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1748E6F-9E86-4E2F-A74C-8195ADE15869}" type="slidenum">
              <a:rPr/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43003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6FD045D-9E1F-4A78-98F6-FDA4AC012317}" type="slidenum">
              <a:rPr/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818884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7367FF-C927-403D-9742-67613AED7AF5}" type="slidenum">
              <a:rPr/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38238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21B933A-E852-4FE6-8FF7-24003DA81C8C}" type="slidenum">
              <a:rPr/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2771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9601922-5F5F-40C7-A5CD-87A5F72C7D84}" type="slidenum">
              <a:rPr/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41927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EDEAD30-1DD9-4D27-85DB-1CF7600EABFB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15616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08C806-2CE3-42DD-843B-62864ED66D9C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66590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3566755-ED49-42BB-B2DA-04AAA8DCA67E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96698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757295-4C62-4DC4-8EC7-7A8C059B03AB}" type="slidenum">
              <a:rPr/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11663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463AAD2-3058-4004-94D1-0344704C22D9}" type="slidenum">
              <a:rPr/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60743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64387A2-5E16-4155-9354-CBDD9E20773B}" type="slidenum">
              <a:rPr/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5925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24/05/26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s-ES" sz="4400" b="0" strike="noStrike" spc="-1">
                <a:solidFill>
                  <a:schemeClr val="dk1"/>
                </a:solidFill>
                <a:latin typeface="Calibri Light"/>
              </a:rPr>
              <a:t>Haga clic para modificar el estilo de título del patrón</a:t>
            </a:r>
            <a:endParaRPr lang="es-CO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>
                <a:solidFill>
                  <a:schemeClr val="dk1"/>
                </a:solidFill>
                <a:latin typeface="Calibri"/>
              </a:rPr>
              <a:t>Haga clic para modificar los estilos de texto del patrón</a:t>
            </a: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>
                <a:solidFill>
                  <a:schemeClr val="dk1"/>
                </a:solidFill>
                <a:latin typeface="Calibri"/>
              </a:rPr>
              <a:t>Segundo nivel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Tercer nivel</a:t>
            </a:r>
            <a:endParaRPr lang="es-CO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Cuarto nivel</a:t>
            </a: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Quinto nivel</a:t>
            </a: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44EBB1-3477-49E6-85AB-80FB40787958}" type="slidenum"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517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ES" sz="6000" b="0" strike="noStrike" spc="-1">
                <a:solidFill>
                  <a:schemeClr val="dk1"/>
                </a:solidFill>
                <a:latin typeface="Calibri Light" panose="020F0302020204030204"/>
              </a:rPr>
              <a:t>Haga clic para modificar el estilo de título del patrón</a:t>
            </a:r>
            <a:endParaRPr lang="es-CO" sz="60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&lt;fecha/hora&gt;</a:t>
            </a:r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&lt;pie de página&gt;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2AC864-7BD0-452A-ADAA-F8EFCA6B4140}" type="slidenum"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2800" b="0" strike="noStrike" spc="-1">
                <a:solidFill>
                  <a:schemeClr val="dk1"/>
                </a:solidFill>
                <a:latin typeface="Calibri" panose="020F0502020204030204"/>
              </a:rPr>
              <a:t>Pulse para editar el formato de texto del esquema</a:t>
            </a: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s-CO" sz="2000" b="0" strike="noStrike" spc="-1">
                <a:solidFill>
                  <a:schemeClr val="dk1"/>
                </a:solidFill>
                <a:latin typeface="Calibri" panose="020F0502020204030204"/>
              </a:rPr>
              <a:t>Segundo nivel del esquema</a:t>
            </a: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1800" b="0" strike="noStrike" spc="-1">
                <a:solidFill>
                  <a:schemeClr val="dk1"/>
                </a:solidFill>
                <a:latin typeface="Calibri" panose="020F0502020204030204"/>
              </a:rPr>
              <a:t>Tercer nivel del esquema</a:t>
            </a: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s-CO" sz="1800" b="0" strike="noStrike" spc="-1">
                <a:solidFill>
                  <a:schemeClr val="dk1"/>
                </a:solidFill>
                <a:latin typeface="Calibri" panose="020F0502020204030204"/>
              </a:rPr>
              <a:t>Cuarto nivel del esquema</a:t>
            </a: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2000" b="0" strike="noStrike" spc="-1">
                <a:solidFill>
                  <a:schemeClr val="dk1"/>
                </a:solidFill>
                <a:latin typeface="Calibri" panose="020F0502020204030204"/>
              </a:rPr>
              <a:t>Quinto nivel del esquema</a:t>
            </a: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2000" b="0" strike="noStrike" spc="-1">
                <a:solidFill>
                  <a:schemeClr val="dk1"/>
                </a:solidFill>
                <a:latin typeface="Calibri" panose="020F0502020204030204"/>
              </a:rPr>
              <a:t>Sexto nivel del esquema</a:t>
            </a: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2000" b="0" strike="noStrike" spc="-1">
                <a:solidFill>
                  <a:schemeClr val="dk1"/>
                </a:solidFill>
                <a:latin typeface="Calibri" panose="020F0502020204030204"/>
              </a:rPr>
              <a:t>Séptimo nivel del esquema</a:t>
            </a:r>
          </a:p>
        </p:txBody>
      </p:sp>
    </p:spTree>
    <p:extLst>
      <p:ext uri="{BB962C8B-B14F-4D97-AF65-F5344CB8AC3E}">
        <p14:creationId xmlns:p14="http://schemas.microsoft.com/office/powerpoint/2010/main" val="398170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s-ES" sz="4400" b="0" strike="noStrike" spc="-1">
                <a:solidFill>
                  <a:schemeClr val="dk1"/>
                </a:solidFill>
                <a:latin typeface="Calibri Light" panose="020F0302020204030204"/>
              </a:rPr>
              <a:t>Haga clic para modificar el estilo de título del patrón</a:t>
            </a:r>
            <a:endParaRPr lang="es-CO" sz="44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2800" b="0" strike="noStrike" spc="-1">
                <a:solidFill>
                  <a:schemeClr val="dk1"/>
                </a:solidFill>
                <a:latin typeface="Calibri" panose="020F0502020204030204"/>
              </a:rPr>
              <a:t>Haga clic para modificar los estilos de texto del patrón</a:t>
            </a: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2400" b="0" strike="noStrike" spc="-1">
                <a:solidFill>
                  <a:schemeClr val="dk1"/>
                </a:solidFill>
                <a:latin typeface="Calibri" panose="020F0502020204030204"/>
              </a:rPr>
              <a:t>Segundo nivel</a:t>
            </a:r>
            <a:endParaRPr lang="es-CO" sz="24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2000" b="0" strike="noStrike" spc="-1">
                <a:solidFill>
                  <a:schemeClr val="dk1"/>
                </a:solidFill>
                <a:latin typeface="Calibri" panose="020F0502020204030204"/>
              </a:rPr>
              <a:t>Tercer nivel</a:t>
            </a:r>
            <a:endParaRPr lang="es-CO" sz="20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 panose="020F0502020204030204"/>
              </a:rPr>
              <a:t>Cuarto nivel</a:t>
            </a: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 panose="020F0502020204030204"/>
              </a:rPr>
              <a:t>Quinto nivel</a:t>
            </a: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&lt;fecha/hora&gt;</a:t>
            </a:r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&lt;pie de página&gt;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44EBB1-3477-49E6-85AB-80FB40787958}" type="slidenum"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641379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6.xml"/><Relationship Id="rId1" Type="http://schemas.openxmlformats.org/officeDocument/2006/relationships/tags" Target="../tags/tag1.xml"/><Relationship Id="rId6" Type="http://schemas.openxmlformats.org/officeDocument/2006/relationships/image" Target="../media/image15.jpeg"/><Relationship Id="rId5" Type="http://schemas.openxmlformats.org/officeDocument/2006/relationships/chart" Target="../charts/char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Relationship Id="rId4" Type="http://schemas.openxmlformats.org/officeDocument/2006/relationships/chart" Target="../charts/char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2575" y="1491670"/>
            <a:ext cx="7824690" cy="1937330"/>
          </a:xfrm>
        </p:spPr>
        <p:txBody>
          <a:bodyPr>
            <a:noAutofit/>
          </a:bodyPr>
          <a:lstStyle/>
          <a:p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EQUIPO PRIMARIO GINECOLOGIA MES DE ABRIL   CON DATOS DE ABRIL      2026</a:t>
            </a:r>
            <a:endParaRPr lang="es-CO" sz="3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D6ED36-3E6F-4691-BDA3-31B08010D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306" y="4233409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</a:t>
            </a:r>
          </a:p>
          <a:p>
            <a:endParaRPr lang="es-MX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SHARON KATHERINE ACUÑA RUBIANO</a:t>
            </a: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LIDER GINECOLOGIA </a:t>
            </a:r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533AD-3155-FE04-DF94-1166C78BB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9491EE5A-5398-8109-7601-8E7134EBBA55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ORDEN DEL DIA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392876-4D20-1326-3F30-3A5ECD87F697}"/>
              </a:ext>
            </a:extLst>
          </p:cNvPr>
          <p:cNvSpPr txBox="1"/>
          <p:nvPr/>
        </p:nvSpPr>
        <p:spPr>
          <a:xfrm>
            <a:off x="2418835" y="1509492"/>
            <a:ext cx="8294473" cy="50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ORDEN DEL DIA</a:t>
            </a:r>
            <a:endParaRPr lang="es-CO" sz="14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 sz="14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Verificación de Quorum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Revisión de Compromisos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Aprobación del acta mes de ABRIL   de 2026 (disponible en ALMERA)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Presentación indicadores ginecología fecha de corte mes ABRIL 2026 ( médicos/ enfermería )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PROTOCOLO  DE ADMINISTRACION DE MEDICAMENTOS DE ALTO RIESGO   ( Grupo </a:t>
            </a:r>
            <a:r>
              <a:rPr lang="en-US" sz="1800" dirty="0" err="1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enfermerÍa</a:t>
            </a: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Jefe Elizabeth correa , Angie Rocha , Johanna Gamboa  ) </a:t>
            </a:r>
            <a:r>
              <a:rPr lang="en-US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s-CO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s-CO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ACTIVIDADES DURANTE EL MES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CASO INTERACTIVO EVENTROS TROMBOEMBOLICOS ( VIRTUAL )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PROTOCOLO AMENAZA DE PARTO PRETERMINO ( VIRTUAL )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HABILIDADES BLANDAS EN OBSTETRICIA  ( VIRTUAL )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MUNDIAL DE LAVADO DE MANOS – PRESENCIAL 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371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CAD98-9DEB-5423-246A-4115CD735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5BF38D4D-CCFC-E86B-AE33-D48927D47507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COMPROMISOS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4622AB0-CC26-127D-BB73-92557C4ABE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909" y="1793631"/>
            <a:ext cx="8809891" cy="467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538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A36AA0DA-0824-D3D7-01CA-4173EC92397F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COMPROMISOS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EFC054-1D1E-C2A6-6847-755249774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914" y="1881556"/>
            <a:ext cx="9864969" cy="476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34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4D549A-F242-1C10-2AF5-44EE0B289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A3170112-AFC0-F3D0-377D-B3D81BDADB1C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COMPLICACIONES OBSTETRICAS  </a:t>
            </a:r>
          </a:p>
        </p:txBody>
      </p:sp>
      <p:sp>
        <p:nvSpPr>
          <p:cNvPr id="14" name="CuadroTexto 3">
            <a:extLst>
              <a:ext uri="{FF2B5EF4-FFF2-40B4-BE49-F238E27FC236}">
                <a16:creationId xmlns:a16="http://schemas.microsoft.com/office/drawing/2014/main" id="{FD2F6C91-5A63-BCF5-FB61-1255E584FEC0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2979805-AD6F-4E06-E92F-10ED371B3F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170" y="1970108"/>
            <a:ext cx="8739553" cy="416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427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9AF37-C6F4-064B-1374-5A3A68C4B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79CE6AD3-41A7-0D9D-E767-F473B30B152F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ENDOMETRITIS POS PARTO      </a:t>
            </a:r>
          </a:p>
        </p:txBody>
      </p:sp>
      <p:sp>
        <p:nvSpPr>
          <p:cNvPr id="14" name="CuadroTexto 3">
            <a:extLst>
              <a:ext uri="{FF2B5EF4-FFF2-40B4-BE49-F238E27FC236}">
                <a16:creationId xmlns:a16="http://schemas.microsoft.com/office/drawing/2014/main" id="{9A6E045C-AC7A-82D2-C9FD-B9944B569B08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7FE9EE2-1980-A9B0-2DBE-50205D7684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199" y="2032397"/>
            <a:ext cx="7772400" cy="279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310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11858-B2B8-2B2E-AEFF-644B98858813}"/>
              </a:ext>
            </a:extLst>
          </p:cNvPr>
          <p:cNvSpPr txBox="1">
            <a:spLocks/>
          </p:cNvSpPr>
          <p:nvPr/>
        </p:nvSpPr>
        <p:spPr>
          <a:xfrm>
            <a:off x="2482068" y="552843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MORTALIDAD ANTES DE LAS 24 HORAS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8B60DD31-EB8A-D65F-560F-9A87925A7105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3229A2-A993-7B61-5E4A-3CD37B3059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399" y="2005782"/>
            <a:ext cx="8688439" cy="395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650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A3057D-2AAA-D6CC-71BF-E8C572743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F09F2-9221-254E-77B2-D49F29DA919D}"/>
              </a:ext>
            </a:extLst>
          </p:cNvPr>
          <p:cNvSpPr txBox="1">
            <a:spLocks/>
          </p:cNvSpPr>
          <p:nvPr/>
        </p:nvSpPr>
        <p:spPr>
          <a:xfrm>
            <a:off x="2482068" y="552843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NACIMIENTOS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065BDFC3-3B3C-0DA6-2FDC-EEE204DD1573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C9870D9-5C60-6989-FC55-9B7AFBD47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573" y="2035277"/>
            <a:ext cx="8579222" cy="409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06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E18DAE4-8748-CE2B-228F-408F93E7A259}"/>
              </a:ext>
            </a:extLst>
          </p:cNvPr>
          <p:cNvSpPr txBox="1">
            <a:spLocks/>
          </p:cNvSpPr>
          <p:nvPr/>
        </p:nvSpPr>
        <p:spPr>
          <a:xfrm>
            <a:off x="1872136" y="477574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PRODUCCIÓN  PARTOS VAGINALES     </a:t>
            </a:r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AD9D1197-5B25-CA95-AA38-6079A557C580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8FB663-FA53-5036-450A-82DF84EAC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136" y="2093147"/>
            <a:ext cx="9291484" cy="40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03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266C1-B31B-8AA6-F9E5-0691111CC113}"/>
              </a:ext>
            </a:extLst>
          </p:cNvPr>
          <p:cNvSpPr txBox="1">
            <a:spLocks/>
          </p:cNvSpPr>
          <p:nvPr/>
        </p:nvSpPr>
        <p:spPr>
          <a:xfrm>
            <a:off x="2286907" y="50592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PRODUCCIÓN   CESÁREAS     </a:t>
            </a:r>
          </a:p>
        </p:txBody>
      </p:sp>
      <p:sp>
        <p:nvSpPr>
          <p:cNvPr id="7" name="CuadroTexto 3">
            <a:extLst>
              <a:ext uri="{FF2B5EF4-FFF2-40B4-BE49-F238E27FC236}">
                <a16:creationId xmlns:a16="http://schemas.microsoft.com/office/drawing/2014/main" id="{58DDBE5F-2CE9-CE98-96A5-51523A1DEDDB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36B9A8-9EF2-4B13-7949-3CF8F180E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542" y="2079523"/>
            <a:ext cx="9261987" cy="359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765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002DA-D2D7-F0BB-2758-5E79D719E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4228E3-42D6-3D81-15C8-2389F1B5B40C}"/>
              </a:ext>
            </a:extLst>
          </p:cNvPr>
          <p:cNvSpPr txBox="1">
            <a:spLocks/>
          </p:cNvSpPr>
          <p:nvPr/>
        </p:nvSpPr>
        <p:spPr>
          <a:xfrm>
            <a:off x="2286907" y="50592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DIAS DE ESTANCIA</a:t>
            </a:r>
          </a:p>
        </p:txBody>
      </p:sp>
      <p:sp>
        <p:nvSpPr>
          <p:cNvPr id="7" name="CuadroTexto 3">
            <a:extLst>
              <a:ext uri="{FF2B5EF4-FFF2-40B4-BE49-F238E27FC236}">
                <a16:creationId xmlns:a16="http://schemas.microsoft.com/office/drawing/2014/main" id="{5E8628E8-4566-7C40-42FB-F9AA71BB0F91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49C941-CBFD-5486-B57E-F74F738722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516" y="1902541"/>
            <a:ext cx="8967019" cy="384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21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3149C-0A42-9575-5C58-925C4BB2B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96F4E-C429-21EE-EB0C-143B3DDD905A}"/>
              </a:ext>
            </a:extLst>
          </p:cNvPr>
          <p:cNvSpPr txBox="1">
            <a:spLocks/>
          </p:cNvSpPr>
          <p:nvPr/>
        </p:nvSpPr>
        <p:spPr>
          <a:xfrm>
            <a:off x="2286907" y="50592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EGRESOS OBSTETRICOS </a:t>
            </a:r>
          </a:p>
        </p:txBody>
      </p:sp>
      <p:sp>
        <p:nvSpPr>
          <p:cNvPr id="7" name="CuadroTexto 3">
            <a:extLst>
              <a:ext uri="{FF2B5EF4-FFF2-40B4-BE49-F238E27FC236}">
                <a16:creationId xmlns:a16="http://schemas.microsoft.com/office/drawing/2014/main" id="{9A81D70D-9A4F-5811-3DD6-6CC08CD75B2E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587D12-7897-9D1B-396E-EA5A9D275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805" y="2050027"/>
            <a:ext cx="8618829" cy="371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560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8BEDEF60-0255-3003-914B-809CD8822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927185"/>
              </p:ext>
            </p:extLst>
          </p:nvPr>
        </p:nvGraphicFramePr>
        <p:xfrm>
          <a:off x="2545977" y="1399738"/>
          <a:ext cx="8199445" cy="44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692">
                  <a:extLst>
                    <a:ext uri="{9D8B030D-6E8A-4147-A177-3AD203B41FA5}">
                      <a16:colId xmlns:a16="http://schemas.microsoft.com/office/drawing/2014/main" val="2792121155"/>
                    </a:ext>
                  </a:extLst>
                </a:gridCol>
                <a:gridCol w="4007753">
                  <a:extLst>
                    <a:ext uri="{9D8B030D-6E8A-4147-A177-3AD203B41FA5}">
                      <a16:colId xmlns:a16="http://schemas.microsoft.com/office/drawing/2014/main" val="2500448351"/>
                    </a:ext>
                  </a:extLst>
                </a:gridCol>
              </a:tblGrid>
              <a:tr h="362493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INDICADOR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  ABRIL 2026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198716"/>
                  </a:ext>
                </a:extLst>
              </a:tr>
              <a:tr h="362493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REINGRESO / REINTERVENCIONES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0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171369"/>
                  </a:ext>
                </a:extLst>
              </a:tr>
              <a:tr h="726081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MORBILIDADMATERNA EXTREMA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PREECLAMPSIA 1 </a:t>
                      </a:r>
                    </a:p>
                    <a:p>
                      <a:pPr algn="just"/>
                      <a:r>
                        <a:rPr lang="es-CO" sz="1600" dirty="0"/>
                        <a:t>ECTOPICO ROTO 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654984"/>
                  </a:ext>
                </a:extLst>
              </a:tr>
              <a:tr h="510946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MORTALIDAD MATERNA / MORTALIDAD NEONATAL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0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262556"/>
                  </a:ext>
                </a:extLst>
              </a:tr>
              <a:tr h="488492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EVENTOS DE SEGURIDAD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1  YA ANALIZADO 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852260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ESTANCIA PROLONGADA </a:t>
                      </a:r>
                      <a:r>
                        <a:rPr lang="es-CO" sz="1600"/>
                        <a:t>&gt; 5 </a:t>
                      </a:r>
                      <a:r>
                        <a:rPr lang="es-CO" sz="1600" dirty="0"/>
                        <a:t>DIAS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2 DM / MASTITIS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246018"/>
                  </a:ext>
                </a:extLst>
              </a:tr>
              <a:tr h="510946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EVENTOS PARA ANALISIS EN COMITÉ DE INFECCIONES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542131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ENDOMETRITIS POS PARTO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0/52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011470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HISTERECTOMIAS POS PARTO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 / 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125472"/>
                  </a:ext>
                </a:extLst>
              </a:tr>
            </a:tbl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28E60AC6-0190-4A56-985F-48003D3521D5}"/>
              </a:ext>
            </a:extLst>
          </p:cNvPr>
          <p:cNvSpPr txBox="1">
            <a:spLocks/>
          </p:cNvSpPr>
          <p:nvPr/>
        </p:nvSpPr>
        <p:spPr>
          <a:xfrm>
            <a:off x="2079607" y="0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OTROS INDICADORES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335DCF-D279-59EA-AB13-C95E386E4511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7332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040280" y="2294855"/>
            <a:ext cx="6655320" cy="155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MX" sz="3600" b="1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INDICADORES MES </a:t>
            </a:r>
            <a:r>
              <a:rPr lang="es-CO" altLang="es-MX" sz="3600" b="1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ABRIL </a:t>
            </a:r>
            <a:r>
              <a:rPr lang="es-CO" altLang="es-MX" sz="3600" b="1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2026 </a:t>
            </a:r>
            <a:br>
              <a:rPr lang="es-CO" altLang="es-MX" sz="3600" b="1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</a:br>
            <a:r>
              <a:rPr lang="es-MX" sz="3600" b="1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SERVICIO GINECOLOGIA/NEONATOS 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-434975" y="4902835"/>
            <a:ext cx="8764905" cy="165544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s-MX" sz="3600" b="1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LUISA FERNANDA PARDO</a:t>
            </a:r>
            <a:r>
              <a:rPr lang="es-CO" altLang="es-MX" sz="3600" b="1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 DÍAZ </a:t>
            </a:r>
          </a:p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s-CO" altLang="es-MX" sz="3600" b="1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Coord Servicio Ginecoobstetricia y Neonatos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NUMERO NEONATOS HOSPITALIZADOS VS NEONATOS CON ANTIBIOTICO</a:t>
            </a:r>
          </a:p>
        </p:txBody>
      </p:sp>
      <p:sp>
        <p:nvSpPr>
          <p:cNvPr id="92" name="CuadroTexto 6"/>
          <p:cNvSpPr/>
          <p:nvPr/>
        </p:nvSpPr>
        <p:spPr>
          <a:xfrm>
            <a:off x="8905320" y="1690560"/>
            <a:ext cx="2265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Imagen 4" descr="INICIO AT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058670"/>
            <a:ext cx="3720465" cy="37204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PlaceHolder 2"/>
          <p:cNvSpPr>
            <a:spLocks noGrp="1"/>
          </p:cNvSpPr>
          <p:nvPr/>
        </p:nvSpPr>
        <p:spPr>
          <a:xfrm>
            <a:off x="4780915" y="3114675"/>
            <a:ext cx="6140450" cy="16078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Char char="•"/>
              <a:tabLst/>
              <a:defRPr/>
            </a:pPr>
            <a:r>
              <a:rPr kumimoji="0" lang="es-CO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NUMERO DE NEONATOS HX: 14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Char char="•"/>
              <a:tabLst/>
              <a:defRPr/>
            </a:pPr>
            <a:r>
              <a:rPr kumimoji="0" lang="es-CO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NEONATOS CON ORDEN DE ANTIBIOTICO: 0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Char char="•"/>
              <a:tabLst/>
              <a:defRPr/>
            </a:pPr>
            <a:endParaRPr kumimoji="0" lang="es-CO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charset="0"/>
              <a:ea typeface="+mn-ea"/>
              <a:cs typeface="Century Gothic" panose="020B050202020202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rgbClr val="4472C4"/>
                </a:solidFill>
                <a:latin typeface="Century Gothic" panose="020B0502020202020204" charset="0"/>
                <a:cs typeface="Century Gothic" panose="020B0502020202020204" charset="0"/>
              </a:rPr>
              <a:t>OPORTUNIDAD DE INICIO DE SULFATO DE MG</a:t>
            </a:r>
            <a:br>
              <a:rPr sz="2400">
                <a:latin typeface="Century Gothic" panose="020B0502020202020204" charset="0"/>
                <a:cs typeface="Century Gothic" panose="020B0502020202020204" charset="0"/>
              </a:rPr>
            </a:br>
            <a:endParaRPr lang="es-CO" sz="2400" b="0" strike="noStrike" spc="-1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743465" y="1253425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1600" dirty="0">
                <a:latin typeface="Century Gothic" panose="020B0502020202020204" charset="0"/>
                <a:cs typeface="Century Gothic" panose="020B0502020202020204" charset="0"/>
              </a:rPr>
              <a:t>TOTAL DE PACIENTES CON INICIO DE SULFATO MG: </a:t>
            </a:r>
          </a:p>
          <a:p>
            <a:pPr marL="0" indent="0"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1600" dirty="0">
                <a:latin typeface="Century Gothic" panose="020B0502020202020204" charset="0"/>
                <a:cs typeface="Century Gothic" panose="020B0502020202020204" charset="0"/>
              </a:rPr>
              <a:t>1 paciente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graphicFrame>
        <p:nvGraphicFramePr>
          <p:cNvPr id="3" name="Tabla 2"/>
          <p:cNvGraphicFramePr/>
          <p:nvPr>
            <p:custDataLst>
              <p:tags r:id="rId1"/>
            </p:custDataLst>
          </p:nvPr>
        </p:nvGraphicFramePr>
        <p:xfrm>
          <a:off x="217805" y="4525645"/>
          <a:ext cx="10793730" cy="1278255"/>
        </p:xfrm>
        <a:graphic>
          <a:graphicData uri="http://schemas.openxmlformats.org/drawingml/2006/table">
            <a:tbl>
              <a:tblPr/>
              <a:tblGrid>
                <a:gridCol w="918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0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71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02005"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FECHA 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NOMBRES Y APELLIDOS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FECHA Y HORA DE ORDEN MEDICA DE INICIO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MEDICAMENTO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FECHA Y HORA DE INICIO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 i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DIFERENCIA EN TIEMPO (HR:MIN:SEG)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RESPONSABLE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22/04/2026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1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KVHR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22/04/2026 06:55 </a:t>
                      </a:r>
                      <a:endParaRPr sz="1100">
                        <a:latin typeface="Century Gothic" panose="020B0502020202020204" charset="0"/>
                        <a:ea typeface="Arial" panose="020B0604020202020204"/>
                        <a:cs typeface="Century Gothic" panose="020B0502020202020204" charset="0"/>
                      </a:endParaRP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sz="11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SULFATO DE MAGNESIO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O" sz="11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  <a:sym typeface="+mn-ea"/>
                        </a:rPr>
                        <a:t>22/04/2026 07:05</a:t>
                      </a:r>
                      <a:endParaRPr sz="1100">
                        <a:latin typeface="Century Gothic" panose="020B0502020202020204" charset="0"/>
                        <a:ea typeface="Arial" panose="020B0604020202020204"/>
                        <a:cs typeface="Century Gothic" panose="020B0502020202020204" charset="0"/>
                      </a:endParaRP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i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0:</a:t>
                      </a:r>
                      <a:r>
                        <a:rPr lang="es-CO" sz="1100" i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10</a:t>
                      </a:r>
                      <a:endParaRPr sz="1100" i="1">
                        <a:latin typeface="Century Gothic" panose="020B0502020202020204" charset="0"/>
                        <a:ea typeface="Arial" panose="020B0604020202020204"/>
                        <a:cs typeface="Century Gothic" panose="020B0502020202020204" charset="0"/>
                      </a:endParaRP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sz="11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  <a:sym typeface="+mn-ea"/>
                        </a:rPr>
                        <a:t>JENNYFER </a:t>
                      </a:r>
                      <a:endParaRPr sz="1100">
                        <a:latin typeface="Century Gothic" panose="020B0502020202020204" charset="0"/>
                        <a:ea typeface="Arial" panose="020B0604020202020204"/>
                        <a:cs typeface="Century Gothic" panose="020B0502020202020204" charset="0"/>
                      </a:endParaRP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áfico 3"/>
          <p:cNvGraphicFramePr/>
          <p:nvPr/>
        </p:nvGraphicFramePr>
        <p:xfrm>
          <a:off x="333375" y="2054225"/>
          <a:ext cx="6839585" cy="2336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5" name="Imagen 4" descr="MAGNESIO"/>
          <p:cNvPicPr>
            <a:picLocks noChangeAspect="1"/>
          </p:cNvPicPr>
          <p:nvPr/>
        </p:nvPicPr>
        <p:blipFill>
          <a:blip r:embed="rId6"/>
          <a:srcRect l="14568" t="11558" r="15398" b="14545"/>
          <a:stretch>
            <a:fillRect/>
          </a:stretch>
        </p:blipFill>
        <p:spPr>
          <a:xfrm>
            <a:off x="7172960" y="2366645"/>
            <a:ext cx="3214370" cy="2042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362075" y="385445"/>
            <a:ext cx="9991090" cy="74358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3600" b="1" strike="noStrike" spc="-1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EGRESOS VS ASIGNACIÓN DE CITAS</a:t>
            </a:r>
          </a:p>
        </p:txBody>
      </p:sp>
      <p:sp>
        <p:nvSpPr>
          <p:cNvPr id="119" name="CuadroTexto 8"/>
          <p:cNvSpPr/>
          <p:nvPr/>
        </p:nvSpPr>
        <p:spPr>
          <a:xfrm>
            <a:off x="2958465" y="4452620"/>
            <a:ext cx="6732905" cy="16929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CO" sz="1800" b="1" i="0" u="sng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Ginecología:</a:t>
            </a: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Se asegura cita de control a diagnósticos de post parto/ pop de cesárea.   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No se asignan a pacientes que su centro de atención primario es otro municipio.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Algunos de los egresos se dan fuera del horario establecido pero se asignan posteriormente.</a:t>
            </a:r>
          </a:p>
        </p:txBody>
      </p:sp>
      <p:graphicFrame>
        <p:nvGraphicFramePr>
          <p:cNvPr id="3" name="Gráfico 2"/>
          <p:cNvGraphicFramePr/>
          <p:nvPr/>
        </p:nvGraphicFramePr>
        <p:xfrm>
          <a:off x="2263140" y="860425"/>
          <a:ext cx="8480425" cy="3513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/>
          <p:cNvPicPr/>
          <p:nvPr/>
        </p:nvPicPr>
        <p:blipFill>
          <a:blip r:embed="rId4"/>
          <a:srcRect l="26550" r="27850"/>
          <a:stretch>
            <a:fillRect/>
          </a:stretch>
        </p:blipFill>
        <p:spPr>
          <a:xfrm>
            <a:off x="309880" y="4333875"/>
            <a:ext cx="2493645" cy="25215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INDICADORES DE PLANIFICACIÓN FAMILIAR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9298305" y="1570355"/>
            <a:ext cx="2186940" cy="27641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TOTAL DE PARTOS Y CESAREAS: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 43 </a:t>
            </a: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PACIENTES QUE RECIBIERON LA TOTALIDAD DE ASESORIA SOBRE MÉTODOS DE PLANIFICACIÓN</a:t>
            </a:r>
            <a:endParaRPr kumimoji="0" lang="es-CO" sz="20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charset="0"/>
              <a:ea typeface="+mn-ea"/>
              <a:cs typeface="Century Gothic" panose="020B0502020202020204" charset="0"/>
            </a:endParaRPr>
          </a:p>
        </p:txBody>
      </p:sp>
      <p:graphicFrame>
        <p:nvGraphicFramePr>
          <p:cNvPr id="4" name="Gráfico 3"/>
          <p:cNvGraphicFramePr/>
          <p:nvPr/>
        </p:nvGraphicFramePr>
        <p:xfrm>
          <a:off x="158115" y="1488440"/>
          <a:ext cx="9293860" cy="5266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OPORTUNIDAD DE EGRESO DE GINECOLOGIA </a:t>
            </a:r>
          </a:p>
        </p:txBody>
      </p:sp>
      <p:sp>
        <p:nvSpPr>
          <p:cNvPr id="112" name="CuadroTexto 4"/>
          <p:cNvSpPr/>
          <p:nvPr/>
        </p:nvSpPr>
        <p:spPr>
          <a:xfrm>
            <a:off x="3833495" y="5392420"/>
            <a:ext cx="2051050" cy="91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Tiempo Enero 2026 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82,1 min </a:t>
            </a:r>
          </a:p>
        </p:txBody>
      </p:sp>
      <p:sp>
        <p:nvSpPr>
          <p:cNvPr id="113" name="CuadroTexto 6"/>
          <p:cNvSpPr/>
          <p:nvPr/>
        </p:nvSpPr>
        <p:spPr>
          <a:xfrm>
            <a:off x="5982920" y="5253848"/>
            <a:ext cx="1589649" cy="11963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Tiempo Febrero: 67,8 min</a:t>
            </a:r>
          </a:p>
        </p:txBody>
      </p:sp>
      <p:cxnSp>
        <p:nvCxnSpPr>
          <p:cNvPr id="8" name="Conector recto de flecha 7"/>
          <p:cNvCxnSpPr/>
          <p:nvPr/>
        </p:nvCxnSpPr>
        <p:spPr>
          <a:xfrm>
            <a:off x="2264898" y="3426522"/>
            <a:ext cx="7891976" cy="24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95" y="2109470"/>
            <a:ext cx="10608945" cy="26384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200" y="1076325"/>
            <a:ext cx="7120890" cy="490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2800" b="1" strike="noStrike" spc="-1" dirty="0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EVENTOS DE SEGUIMIENTO DE SALUD PÚBLICA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endParaRPr lang="es-CO" sz="2800" b="1" strike="noStrike" spc="-1" dirty="0">
              <a:solidFill>
                <a:schemeClr val="accent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2800" b="1" u="sng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MUERTE PERINATAL</a:t>
            </a:r>
            <a:r>
              <a:rPr 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:  </a:t>
            </a:r>
            <a:r>
              <a:rPr lang="es-MX" alt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0</a:t>
            </a:r>
            <a:r>
              <a:rPr 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 EVENTOS </a:t>
            </a:r>
          </a:p>
          <a:p>
            <a:pPr marL="0" indent="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2800" b="1" u="sng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MORBILIDAD MATERNA EXTREMA</a:t>
            </a:r>
            <a:r>
              <a:rPr lang="es-CO" sz="2800" b="0" u="sng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: </a:t>
            </a:r>
          </a:p>
          <a:p>
            <a:pPr marL="0" indent="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2 eventos 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2" name="Imagen 1"/>
          <p:cNvPicPr/>
          <p:nvPr/>
        </p:nvPicPr>
        <p:blipFill>
          <a:blip r:embed="rId3"/>
          <a:stretch>
            <a:fillRect/>
          </a:stretch>
        </p:blipFill>
        <p:spPr>
          <a:xfrm>
            <a:off x="7959090" y="1880235"/>
            <a:ext cx="2774315" cy="30975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106970" y="24045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800" b="1" strike="noStrike" spc="-1" dirty="0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ADHERENCIA PRACTICA SEGURA:GARANTIZAR LA ATENCION SEGURA DE LA GESTANTE Y EL RECIEN NACIDO</a:t>
            </a: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87610" y="1858580"/>
            <a:ext cx="10515240" cy="402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just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s-CO" sz="2800" b="0" strike="noStrike" spc="-1" dirty="0">
                <a:solidFill>
                  <a:schemeClr val="dk1"/>
                </a:solidFill>
                <a:latin typeface="Calibri" panose="020F0502020204030204"/>
              </a:rPr>
              <a:t>  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5598942" y="24055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424033" y="3347034"/>
            <a:ext cx="1463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MUESTRA: 5</a:t>
            </a:r>
          </a:p>
        </p:txBody>
      </p:sp>
      <p:graphicFrame>
        <p:nvGraphicFramePr>
          <p:cNvPr id="2" name="Diagrama 1"/>
          <p:cNvGraphicFramePr/>
          <p:nvPr/>
        </p:nvGraphicFramePr>
        <p:xfrm>
          <a:off x="2183765" y="1990725"/>
          <a:ext cx="8943340" cy="4452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Imagen 4"/>
          <p:cNvPicPr/>
          <p:nvPr/>
        </p:nvPicPr>
        <p:blipFill>
          <a:blip r:embed="rId8"/>
          <a:srcRect l="12754" t="5196" r="15123" b="12824"/>
          <a:stretch>
            <a:fillRect/>
          </a:stretch>
        </p:blipFill>
        <p:spPr>
          <a:xfrm>
            <a:off x="151765" y="4084320"/>
            <a:ext cx="2610485" cy="2654935"/>
          </a:xfrm>
          <a:prstGeom prst="rect">
            <a:avLst/>
          </a:prstGeom>
        </p:spPr>
      </p:pic>
      <p:sp>
        <p:nvSpPr>
          <p:cNvPr id="3" name="PlaceHolder 1"/>
          <p:cNvSpPr>
            <a:spLocks noGrp="1"/>
          </p:cNvSpPr>
          <p:nvPr/>
        </p:nvSpPr>
        <p:spPr>
          <a:xfrm>
            <a:off x="111125" y="2421255"/>
            <a:ext cx="2031365" cy="132524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1" i="0" u="none" strike="noStrike" kern="1200" cap="none" spc="-1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 charset="0"/>
                <a:ea typeface="+mj-ea"/>
                <a:cs typeface="Century Gothic" panose="020B0502020202020204" charset="0"/>
              </a:rPr>
              <a:t>93%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7*175"/>
  <p:tag name="TABLE_ENDDRAG_RECT" val="26*347*827*175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8690</TotalTime>
  <Words>579</Words>
  <Application>Microsoft Macintosh PowerPoint</Application>
  <PresentationFormat>Panorámica</PresentationFormat>
  <Paragraphs>114</Paragraphs>
  <Slides>23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23</vt:i4>
      </vt:variant>
    </vt:vector>
  </HeadingPairs>
  <TitlesOfParts>
    <vt:vector size="37" baseType="lpstr">
      <vt:lpstr>Aptos</vt:lpstr>
      <vt:lpstr>Arial</vt:lpstr>
      <vt:lpstr>Calibri</vt:lpstr>
      <vt:lpstr>Calibri Light</vt:lpstr>
      <vt:lpstr>Century Gothic</vt:lpstr>
      <vt:lpstr>Helvetica</vt:lpstr>
      <vt:lpstr>Symbol</vt:lpstr>
      <vt:lpstr>Tahoma</vt:lpstr>
      <vt:lpstr>Times New Roman</vt:lpstr>
      <vt:lpstr>Wingdings</vt:lpstr>
      <vt:lpstr>Tema de Office</vt:lpstr>
      <vt:lpstr>1_Tema de Office</vt:lpstr>
      <vt:lpstr>2_Tema de Office</vt:lpstr>
      <vt:lpstr>3_Tema de Office</vt:lpstr>
      <vt:lpstr>                 EQUIPO PRIMARIO GINECOLOGIA MES DE ABRIL   CON DATOS DE ABRIL      2026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INDICADORES MES ABRIL 2026  SERVICIO GINECOLOGIA/NEONATOS </vt:lpstr>
      <vt:lpstr>NUMERO NEONATOS HOSPITALIZADOS VS NEONATOS CON ANTIBIOTICO</vt:lpstr>
      <vt:lpstr>OPORTUNIDAD DE INICIO DE SULFATO DE MG </vt:lpstr>
      <vt:lpstr>EGRESOS VS ASIGNACIÓN DE CITAS</vt:lpstr>
      <vt:lpstr>INDICADORES DE PLANIFICACIÓN FAMILIAR</vt:lpstr>
      <vt:lpstr>OPORTUNIDAD DE EGRESO DE GINECOLOGIA </vt:lpstr>
      <vt:lpstr>Presentación de PowerPoint</vt:lpstr>
      <vt:lpstr>ADHERENCIA PRACTICA SEGURA:GARANTIZAR LA ATENCION SEGURA DE LA GESTANTE Y EL RECIEN NACIDO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Sharon Katherine Acuña</cp:lastModifiedBy>
  <cp:revision>163</cp:revision>
  <dcterms:created xsi:type="dcterms:W3CDTF">2024-08-26T14:52:25Z</dcterms:created>
  <dcterms:modified xsi:type="dcterms:W3CDTF">2026-05-25T03:19:24Z</dcterms:modified>
</cp:coreProperties>
</file>