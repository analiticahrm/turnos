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8"/>
  </p:notesMasterIdLst>
  <p:sldIdLst>
    <p:sldId id="256" r:id="rId4"/>
    <p:sldId id="257" r:id="rId5"/>
    <p:sldId id="258" r:id="rId6"/>
    <p:sldId id="261" r:id="rId7"/>
    <p:sldId id="262" r:id="rId9"/>
    <p:sldId id="264" r:id="rId10"/>
    <p:sldId id="265" r:id="rId11"/>
    <p:sldId id="275" r:id="rId12"/>
    <p:sldId id="276" r:id="rId13"/>
    <p:sldId id="277" r:id="rId14"/>
  </p:sldIdLst>
  <p:sldSz cx="12192000" cy="6858000"/>
  <p:notesSz cx="7772400" cy="100584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uz%20Marina\Desktop\PARA%20REALIZAR%20LOS%20INDICADOR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MX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TOTAL</a:t>
            </a:r>
            <a:r>
              <a:rPr lang="es-CO" baseline="0"/>
              <a:t> DE CITAS ASIGNADAS</a:t>
            </a:r>
            <a:endParaRPr lang="es-CO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FEBRERO!$A$25</c:f>
              <c:strCache>
                <c:ptCount val="1"/>
                <c:pt idx="0">
                  <c:v>TOTAL DE EGRESOS GINECOLOGIA /NEONATOS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FEBRERO!$B$25</c:f>
              <c:numCache>
                <c:formatCode>General</c:formatCode>
                <c:ptCount val="1"/>
                <c:pt idx="0">
                  <c:v>101</c:v>
                </c:pt>
              </c:numCache>
            </c:numRef>
          </c:val>
        </c:ser>
        <c:ser>
          <c:idx val="1"/>
          <c:order val="1"/>
          <c:tx>
            <c:strRef>
              <c:f>FEBRERO!$A$26</c:f>
              <c:strCache>
                <c:ptCount val="1"/>
                <c:pt idx="0">
                  <c:v>CITAS ASIGNADAS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FEBRERO!$B$26</c:f>
              <c:numCache>
                <c:formatCode>General</c:formatCode>
                <c:ptCount val="1"/>
                <c:pt idx="0">
                  <c:v>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35092271"/>
        <c:axId val="1935083631"/>
      </c:barChart>
      <c:catAx>
        <c:axId val="1935092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5083631"/>
        <c:crosses val="autoZero"/>
        <c:auto val="1"/>
        <c:lblAlgn val="ctr"/>
        <c:lblOffset val="100"/>
        <c:noMultiLvlLbl val="0"/>
      </c:catAx>
      <c:valAx>
        <c:axId val="193508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5092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60c60b2-2e01-4ef1-820f-1d7daddb0c6c}"/>
      </c:ext>
    </c:extLst>
  </c:chart>
  <c:spPr>
    <a:noFill/>
    <a:ln>
      <a:noFill/>
    </a:ln>
    <a:effectLst/>
  </c:spPr>
  <c:txPr>
    <a:bodyPr/>
    <a:lstStyle/>
    <a:p>
      <a:pPr>
        <a:defRPr lang="es-MX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66C8F-0079-4B74-9912-787A603CBA13}" type="datetimeFigureOut">
              <a:rPr lang="es-CO" smtClean="0"/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115D-8887-4ED7-9483-3B3B9EA74CBD}" type="slidenum">
              <a:rPr lang="es-CO" smtClean="0"/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115D-8887-4ED7-9483-3B3B9EA74CBD}" type="slidenum">
              <a:rPr lang="es-CO" smtClean="0"/>
            </a:fld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115D-8887-4ED7-9483-3B3B9EA74CBD}" type="slidenum">
              <a:rPr lang="es-CO" smtClean="0"/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00171A-D88C-4346-B9E0-6F3ED738336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29B98F-C5CB-4446-B026-91F5DBDC6378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51271-379C-4080-A1D4-73E4B8B7E5DF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E6F4E7-4766-441D-A40D-5C7AC39D171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195E96-D1EC-4CB5-B074-FBDE316A0637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92CCBA-B09E-420F-98C8-ABAE44F165B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DCD76D-55B2-4B11-A14E-C6306421CAC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456A59-13F8-4DB7-A854-7379E83F096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2AB9692-D904-41D5-B224-9F7586B334C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AF6939-70C7-4027-AD62-D45D080BA898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A4B21-D4A2-44D2-B53D-ABAEC0124804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041EE1-7AD6-4FAF-BFAA-056BBEC7986F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6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  <a:endParaRPr lang="es-CO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AC864-7BD0-452A-ADAA-F8EFCA6B4140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800" b="0" strike="noStrike" spc="-1">
                <a:solidFill>
                  <a:schemeClr val="dk1"/>
                </a:solidFill>
                <a:latin typeface="Calibri" panose="020F0502020204030204"/>
              </a:rPr>
              <a:t>Pulse para editar el formato de texto del esquema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Segundo nivel del esquema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Tercer nivel del esquema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 del esquema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Quinto nivel del esquema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Sexto nivel del esquema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Séptimo nivel del esquema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 panose="020F0502020204030204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 panose="020F0502020204030204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 panose="020F0502020204030204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  <a:endParaRPr lang="es-CO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040280" y="1707480"/>
            <a:ext cx="6655320" cy="15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MX" sz="2800" b="0" strike="noStrike" spc="-1" dirty="0">
                <a:solidFill>
                  <a:schemeClr val="dk1"/>
                </a:solidFill>
                <a:latin typeface="Arial" panose="020B0604020202020204"/>
              </a:rPr>
              <a:t>INDICADORES MES NOVIEMBRE 2025 SERVICIO GINECOLOGIA/NEONATOS 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311040" y="471240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MX" sz="2400" spc="-1" dirty="0">
                <a:solidFill>
                  <a:schemeClr val="dk1"/>
                </a:solidFill>
                <a:latin typeface="Calibri" panose="020F0502020204030204"/>
              </a:rPr>
              <a:t>LUISA FERNANDA PARDO</a:t>
            </a:r>
            <a:endParaRPr lang="es-CO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MX" sz="2400" b="0" strike="noStrike" spc="-1" dirty="0">
                <a:solidFill>
                  <a:schemeClr val="dk1"/>
                </a:solidFill>
                <a:latin typeface="Calibri" panose="020F0502020204030204"/>
              </a:rPr>
              <a:t>COORDINACION DE ENFERMERIA</a:t>
            </a:r>
            <a:endParaRPr lang="es-CO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3"/>
          <p:cNvSpPr/>
          <p:nvPr/>
        </p:nvSpPr>
        <p:spPr>
          <a:xfrm>
            <a:off x="3630960" y="1046880"/>
            <a:ext cx="59497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CO" sz="2400" b="1" strike="noStrike" spc="-1" dirty="0">
                <a:solidFill>
                  <a:schemeClr val="accent1"/>
                </a:solidFill>
                <a:latin typeface="Arial" panose="020B0604020202020204"/>
              </a:rPr>
              <a:t>NUMERO DE PARTOS Y CESAREAS  </a:t>
            </a:r>
            <a:endParaRPr lang="es-CO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2186640"/>
            <a:ext cx="10515240" cy="398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 panose="020B0604020202020204"/>
              </a:rPr>
              <a:t>PARTOS: 33</a:t>
            </a:r>
            <a:endParaRPr lang="es-CO" sz="20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 panose="020B0604020202020204"/>
              </a:rPr>
              <a:t>CESAREAS: 16</a:t>
            </a:r>
            <a:endParaRPr lang="es-CO" sz="2000" spc="-1" dirty="0">
              <a:solidFill>
                <a:schemeClr val="dk1"/>
              </a:solidFill>
              <a:latin typeface="Arial" panose="020B0604020202020204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Arial" panose="020B0604020202020204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pic>
        <p:nvPicPr>
          <p:cNvPr id="86" name="Imagen 13"/>
          <p:cNvPicPr/>
          <p:nvPr/>
        </p:nvPicPr>
        <p:blipFill>
          <a:blip r:embed="rId2"/>
          <a:stretch>
            <a:fillRect/>
          </a:stretch>
        </p:blipFill>
        <p:spPr>
          <a:xfrm>
            <a:off x="1298880" y="3670920"/>
            <a:ext cx="1695960" cy="162972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/>
          <p:cNvSpPr txBox="1"/>
          <p:nvPr/>
        </p:nvSpPr>
        <p:spPr>
          <a:xfrm>
            <a:off x="10028420" y="1319134"/>
            <a:ext cx="1648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TOTAL: 49</a:t>
            </a:r>
            <a:endParaRPr lang="es-CO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007" y="2051184"/>
            <a:ext cx="6865034" cy="38853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 panose="020B0604020202020204"/>
              </a:rPr>
              <a:t>NUMERO NEONATOS HOSPITALIZADOS VS NEONATOS CON ANTIBIOTICO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690200"/>
            <a:ext cx="10515240" cy="44863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NUMERO DE NEONATOS HX: 15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NEONATOS CON ORDEN DE ANTIBIOTICO:1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pic>
        <p:nvPicPr>
          <p:cNvPr id="90" name="Imagen 7"/>
          <p:cNvPicPr/>
          <p:nvPr/>
        </p:nvPicPr>
        <p:blipFill>
          <a:blip r:embed="rId2"/>
          <a:srcRect l="23081" t="2406" r="23956" b="3194"/>
          <a:stretch>
            <a:fillRect/>
          </a:stretch>
        </p:blipFill>
        <p:spPr>
          <a:xfrm>
            <a:off x="2856018" y="2813538"/>
            <a:ext cx="1245240" cy="1841760"/>
          </a:xfrm>
          <a:prstGeom prst="rect">
            <a:avLst/>
          </a:prstGeom>
          <a:ln w="0">
            <a:noFill/>
          </a:ln>
        </p:spPr>
      </p:pic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362240" y="5106572"/>
            <a:ext cx="448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Durante el mes de noviembre se administro 2 antibióticos a 1 paciente 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807" y="2658794"/>
            <a:ext cx="5600353" cy="3517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Arial" panose="020B0604020202020204"/>
              </a:rPr>
              <a:t>OPORTUNIDAD DE INCICIO DE SULFATO DE MG</a:t>
            </a:r>
            <a:br>
              <a:rPr sz="2400"/>
            </a:b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dirty="0"/>
              <a:t>TOTAL DE PACIENTES CON INICIO DE SULFATO MG: 2 pacientes</a:t>
            </a:r>
            <a:endParaRPr lang="es-CO" dirty="0"/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8" name="Conector 5"/>
          <p:cNvSpPr/>
          <p:nvPr/>
        </p:nvSpPr>
        <p:spPr>
          <a:xfrm>
            <a:off x="9263160" y="4605480"/>
            <a:ext cx="1616400" cy="1706040"/>
          </a:xfrm>
          <a:prstGeom prst="flowChartConnector">
            <a:avLst/>
          </a:prstGeom>
          <a:blipFill rotWithShape="0">
            <a:blip r:embed="rId2"/>
            <a:srcRect/>
            <a:stretch>
              <a:fillRect/>
            </a:stretch>
          </a:blipFill>
          <a:ln>
            <a:solidFill>
              <a:srgbClr val="325490"/>
            </a:solidFill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" name="Rectángulo redondeado 12"/>
          <p:cNvSpPr/>
          <p:nvPr/>
        </p:nvSpPr>
        <p:spPr>
          <a:xfrm flipH="1">
            <a:off x="9528480" y="4605480"/>
            <a:ext cx="1103040" cy="27108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0D0D"/>
                </a:solidFill>
                <a:latin typeface="Calibri" panose="020F0502020204030204"/>
              </a:rPr>
              <a:t>MIN</a:t>
            </a:r>
            <a:endParaRPr lang="es-CO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46" y="2532186"/>
            <a:ext cx="5964701" cy="3249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 panose="020B0604020202020204"/>
              </a:rPr>
              <a:t>OPORTUNIDAD DE EGRESO DE GINECOLOGIA 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13" name="CuadroTexto 6"/>
          <p:cNvSpPr/>
          <p:nvPr/>
        </p:nvSpPr>
        <p:spPr>
          <a:xfrm>
            <a:off x="8679765" y="5392278"/>
            <a:ext cx="1589649" cy="9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CO" sz="1800" b="0" strike="noStrike" spc="-1" dirty="0">
                <a:solidFill>
                  <a:schemeClr val="dk1"/>
                </a:solidFill>
                <a:latin typeface="Calibri" panose="020F0502020204030204"/>
              </a:rPr>
              <a:t>Tiempo Noviembre : 75,9 min</a:t>
            </a: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" name="Conector recto de flecha 7"/>
          <p:cNvCxnSpPr>
            <a:stCxn id="6" idx="1"/>
            <a:endCxn id="6" idx="3"/>
          </p:cNvCxnSpPr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040890"/>
            <a:ext cx="7545070" cy="3001645"/>
          </a:xfrm>
          <a:prstGeom prst="rect">
            <a:avLst/>
          </a:prstGeom>
        </p:spPr>
      </p:pic>
      <p:sp>
        <p:nvSpPr>
          <p:cNvPr id="3" name="CuadroTexto 6"/>
          <p:cNvSpPr/>
          <p:nvPr/>
        </p:nvSpPr>
        <p:spPr>
          <a:xfrm>
            <a:off x="6703010" y="5392913"/>
            <a:ext cx="1589649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CO" sz="1800" b="0" strike="noStrike" spc="-1" dirty="0">
                <a:solidFill>
                  <a:schemeClr val="dk1"/>
                </a:solidFill>
                <a:latin typeface="Calibri" panose="020F0502020204030204"/>
              </a:rPr>
              <a:t>Tiempo Octubre: 64,4 min</a:t>
            </a: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 panose="020B0604020202020204"/>
              </a:rPr>
              <a:t>EGRESOS VS ASIGNACION DE CITAS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pic>
        <p:nvPicPr>
          <p:cNvPr id="118" name="Imagen 4"/>
          <p:cNvPicPr/>
          <p:nvPr/>
        </p:nvPicPr>
        <p:blipFill>
          <a:blip r:embed="rId3"/>
          <a:stretch>
            <a:fillRect/>
          </a:stretch>
        </p:blipFill>
        <p:spPr>
          <a:xfrm>
            <a:off x="810000" y="3835080"/>
            <a:ext cx="1361880" cy="1810080"/>
          </a:xfrm>
          <a:prstGeom prst="rect">
            <a:avLst/>
          </a:prstGeom>
          <a:ln w="0">
            <a:noFill/>
          </a:ln>
        </p:spPr>
      </p:pic>
      <p:sp>
        <p:nvSpPr>
          <p:cNvPr id="119" name="CuadroTexto 8"/>
          <p:cNvSpPr/>
          <p:nvPr/>
        </p:nvSpPr>
        <p:spPr>
          <a:xfrm>
            <a:off x="3305880" y="5359680"/>
            <a:ext cx="66675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s-CO" sz="1600" b="1" u="sng" strike="noStrike" spc="-1" dirty="0">
                <a:solidFill>
                  <a:schemeClr val="dk1"/>
                </a:solidFill>
                <a:uFillTx/>
                <a:latin typeface="Arial" panose="020B0604020202020204"/>
              </a:rPr>
              <a:t>Ginecología:</a:t>
            </a:r>
            <a:r>
              <a:rPr lang="es-CO" sz="1600" b="0" strike="noStrike" spc="-1" dirty="0">
                <a:solidFill>
                  <a:schemeClr val="dk1"/>
                </a:solidFill>
                <a:latin typeface="Arial" panose="020B0604020202020204"/>
              </a:rPr>
              <a:t> </a:t>
            </a:r>
            <a:r>
              <a:rPr lang="es-CO" sz="1600" spc="-1" dirty="0">
                <a:solidFill>
                  <a:schemeClr val="dk1"/>
                </a:solidFill>
                <a:latin typeface="Arial" panose="020B0604020202020204"/>
              </a:rPr>
              <a:t>S</a:t>
            </a:r>
            <a:r>
              <a:rPr lang="es-CO" sz="1600" b="0" strike="noStrike" spc="-1" dirty="0">
                <a:solidFill>
                  <a:schemeClr val="dk1"/>
                </a:solidFill>
                <a:latin typeface="Arial" panose="020B0604020202020204"/>
              </a:rPr>
              <a:t>e asegura cita de control a diagnósticos de post parto/ pop de cesárea/ pop de diagnósticos ginecológicos   </a:t>
            </a:r>
            <a:endParaRPr lang="es-CO" sz="1600" b="0" strike="noStrike" spc="-1" dirty="0">
              <a:solidFill>
                <a:schemeClr val="dk1"/>
              </a:solidFill>
              <a:latin typeface="Arial" panose="020B0604020202020204"/>
            </a:endParaRPr>
          </a:p>
          <a:p>
            <a:pPr algn="just" defTabSz="914400">
              <a:lnSpc>
                <a:spcPct val="100000"/>
              </a:lnSpc>
            </a:pPr>
            <a:r>
              <a:rPr lang="es-CO" sz="1600" b="0" strike="noStrike" spc="-1" dirty="0">
                <a:solidFill>
                  <a:srgbClr val="000000"/>
                </a:solidFill>
                <a:latin typeface="Arial" panose="020B0604020202020204"/>
              </a:rPr>
              <a:t>No se asignan a pacientes que su centro de atención primario es otro municipio.</a:t>
            </a:r>
            <a:endParaRPr lang="es-CO" sz="1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algn="just" defTabSz="914400">
              <a:lnSpc>
                <a:spcPct val="100000"/>
              </a:lnSpc>
            </a:pPr>
            <a:r>
              <a:rPr lang="es-CO" sz="1600" b="0" strike="noStrike" spc="-1" dirty="0">
                <a:solidFill>
                  <a:srgbClr val="000000"/>
                </a:solidFill>
                <a:latin typeface="Arial" panose="020B0604020202020204"/>
              </a:rPr>
              <a:t>Algunos de los egresos se dan fuera del horario establecido pero se asignan posteriormente.</a:t>
            </a:r>
            <a:endParaRPr lang="es-CO" sz="16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3" name="Gráfico 2"/>
          <p:cNvGraphicFramePr/>
          <p:nvPr/>
        </p:nvGraphicFramePr>
        <p:xfrm>
          <a:off x="3305880" y="1690200"/>
          <a:ext cx="6203880" cy="3317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 panose="020B0604020202020204"/>
              </a:rPr>
              <a:t>INDICADORES DE PLANIFICACION FAMILIAR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pic>
        <p:nvPicPr>
          <p:cNvPr id="122" name="Imagen 13"/>
          <p:cNvPicPr/>
          <p:nvPr/>
        </p:nvPicPr>
        <p:blipFill>
          <a:blip r:embed="rId2"/>
          <a:stretch>
            <a:fillRect/>
          </a:stretch>
        </p:blipFill>
        <p:spPr>
          <a:xfrm>
            <a:off x="401400" y="2855880"/>
            <a:ext cx="2200680" cy="191916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/>
          <p:cNvSpPr txBox="1"/>
          <p:nvPr/>
        </p:nvSpPr>
        <p:spPr>
          <a:xfrm>
            <a:off x="9833317" y="1463040"/>
            <a:ext cx="18710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u="sng" dirty="0"/>
              <a:t>TOTAL DE PARTOS Y CESAREAS: </a:t>
            </a:r>
            <a:r>
              <a:rPr lang="es-CO" dirty="0"/>
              <a:t>49 PACIENTES QUE RECIBIERON LA TOTALIDAD DE ASESORIA SOBRE METODOS DE PLANIFICACION</a:t>
            </a:r>
            <a:endParaRPr lang="es-CO" b="1" u="sng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486" y="1690200"/>
            <a:ext cx="6063175" cy="4035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 panose="020B0604020202020204"/>
              </a:rPr>
              <a:t>INFECCIONES DEL SITIO OPERATORIO</a:t>
            </a:r>
            <a:endParaRPr lang="es-CO" sz="24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No se presenta ISO en el mes de Noviembre</a:t>
            </a:r>
            <a:r>
              <a:rPr lang="es-CO" spc="-1" dirty="0">
                <a:solidFill>
                  <a:schemeClr val="dk1"/>
                </a:solidFill>
                <a:latin typeface="Calibri" panose="020F0502020204030204"/>
              </a:rPr>
              <a:t>.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0"/>
              </a:spcBef>
              <a:buClr>
                <a:srgbClr val="4472C4"/>
              </a:buClr>
              <a:buFont typeface="Arial" panose="020B0604020202020204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 panose="020F0502020204030204"/>
              </a:rPr>
              <a:t>MASTITIS NO PUERPERAL 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pc="-1" dirty="0">
                <a:solidFill>
                  <a:schemeClr val="dk1"/>
                </a:solidFill>
                <a:latin typeface="Calibri" panose="020F0502020204030204"/>
              </a:rPr>
              <a:t>Se presento 1 pacientes con mastitis en el mes de Noviembre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0"/>
              </a:spcBef>
              <a:buClr>
                <a:srgbClr val="4472C4"/>
              </a:buClr>
              <a:buFont typeface="Arial" panose="020B0604020202020204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 panose="020F0502020204030204"/>
              </a:rPr>
              <a:t>ENDOMETRITIS</a:t>
            </a: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 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No se presento durante el mes de </a:t>
            </a:r>
            <a:r>
              <a:rPr lang="es-CO" spc="-1" dirty="0">
                <a:solidFill>
                  <a:schemeClr val="dk1"/>
                </a:solidFill>
                <a:latin typeface="Calibri" panose="020F0502020204030204"/>
              </a:rPr>
              <a:t>Noviembre</a:t>
            </a: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.  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 panose="020B0604020202020204"/>
              </a:rPr>
              <a:t>ADHERENCIA PRACTICA SEGURA:GARANTIZAR LA ATENCION SEGURA DE LA GESTANTE Y EL RECIEN NACIDO</a:t>
            </a:r>
            <a:endParaRPr lang="es-CO" sz="24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  </a:t>
            </a:r>
            <a:endParaRPr lang="es-CO" sz="2800" b="0" strike="noStrike" spc="-1" dirty="0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61" name="CuadroTexto 4"/>
          <p:cNvSpPr/>
          <p:nvPr/>
        </p:nvSpPr>
        <p:spPr>
          <a:xfrm>
            <a:off x="6095880" y="2597400"/>
            <a:ext cx="4863240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Clr>
                <a:srgbClr val="000000"/>
              </a:buClr>
            </a:pPr>
            <a:r>
              <a:rPr lang="es-CO" spc="-1" dirty="0">
                <a:solidFill>
                  <a:schemeClr val="dk1"/>
                </a:solidFill>
                <a:latin typeface="Calibri" panose="020F0502020204030204"/>
              </a:rPr>
              <a:t>          LISTA DE CHEQUEO: 17 PREGUNTAS</a:t>
            </a:r>
            <a:endParaRPr lang="es-CO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s-CO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r>
              <a:rPr lang="es-CO" sz="1800" b="0" strike="noStrike" spc="-1" dirty="0">
                <a:solidFill>
                  <a:schemeClr val="dk1"/>
                </a:solidFill>
                <a:latin typeface="Calibri" panose="020F0502020204030204"/>
              </a:rPr>
              <a:t>                                  2 MOMENTOS</a:t>
            </a:r>
            <a:endParaRPr lang="es-CO" sz="1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s-CO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r>
              <a:rPr lang="es-CO" sz="1800" b="0" strike="noStrike" spc="-1" dirty="0">
                <a:solidFill>
                  <a:schemeClr val="dk1"/>
                </a:solidFill>
                <a:latin typeface="Calibri" panose="020F0502020204030204"/>
              </a:rPr>
              <a:t>             1 MOMENTO: 6 PREGUNTA </a:t>
            </a:r>
            <a:endParaRPr lang="es-CO" sz="1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r>
              <a:rPr lang="es-CO" spc="-1" dirty="0">
                <a:solidFill>
                  <a:schemeClr val="dk1"/>
                </a:solidFill>
                <a:latin typeface="Calibri" panose="020F0502020204030204"/>
              </a:rPr>
              <a:t>             2  MOMENTO: 11 PREGUNTAS</a:t>
            </a:r>
            <a:endParaRPr lang="es-CO" sz="1800" b="0" strike="noStrike" spc="-1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 dirty="0">
                <a:solidFill>
                  <a:schemeClr val="dk1"/>
                </a:solidFill>
                <a:latin typeface="Calibri" panose="020F0502020204030204"/>
              </a:rPr>
              <a:t>Diligenciamiento por parte de medicina, partograma oportunamente según la indicación.</a:t>
            </a:r>
            <a:r>
              <a:rPr lang="es-ES" spc="-1" dirty="0">
                <a:solidFill>
                  <a:schemeClr val="dk1"/>
                </a:solidFill>
                <a:latin typeface="Calibri" panose="020F0502020204030204"/>
              </a:rPr>
              <a:t> </a:t>
            </a:r>
            <a:endParaRPr lang="es-ES" spc="-1" dirty="0">
              <a:solidFill>
                <a:schemeClr val="dk1"/>
              </a:solidFill>
              <a:latin typeface="Calibri" panose="020F050202020403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 dirty="0">
                <a:solidFill>
                  <a:schemeClr val="dk1"/>
                </a:solidFill>
                <a:latin typeface="Calibri" panose="020F0502020204030204"/>
              </a:rPr>
              <a:t>No uso de los campos estériles en el momento de la atención del parto</a:t>
            </a: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s-CO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6" name="CuadroTexto 5"/>
          <p:cNvSpPr txBox="1"/>
          <p:nvPr/>
        </p:nvSpPr>
        <p:spPr>
          <a:xfrm>
            <a:off x="9762978" y="150553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MUESTRA: 4</a:t>
            </a:r>
            <a:endParaRPr lang="es-CO" dirty="0"/>
          </a:p>
        </p:txBody>
      </p:sp>
      <p:sp>
        <p:nvSpPr>
          <p:cNvPr id="7" name="Flecha: hacia abajo 6"/>
          <p:cNvSpPr/>
          <p:nvPr/>
        </p:nvSpPr>
        <p:spPr>
          <a:xfrm>
            <a:off x="8201465" y="3066757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lecha: hacia abajo 7"/>
          <p:cNvSpPr/>
          <p:nvPr/>
        </p:nvSpPr>
        <p:spPr>
          <a:xfrm>
            <a:off x="8201465" y="3636499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1" y="2405576"/>
            <a:ext cx="4863600" cy="3446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</Words>
  <Application>WPS Presentation</Application>
  <PresentationFormat>Panorámica</PresentationFormat>
  <Paragraphs>73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Times New Roman</vt:lpstr>
      <vt:lpstr>Symbol</vt:lpstr>
      <vt:lpstr>Arial</vt:lpstr>
      <vt:lpstr>Microsoft YaHei</vt:lpstr>
      <vt:lpstr>Arial Unicode MS</vt:lpstr>
      <vt:lpstr>Tema de Office</vt:lpstr>
      <vt:lpstr>Tema de Office</vt:lpstr>
      <vt:lpstr>INDICADORES MES NOVIEMBRE 2025 SERVICIO GINECOLOGIA/NEONATOS </vt:lpstr>
      <vt:lpstr>PowerPoint 演示文稿</vt:lpstr>
      <vt:lpstr>NUMERO NEONATOS HOSPITALIZADOS VS NEONATOS CON ANTIBIOTICO</vt:lpstr>
      <vt:lpstr>OPORTUNIDAD DE INCICIO DE SULFATO DE MG </vt:lpstr>
      <vt:lpstr>OPORTUNIDAD DE EGRESO DE GINECOLOGIA </vt:lpstr>
      <vt:lpstr>EGRESOS VS ASIGNACION DE CITAS</vt:lpstr>
      <vt:lpstr>INDICADORES DE PLANIFICACION FAMILIAR</vt:lpstr>
      <vt:lpstr>INFECCIONES DEL SITIO OPERATORIO</vt:lpstr>
      <vt:lpstr>ADHERENCIA PRACTICA SEGURA:GARANTIZAR LA ATENCION SEGURA DE LA GESTANTE Y EL RECIEN NACIDO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Fernanda Pardo</cp:lastModifiedBy>
  <cp:revision>239</cp:revision>
  <dcterms:created xsi:type="dcterms:W3CDTF">2024-08-26T14:52:00Z</dcterms:created>
  <dcterms:modified xsi:type="dcterms:W3CDTF">2025-12-09T17:00:23Z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22</vt:i4>
  </property>
  <property fmtid="{D5CDD505-2E9C-101B-9397-08002B2CF9AE}" pid="4" name="ICV">
    <vt:lpwstr>9E6960C3F88E4567B0057E5C6C86A1B5_12</vt:lpwstr>
  </property>
  <property fmtid="{D5CDD505-2E9C-101B-9397-08002B2CF9AE}" pid="5" name="KSOProductBuildVer">
    <vt:lpwstr>2058-12.2.0.23155</vt:lpwstr>
  </property>
</Properties>
</file>