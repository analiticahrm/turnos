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70" r:id="rId4"/>
    <p:sldId id="281" r:id="rId5"/>
    <p:sldId id="282" r:id="rId6"/>
    <p:sldId id="285" r:id="rId7"/>
    <p:sldId id="283" r:id="rId8"/>
    <p:sldId id="278" r:id="rId9"/>
    <p:sldId id="279" r:id="rId10"/>
    <p:sldId id="280" r:id="rId11"/>
    <p:sldId id="284" r:id="rId12"/>
    <p:sldId id="259"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A7FCF-F2A5-4735-BD1D-4C40190BCC9A}" type="datetimeFigureOut">
              <a:rPr lang="es-CO" smtClean="0"/>
              <a:t>4/05/2026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370588-5523-4E2B-A50E-3D82534DAE6C}" type="slidenum">
              <a:rPr lang="es-CO" smtClean="0"/>
              <a:t>‹Nº›</a:t>
            </a:fld>
            <a:endParaRPr lang="es-CO"/>
          </a:p>
        </p:txBody>
      </p:sp>
    </p:spTree>
    <p:extLst>
      <p:ext uri="{BB962C8B-B14F-4D97-AF65-F5344CB8AC3E}">
        <p14:creationId xmlns:p14="http://schemas.microsoft.com/office/powerpoint/2010/main" val="2090666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O" dirty="0"/>
              <a:t>UIS, Uniboyacá, UPTC, UTC, </a:t>
            </a:r>
            <a:r>
              <a:rPr lang="es-CO" dirty="0" err="1"/>
              <a:t>Uni</a:t>
            </a:r>
            <a:r>
              <a:rPr lang="es-CO" dirty="0"/>
              <a:t> pamplona, UNIR , Hispanoamericana, Santo Tomás, EIA, Idealtec</a:t>
            </a:r>
          </a:p>
        </p:txBody>
      </p:sp>
      <p:sp>
        <p:nvSpPr>
          <p:cNvPr id="4" name="Marcador de número de diapositiva 3"/>
          <p:cNvSpPr>
            <a:spLocks noGrp="1"/>
          </p:cNvSpPr>
          <p:nvPr>
            <p:ph type="sldNum" sz="quarter" idx="5"/>
          </p:nvPr>
        </p:nvSpPr>
        <p:spPr/>
        <p:txBody>
          <a:bodyPr/>
          <a:lstStyle/>
          <a:p>
            <a:fld id="{3B370588-5523-4E2B-A50E-3D82534DAE6C}" type="slidenum">
              <a:rPr lang="es-CO" smtClean="0"/>
              <a:t>8</a:t>
            </a:fld>
            <a:endParaRPr lang="es-CO"/>
          </a:p>
        </p:txBody>
      </p:sp>
    </p:spTree>
    <p:extLst>
      <p:ext uri="{BB962C8B-B14F-4D97-AF65-F5344CB8AC3E}">
        <p14:creationId xmlns:p14="http://schemas.microsoft.com/office/powerpoint/2010/main" val="3088417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2F5F97-1020-4EE6-ACA1-E90897E1DD8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759910-1034-49E7-BC79-A28022929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68F966D-C1C7-40B0-8162-73CDD1D80026}"/>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C9DB57A8-5238-40C4-9A88-85BF392CF47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67885B3-B239-4D90-B0FD-A877E874E32A}"/>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1359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4AE1A-77EF-484F-A804-44EA302E910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F646D03-5F22-4FA5-9817-2E410DFDD53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E9FB61-F9C1-4AA1-99BC-7FC860015251}"/>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5F68517D-FDB7-4C54-926C-6304547E362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F863A7-71BC-40F8-A158-5A9A6057200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087401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C4E17-CB96-4580-8A84-23CF451DACE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6E743F1-DEAC-4FEA-91AE-57CBDF5982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BEDFEA-2651-4C28-9F34-60EF561933A6}"/>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878A936E-A542-4128-89FE-25910D87861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E454940-65B8-43B5-805A-62F15723B73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1943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6DA25-4C0D-463D-8289-FD732DC764B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47EFF1D-D0BE-43A4-A41B-9A5351DE9D0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B3B7E19-8BC9-476E-B506-BDD3FD610B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FBF8CF4-5E72-4DEB-B453-063D3A0C3400}"/>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6" name="Marcador de pie de página 5">
            <a:extLst>
              <a:ext uri="{FF2B5EF4-FFF2-40B4-BE49-F238E27FC236}">
                <a16:creationId xmlns:a16="http://schemas.microsoft.com/office/drawing/2014/main" id="{A3299471-A835-445F-85B7-0393FD2DBCE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F22F38A-CD7A-4C0A-841F-3C02134E5E1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378308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40F6-05C2-4688-955A-7296D05799E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CDF0F71-EDCE-454E-AC7A-677AE7014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321545F-6E58-42EF-8380-F7D3C73B99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2EE216B-093A-470C-8716-5CD593F78D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4D12FC-F7E9-471F-9845-0726EC8919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C1A4E2CE-8782-4667-83A9-AD4D03229C18}"/>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8" name="Marcador de pie de página 7">
            <a:extLst>
              <a:ext uri="{FF2B5EF4-FFF2-40B4-BE49-F238E27FC236}">
                <a16:creationId xmlns:a16="http://schemas.microsoft.com/office/drawing/2014/main" id="{1742954F-5699-49D0-B195-CC619067889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428E020-0DE7-4ADC-B298-3E3348C41B6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3253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71C42E-3A84-4A7D-A0D7-DFDBEEDAE8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607FEBB-E137-4290-A7C2-BB81D055CE1D}"/>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4" name="Marcador de pie de página 3">
            <a:extLst>
              <a:ext uri="{FF2B5EF4-FFF2-40B4-BE49-F238E27FC236}">
                <a16:creationId xmlns:a16="http://schemas.microsoft.com/office/drawing/2014/main" id="{3BB4A668-FBFF-444A-9606-25D30B879C7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EAD0BAB-85DB-4994-8FE2-8B134970A9A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4055657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0EAEA6E-C7E2-400D-9F2C-7655A3A7FD93}"/>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3" name="Marcador de pie de página 2">
            <a:extLst>
              <a:ext uri="{FF2B5EF4-FFF2-40B4-BE49-F238E27FC236}">
                <a16:creationId xmlns:a16="http://schemas.microsoft.com/office/drawing/2014/main" id="{A5EAF9C2-66E4-4F6C-B5A9-DCE7CBD5480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9854F549-00DE-4C3D-92E9-C11D0660D1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975723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9AC0ED-9A90-49B3-8F84-4CCBDA10AC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02F82F6-A48C-4802-95FC-4E44B56B9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DCDABEF-7742-4D1B-98F0-BDC980609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4EEF5A-EECA-4654-BFBC-C3224B67C946}"/>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6" name="Marcador de pie de página 5">
            <a:extLst>
              <a:ext uri="{FF2B5EF4-FFF2-40B4-BE49-F238E27FC236}">
                <a16:creationId xmlns:a16="http://schemas.microsoft.com/office/drawing/2014/main" id="{8A26A55B-4ECE-4555-81F3-7B01EFF52A1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6BC4BBE-5C8F-406F-A5F6-D7DC51E7458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9131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485C43-08EF-4BD9-A218-38CAD2668A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4B6F318-8444-4900-BC88-875353FA6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3D25216-3601-4132-A466-A43F91446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07827F-E9CB-426E-88E8-51BB702387A3}"/>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6" name="Marcador de pie de página 5">
            <a:extLst>
              <a:ext uri="{FF2B5EF4-FFF2-40B4-BE49-F238E27FC236}">
                <a16:creationId xmlns:a16="http://schemas.microsoft.com/office/drawing/2014/main" id="{C55746CE-82F9-4FA8-9A0E-E8F8DA709DA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D1589BA-AA34-440C-96EE-5096F4D80989}"/>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15469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51E2B-923F-4458-9B56-B6694F6C37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3F8E8BD-05AE-42F6-A28F-DE6821AC6B4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6F1BADB-96DB-4328-9A9B-39ECD064501B}"/>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D2F361CB-E120-4FCE-BC69-B351C1064DE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A0C5800-7D4C-473A-A846-3DA77B77F6E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7584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9A63E9-572F-4E70-900E-8289A8BA080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F3A2B5C-5897-4F84-B25A-DEA36E31FF1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2819DD3-DEDB-4FDA-B961-E728E57A9293}"/>
              </a:ext>
            </a:extLst>
          </p:cNvPr>
          <p:cNvSpPr>
            <a:spLocks noGrp="1"/>
          </p:cNvSpPr>
          <p:nvPr>
            <p:ph type="dt" sz="half" idx="10"/>
          </p:nvPr>
        </p:nvSpPr>
        <p:spPr/>
        <p:txBody>
          <a:body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8FEFDFE9-8BB3-47D4-8027-F3E67B3CA6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BD4CB-278D-4FCC-99DC-7BC9FE90A8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483546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BD8030-76DF-446F-8225-156CADC5D7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A1A0A47-AAFE-4984-8867-B71DC703F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0E5AFFB-23A1-4118-A1AD-F7A3420B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D464F-AE49-4530-AB8F-BF5C16571F6A}" type="datetimeFigureOut">
              <a:rPr lang="es-CO" smtClean="0"/>
              <a:t>4/05/2026</a:t>
            </a:fld>
            <a:endParaRPr lang="es-CO"/>
          </a:p>
        </p:txBody>
      </p:sp>
      <p:sp>
        <p:nvSpPr>
          <p:cNvPr id="5" name="Marcador de pie de página 4">
            <a:extLst>
              <a:ext uri="{FF2B5EF4-FFF2-40B4-BE49-F238E27FC236}">
                <a16:creationId xmlns:a16="http://schemas.microsoft.com/office/drawing/2014/main" id="{227482B8-2E51-4D91-8D5A-2BE6ED75B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92081BF-C090-4E4F-855F-FB857FCD2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B09BD-4935-4E15-915B-CAF5541A0352}" type="slidenum">
              <a:rPr lang="es-CO" smtClean="0"/>
              <a:t>‹Nº›</a:t>
            </a:fld>
            <a:endParaRPr lang="es-CO"/>
          </a:p>
        </p:txBody>
      </p:sp>
    </p:spTree>
    <p:extLst>
      <p:ext uri="{BB962C8B-B14F-4D97-AF65-F5344CB8AC3E}">
        <p14:creationId xmlns:p14="http://schemas.microsoft.com/office/powerpoint/2010/main" val="3571825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www.minsalud.gov.co/sites/rid/Lists/BibliotecaDigital/RIDE/VS/ED/PSP/asis-colombia-" TargetMode="Externa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69533-1871-4A5A-9BE1-C29688C859B4}"/>
              </a:ext>
            </a:extLst>
          </p:cNvPr>
          <p:cNvSpPr>
            <a:spLocks noGrp="1"/>
          </p:cNvSpPr>
          <p:nvPr>
            <p:ph type="ctrTitle"/>
          </p:nvPr>
        </p:nvSpPr>
        <p:spPr>
          <a:xfrm>
            <a:off x="3914648" y="1985407"/>
            <a:ext cx="6655837" cy="1559864"/>
          </a:xfrm>
        </p:spPr>
        <p:txBody>
          <a:bodyPr>
            <a:normAutofit fontScale="90000"/>
          </a:bodyPr>
          <a:lstStyle/>
          <a:p>
            <a:r>
              <a:rPr lang="es-MX" b="1" dirty="0">
                <a:solidFill>
                  <a:schemeClr val="bg1"/>
                </a:solidFill>
              </a:rPr>
              <a:t>Comité de ética en investigación 2026-1 </a:t>
            </a:r>
            <a:endParaRPr lang="es-CO" b="1" dirty="0">
              <a:solidFill>
                <a:schemeClr val="bg1"/>
              </a:solidFill>
            </a:endParaRPr>
          </a:p>
        </p:txBody>
      </p:sp>
      <p:sp>
        <p:nvSpPr>
          <p:cNvPr id="3" name="Subtítulo 2">
            <a:extLst>
              <a:ext uri="{FF2B5EF4-FFF2-40B4-BE49-F238E27FC236}">
                <a16:creationId xmlns:a16="http://schemas.microsoft.com/office/drawing/2014/main" id="{BCD6ED36-3E6F-4691-BDA3-31B08010DD6D}"/>
              </a:ext>
            </a:extLst>
          </p:cNvPr>
          <p:cNvSpPr>
            <a:spLocks noGrp="1"/>
          </p:cNvSpPr>
          <p:nvPr>
            <p:ph type="subTitle" idx="1"/>
          </p:nvPr>
        </p:nvSpPr>
        <p:spPr>
          <a:xfrm>
            <a:off x="311021" y="4712380"/>
            <a:ext cx="9144000" cy="1655762"/>
          </a:xfrm>
        </p:spPr>
        <p:txBody>
          <a:bodyPr/>
          <a:lstStyle/>
          <a:p>
            <a:pPr>
              <a:lnSpc>
                <a:spcPct val="100000"/>
              </a:lnSpc>
            </a:pPr>
            <a:r>
              <a:rPr lang="es-MX" dirty="0"/>
              <a:t>Leidy Yibeth Toledo Rojas</a:t>
            </a:r>
          </a:p>
          <a:p>
            <a:pPr>
              <a:lnSpc>
                <a:spcPct val="100000"/>
              </a:lnSpc>
            </a:pPr>
            <a:r>
              <a:rPr lang="es-MX" dirty="0"/>
              <a:t>Especialista Medicina Familiar y Salud Comunitaria</a:t>
            </a:r>
          </a:p>
          <a:p>
            <a:pPr>
              <a:lnSpc>
                <a:spcPct val="100000"/>
              </a:lnSpc>
            </a:pPr>
            <a:r>
              <a:rPr lang="es-MX" dirty="0"/>
              <a:t>Referente Academia e Investigación </a:t>
            </a:r>
            <a:endParaRPr lang="es-CO" dirty="0"/>
          </a:p>
        </p:txBody>
      </p:sp>
    </p:spTree>
    <p:extLst>
      <p:ext uri="{BB962C8B-B14F-4D97-AF65-F5344CB8AC3E}">
        <p14:creationId xmlns:p14="http://schemas.microsoft.com/office/powerpoint/2010/main" val="1795083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6D98BE08-3706-4664-BAE9-9F03C7087320}"/>
              </a:ext>
            </a:extLst>
          </p:cNvPr>
          <p:cNvSpPr>
            <a:spLocks noGrp="1"/>
          </p:cNvSpPr>
          <p:nvPr>
            <p:ph type="title"/>
          </p:nvPr>
        </p:nvSpPr>
        <p:spPr>
          <a:xfrm>
            <a:off x="2837329" y="804395"/>
            <a:ext cx="10515600" cy="1325563"/>
          </a:xfrm>
        </p:spPr>
        <p:txBody>
          <a:bodyPr/>
          <a:lstStyle/>
          <a:p>
            <a:r>
              <a:rPr lang="es-CO" b="1" dirty="0">
                <a:solidFill>
                  <a:srgbClr val="002060"/>
                </a:solidFill>
              </a:rPr>
              <a:t>ORDEN DEL DÍA</a:t>
            </a:r>
          </a:p>
        </p:txBody>
      </p:sp>
      <p:sp>
        <p:nvSpPr>
          <p:cNvPr id="4" name="Marcador de contenido 3">
            <a:extLst>
              <a:ext uri="{FF2B5EF4-FFF2-40B4-BE49-F238E27FC236}">
                <a16:creationId xmlns:a16="http://schemas.microsoft.com/office/drawing/2014/main" id="{6F9A585D-22F9-486E-B11F-3C09BAC3809E}"/>
              </a:ext>
            </a:extLst>
          </p:cNvPr>
          <p:cNvSpPr>
            <a:spLocks noGrp="1"/>
          </p:cNvSpPr>
          <p:nvPr>
            <p:ph idx="4294967295"/>
          </p:nvPr>
        </p:nvSpPr>
        <p:spPr>
          <a:xfrm>
            <a:off x="466164" y="2452967"/>
            <a:ext cx="10856259" cy="4046445"/>
          </a:xfrm>
        </p:spPr>
        <p:txBody>
          <a:bodyPr/>
          <a:lstStyle/>
          <a:p>
            <a:pPr marL="342900" lvl="0" indent="-342900">
              <a:lnSpc>
                <a:spcPct val="115000"/>
              </a:lnSpc>
              <a:buFont typeface="+mj-lt"/>
              <a:buAutoNum type="arabicPeriod"/>
            </a:pPr>
            <a:r>
              <a:rPr lang="es-CO" sz="1800" dirty="0">
                <a:effectLst/>
                <a:latin typeface="Calibri Light" panose="020F0302020204030204" pitchFamily="34" charset="0"/>
                <a:ea typeface="Calibri" panose="020F0502020204030204" pitchFamily="34" charset="0"/>
                <a:cs typeface="Times New Roman" panose="02020603050405020304" pitchFamily="18" charset="0"/>
              </a:rPr>
              <a:t>Verificación del quórum.</a:t>
            </a:r>
            <a:endParaRPr lang="es-CO"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s-CO" sz="1800" dirty="0">
                <a:effectLst/>
                <a:latin typeface="Calibri Light" panose="020F0302020204030204" pitchFamily="34" charset="0"/>
                <a:ea typeface="Calibri" panose="020F0502020204030204" pitchFamily="34" charset="0"/>
                <a:cs typeface="Times New Roman" panose="02020603050405020304" pitchFamily="18" charset="0"/>
              </a:rPr>
              <a:t>Aprobación del orden del día por presidente del Comité.</a:t>
            </a:r>
            <a:endParaRPr lang="es-CO"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s-CO" sz="1800" dirty="0">
                <a:effectLst/>
                <a:latin typeface="Calibri Light" panose="020F0302020204030204" pitchFamily="34" charset="0"/>
                <a:ea typeface="Calibri" panose="020F0502020204030204" pitchFamily="34" charset="0"/>
                <a:cs typeface="Times New Roman" panose="02020603050405020304" pitchFamily="18" charset="0"/>
              </a:rPr>
              <a:t>Presentación de las propuestas y anteproyectos de investigación</a:t>
            </a:r>
            <a:endParaRPr lang="es-CO" sz="1800" dirty="0">
              <a:latin typeface="Calibri Light" panose="020F03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mj-lt"/>
              <a:buAutoNum type="arabicPeriod"/>
            </a:pPr>
            <a:r>
              <a:rPr lang="es-CO" sz="1800" dirty="0">
                <a:latin typeface="Calibri Light" panose="020F0302020204030204" pitchFamily="34" charset="0"/>
                <a:ea typeface="Calibri" panose="020F0502020204030204" pitchFamily="34" charset="0"/>
                <a:cs typeface="Times New Roman" panose="02020603050405020304" pitchFamily="18" charset="0"/>
              </a:rPr>
              <a:t>Resumen Docencia – Servicio 2025</a:t>
            </a:r>
          </a:p>
          <a:p>
            <a:pPr marL="342900" lvl="0" indent="-342900" algn="just">
              <a:lnSpc>
                <a:spcPct val="115000"/>
              </a:lnSpc>
              <a:buFont typeface="+mj-lt"/>
              <a:buAutoNum type="arabicPeriod"/>
            </a:pPr>
            <a:r>
              <a:rPr lang="es-CO" sz="1800" dirty="0">
                <a:latin typeface="Calibri Light" panose="020F0302020204030204" pitchFamily="34" charset="0"/>
                <a:ea typeface="Calibri" panose="020F0502020204030204" pitchFamily="34" charset="0"/>
                <a:cs typeface="Times New Roman" panose="02020603050405020304" pitchFamily="18" charset="0"/>
              </a:rPr>
              <a:t>Plan: Certificación HRM como escenario de práctica clínica 2026</a:t>
            </a:r>
          </a:p>
          <a:p>
            <a:pPr marL="342900" lvl="0" indent="-342900" algn="just">
              <a:lnSpc>
                <a:spcPct val="115000"/>
              </a:lnSpc>
              <a:buFont typeface="+mj-lt"/>
              <a:buAutoNum type="arabicPeriod"/>
            </a:pPr>
            <a:r>
              <a:rPr lang="es-CO" sz="1800" dirty="0">
                <a:effectLst/>
                <a:latin typeface="Calibri Light" panose="020F0302020204030204" pitchFamily="34" charset="0"/>
                <a:ea typeface="Calibri" panose="020F0502020204030204" pitchFamily="34" charset="0"/>
                <a:cs typeface="Times New Roman" panose="02020603050405020304" pitchFamily="18" charset="0"/>
              </a:rPr>
              <a:t>Proposiciones y varios </a:t>
            </a:r>
            <a:endParaRPr lang="es-CO"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CO" dirty="0"/>
          </a:p>
        </p:txBody>
      </p:sp>
    </p:spTree>
    <p:extLst>
      <p:ext uri="{BB962C8B-B14F-4D97-AF65-F5344CB8AC3E}">
        <p14:creationId xmlns:p14="http://schemas.microsoft.com/office/powerpoint/2010/main" val="2910541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528734" y="-252268"/>
            <a:ext cx="9991531" cy="1325563"/>
          </a:xfrm>
        </p:spPr>
        <p:txBody>
          <a:bodyPr>
            <a:normAutofit/>
          </a:bodyPr>
          <a:lstStyle/>
          <a:p>
            <a:pPr algn="ctr"/>
            <a:r>
              <a:rPr lang="es-CO" sz="3200" b="1" dirty="0">
                <a:solidFill>
                  <a:srgbClr val="002060"/>
                </a:solidFill>
              </a:rPr>
              <a:t>1. Propuesta de investigación/ Anteproyecto #1</a:t>
            </a:r>
            <a:endParaRPr lang="es-CO" sz="3200" dirty="0">
              <a:solidFill>
                <a:srgbClr val="002060"/>
              </a:solidFill>
            </a:endParaRPr>
          </a:p>
        </p:txBody>
      </p:sp>
      <p:pic>
        <p:nvPicPr>
          <p:cNvPr id="7" name="Imagen 6">
            <a:extLst>
              <a:ext uri="{FF2B5EF4-FFF2-40B4-BE49-F238E27FC236}">
                <a16:creationId xmlns:a16="http://schemas.microsoft.com/office/drawing/2014/main" id="{B3777CB7-34B4-4EA7-927C-E1DFAD55CCFA}"/>
              </a:ext>
            </a:extLst>
          </p:cNvPr>
          <p:cNvPicPr>
            <a:picLocks noChangeAspect="1"/>
          </p:cNvPicPr>
          <p:nvPr/>
        </p:nvPicPr>
        <p:blipFill>
          <a:blip r:embed="rId3"/>
          <a:stretch>
            <a:fillRect/>
          </a:stretch>
        </p:blipFill>
        <p:spPr>
          <a:xfrm>
            <a:off x="9492327" y="171450"/>
            <a:ext cx="2615206" cy="612069"/>
          </a:xfrm>
          <a:prstGeom prst="rect">
            <a:avLst/>
          </a:prstGeom>
        </p:spPr>
      </p:pic>
      <p:pic>
        <p:nvPicPr>
          <p:cNvPr id="4" name="Imagen 3">
            <a:extLst>
              <a:ext uri="{FF2B5EF4-FFF2-40B4-BE49-F238E27FC236}">
                <a16:creationId xmlns:a16="http://schemas.microsoft.com/office/drawing/2014/main" id="{6717E3F8-5153-48B6-B77F-90CEF1C62065}"/>
              </a:ext>
            </a:extLst>
          </p:cNvPr>
          <p:cNvPicPr>
            <a:picLocks noChangeAspect="1"/>
          </p:cNvPicPr>
          <p:nvPr/>
        </p:nvPicPr>
        <p:blipFill>
          <a:blip r:embed="rId4"/>
          <a:stretch>
            <a:fillRect/>
          </a:stretch>
        </p:blipFill>
        <p:spPr>
          <a:xfrm>
            <a:off x="3042811" y="971372"/>
            <a:ext cx="6106377" cy="2553056"/>
          </a:xfrm>
          <a:prstGeom prst="rect">
            <a:avLst/>
          </a:prstGeom>
        </p:spPr>
      </p:pic>
      <p:pic>
        <p:nvPicPr>
          <p:cNvPr id="6" name="Imagen 5">
            <a:extLst>
              <a:ext uri="{FF2B5EF4-FFF2-40B4-BE49-F238E27FC236}">
                <a16:creationId xmlns:a16="http://schemas.microsoft.com/office/drawing/2014/main" id="{1D4346E6-04E0-46E5-A50C-228DA0061943}"/>
              </a:ext>
            </a:extLst>
          </p:cNvPr>
          <p:cNvPicPr>
            <a:picLocks noChangeAspect="1"/>
          </p:cNvPicPr>
          <p:nvPr/>
        </p:nvPicPr>
        <p:blipFill>
          <a:blip r:embed="rId5"/>
          <a:stretch>
            <a:fillRect/>
          </a:stretch>
        </p:blipFill>
        <p:spPr>
          <a:xfrm>
            <a:off x="3080916" y="783519"/>
            <a:ext cx="6068272" cy="5725324"/>
          </a:xfrm>
          <a:prstGeom prst="rect">
            <a:avLst/>
          </a:prstGeom>
        </p:spPr>
      </p:pic>
      <p:pic>
        <p:nvPicPr>
          <p:cNvPr id="9" name="Imagen 8">
            <a:extLst>
              <a:ext uri="{FF2B5EF4-FFF2-40B4-BE49-F238E27FC236}">
                <a16:creationId xmlns:a16="http://schemas.microsoft.com/office/drawing/2014/main" id="{73B26737-E3FC-4C0E-B4B3-F791BD825145}"/>
              </a:ext>
            </a:extLst>
          </p:cNvPr>
          <p:cNvPicPr>
            <a:picLocks noChangeAspect="1"/>
          </p:cNvPicPr>
          <p:nvPr/>
        </p:nvPicPr>
        <p:blipFill rotWithShape="1">
          <a:blip r:embed="rId6"/>
          <a:srcRect b="3520"/>
          <a:stretch/>
        </p:blipFill>
        <p:spPr>
          <a:xfrm>
            <a:off x="3080916" y="731735"/>
            <a:ext cx="6411411" cy="5878615"/>
          </a:xfrm>
          <a:prstGeom prst="rect">
            <a:avLst/>
          </a:prstGeom>
          <a:ln>
            <a:solidFill>
              <a:schemeClr val="tx1"/>
            </a:solidFill>
          </a:ln>
        </p:spPr>
      </p:pic>
    </p:spTree>
    <p:extLst>
      <p:ext uri="{BB962C8B-B14F-4D97-AF65-F5344CB8AC3E}">
        <p14:creationId xmlns:p14="http://schemas.microsoft.com/office/powerpoint/2010/main" val="6896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452534" y="-233218"/>
            <a:ext cx="9991531" cy="1325563"/>
          </a:xfrm>
        </p:spPr>
        <p:txBody>
          <a:bodyPr>
            <a:normAutofit/>
          </a:bodyPr>
          <a:lstStyle/>
          <a:p>
            <a:pPr algn="ctr"/>
            <a:r>
              <a:rPr lang="es-CO" sz="3200" b="1" dirty="0">
                <a:solidFill>
                  <a:srgbClr val="002060"/>
                </a:solidFill>
              </a:rPr>
              <a:t>1. Propuesta de investigación/ Anteproyecto #2</a:t>
            </a:r>
            <a:endParaRPr lang="es-CO" sz="3200" dirty="0">
              <a:solidFill>
                <a:srgbClr val="002060"/>
              </a:solidFill>
            </a:endParaRPr>
          </a:p>
        </p:txBody>
      </p:sp>
      <p:pic>
        <p:nvPicPr>
          <p:cNvPr id="3" name="Imagen 2">
            <a:extLst>
              <a:ext uri="{FF2B5EF4-FFF2-40B4-BE49-F238E27FC236}">
                <a16:creationId xmlns:a16="http://schemas.microsoft.com/office/drawing/2014/main" id="{D208DE2A-0884-4C93-AB86-74A08780C195}"/>
              </a:ext>
            </a:extLst>
          </p:cNvPr>
          <p:cNvPicPr>
            <a:picLocks noChangeAspect="1"/>
          </p:cNvPicPr>
          <p:nvPr/>
        </p:nvPicPr>
        <p:blipFill>
          <a:blip r:embed="rId3"/>
          <a:stretch>
            <a:fillRect/>
          </a:stretch>
        </p:blipFill>
        <p:spPr>
          <a:xfrm>
            <a:off x="9482802" y="123528"/>
            <a:ext cx="2615206" cy="612069"/>
          </a:xfrm>
          <a:prstGeom prst="rect">
            <a:avLst/>
          </a:prstGeom>
        </p:spPr>
      </p:pic>
      <p:pic>
        <p:nvPicPr>
          <p:cNvPr id="5" name="Imagen 4">
            <a:extLst>
              <a:ext uri="{FF2B5EF4-FFF2-40B4-BE49-F238E27FC236}">
                <a16:creationId xmlns:a16="http://schemas.microsoft.com/office/drawing/2014/main" id="{CED1CD86-9574-4A42-BC0F-6BFD171A4B37}"/>
              </a:ext>
            </a:extLst>
          </p:cNvPr>
          <p:cNvPicPr>
            <a:picLocks noChangeAspect="1"/>
          </p:cNvPicPr>
          <p:nvPr/>
        </p:nvPicPr>
        <p:blipFill rotWithShape="1">
          <a:blip r:embed="rId4"/>
          <a:srcRect b="2334"/>
          <a:stretch/>
        </p:blipFill>
        <p:spPr>
          <a:xfrm>
            <a:off x="3295226" y="1092345"/>
            <a:ext cx="6077798" cy="2679555"/>
          </a:xfrm>
          <a:prstGeom prst="rect">
            <a:avLst/>
          </a:prstGeom>
        </p:spPr>
      </p:pic>
      <p:pic>
        <p:nvPicPr>
          <p:cNvPr id="7" name="Imagen 6">
            <a:extLst>
              <a:ext uri="{FF2B5EF4-FFF2-40B4-BE49-F238E27FC236}">
                <a16:creationId xmlns:a16="http://schemas.microsoft.com/office/drawing/2014/main" id="{AFBCC530-CC4B-4D0E-9250-9556130266BA}"/>
              </a:ext>
            </a:extLst>
          </p:cNvPr>
          <p:cNvPicPr>
            <a:picLocks noChangeAspect="1"/>
          </p:cNvPicPr>
          <p:nvPr/>
        </p:nvPicPr>
        <p:blipFill>
          <a:blip r:embed="rId5"/>
          <a:stretch>
            <a:fillRect/>
          </a:stretch>
        </p:blipFill>
        <p:spPr>
          <a:xfrm>
            <a:off x="3295226" y="880731"/>
            <a:ext cx="6039693" cy="4753638"/>
          </a:xfrm>
          <a:prstGeom prst="rect">
            <a:avLst/>
          </a:prstGeom>
        </p:spPr>
      </p:pic>
      <p:pic>
        <p:nvPicPr>
          <p:cNvPr id="9" name="Imagen 8">
            <a:extLst>
              <a:ext uri="{FF2B5EF4-FFF2-40B4-BE49-F238E27FC236}">
                <a16:creationId xmlns:a16="http://schemas.microsoft.com/office/drawing/2014/main" id="{A8B1F1F9-BFDB-4312-946F-05A47036D399}"/>
              </a:ext>
            </a:extLst>
          </p:cNvPr>
          <p:cNvPicPr>
            <a:picLocks noChangeAspect="1"/>
          </p:cNvPicPr>
          <p:nvPr/>
        </p:nvPicPr>
        <p:blipFill>
          <a:blip r:embed="rId6"/>
          <a:stretch>
            <a:fillRect/>
          </a:stretch>
        </p:blipFill>
        <p:spPr>
          <a:xfrm>
            <a:off x="3257120" y="735597"/>
            <a:ext cx="6115903" cy="6085425"/>
          </a:xfrm>
          <a:prstGeom prst="rect">
            <a:avLst/>
          </a:prstGeom>
        </p:spPr>
      </p:pic>
    </p:spTree>
    <p:extLst>
      <p:ext uri="{BB962C8B-B14F-4D97-AF65-F5344CB8AC3E}">
        <p14:creationId xmlns:p14="http://schemas.microsoft.com/office/powerpoint/2010/main" val="46698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1100234" y="-137968"/>
            <a:ext cx="9991531" cy="1325563"/>
          </a:xfrm>
        </p:spPr>
        <p:txBody>
          <a:bodyPr>
            <a:normAutofit/>
          </a:bodyPr>
          <a:lstStyle/>
          <a:p>
            <a:pPr algn="ctr"/>
            <a:r>
              <a:rPr lang="es-CO" sz="3600" b="1" dirty="0">
                <a:solidFill>
                  <a:srgbClr val="002060"/>
                </a:solidFill>
              </a:rPr>
              <a:t>Propuestas de investigación #3</a:t>
            </a:r>
            <a:endParaRPr lang="es-CO" sz="3600" dirty="0">
              <a:solidFill>
                <a:srgbClr val="002060"/>
              </a:solidFill>
            </a:endParaRPr>
          </a:p>
        </p:txBody>
      </p:sp>
      <p:pic>
        <p:nvPicPr>
          <p:cNvPr id="4" name="Imagen 3">
            <a:extLst>
              <a:ext uri="{FF2B5EF4-FFF2-40B4-BE49-F238E27FC236}">
                <a16:creationId xmlns:a16="http://schemas.microsoft.com/office/drawing/2014/main" id="{539005A2-C310-4561-A1F1-8CAC8B1F7518}"/>
              </a:ext>
            </a:extLst>
          </p:cNvPr>
          <p:cNvPicPr>
            <a:picLocks noChangeAspect="1"/>
          </p:cNvPicPr>
          <p:nvPr/>
        </p:nvPicPr>
        <p:blipFill>
          <a:blip r:embed="rId3"/>
          <a:stretch>
            <a:fillRect/>
          </a:stretch>
        </p:blipFill>
        <p:spPr>
          <a:xfrm>
            <a:off x="2799919" y="1568595"/>
            <a:ext cx="6878260" cy="3184380"/>
          </a:xfrm>
          <a:prstGeom prst="rect">
            <a:avLst/>
          </a:prstGeom>
        </p:spPr>
      </p:pic>
      <p:pic>
        <p:nvPicPr>
          <p:cNvPr id="1026" name="Picture 2" descr="Fundación Universitaria del Área Andina | Red Académica de Diseño">
            <a:extLst>
              <a:ext uri="{FF2B5EF4-FFF2-40B4-BE49-F238E27FC236}">
                <a16:creationId xmlns:a16="http://schemas.microsoft.com/office/drawing/2014/main" id="{8737284F-CFFF-4B04-AB18-0D33814863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2600" y="0"/>
            <a:ext cx="2819400" cy="902355"/>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A86FC8B3-2367-48A0-8C77-DDFC86D9066A}"/>
              </a:ext>
            </a:extLst>
          </p:cNvPr>
          <p:cNvPicPr>
            <a:picLocks noChangeAspect="1"/>
          </p:cNvPicPr>
          <p:nvPr/>
        </p:nvPicPr>
        <p:blipFill rotWithShape="1">
          <a:blip r:embed="rId5"/>
          <a:srcRect l="1017" t="1566" r="1128" b="3279"/>
          <a:stretch/>
        </p:blipFill>
        <p:spPr>
          <a:xfrm>
            <a:off x="1638300" y="971551"/>
            <a:ext cx="9163050" cy="5200650"/>
          </a:xfrm>
          <a:prstGeom prst="rect">
            <a:avLst/>
          </a:prstGeom>
          <a:ln w="12700">
            <a:solidFill>
              <a:schemeClr val="tx1"/>
            </a:solidFill>
          </a:ln>
        </p:spPr>
      </p:pic>
    </p:spTree>
    <p:extLst>
      <p:ext uri="{BB962C8B-B14F-4D97-AF65-F5344CB8AC3E}">
        <p14:creationId xmlns:p14="http://schemas.microsoft.com/office/powerpoint/2010/main" val="384044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1100234" y="-137968"/>
            <a:ext cx="9991531" cy="1325563"/>
          </a:xfrm>
        </p:spPr>
        <p:txBody>
          <a:bodyPr>
            <a:normAutofit/>
          </a:bodyPr>
          <a:lstStyle/>
          <a:p>
            <a:pPr algn="ctr"/>
            <a:r>
              <a:rPr lang="es-CO" sz="3600" b="1" dirty="0">
                <a:solidFill>
                  <a:srgbClr val="002060"/>
                </a:solidFill>
              </a:rPr>
              <a:t>Propuestas de investigación #3</a:t>
            </a:r>
            <a:endParaRPr lang="es-CO" sz="3600" dirty="0">
              <a:solidFill>
                <a:srgbClr val="002060"/>
              </a:solidFill>
            </a:endParaRPr>
          </a:p>
        </p:txBody>
      </p:sp>
      <p:pic>
        <p:nvPicPr>
          <p:cNvPr id="1026" name="Picture 2" descr="Fundación Universitaria del Área Andina | Red Académica de Diseño">
            <a:extLst>
              <a:ext uri="{FF2B5EF4-FFF2-40B4-BE49-F238E27FC236}">
                <a16:creationId xmlns:a16="http://schemas.microsoft.com/office/drawing/2014/main" id="{8737284F-CFFF-4B04-AB18-0D3381486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2600" y="0"/>
            <a:ext cx="2819400" cy="902355"/>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1D8A03A0-F2E5-4C37-8D88-48C4F5FA5CF5}"/>
              </a:ext>
            </a:extLst>
          </p:cNvPr>
          <p:cNvPicPr>
            <a:picLocks noChangeAspect="1"/>
          </p:cNvPicPr>
          <p:nvPr/>
        </p:nvPicPr>
        <p:blipFill>
          <a:blip r:embed="rId4"/>
          <a:stretch>
            <a:fillRect/>
          </a:stretch>
        </p:blipFill>
        <p:spPr>
          <a:xfrm>
            <a:off x="1366194" y="876279"/>
            <a:ext cx="9211961" cy="1562318"/>
          </a:xfrm>
          <a:prstGeom prst="rect">
            <a:avLst/>
          </a:prstGeom>
          <a:ln w="12700">
            <a:solidFill>
              <a:schemeClr val="tx1"/>
            </a:solidFill>
          </a:ln>
        </p:spPr>
      </p:pic>
      <p:pic>
        <p:nvPicPr>
          <p:cNvPr id="7" name="Imagen 6">
            <a:extLst>
              <a:ext uri="{FF2B5EF4-FFF2-40B4-BE49-F238E27FC236}">
                <a16:creationId xmlns:a16="http://schemas.microsoft.com/office/drawing/2014/main" id="{D2DCD868-B2C4-4F10-AA82-E86B54474230}"/>
              </a:ext>
            </a:extLst>
          </p:cNvPr>
          <p:cNvPicPr>
            <a:picLocks noChangeAspect="1"/>
          </p:cNvPicPr>
          <p:nvPr/>
        </p:nvPicPr>
        <p:blipFill>
          <a:blip r:embed="rId5"/>
          <a:stretch>
            <a:fillRect/>
          </a:stretch>
        </p:blipFill>
        <p:spPr>
          <a:xfrm>
            <a:off x="1366194" y="876279"/>
            <a:ext cx="9211961" cy="5915851"/>
          </a:xfrm>
          <a:prstGeom prst="rect">
            <a:avLst/>
          </a:prstGeom>
          <a:ln w="12700">
            <a:solidFill>
              <a:schemeClr val="tx1"/>
            </a:solidFill>
          </a:ln>
        </p:spPr>
      </p:pic>
    </p:spTree>
    <p:extLst>
      <p:ext uri="{BB962C8B-B14F-4D97-AF65-F5344CB8AC3E}">
        <p14:creationId xmlns:p14="http://schemas.microsoft.com/office/powerpoint/2010/main" val="222538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2753211" y="74496"/>
            <a:ext cx="6663202" cy="463075"/>
          </a:xfrm>
        </p:spPr>
        <p:txBody>
          <a:bodyPr>
            <a:normAutofit fontScale="90000"/>
          </a:bodyPr>
          <a:lstStyle/>
          <a:p>
            <a:pPr algn="ctr"/>
            <a:r>
              <a:rPr lang="es-CO" sz="3200" b="1" dirty="0">
                <a:solidFill>
                  <a:srgbClr val="002060"/>
                </a:solidFill>
              </a:rPr>
              <a:t>Propuesta de investigación #4</a:t>
            </a:r>
            <a:endParaRPr lang="es-CO" sz="3200" dirty="0">
              <a:solidFill>
                <a:srgbClr val="002060"/>
              </a:solidFill>
            </a:endParaRPr>
          </a:p>
        </p:txBody>
      </p:sp>
      <p:pic>
        <p:nvPicPr>
          <p:cNvPr id="4" name="Imagen 3">
            <a:extLst>
              <a:ext uri="{FF2B5EF4-FFF2-40B4-BE49-F238E27FC236}">
                <a16:creationId xmlns:a16="http://schemas.microsoft.com/office/drawing/2014/main" id="{3CED894A-176F-482E-8E0E-256D6CE85278}"/>
              </a:ext>
            </a:extLst>
          </p:cNvPr>
          <p:cNvPicPr>
            <a:picLocks noChangeAspect="1"/>
          </p:cNvPicPr>
          <p:nvPr/>
        </p:nvPicPr>
        <p:blipFill>
          <a:blip r:embed="rId3"/>
          <a:stretch>
            <a:fillRect/>
          </a:stretch>
        </p:blipFill>
        <p:spPr>
          <a:xfrm>
            <a:off x="9444702" y="0"/>
            <a:ext cx="2615206" cy="612069"/>
          </a:xfrm>
          <a:prstGeom prst="rect">
            <a:avLst/>
          </a:prstGeom>
        </p:spPr>
      </p:pic>
      <p:sp>
        <p:nvSpPr>
          <p:cNvPr id="8" name="CuadroTexto 7">
            <a:extLst>
              <a:ext uri="{FF2B5EF4-FFF2-40B4-BE49-F238E27FC236}">
                <a16:creationId xmlns:a16="http://schemas.microsoft.com/office/drawing/2014/main" id="{3C35157B-28D1-482B-A657-A9E286F05083}"/>
              </a:ext>
            </a:extLst>
          </p:cNvPr>
          <p:cNvSpPr txBox="1"/>
          <p:nvPr/>
        </p:nvSpPr>
        <p:spPr>
          <a:xfrm>
            <a:off x="290502" y="1152207"/>
            <a:ext cx="5794310" cy="954107"/>
          </a:xfrm>
          <a:prstGeom prst="rect">
            <a:avLst/>
          </a:prstGeom>
          <a:noFill/>
        </p:spPr>
        <p:txBody>
          <a:bodyPr wrap="square">
            <a:spAutoFit/>
          </a:bodyPr>
          <a:lstStyle/>
          <a:p>
            <a:r>
              <a:rPr lang="es-CO" sz="1400" b="1" u="sng" dirty="0">
                <a:latin typeface="+mj-lt"/>
              </a:rPr>
              <a:t>Pregunta de Investigación: </a:t>
            </a:r>
          </a:p>
          <a:p>
            <a:pPr algn="just"/>
            <a:r>
              <a:rPr lang="es-CO" sz="1400" dirty="0">
                <a:latin typeface="+mj-lt"/>
              </a:rPr>
              <a:t>¿Cuál es la correlación entre los índices de oxigenación PaO2/FIO2 y SpO2/FIO2 en adultos con insuficiencia respiratoria en una Unidad de Cuidado Intensivo de una Institución de alta complejidad de Boyacá, 2023-2025.?</a:t>
            </a:r>
          </a:p>
        </p:txBody>
      </p:sp>
      <p:sp>
        <p:nvSpPr>
          <p:cNvPr id="10" name="CuadroTexto 9">
            <a:extLst>
              <a:ext uri="{FF2B5EF4-FFF2-40B4-BE49-F238E27FC236}">
                <a16:creationId xmlns:a16="http://schemas.microsoft.com/office/drawing/2014/main" id="{EB0B1759-7603-4057-AF8A-E80FF29C14D9}"/>
              </a:ext>
            </a:extLst>
          </p:cNvPr>
          <p:cNvSpPr txBox="1"/>
          <p:nvPr/>
        </p:nvSpPr>
        <p:spPr>
          <a:xfrm>
            <a:off x="290502" y="2182881"/>
            <a:ext cx="5789130" cy="1169551"/>
          </a:xfrm>
          <a:prstGeom prst="rect">
            <a:avLst/>
          </a:prstGeom>
          <a:noFill/>
        </p:spPr>
        <p:txBody>
          <a:bodyPr wrap="square">
            <a:spAutoFit/>
          </a:bodyPr>
          <a:lstStyle/>
          <a:p>
            <a:r>
              <a:rPr lang="es-CO" sz="1400" b="1" u="sng" dirty="0">
                <a:latin typeface="+mj-lt"/>
              </a:rPr>
              <a:t>Objetivo general: </a:t>
            </a:r>
          </a:p>
          <a:p>
            <a:pPr algn="just"/>
            <a:r>
              <a:rPr lang="es-CO" sz="1400" dirty="0">
                <a:latin typeface="+mj-lt"/>
              </a:rPr>
              <a:t>Determinar la correlación entre los índices de oxigenación PaO2/FIO2 y SpO2/FIO2 en pacientes adultos con insuficiencia respiratoria en una institución de alta complejidad del Departamento de Boyacá del año 2023 a 2025</a:t>
            </a:r>
          </a:p>
        </p:txBody>
      </p:sp>
      <p:sp>
        <p:nvSpPr>
          <p:cNvPr id="14" name="CuadroTexto 13">
            <a:extLst>
              <a:ext uri="{FF2B5EF4-FFF2-40B4-BE49-F238E27FC236}">
                <a16:creationId xmlns:a16="http://schemas.microsoft.com/office/drawing/2014/main" id="{A8724654-0222-48AE-949E-D472BFEB1A29}"/>
              </a:ext>
            </a:extLst>
          </p:cNvPr>
          <p:cNvSpPr txBox="1"/>
          <p:nvPr/>
        </p:nvSpPr>
        <p:spPr>
          <a:xfrm>
            <a:off x="290502" y="3537140"/>
            <a:ext cx="5638800" cy="1600438"/>
          </a:xfrm>
          <a:prstGeom prst="rect">
            <a:avLst/>
          </a:prstGeom>
          <a:noFill/>
        </p:spPr>
        <p:txBody>
          <a:bodyPr wrap="square">
            <a:spAutoFit/>
          </a:bodyPr>
          <a:lstStyle/>
          <a:p>
            <a:r>
              <a:rPr lang="es-CO" sz="1400" b="1" u="sng" dirty="0">
                <a:latin typeface="+mj-lt"/>
              </a:rPr>
              <a:t>Objetivos Específicos: </a:t>
            </a:r>
            <a:endParaRPr lang="es-CO" sz="1400" dirty="0">
              <a:latin typeface="+mj-lt"/>
            </a:endParaRPr>
          </a:p>
          <a:p>
            <a:pPr algn="just"/>
            <a:r>
              <a:rPr lang="es-CO" sz="1400" b="1" dirty="0">
                <a:latin typeface="+mj-lt"/>
              </a:rPr>
              <a:t>O1</a:t>
            </a:r>
            <a:r>
              <a:rPr lang="es-CO" sz="1400" dirty="0">
                <a:latin typeface="+mj-lt"/>
              </a:rPr>
              <a:t>: Describir las características demográficas, clínicas, gasométricas, y de oxigenación de los pacientes objeto de estudio.</a:t>
            </a:r>
          </a:p>
          <a:p>
            <a:pPr algn="just"/>
            <a:endParaRPr lang="es-CO" sz="1400" dirty="0">
              <a:latin typeface="+mj-lt"/>
            </a:endParaRPr>
          </a:p>
          <a:p>
            <a:pPr algn="just"/>
            <a:r>
              <a:rPr lang="es-CO" sz="1400" b="1" dirty="0">
                <a:latin typeface="+mj-lt"/>
              </a:rPr>
              <a:t>O2</a:t>
            </a:r>
            <a:r>
              <a:rPr lang="es-CO" sz="1400" dirty="0">
                <a:latin typeface="+mj-lt"/>
              </a:rPr>
              <a:t>: Establecer el comportamiento de los índices PaO2/FIO2 y SpO2/FIO2 a la hora, 12,24, 48 y 72 horas de evolución de los pacientes adultos con insuficiencia respiratoria en la Unidad de Cuidado Intensivo adulto</a:t>
            </a:r>
          </a:p>
        </p:txBody>
      </p:sp>
      <p:pic>
        <p:nvPicPr>
          <p:cNvPr id="6" name="Imagen 5">
            <a:extLst>
              <a:ext uri="{FF2B5EF4-FFF2-40B4-BE49-F238E27FC236}">
                <a16:creationId xmlns:a16="http://schemas.microsoft.com/office/drawing/2014/main" id="{817FC655-AA38-4AEF-9005-DB8E679759BC}"/>
              </a:ext>
            </a:extLst>
          </p:cNvPr>
          <p:cNvPicPr>
            <a:picLocks noChangeAspect="1"/>
          </p:cNvPicPr>
          <p:nvPr/>
        </p:nvPicPr>
        <p:blipFill rotWithShape="1">
          <a:blip r:embed="rId4"/>
          <a:srcRect r="2258"/>
          <a:stretch/>
        </p:blipFill>
        <p:spPr>
          <a:xfrm>
            <a:off x="215337" y="1062036"/>
            <a:ext cx="5789130" cy="3411240"/>
          </a:xfrm>
          <a:prstGeom prst="rect">
            <a:avLst/>
          </a:prstGeom>
        </p:spPr>
      </p:pic>
      <p:sp>
        <p:nvSpPr>
          <p:cNvPr id="16" name="CuadroTexto 15">
            <a:extLst>
              <a:ext uri="{FF2B5EF4-FFF2-40B4-BE49-F238E27FC236}">
                <a16:creationId xmlns:a16="http://schemas.microsoft.com/office/drawing/2014/main" id="{4A10DDC7-4FD4-42D8-AF28-F6FFAFCAC75C}"/>
              </a:ext>
            </a:extLst>
          </p:cNvPr>
          <p:cNvSpPr txBox="1"/>
          <p:nvPr/>
        </p:nvSpPr>
        <p:spPr>
          <a:xfrm>
            <a:off x="6107190" y="1152207"/>
            <a:ext cx="5199955" cy="4185761"/>
          </a:xfrm>
          <a:prstGeom prst="rect">
            <a:avLst/>
          </a:prstGeom>
          <a:noFill/>
        </p:spPr>
        <p:txBody>
          <a:bodyPr wrap="square">
            <a:spAutoFit/>
          </a:bodyPr>
          <a:lstStyle/>
          <a:p>
            <a:pPr algn="just"/>
            <a:r>
              <a:rPr lang="es-CO" sz="1400" b="1" u="sng" dirty="0">
                <a:latin typeface="+mj-lt"/>
              </a:rPr>
              <a:t>Tipo y Diseño de Investigación</a:t>
            </a:r>
          </a:p>
          <a:p>
            <a:pPr algn="just"/>
            <a:r>
              <a:rPr lang="es-CO" sz="1400" dirty="0">
                <a:latin typeface="+mj-lt"/>
              </a:rPr>
              <a:t>Estudio retrospectivo, longitudinal, correlacional y analítico</a:t>
            </a:r>
          </a:p>
          <a:p>
            <a:pPr algn="just"/>
            <a:endParaRPr lang="es-CO" sz="1400" dirty="0">
              <a:latin typeface="+mj-lt"/>
            </a:endParaRPr>
          </a:p>
          <a:p>
            <a:pPr algn="just"/>
            <a:r>
              <a:rPr lang="es-CO" sz="1400" b="1" u="sng" dirty="0">
                <a:latin typeface="+mj-lt"/>
              </a:rPr>
              <a:t>Población </a:t>
            </a:r>
          </a:p>
          <a:p>
            <a:pPr algn="just"/>
            <a:r>
              <a:rPr lang="es-CO" sz="1400" dirty="0">
                <a:latin typeface="+mj-lt"/>
              </a:rPr>
              <a:t>Registros de historias clínicas de pacientes adultos que ingresaron a la Unidad de Cuidado Intensivo Adulto con insuficiencia respiratoria en una Institución de alta complejidad del Departamento de Boyacá.</a:t>
            </a:r>
          </a:p>
          <a:p>
            <a:pPr algn="just"/>
            <a:endParaRPr lang="es-CO" sz="1400" dirty="0">
              <a:latin typeface="+mj-lt"/>
            </a:endParaRPr>
          </a:p>
          <a:p>
            <a:pPr algn="just"/>
            <a:r>
              <a:rPr lang="es-CO" sz="1400" b="1" u="sng" dirty="0">
                <a:latin typeface="+mj-lt"/>
              </a:rPr>
              <a:t>Muestra</a:t>
            </a:r>
          </a:p>
          <a:p>
            <a:pPr algn="just"/>
            <a:r>
              <a:rPr lang="es-CO" sz="1400" dirty="0">
                <a:latin typeface="+mj-lt"/>
              </a:rPr>
              <a:t>111 registros de pacientes con Insuficiencia Respiratoria Aguda, calculada a través del paquete estadístico EPIDAT, con un nivel de confianza del 95% y una proporción del 87%, la cual se determinó a partir de los datos establecidos en el ASIS Colombia 2024,</a:t>
            </a:r>
          </a:p>
          <a:p>
            <a:pPr algn="just"/>
            <a:r>
              <a:rPr lang="es-CO" sz="1400" dirty="0">
                <a:latin typeface="+mj-lt"/>
              </a:rPr>
              <a:t>donde reportan porcentaje de presentación de condiciones trasmisibles y enfermedades no trasmisibles de 87%, estas enfermedades pueden incidir en la presentación de la</a:t>
            </a:r>
          </a:p>
          <a:p>
            <a:pPr algn="just"/>
            <a:r>
              <a:rPr lang="es-CO" sz="1400" dirty="0">
                <a:latin typeface="+mj-lt"/>
              </a:rPr>
              <a:t>Insuficiencia Respiratoria Aguda. Disponible en: </a:t>
            </a:r>
            <a:r>
              <a:rPr lang="es-CO" sz="1400" dirty="0">
                <a:latin typeface="+mj-lt"/>
                <a:hlinkClick r:id="rId5"/>
              </a:rPr>
              <a:t>https://www.minsalud.gov.co/sites/rid/Lists/BibliotecaDigital/RIDE/VS/ED/PSP/asis-colombia-</a:t>
            </a:r>
            <a:r>
              <a:rPr lang="es-CO" sz="1400" dirty="0">
                <a:latin typeface="+mj-lt"/>
              </a:rPr>
              <a:t> 2024.pdf.</a:t>
            </a:r>
          </a:p>
        </p:txBody>
      </p:sp>
      <p:pic>
        <p:nvPicPr>
          <p:cNvPr id="17" name="Imagen 16">
            <a:extLst>
              <a:ext uri="{FF2B5EF4-FFF2-40B4-BE49-F238E27FC236}">
                <a16:creationId xmlns:a16="http://schemas.microsoft.com/office/drawing/2014/main" id="{6CC9B4F2-6AC2-4F89-9529-28EA90C119C4}"/>
              </a:ext>
            </a:extLst>
          </p:cNvPr>
          <p:cNvPicPr/>
          <p:nvPr/>
        </p:nvPicPr>
        <p:blipFill>
          <a:blip r:embed="rId6"/>
          <a:stretch>
            <a:fillRect/>
          </a:stretch>
        </p:blipFill>
        <p:spPr>
          <a:xfrm>
            <a:off x="6154797" y="3171156"/>
            <a:ext cx="5086944" cy="2166812"/>
          </a:xfrm>
          <a:prstGeom prst="rect">
            <a:avLst/>
          </a:prstGeom>
        </p:spPr>
      </p:pic>
      <p:sp>
        <p:nvSpPr>
          <p:cNvPr id="19" name="CuadroTexto 18">
            <a:extLst>
              <a:ext uri="{FF2B5EF4-FFF2-40B4-BE49-F238E27FC236}">
                <a16:creationId xmlns:a16="http://schemas.microsoft.com/office/drawing/2014/main" id="{83338A72-AF1C-47E2-9A3E-C1D266B1DB74}"/>
              </a:ext>
            </a:extLst>
          </p:cNvPr>
          <p:cNvSpPr txBox="1"/>
          <p:nvPr/>
        </p:nvSpPr>
        <p:spPr>
          <a:xfrm>
            <a:off x="215337" y="5347734"/>
            <a:ext cx="2187204" cy="307777"/>
          </a:xfrm>
          <a:prstGeom prst="rect">
            <a:avLst/>
          </a:prstGeom>
          <a:noFill/>
        </p:spPr>
        <p:txBody>
          <a:bodyPr wrap="square">
            <a:spAutoFit/>
          </a:bodyPr>
          <a:lstStyle/>
          <a:p>
            <a:pPr algn="just">
              <a:spcBef>
                <a:spcPts val="1400"/>
              </a:spcBef>
              <a:spcAft>
                <a:spcPts val="1400"/>
              </a:spcAft>
            </a:pPr>
            <a:r>
              <a:rPr lang="es-CO" sz="1400" b="1" u="sng" dirty="0">
                <a:effectLst/>
                <a:latin typeface="+mj-lt"/>
                <a:ea typeface="Arial" panose="020B0604020202020204" pitchFamily="34" charset="0"/>
              </a:rPr>
              <a:t>Muestreo por Conveniencia</a:t>
            </a:r>
            <a:endParaRPr lang="es-CO" sz="1400" b="1" u="sng" dirty="0">
              <a:latin typeface="+mj-lt"/>
              <a:ea typeface="Arial" panose="020B0604020202020204" pitchFamily="34" charset="0"/>
            </a:endParaRPr>
          </a:p>
        </p:txBody>
      </p:sp>
      <p:sp>
        <p:nvSpPr>
          <p:cNvPr id="24" name="CuadroTexto 23">
            <a:extLst>
              <a:ext uri="{FF2B5EF4-FFF2-40B4-BE49-F238E27FC236}">
                <a16:creationId xmlns:a16="http://schemas.microsoft.com/office/drawing/2014/main" id="{AFB9CF60-E196-4CB5-9E13-A127C841AF96}"/>
              </a:ext>
            </a:extLst>
          </p:cNvPr>
          <p:cNvSpPr txBox="1"/>
          <p:nvPr/>
        </p:nvSpPr>
        <p:spPr>
          <a:xfrm>
            <a:off x="290502" y="5793990"/>
            <a:ext cx="5713965" cy="738664"/>
          </a:xfrm>
          <a:prstGeom prst="rect">
            <a:avLst/>
          </a:prstGeom>
          <a:solidFill>
            <a:schemeClr val="accent6">
              <a:lumMod val="60000"/>
              <a:lumOff val="40000"/>
            </a:schemeClr>
          </a:solidFill>
        </p:spPr>
        <p:txBody>
          <a:bodyPr wrap="square" rtlCol="0">
            <a:spAutoFit/>
          </a:bodyPr>
          <a:lstStyle/>
          <a:p>
            <a:r>
              <a:rPr lang="es-CO" sz="1400" dirty="0">
                <a:solidFill>
                  <a:srgbClr val="000000"/>
                </a:solidFill>
                <a:effectLst/>
                <a:latin typeface="+mj-lt"/>
                <a:ea typeface="Arial" panose="020B0604020202020204" pitchFamily="34" charset="0"/>
                <a:cs typeface="Times New Roman" panose="02020603050405020304" pitchFamily="18" charset="0"/>
              </a:rPr>
              <a:t>Registros de pacientes mayores de 18 años</a:t>
            </a:r>
          </a:p>
          <a:p>
            <a:r>
              <a:rPr lang="es-CO" sz="1400" dirty="0">
                <a:solidFill>
                  <a:srgbClr val="000000"/>
                </a:solidFill>
                <a:effectLst/>
                <a:latin typeface="+mj-lt"/>
                <a:ea typeface="Arial" panose="020B0604020202020204" pitchFamily="34" charset="0"/>
                <a:cs typeface="Times New Roman" panose="02020603050405020304" pitchFamily="18" charset="0"/>
              </a:rPr>
              <a:t>Pacientes ingresados a UCI adulto con </a:t>
            </a:r>
            <a:r>
              <a:rPr lang="es-ES" sz="1400" dirty="0">
                <a:effectLst/>
                <a:latin typeface="+mj-lt"/>
                <a:ea typeface="Arial" panose="020B0604020202020204" pitchFamily="34" charset="0"/>
                <a:cs typeface="Times New Roman" panose="02020603050405020304" pitchFamily="18" charset="0"/>
              </a:rPr>
              <a:t>insuficiencia respiratoria y soportado con oxigenoterapia y/o ventilación mecánica.</a:t>
            </a:r>
            <a:endParaRPr lang="es-CO" sz="1400" dirty="0"/>
          </a:p>
        </p:txBody>
      </p:sp>
      <p:sp>
        <p:nvSpPr>
          <p:cNvPr id="25" name="CuadroTexto 24">
            <a:extLst>
              <a:ext uri="{FF2B5EF4-FFF2-40B4-BE49-F238E27FC236}">
                <a16:creationId xmlns:a16="http://schemas.microsoft.com/office/drawing/2014/main" id="{1B00A86C-DB59-47D6-8B4F-7A29A3B89911}"/>
              </a:ext>
            </a:extLst>
          </p:cNvPr>
          <p:cNvSpPr txBox="1"/>
          <p:nvPr/>
        </p:nvSpPr>
        <p:spPr>
          <a:xfrm>
            <a:off x="6248400" y="5793990"/>
            <a:ext cx="4229100" cy="738664"/>
          </a:xfrm>
          <a:prstGeom prst="rect">
            <a:avLst/>
          </a:prstGeom>
          <a:solidFill>
            <a:schemeClr val="accent2">
              <a:lumMod val="40000"/>
              <a:lumOff val="60000"/>
            </a:schemeClr>
          </a:solidFill>
        </p:spPr>
        <p:txBody>
          <a:bodyPr wrap="square" rtlCol="0">
            <a:spAutoFit/>
          </a:bodyPr>
          <a:lstStyle/>
          <a:p>
            <a:r>
              <a:rPr lang="es-CO" sz="1400" dirty="0">
                <a:solidFill>
                  <a:srgbClr val="000000"/>
                </a:solidFill>
                <a:effectLst/>
                <a:latin typeface="+mj-lt"/>
                <a:ea typeface="Arial" panose="020B0604020202020204" pitchFamily="34" charset="0"/>
              </a:rPr>
              <a:t>Registros incompletos o ilegibles</a:t>
            </a:r>
          </a:p>
          <a:p>
            <a:r>
              <a:rPr lang="es-CO" sz="1400" dirty="0">
                <a:solidFill>
                  <a:srgbClr val="000000"/>
                </a:solidFill>
                <a:effectLst/>
                <a:latin typeface="+mj-lt"/>
                <a:ea typeface="Arial" panose="020B0604020202020204" pitchFamily="34" charset="0"/>
                <a:cs typeface="Times New Roman" panose="02020603050405020304" pitchFamily="18" charset="0"/>
              </a:rPr>
              <a:t>Reportes de gasometrías con muestras venosas</a:t>
            </a:r>
            <a:endParaRPr lang="es-CO" sz="1400" dirty="0">
              <a:effectLst/>
              <a:latin typeface="+mj-lt"/>
              <a:ea typeface="Times New Roman" panose="02020603050405020304" pitchFamily="18" charset="0"/>
              <a:cs typeface="Times New Roman" panose="02020603050405020304" pitchFamily="18" charset="0"/>
            </a:endParaRPr>
          </a:p>
          <a:p>
            <a:endParaRPr lang="es-CO" sz="1400" dirty="0">
              <a:latin typeface="+mj-lt"/>
            </a:endParaRPr>
          </a:p>
        </p:txBody>
      </p:sp>
    </p:spTree>
    <p:extLst>
      <p:ext uri="{BB962C8B-B14F-4D97-AF65-F5344CB8AC3E}">
        <p14:creationId xmlns:p14="http://schemas.microsoft.com/office/powerpoint/2010/main" val="4170803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9" grpId="0"/>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957359" y="0"/>
            <a:ext cx="9991531" cy="1325563"/>
          </a:xfrm>
        </p:spPr>
        <p:txBody>
          <a:bodyPr>
            <a:normAutofit/>
          </a:bodyPr>
          <a:lstStyle/>
          <a:p>
            <a:pPr algn="ctr"/>
            <a:r>
              <a:rPr lang="es-CO" b="1" dirty="0">
                <a:solidFill>
                  <a:srgbClr val="002060"/>
                </a:solidFill>
              </a:rPr>
              <a:t>5. Resumen Docencia-servicio 2025 </a:t>
            </a:r>
            <a:endParaRPr lang="es-CO" dirty="0">
              <a:solidFill>
                <a:srgbClr val="002060"/>
              </a:solidFill>
            </a:endParaRPr>
          </a:p>
        </p:txBody>
      </p:sp>
      <p:sp>
        <p:nvSpPr>
          <p:cNvPr id="3" name="CuadroTexto 2">
            <a:extLst>
              <a:ext uri="{FF2B5EF4-FFF2-40B4-BE49-F238E27FC236}">
                <a16:creationId xmlns:a16="http://schemas.microsoft.com/office/drawing/2014/main" id="{1D2AB8A7-E16D-460F-BDC3-CDD353749735}"/>
              </a:ext>
            </a:extLst>
          </p:cNvPr>
          <p:cNvSpPr txBox="1"/>
          <p:nvPr/>
        </p:nvSpPr>
        <p:spPr>
          <a:xfrm>
            <a:off x="1243110" y="1262774"/>
            <a:ext cx="9863978" cy="3416320"/>
          </a:xfrm>
          <a:prstGeom prst="rect">
            <a:avLst/>
          </a:prstGeom>
          <a:solidFill>
            <a:schemeClr val="accent4">
              <a:lumMod val="20000"/>
              <a:lumOff val="80000"/>
            </a:schemeClr>
          </a:solidFill>
          <a:ln w="19050">
            <a:solidFill>
              <a:schemeClr val="accent4">
                <a:lumMod val="50000"/>
              </a:schemeClr>
            </a:solidFill>
          </a:ln>
        </p:spPr>
        <p:txBody>
          <a:bodyPr wrap="square" rtlCol="0">
            <a:spAutoFit/>
          </a:bodyPr>
          <a:lstStyle/>
          <a:p>
            <a:r>
              <a:rPr lang="es-CO" dirty="0">
                <a:solidFill>
                  <a:srgbClr val="002060"/>
                </a:solidFill>
              </a:rPr>
              <a:t>Convenios Totales- Activos: 10</a:t>
            </a:r>
          </a:p>
          <a:p>
            <a:endParaRPr lang="es-CO" dirty="0">
              <a:solidFill>
                <a:srgbClr val="002060"/>
              </a:solidFill>
            </a:endParaRPr>
          </a:p>
          <a:p>
            <a:r>
              <a:rPr lang="es-CO" dirty="0">
                <a:solidFill>
                  <a:srgbClr val="002060"/>
                </a:solidFill>
              </a:rPr>
              <a:t>1. UIS: Regencia de Farmacia. </a:t>
            </a:r>
            <a:r>
              <a:rPr lang="es-CO" dirty="0"/>
              <a:t>Nueva actualización de convenio para Medicina (pregrado y posgrado)*</a:t>
            </a:r>
          </a:p>
          <a:p>
            <a:r>
              <a:rPr lang="es-CO" dirty="0">
                <a:solidFill>
                  <a:srgbClr val="002060"/>
                </a:solidFill>
              </a:rPr>
              <a:t>2. Uniboyacá: </a:t>
            </a:r>
            <a:r>
              <a:rPr lang="es-CO" dirty="0"/>
              <a:t>Bacteriología, Enfermería, Psicología, Medicina.</a:t>
            </a:r>
          </a:p>
          <a:p>
            <a:r>
              <a:rPr lang="es-CO" dirty="0">
                <a:solidFill>
                  <a:srgbClr val="002060"/>
                </a:solidFill>
              </a:rPr>
              <a:t>3. UPTC: </a:t>
            </a:r>
            <a:r>
              <a:rPr lang="es-CO" dirty="0"/>
              <a:t>Medicina, Posgrado Medicina Familiar, Regencia de Farmacia</a:t>
            </a:r>
          </a:p>
          <a:p>
            <a:r>
              <a:rPr lang="es-CO" dirty="0">
                <a:solidFill>
                  <a:srgbClr val="002060"/>
                </a:solidFill>
              </a:rPr>
              <a:t>4. UTC - Barbosa: </a:t>
            </a:r>
            <a:r>
              <a:rPr lang="es-CO" dirty="0"/>
              <a:t>Auxiliares de Enfermería</a:t>
            </a:r>
          </a:p>
          <a:p>
            <a:r>
              <a:rPr lang="es-CO" dirty="0">
                <a:solidFill>
                  <a:srgbClr val="002060"/>
                </a:solidFill>
              </a:rPr>
              <a:t>5. Universidad de Pamplona: </a:t>
            </a:r>
            <a:r>
              <a:rPr lang="es-CO" dirty="0"/>
              <a:t>Medicina, Nutrición</a:t>
            </a:r>
          </a:p>
          <a:p>
            <a:r>
              <a:rPr lang="es-CO" dirty="0">
                <a:solidFill>
                  <a:srgbClr val="002060"/>
                </a:solidFill>
              </a:rPr>
              <a:t>6. UNIR: </a:t>
            </a:r>
            <a:r>
              <a:rPr lang="es-CO" dirty="0"/>
              <a:t>Máster administrativos y Psicología</a:t>
            </a:r>
          </a:p>
          <a:p>
            <a:r>
              <a:rPr lang="es-CO" dirty="0">
                <a:solidFill>
                  <a:srgbClr val="002060"/>
                </a:solidFill>
              </a:rPr>
              <a:t>7. Centro Hispanoamericano de salud Duitama: </a:t>
            </a:r>
            <a:r>
              <a:rPr lang="es-CO" dirty="0"/>
              <a:t>Auxiliares de </a:t>
            </a:r>
            <a:r>
              <a:rPr lang="es-CO" dirty="0" err="1"/>
              <a:t>Enfemería</a:t>
            </a:r>
            <a:r>
              <a:rPr lang="es-CO" dirty="0"/>
              <a:t>, Auxiliares en salud pública</a:t>
            </a:r>
          </a:p>
          <a:p>
            <a:r>
              <a:rPr lang="es-CO" dirty="0">
                <a:solidFill>
                  <a:srgbClr val="002060"/>
                </a:solidFill>
              </a:rPr>
              <a:t>8. Universidad Santo Tomás: </a:t>
            </a:r>
            <a:r>
              <a:rPr lang="es-CO" dirty="0"/>
              <a:t>Administración</a:t>
            </a:r>
            <a:r>
              <a:rPr lang="es-CO" dirty="0">
                <a:solidFill>
                  <a:srgbClr val="002060"/>
                </a:solidFill>
              </a:rPr>
              <a:t> </a:t>
            </a:r>
          </a:p>
          <a:p>
            <a:r>
              <a:rPr lang="es-CO" dirty="0">
                <a:solidFill>
                  <a:srgbClr val="002060"/>
                </a:solidFill>
              </a:rPr>
              <a:t>9. EIA: </a:t>
            </a:r>
            <a:r>
              <a:rPr lang="es-CO" dirty="0"/>
              <a:t>Medicina</a:t>
            </a:r>
          </a:p>
          <a:p>
            <a:r>
              <a:rPr lang="es-CO" dirty="0">
                <a:solidFill>
                  <a:srgbClr val="002060"/>
                </a:solidFill>
              </a:rPr>
              <a:t>10. Idealtec: </a:t>
            </a:r>
            <a:r>
              <a:rPr lang="es-CO" dirty="0"/>
              <a:t>Auxiliares de Enfermería</a:t>
            </a:r>
          </a:p>
        </p:txBody>
      </p:sp>
      <p:sp>
        <p:nvSpPr>
          <p:cNvPr id="5" name="CuadroTexto 4">
            <a:extLst>
              <a:ext uri="{FF2B5EF4-FFF2-40B4-BE49-F238E27FC236}">
                <a16:creationId xmlns:a16="http://schemas.microsoft.com/office/drawing/2014/main" id="{777D9466-019B-4505-96F0-5A51DE7C5C4B}"/>
              </a:ext>
            </a:extLst>
          </p:cNvPr>
          <p:cNvSpPr txBox="1"/>
          <p:nvPr/>
        </p:nvSpPr>
        <p:spPr>
          <a:xfrm>
            <a:off x="1243109" y="4856562"/>
            <a:ext cx="8653365" cy="1754326"/>
          </a:xfrm>
          <a:prstGeom prst="rect">
            <a:avLst/>
          </a:prstGeom>
          <a:noFill/>
        </p:spPr>
        <p:txBody>
          <a:bodyPr wrap="square" rtlCol="0">
            <a:spAutoFit/>
          </a:bodyPr>
          <a:lstStyle/>
          <a:p>
            <a:r>
              <a:rPr lang="es-CO" b="1" dirty="0">
                <a:solidFill>
                  <a:srgbClr val="002060"/>
                </a:solidFill>
              </a:rPr>
              <a:t>ACTIVIDADES:</a:t>
            </a:r>
          </a:p>
          <a:p>
            <a:r>
              <a:rPr lang="es-CO" dirty="0"/>
              <a:t>2 eventos: Bienvenida Despedida: Presentación productos </a:t>
            </a:r>
            <a:r>
              <a:rPr lang="es-CO" dirty="0" err="1"/>
              <a:t>institucionale</a:t>
            </a:r>
            <a:endParaRPr lang="es-CO" dirty="0"/>
          </a:p>
          <a:p>
            <a:r>
              <a:rPr lang="es-CO" dirty="0"/>
              <a:t>Actividades Institucionales</a:t>
            </a:r>
          </a:p>
          <a:p>
            <a:r>
              <a:rPr lang="es-CO" dirty="0"/>
              <a:t>Cuarto Médicos Internos</a:t>
            </a:r>
          </a:p>
          <a:p>
            <a:r>
              <a:rPr lang="es-CO" dirty="0"/>
              <a:t>Ateneos clínicos </a:t>
            </a:r>
          </a:p>
          <a:p>
            <a:endParaRPr lang="es-CO" dirty="0"/>
          </a:p>
        </p:txBody>
      </p:sp>
    </p:spTree>
    <p:extLst>
      <p:ext uri="{BB962C8B-B14F-4D97-AF65-F5344CB8AC3E}">
        <p14:creationId xmlns:p14="http://schemas.microsoft.com/office/powerpoint/2010/main" val="387377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1100234" y="309707"/>
            <a:ext cx="9991531" cy="1325563"/>
          </a:xfrm>
        </p:spPr>
        <p:txBody>
          <a:bodyPr>
            <a:normAutofit/>
          </a:bodyPr>
          <a:lstStyle/>
          <a:p>
            <a:pPr algn="ctr"/>
            <a:r>
              <a:rPr lang="es-CO" b="1" dirty="0">
                <a:solidFill>
                  <a:srgbClr val="002060"/>
                </a:solidFill>
              </a:rPr>
              <a:t>5. Meta Docencia-servicio 2026 </a:t>
            </a:r>
            <a:endParaRPr lang="es-CO" dirty="0">
              <a:solidFill>
                <a:srgbClr val="002060"/>
              </a:solidFill>
            </a:endParaRPr>
          </a:p>
        </p:txBody>
      </p:sp>
      <p:sp>
        <p:nvSpPr>
          <p:cNvPr id="3" name="CuadroTexto 2">
            <a:extLst>
              <a:ext uri="{FF2B5EF4-FFF2-40B4-BE49-F238E27FC236}">
                <a16:creationId xmlns:a16="http://schemas.microsoft.com/office/drawing/2014/main" id="{1D2AB8A7-E16D-460F-BDC3-CDD353749735}"/>
              </a:ext>
            </a:extLst>
          </p:cNvPr>
          <p:cNvSpPr txBox="1"/>
          <p:nvPr/>
        </p:nvSpPr>
        <p:spPr>
          <a:xfrm>
            <a:off x="1185959" y="1635270"/>
            <a:ext cx="10159253" cy="923330"/>
          </a:xfrm>
          <a:prstGeom prst="rect">
            <a:avLst/>
          </a:prstGeom>
          <a:noFill/>
        </p:spPr>
        <p:txBody>
          <a:bodyPr wrap="square" rtlCol="0">
            <a:spAutoFit/>
          </a:bodyPr>
          <a:lstStyle/>
          <a:p>
            <a:pPr algn="just"/>
            <a:r>
              <a:rPr lang="es-MX" b="0" i="0" dirty="0">
                <a:solidFill>
                  <a:srgbClr val="0A0A0A"/>
                </a:solidFill>
                <a:effectLst/>
                <a:latin typeface="+mj-lt"/>
              </a:rPr>
              <a:t>La certificación o aval de un escenario de práctica clínica es un proceso obligatorio en Colombia para las Instituciones Prestadoras de Servicios de Salud (IPS) que reciben estudiantes de programas de salud, garantizando estándares de calidad, seguridad y pertinencia académica en la relación docencia-servicio.</a:t>
            </a:r>
            <a:endParaRPr lang="es-CO" dirty="0">
              <a:latin typeface="+mj-lt"/>
            </a:endParaRPr>
          </a:p>
        </p:txBody>
      </p:sp>
      <p:sp>
        <p:nvSpPr>
          <p:cNvPr id="4" name="AutoShape 2" descr="Así será el modelo de evaluación de prácticas desde 2022">
            <a:extLst>
              <a:ext uri="{FF2B5EF4-FFF2-40B4-BE49-F238E27FC236}">
                <a16:creationId xmlns:a16="http://schemas.microsoft.com/office/drawing/2014/main" id="{EEE7C939-D1E9-4E3D-A5B3-ABE0A8DCD9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6" name="Imagen 5">
            <a:extLst>
              <a:ext uri="{FF2B5EF4-FFF2-40B4-BE49-F238E27FC236}">
                <a16:creationId xmlns:a16="http://schemas.microsoft.com/office/drawing/2014/main" id="{2D66668F-1724-412A-8A5F-950CB7F903D5}"/>
              </a:ext>
            </a:extLst>
          </p:cNvPr>
          <p:cNvPicPr>
            <a:picLocks noChangeAspect="1"/>
          </p:cNvPicPr>
          <p:nvPr/>
        </p:nvPicPr>
        <p:blipFill>
          <a:blip r:embed="rId3"/>
          <a:stretch>
            <a:fillRect/>
          </a:stretch>
        </p:blipFill>
        <p:spPr>
          <a:xfrm>
            <a:off x="4585835" y="2425250"/>
            <a:ext cx="4929640" cy="4220235"/>
          </a:xfrm>
          <a:prstGeom prst="rect">
            <a:avLst/>
          </a:prstGeom>
        </p:spPr>
      </p:pic>
      <p:pic>
        <p:nvPicPr>
          <p:cNvPr id="8" name="Imagen 7">
            <a:extLst>
              <a:ext uri="{FF2B5EF4-FFF2-40B4-BE49-F238E27FC236}">
                <a16:creationId xmlns:a16="http://schemas.microsoft.com/office/drawing/2014/main" id="{1956BAF6-3D4F-4817-8DC2-552019FD7A7E}"/>
              </a:ext>
            </a:extLst>
          </p:cNvPr>
          <p:cNvPicPr>
            <a:picLocks noChangeAspect="1"/>
          </p:cNvPicPr>
          <p:nvPr/>
        </p:nvPicPr>
        <p:blipFill>
          <a:blip r:embed="rId4"/>
          <a:stretch>
            <a:fillRect/>
          </a:stretch>
        </p:blipFill>
        <p:spPr>
          <a:xfrm>
            <a:off x="1789183" y="3254585"/>
            <a:ext cx="2672827" cy="3390900"/>
          </a:xfrm>
          <a:prstGeom prst="rect">
            <a:avLst/>
          </a:prstGeom>
        </p:spPr>
      </p:pic>
      <p:sp>
        <p:nvSpPr>
          <p:cNvPr id="9" name="CuadroTexto 8">
            <a:extLst>
              <a:ext uri="{FF2B5EF4-FFF2-40B4-BE49-F238E27FC236}">
                <a16:creationId xmlns:a16="http://schemas.microsoft.com/office/drawing/2014/main" id="{A4779168-7F65-489D-938C-ADEBDA93BA0B}"/>
              </a:ext>
            </a:extLst>
          </p:cNvPr>
          <p:cNvSpPr txBox="1"/>
          <p:nvPr/>
        </p:nvSpPr>
        <p:spPr>
          <a:xfrm>
            <a:off x="9515475" y="4267200"/>
            <a:ext cx="1457325" cy="369332"/>
          </a:xfrm>
          <a:prstGeom prst="rect">
            <a:avLst/>
          </a:prstGeom>
          <a:noFill/>
        </p:spPr>
        <p:txBody>
          <a:bodyPr wrap="square" rtlCol="0">
            <a:spAutoFit/>
          </a:bodyPr>
          <a:lstStyle/>
          <a:p>
            <a:r>
              <a:rPr lang="es-CO" b="1" dirty="0"/>
              <a:t>32 ítems</a:t>
            </a:r>
          </a:p>
        </p:txBody>
      </p:sp>
    </p:spTree>
    <p:extLst>
      <p:ext uri="{BB962C8B-B14F-4D97-AF65-F5344CB8AC3E}">
        <p14:creationId xmlns:p14="http://schemas.microsoft.com/office/powerpoint/2010/main" val="1425465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1100234" y="309707"/>
            <a:ext cx="9991531" cy="1325563"/>
          </a:xfrm>
        </p:spPr>
        <p:txBody>
          <a:bodyPr>
            <a:normAutofit/>
          </a:bodyPr>
          <a:lstStyle/>
          <a:p>
            <a:pPr algn="ctr"/>
            <a:r>
              <a:rPr lang="es-CO" b="1" dirty="0">
                <a:solidFill>
                  <a:srgbClr val="002060"/>
                </a:solidFill>
              </a:rPr>
              <a:t>5. Ítems pendientes para certificación </a:t>
            </a:r>
            <a:endParaRPr lang="es-CO" dirty="0">
              <a:solidFill>
                <a:srgbClr val="002060"/>
              </a:solidFill>
            </a:endParaRPr>
          </a:p>
        </p:txBody>
      </p:sp>
      <p:sp>
        <p:nvSpPr>
          <p:cNvPr id="3" name="CuadroTexto 2">
            <a:extLst>
              <a:ext uri="{FF2B5EF4-FFF2-40B4-BE49-F238E27FC236}">
                <a16:creationId xmlns:a16="http://schemas.microsoft.com/office/drawing/2014/main" id="{1D2AB8A7-E16D-460F-BDC3-CDD353749735}"/>
              </a:ext>
            </a:extLst>
          </p:cNvPr>
          <p:cNvSpPr txBox="1"/>
          <p:nvPr/>
        </p:nvSpPr>
        <p:spPr>
          <a:xfrm>
            <a:off x="175178" y="1388924"/>
            <a:ext cx="10788097" cy="5078313"/>
          </a:xfrm>
          <a:prstGeom prst="rect">
            <a:avLst/>
          </a:prstGeom>
          <a:noFill/>
        </p:spPr>
        <p:txBody>
          <a:bodyPr wrap="square" rtlCol="0">
            <a:spAutoFit/>
          </a:bodyPr>
          <a:lstStyle/>
          <a:p>
            <a:r>
              <a:rPr lang="es-MX" dirty="0"/>
              <a:t>1. Soportes de inversiones para el mantenimiento y fortalecimiento de la docencia servicio, incluidas las inversiones realizadas producto de los planes de mejoramiento surgidos de la autoevaluación y evidencias de los recursos tecnológicos o de infraestructura, provenientes de las contraprestaciones, según lo pactado en los convenios de relación docencia servicio.</a:t>
            </a:r>
          </a:p>
          <a:p>
            <a:endParaRPr lang="es-CO" dirty="0"/>
          </a:p>
          <a:p>
            <a:r>
              <a:rPr lang="es-CO" dirty="0"/>
              <a:t>2. Actualización </a:t>
            </a:r>
            <a:r>
              <a:rPr lang="es-MX" dirty="0"/>
              <a:t>Documento con el reglamento de prácticas formativas en el escenario</a:t>
            </a:r>
            <a:r>
              <a:rPr lang="es-CO" dirty="0"/>
              <a:t>.</a:t>
            </a:r>
          </a:p>
          <a:p>
            <a:endParaRPr lang="es-CO" dirty="0"/>
          </a:p>
          <a:p>
            <a:r>
              <a:rPr lang="es-CO" dirty="0"/>
              <a:t>3. Gestión Documental</a:t>
            </a:r>
          </a:p>
          <a:p>
            <a:endParaRPr lang="es-CO" dirty="0"/>
          </a:p>
          <a:p>
            <a:r>
              <a:rPr lang="es-CO" dirty="0"/>
              <a:t>4. </a:t>
            </a:r>
            <a:r>
              <a:rPr lang="es-MX" dirty="0"/>
              <a:t>Documento con el plan de capacitación docente y educación continua previsto por el escenario, con y sin la participación de las IES en convenio</a:t>
            </a:r>
            <a:endParaRPr lang="es-CO" dirty="0"/>
          </a:p>
          <a:p>
            <a:endParaRPr lang="es-CO" dirty="0"/>
          </a:p>
          <a:p>
            <a:r>
              <a:rPr lang="es-CO" dirty="0"/>
              <a:t>5. </a:t>
            </a:r>
            <a:r>
              <a:rPr lang="es-MX" dirty="0"/>
              <a:t>Función docente incorporada en los contratos y reconocimientos por parte de las IES</a:t>
            </a:r>
            <a:endParaRPr lang="es-CO" dirty="0"/>
          </a:p>
          <a:p>
            <a:endParaRPr lang="es-CO" dirty="0"/>
          </a:p>
          <a:p>
            <a:r>
              <a:rPr lang="es-CO" dirty="0"/>
              <a:t>6. </a:t>
            </a:r>
            <a:r>
              <a:rPr lang="es-MX" dirty="0"/>
              <a:t>Mecanismos de evaluación de las prácticas formativa</a:t>
            </a:r>
            <a:endParaRPr lang="es-CO" dirty="0"/>
          </a:p>
          <a:p>
            <a:endParaRPr lang="es-CO" dirty="0"/>
          </a:p>
          <a:p>
            <a:r>
              <a:rPr lang="es-CO" dirty="0"/>
              <a:t>7. </a:t>
            </a:r>
            <a:r>
              <a:rPr lang="es-MX" dirty="0"/>
              <a:t>Documento con el plan de mejoramiento que haya surgido de la autoevaluación de la docencia servicio en el escenario, con evidencias de su implementación. </a:t>
            </a:r>
            <a:endParaRPr lang="es-CO" dirty="0"/>
          </a:p>
        </p:txBody>
      </p:sp>
    </p:spTree>
    <p:extLst>
      <p:ext uri="{BB962C8B-B14F-4D97-AF65-F5344CB8AC3E}">
        <p14:creationId xmlns:p14="http://schemas.microsoft.com/office/powerpoint/2010/main" val="18305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D68C6E11-6D0A-2D9F-7BFA-B235237E8D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CEF514-0E5E-C634-AF4D-98CFBA2EA734}"/>
              </a:ext>
            </a:extLst>
          </p:cNvPr>
          <p:cNvSpPr>
            <a:spLocks noGrp="1"/>
          </p:cNvSpPr>
          <p:nvPr>
            <p:ph type="title"/>
          </p:nvPr>
        </p:nvSpPr>
        <p:spPr>
          <a:xfrm>
            <a:off x="1100234" y="309707"/>
            <a:ext cx="9991531" cy="1325563"/>
          </a:xfrm>
        </p:spPr>
        <p:txBody>
          <a:bodyPr>
            <a:normAutofit/>
          </a:bodyPr>
          <a:lstStyle/>
          <a:p>
            <a:pPr algn="ctr"/>
            <a:r>
              <a:rPr lang="es-CO" b="1" dirty="0">
                <a:solidFill>
                  <a:srgbClr val="002060"/>
                </a:solidFill>
              </a:rPr>
              <a:t>6. Proposiciones y varios </a:t>
            </a:r>
            <a:endParaRPr lang="es-CO" dirty="0">
              <a:solidFill>
                <a:srgbClr val="002060"/>
              </a:solidFill>
            </a:endParaRPr>
          </a:p>
        </p:txBody>
      </p:sp>
      <p:sp>
        <p:nvSpPr>
          <p:cNvPr id="3" name="CuadroTexto 2">
            <a:extLst>
              <a:ext uri="{FF2B5EF4-FFF2-40B4-BE49-F238E27FC236}">
                <a16:creationId xmlns:a16="http://schemas.microsoft.com/office/drawing/2014/main" id="{1D2AB8A7-E16D-460F-BDC3-CDD353749735}"/>
              </a:ext>
            </a:extLst>
          </p:cNvPr>
          <p:cNvSpPr txBox="1"/>
          <p:nvPr/>
        </p:nvSpPr>
        <p:spPr>
          <a:xfrm>
            <a:off x="1004047" y="1703294"/>
            <a:ext cx="9421906" cy="4240306"/>
          </a:xfrm>
          <a:prstGeom prst="rect">
            <a:avLst/>
          </a:prstGeom>
          <a:noFill/>
        </p:spPr>
        <p:txBody>
          <a:bodyPr wrap="square" rtlCol="0">
            <a:spAutoFit/>
          </a:bodyPr>
          <a:lstStyle/>
          <a:p>
            <a:endParaRPr lang="es-CO" dirty="0"/>
          </a:p>
        </p:txBody>
      </p:sp>
      <p:pic>
        <p:nvPicPr>
          <p:cNvPr id="7" name="Imagen 6">
            <a:extLst>
              <a:ext uri="{FF2B5EF4-FFF2-40B4-BE49-F238E27FC236}">
                <a16:creationId xmlns:a16="http://schemas.microsoft.com/office/drawing/2014/main" id="{C0137855-1D40-46C2-82B5-267A89C22480}"/>
              </a:ext>
            </a:extLst>
          </p:cNvPr>
          <p:cNvPicPr>
            <a:picLocks noChangeAspect="1"/>
          </p:cNvPicPr>
          <p:nvPr/>
        </p:nvPicPr>
        <p:blipFill>
          <a:blip r:embed="rId3"/>
          <a:stretch>
            <a:fillRect/>
          </a:stretch>
        </p:blipFill>
        <p:spPr>
          <a:xfrm>
            <a:off x="1542243" y="1418240"/>
            <a:ext cx="8716182" cy="4810414"/>
          </a:xfrm>
          <a:prstGeom prst="rect">
            <a:avLst/>
          </a:prstGeom>
        </p:spPr>
      </p:pic>
    </p:spTree>
    <p:extLst>
      <p:ext uri="{BB962C8B-B14F-4D97-AF65-F5344CB8AC3E}">
        <p14:creationId xmlns:p14="http://schemas.microsoft.com/office/powerpoint/2010/main" val="3645441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1254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2458</TotalTime>
  <Words>809</Words>
  <Application>Microsoft Office PowerPoint</Application>
  <PresentationFormat>Panorámica</PresentationFormat>
  <Paragraphs>77</Paragraphs>
  <Slides>12</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Calibri Light</vt:lpstr>
      <vt:lpstr>Tema de Office</vt:lpstr>
      <vt:lpstr>Comité de ética en investigación 2026-1 </vt:lpstr>
      <vt:lpstr>ORDEN DEL DÍA</vt:lpstr>
      <vt:lpstr>1. Propuesta de investigación/ Anteproyecto #1</vt:lpstr>
      <vt:lpstr>1. Propuesta de investigación/ Anteproyecto #2</vt:lpstr>
      <vt:lpstr>Propuestas de investigación #3</vt:lpstr>
      <vt:lpstr>Propuestas de investigación #3</vt:lpstr>
      <vt:lpstr>Propuesta de investigación #4</vt:lpstr>
      <vt:lpstr>5. Resumen Docencia-servicio 2025 </vt:lpstr>
      <vt:lpstr>5. Meta Docencia-servicio 2026 </vt:lpstr>
      <vt:lpstr>5. Ítems pendientes para certificación </vt:lpstr>
      <vt:lpstr>6. Proposiciones y varios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PRESENTACIÓN</dc:title>
  <dc:creator>user</dc:creator>
  <cp:lastModifiedBy>LEIDY TOLEDO ROJAS</cp:lastModifiedBy>
  <cp:revision>49</cp:revision>
  <dcterms:created xsi:type="dcterms:W3CDTF">2024-08-26T14:52:25Z</dcterms:created>
  <dcterms:modified xsi:type="dcterms:W3CDTF">2026-05-04T17:27:24Z</dcterms:modified>
</cp:coreProperties>
</file>