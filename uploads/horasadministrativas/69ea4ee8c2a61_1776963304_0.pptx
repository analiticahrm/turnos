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61" r:id="rId4"/>
    <p:sldId id="275" r:id="rId5"/>
    <p:sldId id="276" r:id="rId6"/>
    <p:sldId id="277" r:id="rId7"/>
    <p:sldId id="278" r:id="rId8"/>
    <p:sldId id="284" r:id="rId9"/>
    <p:sldId id="271" r:id="rId10"/>
    <p:sldId id="281" r:id="rId11"/>
    <p:sldId id="282" r:id="rId12"/>
    <p:sldId id="279" r:id="rId13"/>
    <p:sldId id="286" r:id="rId14"/>
    <p:sldId id="259" r:id="rId15"/>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93" autoAdjust="0"/>
    <p:restoredTop sz="94586"/>
  </p:normalViewPr>
  <p:slideViewPr>
    <p:cSldViewPr snapToGrid="0">
      <p:cViewPr varScale="1">
        <p:scale>
          <a:sx n="109" d="100"/>
          <a:sy n="109" d="100"/>
        </p:scale>
        <p:origin x="656" y="176"/>
      </p:cViewPr>
      <p:guideLst/>
    </p:cSldViewPr>
  </p:slid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IDY TOLEDO ROJAS" userId="c10416f8c6a8dd15" providerId="LiveId" clId="{C8DB66A6-C594-48B8-ACBB-BD11216D2FE3}"/>
    <pc:docChg chg="undo custSel addSld delSld modSld sldOrd">
      <pc:chgData name="LEIDY TOLEDO ROJAS" userId="c10416f8c6a8dd15" providerId="LiveId" clId="{C8DB66A6-C594-48B8-ACBB-BD11216D2FE3}" dt="2026-02-09T15:33:22.964" v="1209" actId="1076"/>
      <pc:docMkLst>
        <pc:docMk/>
      </pc:docMkLst>
      <pc:sldChg chg="modSp mod">
        <pc:chgData name="LEIDY TOLEDO ROJAS" userId="c10416f8c6a8dd15" providerId="LiveId" clId="{C8DB66A6-C594-48B8-ACBB-BD11216D2FE3}" dt="2026-02-09T14:16:50.837" v="837" actId="403"/>
        <pc:sldMkLst>
          <pc:docMk/>
          <pc:sldMk cId="2910541876" sldId="257"/>
        </pc:sldMkLst>
        <pc:spChg chg="mod">
          <ac:chgData name="LEIDY TOLEDO ROJAS" userId="c10416f8c6a8dd15" providerId="LiveId" clId="{C8DB66A6-C594-48B8-ACBB-BD11216D2FE3}" dt="2026-02-09T14:16:50.837" v="837" actId="403"/>
          <ac:spMkLst>
            <pc:docMk/>
            <pc:sldMk cId="2910541876" sldId="257"/>
            <ac:spMk id="3" creationId="{D64D2AA8-87C2-4C59-95E8-68296A897C21}"/>
          </ac:spMkLst>
        </pc:spChg>
      </pc:sldChg>
      <pc:sldChg chg="addSp modSp mod">
        <pc:chgData name="LEIDY TOLEDO ROJAS" userId="c10416f8c6a8dd15" providerId="LiveId" clId="{C8DB66A6-C594-48B8-ACBB-BD11216D2FE3}" dt="2026-02-09T15:33:22.964" v="1209" actId="1076"/>
        <pc:sldMkLst>
          <pc:docMk/>
          <pc:sldMk cId="3415125426" sldId="259"/>
        </pc:sldMkLst>
        <pc:spChg chg="add mod">
          <ac:chgData name="LEIDY TOLEDO ROJAS" userId="c10416f8c6a8dd15" providerId="LiveId" clId="{C8DB66A6-C594-48B8-ACBB-BD11216D2FE3}" dt="2026-02-09T15:33:22.964" v="1209" actId="1076"/>
          <ac:spMkLst>
            <pc:docMk/>
            <pc:sldMk cId="3415125426" sldId="259"/>
            <ac:spMk id="3" creationId="{D0400B5B-6AC7-42A6-9139-87856C8DC191}"/>
          </ac:spMkLst>
        </pc:spChg>
        <pc:picChg chg="add mod">
          <ac:chgData name="LEIDY TOLEDO ROJAS" userId="c10416f8c6a8dd15" providerId="LiveId" clId="{C8DB66A6-C594-48B8-ACBB-BD11216D2FE3}" dt="2026-02-09T15:33:07.254" v="1205" actId="1076"/>
          <ac:picMkLst>
            <pc:docMk/>
            <pc:sldMk cId="3415125426" sldId="259"/>
            <ac:picMk id="2" creationId="{CC85C2D1-BF46-486D-819C-7699BB8414AF}"/>
          </ac:picMkLst>
        </pc:picChg>
      </pc:sldChg>
      <pc:sldChg chg="addSp delSp modSp mod">
        <pc:chgData name="LEIDY TOLEDO ROJAS" userId="c10416f8c6a8dd15" providerId="LiveId" clId="{C8DB66A6-C594-48B8-ACBB-BD11216D2FE3}" dt="2026-02-09T14:16:42.441" v="836" actId="403"/>
        <pc:sldMkLst>
          <pc:docMk/>
          <pc:sldMk cId="162055833" sldId="261"/>
        </pc:sldMkLst>
        <pc:spChg chg="add del mod">
          <ac:chgData name="LEIDY TOLEDO ROJAS" userId="c10416f8c6a8dd15" providerId="LiveId" clId="{C8DB66A6-C594-48B8-ACBB-BD11216D2FE3}" dt="2026-02-09T11:24:02.825" v="191" actId="478"/>
          <ac:spMkLst>
            <pc:docMk/>
            <pc:sldMk cId="162055833" sldId="261"/>
            <ac:spMk id="3" creationId="{736EF67A-9939-40F7-A9C8-31C582AA7C08}"/>
          </ac:spMkLst>
        </pc:spChg>
        <pc:spChg chg="add mod">
          <ac:chgData name="LEIDY TOLEDO ROJAS" userId="c10416f8c6a8dd15" providerId="LiveId" clId="{C8DB66A6-C594-48B8-ACBB-BD11216D2FE3}" dt="2026-02-09T11:38:11.545" v="494" actId="1076"/>
          <ac:spMkLst>
            <pc:docMk/>
            <pc:sldMk cId="162055833" sldId="261"/>
            <ac:spMk id="4" creationId="{D98AE4C4-BCD9-42B9-854C-74122DF6D3EB}"/>
          </ac:spMkLst>
        </pc:spChg>
        <pc:spChg chg="mod">
          <ac:chgData name="LEIDY TOLEDO ROJAS" userId="c10416f8c6a8dd15" providerId="LiveId" clId="{C8DB66A6-C594-48B8-ACBB-BD11216D2FE3}" dt="2026-02-09T14:16:42.441" v="836" actId="403"/>
          <ac:spMkLst>
            <pc:docMk/>
            <pc:sldMk cId="162055833" sldId="261"/>
            <ac:spMk id="5" creationId="{0011F9AB-FACA-47C0-8948-0521D1278CC5}"/>
          </ac:spMkLst>
        </pc:spChg>
        <pc:spChg chg="mod">
          <ac:chgData name="LEIDY TOLEDO ROJAS" userId="c10416f8c6a8dd15" providerId="LiveId" clId="{C8DB66A6-C594-48B8-ACBB-BD11216D2FE3}" dt="2026-02-09T10:51:26.088" v="143" actId="1076"/>
          <ac:spMkLst>
            <pc:docMk/>
            <pc:sldMk cId="162055833" sldId="261"/>
            <ac:spMk id="7" creationId="{5EB57AD6-AC4E-4936-8C61-A4E2DFB3EDBE}"/>
          </ac:spMkLst>
        </pc:spChg>
        <pc:spChg chg="del mod">
          <ac:chgData name="LEIDY TOLEDO ROJAS" userId="c10416f8c6a8dd15" providerId="LiveId" clId="{C8DB66A6-C594-48B8-ACBB-BD11216D2FE3}" dt="2026-02-09T10:42:02.365" v="43" actId="478"/>
          <ac:spMkLst>
            <pc:docMk/>
            <pc:sldMk cId="162055833" sldId="261"/>
            <ac:spMk id="9" creationId="{BDBD4CAB-1B6E-4919-AB2C-D13536879D82}"/>
          </ac:spMkLst>
        </pc:spChg>
        <pc:spChg chg="add del mod">
          <ac:chgData name="LEIDY TOLEDO ROJAS" userId="c10416f8c6a8dd15" providerId="LiveId" clId="{C8DB66A6-C594-48B8-ACBB-BD11216D2FE3}" dt="2026-02-09T11:33:26.065" v="401" actId="478"/>
          <ac:spMkLst>
            <pc:docMk/>
            <pc:sldMk cId="162055833" sldId="261"/>
            <ac:spMk id="10" creationId="{69148ABE-FA19-4EB8-A7B6-1A467BAB284F}"/>
          </ac:spMkLst>
        </pc:spChg>
        <pc:spChg chg="mod">
          <ac:chgData name="LEIDY TOLEDO ROJAS" userId="c10416f8c6a8dd15" providerId="LiveId" clId="{C8DB66A6-C594-48B8-ACBB-BD11216D2FE3}" dt="2026-02-09T11:37:25.398" v="430" actId="1076"/>
          <ac:spMkLst>
            <pc:docMk/>
            <pc:sldMk cId="162055833" sldId="261"/>
            <ac:spMk id="11" creationId="{5CA70AB5-21C0-4D87-9127-2EE5101C1D31}"/>
          </ac:spMkLst>
        </pc:spChg>
        <pc:spChg chg="mod">
          <ac:chgData name="LEIDY TOLEDO ROJAS" userId="c10416f8c6a8dd15" providerId="LiveId" clId="{C8DB66A6-C594-48B8-ACBB-BD11216D2FE3}" dt="2026-02-09T13:11:56.709" v="579" actId="1076"/>
          <ac:spMkLst>
            <pc:docMk/>
            <pc:sldMk cId="162055833" sldId="261"/>
            <ac:spMk id="13" creationId="{65542EF3-7D69-4A43-8DBC-74B043511FB8}"/>
          </ac:spMkLst>
        </pc:spChg>
        <pc:picChg chg="add mod">
          <ac:chgData name="LEIDY TOLEDO ROJAS" userId="c10416f8c6a8dd15" providerId="LiveId" clId="{C8DB66A6-C594-48B8-ACBB-BD11216D2FE3}" dt="2026-02-09T11:38:17.255" v="496"/>
          <ac:picMkLst>
            <pc:docMk/>
            <pc:sldMk cId="162055833" sldId="261"/>
            <ac:picMk id="1026" creationId="{8CF67FDB-A372-4014-BFAD-84D96E60C948}"/>
          </ac:picMkLst>
        </pc:picChg>
        <pc:picChg chg="add del mod">
          <ac:chgData name="LEIDY TOLEDO ROJAS" userId="c10416f8c6a8dd15" providerId="LiveId" clId="{C8DB66A6-C594-48B8-ACBB-BD11216D2FE3}" dt="2026-02-09T11:36:30.272" v="411" actId="478"/>
          <ac:picMkLst>
            <pc:docMk/>
            <pc:sldMk cId="162055833" sldId="261"/>
            <ac:picMk id="1028" creationId="{7222F435-CB6D-4ABD-8E19-3A37C9EB53F0}"/>
          </ac:picMkLst>
        </pc:picChg>
        <pc:picChg chg="mod">
          <ac:chgData name="LEIDY TOLEDO ROJAS" userId="c10416f8c6a8dd15" providerId="LiveId" clId="{C8DB66A6-C594-48B8-ACBB-BD11216D2FE3}" dt="2026-02-09T11:38:26.131" v="498" actId="1076"/>
          <ac:picMkLst>
            <pc:docMk/>
            <pc:sldMk cId="162055833" sldId="261"/>
            <ac:picMk id="3074" creationId="{723D1FE6-57A7-4005-A2D7-14BC7FDB106A}"/>
          </ac:picMkLst>
        </pc:picChg>
      </pc:sldChg>
      <pc:sldChg chg="addSp delSp modSp mod ord">
        <pc:chgData name="LEIDY TOLEDO ROJAS" userId="c10416f8c6a8dd15" providerId="LiveId" clId="{C8DB66A6-C594-48B8-ACBB-BD11216D2FE3}" dt="2026-02-09T14:16:37.176" v="835" actId="1076"/>
        <pc:sldMkLst>
          <pc:docMk/>
          <pc:sldMk cId="2537278175" sldId="271"/>
        </pc:sldMkLst>
        <pc:spChg chg="mod">
          <ac:chgData name="LEIDY TOLEDO ROJAS" userId="c10416f8c6a8dd15" providerId="LiveId" clId="{C8DB66A6-C594-48B8-ACBB-BD11216D2FE3}" dt="2026-02-09T14:16:37.176" v="835" actId="1076"/>
          <ac:spMkLst>
            <pc:docMk/>
            <pc:sldMk cId="2537278175" sldId="271"/>
            <ac:spMk id="2" creationId="{53370804-4D30-419E-832E-825E5B930C91}"/>
          </ac:spMkLst>
        </pc:spChg>
        <pc:spChg chg="add del mod">
          <ac:chgData name="LEIDY TOLEDO ROJAS" userId="c10416f8c6a8dd15" providerId="LiveId" clId="{C8DB66A6-C594-48B8-ACBB-BD11216D2FE3}" dt="2026-02-09T11:28:08.660" v="248" actId="1076"/>
          <ac:spMkLst>
            <pc:docMk/>
            <pc:sldMk cId="2537278175" sldId="271"/>
            <ac:spMk id="3" creationId="{C4C7E370-D327-4127-B01A-262FE1C78C51}"/>
          </ac:spMkLst>
        </pc:spChg>
        <pc:spChg chg="add del mod">
          <ac:chgData name="LEIDY TOLEDO ROJAS" userId="c10416f8c6a8dd15" providerId="LiveId" clId="{C8DB66A6-C594-48B8-ACBB-BD11216D2FE3}" dt="2026-02-09T11:27:57.494" v="244" actId="478"/>
          <ac:spMkLst>
            <pc:docMk/>
            <pc:sldMk cId="2537278175" sldId="271"/>
            <ac:spMk id="6" creationId="{8299173B-022C-4ADC-8F40-9F8FD2D8F00E}"/>
          </ac:spMkLst>
        </pc:spChg>
        <pc:picChg chg="add del mod modCrop">
          <ac:chgData name="LEIDY TOLEDO ROJAS" userId="c10416f8c6a8dd15" providerId="LiveId" clId="{C8DB66A6-C594-48B8-ACBB-BD11216D2FE3}" dt="2026-02-09T11:27:56.297" v="241" actId="22"/>
          <ac:picMkLst>
            <pc:docMk/>
            <pc:sldMk cId="2537278175" sldId="271"/>
            <ac:picMk id="8" creationId="{8790C608-49E7-43ED-8944-B84305228486}"/>
          </ac:picMkLst>
        </pc:picChg>
      </pc:sldChg>
      <pc:sldChg chg="del">
        <pc:chgData name="LEIDY TOLEDO ROJAS" userId="c10416f8c6a8dd15" providerId="LiveId" clId="{C8DB66A6-C594-48B8-ACBB-BD11216D2FE3}" dt="2026-02-09T10:41:16.870" v="40" actId="47"/>
        <pc:sldMkLst>
          <pc:docMk/>
          <pc:sldMk cId="1279206474" sldId="272"/>
        </pc:sldMkLst>
      </pc:sldChg>
      <pc:sldChg chg="del">
        <pc:chgData name="LEIDY TOLEDO ROJAS" userId="c10416f8c6a8dd15" providerId="LiveId" clId="{C8DB66A6-C594-48B8-ACBB-BD11216D2FE3}" dt="2026-02-09T10:43:39.915" v="57" actId="47"/>
        <pc:sldMkLst>
          <pc:docMk/>
          <pc:sldMk cId="195092070" sldId="273"/>
        </pc:sldMkLst>
      </pc:sldChg>
      <pc:sldChg chg="addSp delSp modSp mod">
        <pc:chgData name="LEIDY TOLEDO ROJAS" userId="c10416f8c6a8dd15" providerId="LiveId" clId="{C8DB66A6-C594-48B8-ACBB-BD11216D2FE3}" dt="2026-02-09T13:12:03.774" v="582" actId="1076"/>
        <pc:sldMkLst>
          <pc:docMk/>
          <pc:sldMk cId="2045474191" sldId="275"/>
        </pc:sldMkLst>
        <pc:spChg chg="mod">
          <ac:chgData name="LEIDY TOLEDO ROJAS" userId="c10416f8c6a8dd15" providerId="LiveId" clId="{C8DB66A6-C594-48B8-ACBB-BD11216D2FE3}" dt="2026-02-09T11:26:03.219" v="212" actId="1076"/>
          <ac:spMkLst>
            <pc:docMk/>
            <pc:sldMk cId="2045474191" sldId="275"/>
            <ac:spMk id="2" creationId="{630BEBDB-1956-48F0-9A78-B6F6BFA3B3EA}"/>
          </ac:spMkLst>
        </pc:spChg>
        <pc:spChg chg="mod">
          <ac:chgData name="LEIDY TOLEDO ROJAS" userId="c10416f8c6a8dd15" providerId="LiveId" clId="{C8DB66A6-C594-48B8-ACBB-BD11216D2FE3}" dt="2026-02-09T11:40:06.824" v="566" actId="1076"/>
          <ac:spMkLst>
            <pc:docMk/>
            <pc:sldMk cId="2045474191" sldId="275"/>
            <ac:spMk id="6" creationId="{531A500E-E583-4A5C-AE34-18B4E9A1BAF2}"/>
          </ac:spMkLst>
        </pc:spChg>
        <pc:spChg chg="mod">
          <ac:chgData name="LEIDY TOLEDO ROJAS" userId="c10416f8c6a8dd15" providerId="LiveId" clId="{C8DB66A6-C594-48B8-ACBB-BD11216D2FE3}" dt="2026-02-09T11:40:14" v="569" actId="1076"/>
          <ac:spMkLst>
            <pc:docMk/>
            <pc:sldMk cId="2045474191" sldId="275"/>
            <ac:spMk id="8" creationId="{0FD7DDB2-2019-401F-B612-E6E36EBE7440}"/>
          </ac:spMkLst>
        </pc:spChg>
        <pc:spChg chg="add mod">
          <ac:chgData name="LEIDY TOLEDO ROJAS" userId="c10416f8c6a8dd15" providerId="LiveId" clId="{C8DB66A6-C594-48B8-ACBB-BD11216D2FE3}" dt="2026-02-09T11:40:16.866" v="570" actId="1076"/>
          <ac:spMkLst>
            <pc:docMk/>
            <pc:sldMk cId="2045474191" sldId="275"/>
            <ac:spMk id="9" creationId="{05B0B3DB-CB7C-452E-9887-8C22F0E64A0B}"/>
          </ac:spMkLst>
        </pc:spChg>
        <pc:spChg chg="del">
          <ac:chgData name="LEIDY TOLEDO ROJAS" userId="c10416f8c6a8dd15" providerId="LiveId" clId="{C8DB66A6-C594-48B8-ACBB-BD11216D2FE3}" dt="2026-02-09T11:24:39.119" v="199" actId="478"/>
          <ac:spMkLst>
            <pc:docMk/>
            <pc:sldMk cId="2045474191" sldId="275"/>
            <ac:spMk id="10" creationId="{8D27B383-B1A7-4DB9-9A3A-890F92928656}"/>
          </ac:spMkLst>
        </pc:spChg>
        <pc:spChg chg="mod">
          <ac:chgData name="LEIDY TOLEDO ROJAS" userId="c10416f8c6a8dd15" providerId="LiveId" clId="{C8DB66A6-C594-48B8-ACBB-BD11216D2FE3}" dt="2026-02-09T11:40:19.305" v="571" actId="1076"/>
          <ac:spMkLst>
            <pc:docMk/>
            <pc:sldMk cId="2045474191" sldId="275"/>
            <ac:spMk id="11" creationId="{A967FE8E-222D-4B68-9A07-91003AC32B24}"/>
          </ac:spMkLst>
        </pc:spChg>
        <pc:spChg chg="del">
          <ac:chgData name="LEIDY TOLEDO ROJAS" userId="c10416f8c6a8dd15" providerId="LiveId" clId="{C8DB66A6-C594-48B8-ACBB-BD11216D2FE3}" dt="2026-02-09T13:12:00.876" v="580" actId="478"/>
          <ac:spMkLst>
            <pc:docMk/>
            <pc:sldMk cId="2045474191" sldId="275"/>
            <ac:spMk id="12" creationId="{77DD92AE-5ADB-469B-894A-771B260997F5}"/>
          </ac:spMkLst>
        </pc:spChg>
        <pc:spChg chg="add mod">
          <ac:chgData name="LEIDY TOLEDO ROJAS" userId="c10416f8c6a8dd15" providerId="LiveId" clId="{C8DB66A6-C594-48B8-ACBB-BD11216D2FE3}" dt="2026-02-09T13:12:03.774" v="582" actId="1076"/>
          <ac:spMkLst>
            <pc:docMk/>
            <pc:sldMk cId="2045474191" sldId="275"/>
            <ac:spMk id="13" creationId="{D58544B4-2835-40D7-95A5-FEAB2AE9534D}"/>
          </ac:spMkLst>
        </pc:spChg>
      </pc:sldChg>
      <pc:sldChg chg="addSp delSp modSp mod">
        <pc:chgData name="LEIDY TOLEDO ROJAS" userId="c10416f8c6a8dd15" providerId="LiveId" clId="{C8DB66A6-C594-48B8-ACBB-BD11216D2FE3}" dt="2026-02-09T13:12:32.541" v="595"/>
        <pc:sldMkLst>
          <pc:docMk/>
          <pc:sldMk cId="2653249429" sldId="276"/>
        </pc:sldMkLst>
        <pc:spChg chg="mod">
          <ac:chgData name="LEIDY TOLEDO ROJAS" userId="c10416f8c6a8dd15" providerId="LiveId" clId="{C8DB66A6-C594-48B8-ACBB-BD11216D2FE3}" dt="2026-02-09T11:28:49.479" v="269" actId="1076"/>
          <ac:spMkLst>
            <pc:docMk/>
            <pc:sldMk cId="2653249429" sldId="276"/>
            <ac:spMk id="2" creationId="{63D63637-32B1-4088-AB9E-E1B4E1B8B89B}"/>
          </ac:spMkLst>
        </pc:spChg>
        <pc:spChg chg="mod">
          <ac:chgData name="LEIDY TOLEDO ROJAS" userId="c10416f8c6a8dd15" providerId="LiveId" clId="{C8DB66A6-C594-48B8-ACBB-BD11216D2FE3}" dt="2026-02-09T11:32:15.703" v="387" actId="20577"/>
          <ac:spMkLst>
            <pc:docMk/>
            <pc:sldMk cId="2653249429" sldId="276"/>
            <ac:spMk id="4" creationId="{C1E62FA6-990E-4D96-A9B3-FCBF86854899}"/>
          </ac:spMkLst>
        </pc:spChg>
        <pc:spChg chg="add mod">
          <ac:chgData name="LEIDY TOLEDO ROJAS" userId="c10416f8c6a8dd15" providerId="LiveId" clId="{C8DB66A6-C594-48B8-ACBB-BD11216D2FE3}" dt="2026-02-09T13:12:29.877" v="593" actId="1076"/>
          <ac:spMkLst>
            <pc:docMk/>
            <pc:sldMk cId="2653249429" sldId="276"/>
            <ac:spMk id="5" creationId="{6F68EEDC-7C86-41E4-952F-8618778F4145}"/>
          </ac:spMkLst>
        </pc:spChg>
        <pc:spChg chg="mod">
          <ac:chgData name="LEIDY TOLEDO ROJAS" userId="c10416f8c6a8dd15" providerId="LiveId" clId="{C8DB66A6-C594-48B8-ACBB-BD11216D2FE3}" dt="2026-02-09T11:30:15.353" v="308" actId="14100"/>
          <ac:spMkLst>
            <pc:docMk/>
            <pc:sldMk cId="2653249429" sldId="276"/>
            <ac:spMk id="6" creationId="{96D4ADDA-F380-4E4D-B1B2-CD2E1CE54D54}"/>
          </ac:spMkLst>
        </pc:spChg>
        <pc:spChg chg="add del mod">
          <ac:chgData name="LEIDY TOLEDO ROJAS" userId="c10416f8c6a8dd15" providerId="LiveId" clId="{C8DB66A6-C594-48B8-ACBB-BD11216D2FE3}" dt="2026-02-09T13:12:32.541" v="595"/>
          <ac:spMkLst>
            <pc:docMk/>
            <pc:sldMk cId="2653249429" sldId="276"/>
            <ac:spMk id="7" creationId="{1BA58083-3D49-4007-B842-DF474F5C7827}"/>
          </ac:spMkLst>
        </pc:spChg>
      </pc:sldChg>
      <pc:sldChg chg="addSp delSp modSp mod ord">
        <pc:chgData name="LEIDY TOLEDO ROJAS" userId="c10416f8c6a8dd15" providerId="LiveId" clId="{C8DB66A6-C594-48B8-ACBB-BD11216D2FE3}" dt="2026-02-09T14:46:21.790" v="902" actId="20577"/>
        <pc:sldMkLst>
          <pc:docMk/>
          <pc:sldMk cId="959190934" sldId="277"/>
        </pc:sldMkLst>
        <pc:spChg chg="mod">
          <ac:chgData name="LEIDY TOLEDO ROJAS" userId="c10416f8c6a8dd15" providerId="LiveId" clId="{C8DB66A6-C594-48B8-ACBB-BD11216D2FE3}" dt="2026-02-09T14:07:12.435" v="649" actId="1076"/>
          <ac:spMkLst>
            <pc:docMk/>
            <pc:sldMk cId="959190934" sldId="277"/>
            <ac:spMk id="2" creationId="{63D63637-32B1-4088-AB9E-E1B4E1B8B89B}"/>
          </ac:spMkLst>
        </pc:spChg>
        <pc:spChg chg="del mod">
          <ac:chgData name="LEIDY TOLEDO ROJAS" userId="c10416f8c6a8dd15" providerId="LiveId" clId="{C8DB66A6-C594-48B8-ACBB-BD11216D2FE3}" dt="2026-02-09T14:09:39.220" v="794" actId="12084"/>
          <ac:spMkLst>
            <pc:docMk/>
            <pc:sldMk cId="959190934" sldId="277"/>
            <ac:spMk id="5" creationId="{ADFA85A5-6FE5-4B59-89DA-B1F6FF200118}"/>
          </ac:spMkLst>
        </pc:spChg>
        <pc:spChg chg="add mod">
          <ac:chgData name="LEIDY TOLEDO ROJAS" userId="c10416f8c6a8dd15" providerId="LiveId" clId="{C8DB66A6-C594-48B8-ACBB-BD11216D2FE3}" dt="2026-02-09T13:12:39.955" v="596"/>
          <ac:spMkLst>
            <pc:docMk/>
            <pc:sldMk cId="959190934" sldId="277"/>
            <ac:spMk id="6" creationId="{8851FA25-F60C-4ADB-95BA-9BF8ED29E9DC}"/>
          </ac:spMkLst>
        </pc:spChg>
        <pc:spChg chg="mod">
          <ac:chgData name="LEIDY TOLEDO ROJAS" userId="c10416f8c6a8dd15" providerId="LiveId" clId="{C8DB66A6-C594-48B8-ACBB-BD11216D2FE3}" dt="2026-02-09T14:46:21.790" v="902" actId="20577"/>
          <ac:spMkLst>
            <pc:docMk/>
            <pc:sldMk cId="959190934" sldId="277"/>
            <ac:spMk id="7" creationId="{82D9E36C-D375-417E-AA1F-68A171567900}"/>
          </ac:spMkLst>
        </pc:spChg>
        <pc:graphicFrameChg chg="add mod">
          <ac:chgData name="LEIDY TOLEDO ROJAS" userId="c10416f8c6a8dd15" providerId="LiveId" clId="{C8DB66A6-C594-48B8-ACBB-BD11216D2FE3}" dt="2026-02-09T14:10:37.526" v="811" actId="12100"/>
          <ac:graphicFrameMkLst>
            <pc:docMk/>
            <pc:sldMk cId="959190934" sldId="277"/>
            <ac:graphicFrameMk id="3" creationId="{7D544B03-A0E8-445A-BD1E-3F297B847D9A}"/>
          </ac:graphicFrameMkLst>
        </pc:graphicFrameChg>
      </pc:sldChg>
      <pc:sldChg chg="addSp delSp modSp mod">
        <pc:chgData name="LEIDY TOLEDO ROJAS" userId="c10416f8c6a8dd15" providerId="LiveId" clId="{C8DB66A6-C594-48B8-ACBB-BD11216D2FE3}" dt="2026-02-09T15:04:20.023" v="1066" actId="1076"/>
        <pc:sldMkLst>
          <pc:docMk/>
          <pc:sldMk cId="640623677" sldId="278"/>
        </pc:sldMkLst>
        <pc:spChg chg="mod">
          <ac:chgData name="LEIDY TOLEDO ROJAS" userId="c10416f8c6a8dd15" providerId="LiveId" clId="{C8DB66A6-C594-48B8-ACBB-BD11216D2FE3}" dt="2026-02-09T15:03:34.316" v="1043" actId="1076"/>
          <ac:spMkLst>
            <pc:docMk/>
            <pc:sldMk cId="640623677" sldId="278"/>
            <ac:spMk id="2" creationId="{63D63637-32B1-4088-AB9E-E1B4E1B8B89B}"/>
          </ac:spMkLst>
        </pc:spChg>
        <pc:spChg chg="del">
          <ac:chgData name="LEIDY TOLEDO ROJAS" userId="c10416f8c6a8dd15" providerId="LiveId" clId="{C8DB66A6-C594-48B8-ACBB-BD11216D2FE3}" dt="2026-02-09T14:27:55.093" v="838" actId="12084"/>
          <ac:spMkLst>
            <pc:docMk/>
            <pc:sldMk cId="640623677" sldId="278"/>
            <ac:spMk id="3" creationId="{D2C1A7AB-2DC7-4FDE-A566-7F9EE797B1E5}"/>
          </ac:spMkLst>
        </pc:spChg>
        <pc:spChg chg="del">
          <ac:chgData name="LEIDY TOLEDO ROJAS" userId="c10416f8c6a8dd15" providerId="LiveId" clId="{C8DB66A6-C594-48B8-ACBB-BD11216D2FE3}" dt="2026-02-09T14:12:31.438" v="812" actId="478"/>
          <ac:spMkLst>
            <pc:docMk/>
            <pc:sldMk cId="640623677" sldId="278"/>
            <ac:spMk id="5" creationId="{B22F9A37-B3C3-4B7D-9679-B8FA9779E890}"/>
          </ac:spMkLst>
        </pc:spChg>
        <pc:spChg chg="add mod">
          <ac:chgData name="LEIDY TOLEDO ROJAS" userId="c10416f8c6a8dd15" providerId="LiveId" clId="{C8DB66A6-C594-48B8-ACBB-BD11216D2FE3}" dt="2026-02-09T14:54:15.340" v="952" actId="122"/>
          <ac:spMkLst>
            <pc:docMk/>
            <pc:sldMk cId="640623677" sldId="278"/>
            <ac:spMk id="7" creationId="{CAA8E7B8-1A1A-4D8B-83AB-F9EE52303081}"/>
          </ac:spMkLst>
        </pc:spChg>
        <pc:spChg chg="add mod">
          <ac:chgData name="LEIDY TOLEDO ROJAS" userId="c10416f8c6a8dd15" providerId="LiveId" clId="{C8DB66A6-C594-48B8-ACBB-BD11216D2FE3}" dt="2026-02-09T15:00:21.528" v="987"/>
          <ac:spMkLst>
            <pc:docMk/>
            <pc:sldMk cId="640623677" sldId="278"/>
            <ac:spMk id="8" creationId="{70731DDE-31D8-4597-862B-9ADC2A698E5F}"/>
          </ac:spMkLst>
        </pc:spChg>
        <pc:spChg chg="add del mod">
          <ac:chgData name="LEIDY TOLEDO ROJAS" userId="c10416f8c6a8dd15" providerId="LiveId" clId="{C8DB66A6-C594-48B8-ACBB-BD11216D2FE3}" dt="2026-02-09T15:04:04.463" v="1059" actId="12084"/>
          <ac:spMkLst>
            <pc:docMk/>
            <pc:sldMk cId="640623677" sldId="278"/>
            <ac:spMk id="9" creationId="{7B9C5E66-868F-4D8D-919C-681A81A5A056}"/>
          </ac:spMkLst>
        </pc:spChg>
        <pc:graphicFrameChg chg="add del mod modGraphic">
          <ac:chgData name="LEIDY TOLEDO ROJAS" userId="c10416f8c6a8dd15" providerId="LiveId" clId="{C8DB66A6-C594-48B8-ACBB-BD11216D2FE3}" dt="2026-02-09T15:03:43.235" v="1044" actId="11529"/>
          <ac:graphicFrameMkLst>
            <pc:docMk/>
            <pc:sldMk cId="640623677" sldId="278"/>
            <ac:graphicFrameMk id="4" creationId="{56762E3C-035F-43B3-A15D-B8316299FC1E}"/>
          </ac:graphicFrameMkLst>
        </pc:graphicFrameChg>
        <pc:graphicFrameChg chg="add mod">
          <ac:chgData name="LEIDY TOLEDO ROJAS" userId="c10416f8c6a8dd15" providerId="LiveId" clId="{C8DB66A6-C594-48B8-ACBB-BD11216D2FE3}" dt="2026-02-09T15:04:20.023" v="1066" actId="1076"/>
          <ac:graphicFrameMkLst>
            <pc:docMk/>
            <pc:sldMk cId="640623677" sldId="278"/>
            <ac:graphicFrameMk id="10" creationId="{F3E988B4-1BBB-474F-8584-B8DF483FD51F}"/>
          </ac:graphicFrameMkLst>
        </pc:graphicFrameChg>
        <pc:picChg chg="add mod">
          <ac:chgData name="LEIDY TOLEDO ROJAS" userId="c10416f8c6a8dd15" providerId="LiveId" clId="{C8DB66A6-C594-48B8-ACBB-BD11216D2FE3}" dt="2026-02-09T14:28:09.556" v="845" actId="1076"/>
          <ac:picMkLst>
            <pc:docMk/>
            <pc:sldMk cId="640623677" sldId="278"/>
            <ac:picMk id="6" creationId="{2BB31F20-5B5F-4395-866F-2CF3F3B31D75}"/>
          </ac:picMkLst>
        </pc:picChg>
      </pc:sldChg>
      <pc:sldChg chg="addSp delSp modSp mod">
        <pc:chgData name="LEIDY TOLEDO ROJAS" userId="c10416f8c6a8dd15" providerId="LiveId" clId="{C8DB66A6-C594-48B8-ACBB-BD11216D2FE3}" dt="2026-02-09T15:25:32.639" v="1201" actId="1076"/>
        <pc:sldMkLst>
          <pc:docMk/>
          <pc:sldMk cId="1997131318" sldId="279"/>
        </pc:sldMkLst>
        <pc:spChg chg="mod">
          <ac:chgData name="LEIDY TOLEDO ROJAS" userId="c10416f8c6a8dd15" providerId="LiveId" clId="{C8DB66A6-C594-48B8-ACBB-BD11216D2FE3}" dt="2026-02-09T15:23:16.226" v="1165" actId="1076"/>
          <ac:spMkLst>
            <pc:docMk/>
            <pc:sldMk cId="1997131318" sldId="279"/>
            <ac:spMk id="2" creationId="{63D63637-32B1-4088-AB9E-E1B4E1B8B89B}"/>
          </ac:spMkLst>
        </pc:spChg>
        <pc:spChg chg="del">
          <ac:chgData name="LEIDY TOLEDO ROJAS" userId="c10416f8c6a8dd15" providerId="LiveId" clId="{C8DB66A6-C594-48B8-ACBB-BD11216D2FE3}" dt="2026-02-09T14:28:53.098" v="849" actId="12084"/>
          <ac:spMkLst>
            <pc:docMk/>
            <pc:sldMk cId="1997131318" sldId="279"/>
            <ac:spMk id="3" creationId="{70DD953A-781A-46E5-BF85-7D3D637A2743}"/>
          </ac:spMkLst>
        </pc:spChg>
        <pc:spChg chg="add mod">
          <ac:chgData name="LEIDY TOLEDO ROJAS" userId="c10416f8c6a8dd15" providerId="LiveId" clId="{C8DB66A6-C594-48B8-ACBB-BD11216D2FE3}" dt="2026-02-09T15:25:32.639" v="1201" actId="1076"/>
          <ac:spMkLst>
            <pc:docMk/>
            <pc:sldMk cId="1997131318" sldId="279"/>
            <ac:spMk id="5" creationId="{856DBCEB-13A3-4BE6-9535-73AD384B2796}"/>
          </ac:spMkLst>
        </pc:spChg>
        <pc:graphicFrameChg chg="add mod modGraphic">
          <ac:chgData name="LEIDY TOLEDO ROJAS" userId="c10416f8c6a8dd15" providerId="LiveId" clId="{C8DB66A6-C594-48B8-ACBB-BD11216D2FE3}" dt="2026-02-09T15:01:34.644" v="993" actId="12269"/>
          <ac:graphicFrameMkLst>
            <pc:docMk/>
            <pc:sldMk cId="1997131318" sldId="279"/>
            <ac:graphicFrameMk id="4" creationId="{6AB03BBC-C207-4239-9734-E1EEA5781257}"/>
          </ac:graphicFrameMkLst>
        </pc:graphicFrameChg>
      </pc:sldChg>
      <pc:sldChg chg="addSp delSp modSp mod">
        <pc:chgData name="LEIDY TOLEDO ROJAS" userId="c10416f8c6a8dd15" providerId="LiveId" clId="{C8DB66A6-C594-48B8-ACBB-BD11216D2FE3}" dt="2026-02-09T15:16:56.313" v="1145" actId="1076"/>
        <pc:sldMkLst>
          <pc:docMk/>
          <pc:sldMk cId="3750929085" sldId="281"/>
        </pc:sldMkLst>
        <pc:spChg chg="add mod">
          <ac:chgData name="LEIDY TOLEDO ROJAS" userId="c10416f8c6a8dd15" providerId="LiveId" clId="{C8DB66A6-C594-48B8-ACBB-BD11216D2FE3}" dt="2026-02-09T15:16:32.758" v="1138" actId="2085"/>
          <ac:spMkLst>
            <pc:docMk/>
            <pc:sldMk cId="3750929085" sldId="281"/>
            <ac:spMk id="2" creationId="{E54C5328-3A21-47BC-B610-749B01E2CE89}"/>
          </ac:spMkLst>
        </pc:spChg>
        <pc:spChg chg="add del mod">
          <ac:chgData name="LEIDY TOLEDO ROJAS" userId="c10416f8c6a8dd15" providerId="LiveId" clId="{C8DB66A6-C594-48B8-ACBB-BD11216D2FE3}" dt="2026-02-09T15:16:41.100" v="1139" actId="478"/>
          <ac:spMkLst>
            <pc:docMk/>
            <pc:sldMk cId="3750929085" sldId="281"/>
            <ac:spMk id="6" creationId="{2F16F7F2-2729-42A2-822E-5F34991B2412}"/>
          </ac:spMkLst>
        </pc:spChg>
        <pc:spChg chg="add mod">
          <ac:chgData name="LEIDY TOLEDO ROJAS" userId="c10416f8c6a8dd15" providerId="LiveId" clId="{C8DB66A6-C594-48B8-ACBB-BD11216D2FE3}" dt="2026-02-09T15:16:56.313" v="1145" actId="1076"/>
          <ac:spMkLst>
            <pc:docMk/>
            <pc:sldMk cId="3750929085" sldId="281"/>
            <ac:spMk id="8" creationId="{FAF5F09F-EE36-4173-A343-EBA72113268E}"/>
          </ac:spMkLst>
        </pc:spChg>
        <pc:picChg chg="mod">
          <ac:chgData name="LEIDY TOLEDO ROJAS" userId="c10416f8c6a8dd15" providerId="LiveId" clId="{C8DB66A6-C594-48B8-ACBB-BD11216D2FE3}" dt="2026-02-09T15:07:03.967" v="1093" actId="1076"/>
          <ac:picMkLst>
            <pc:docMk/>
            <pc:sldMk cId="3750929085" sldId="281"/>
            <ac:picMk id="4098" creationId="{CE8742F5-9F16-4A03-AEB4-AC1E5748720B}"/>
          </ac:picMkLst>
        </pc:picChg>
      </pc:sldChg>
      <pc:sldChg chg="addSp delSp modSp mod">
        <pc:chgData name="LEIDY TOLEDO ROJAS" userId="c10416f8c6a8dd15" providerId="LiveId" clId="{C8DB66A6-C594-48B8-ACBB-BD11216D2FE3}" dt="2026-02-09T14:53:55.992" v="914" actId="122"/>
        <pc:sldMkLst>
          <pc:docMk/>
          <pc:sldMk cId="1347506755" sldId="282"/>
        </pc:sldMkLst>
        <pc:spChg chg="mod">
          <ac:chgData name="LEIDY TOLEDO ROJAS" userId="c10416f8c6a8dd15" providerId="LiveId" clId="{C8DB66A6-C594-48B8-ACBB-BD11216D2FE3}" dt="2026-02-09T14:16:32.318" v="833" actId="1076"/>
          <ac:spMkLst>
            <pc:docMk/>
            <pc:sldMk cId="1347506755" sldId="282"/>
            <ac:spMk id="2" creationId="{53370804-4D30-419E-832E-825E5B930C91}"/>
          </ac:spMkLst>
        </pc:spChg>
        <pc:spChg chg="mod">
          <ac:chgData name="LEIDY TOLEDO ROJAS" userId="c10416f8c6a8dd15" providerId="LiveId" clId="{C8DB66A6-C594-48B8-ACBB-BD11216D2FE3}" dt="2026-02-09T11:18:29.722" v="156" actId="113"/>
          <ac:spMkLst>
            <pc:docMk/>
            <pc:sldMk cId="1347506755" sldId="282"/>
            <ac:spMk id="10" creationId="{4AC9FE29-C487-4C16-BD5F-9C2831A068D3}"/>
          </ac:spMkLst>
        </pc:spChg>
        <pc:spChg chg="mod">
          <ac:chgData name="LEIDY TOLEDO ROJAS" userId="c10416f8c6a8dd15" providerId="LiveId" clId="{C8DB66A6-C594-48B8-ACBB-BD11216D2FE3}" dt="2026-02-09T14:06:22.447" v="621" actId="1076"/>
          <ac:spMkLst>
            <pc:docMk/>
            <pc:sldMk cId="1347506755" sldId="282"/>
            <ac:spMk id="11" creationId="{53D65C82-9CE5-4015-A74F-48B1D55406E9}"/>
          </ac:spMkLst>
        </pc:spChg>
        <pc:spChg chg="add mod">
          <ac:chgData name="LEIDY TOLEDO ROJAS" userId="c10416f8c6a8dd15" providerId="LiveId" clId="{C8DB66A6-C594-48B8-ACBB-BD11216D2FE3}" dt="2026-02-09T14:53:55.992" v="914" actId="122"/>
          <ac:spMkLst>
            <pc:docMk/>
            <pc:sldMk cId="1347506755" sldId="282"/>
            <ac:spMk id="12" creationId="{8C3EB74A-830C-4115-8CCB-68AFD8C6C1C5}"/>
          </ac:spMkLst>
        </pc:spChg>
        <pc:spChg chg="del mod">
          <ac:chgData name="LEIDY TOLEDO ROJAS" userId="c10416f8c6a8dd15" providerId="LiveId" clId="{C8DB66A6-C594-48B8-ACBB-BD11216D2FE3}" dt="2026-02-09T14:06:40.681" v="628" actId="478"/>
          <ac:spMkLst>
            <pc:docMk/>
            <pc:sldMk cId="1347506755" sldId="282"/>
            <ac:spMk id="15" creationId="{5A6F91B6-7EDB-4C0E-8D7F-53FCEF14CAE2}"/>
          </ac:spMkLst>
        </pc:spChg>
        <pc:picChg chg="add mod">
          <ac:chgData name="LEIDY TOLEDO ROJAS" userId="c10416f8c6a8dd15" providerId="LiveId" clId="{C8DB66A6-C594-48B8-ACBB-BD11216D2FE3}" dt="2026-02-09T14:06:42.170" v="629" actId="1076"/>
          <ac:picMkLst>
            <pc:docMk/>
            <pc:sldMk cId="1347506755" sldId="282"/>
            <ac:picMk id="9" creationId="{C63525FC-A08F-44B4-99FE-33646C9B5142}"/>
          </ac:picMkLst>
        </pc:picChg>
      </pc:sldChg>
      <pc:sldChg chg="addSp delSp modSp mod">
        <pc:chgData name="LEIDY TOLEDO ROJAS" userId="c10416f8c6a8dd15" providerId="LiveId" clId="{C8DB66A6-C594-48B8-ACBB-BD11216D2FE3}" dt="2026-02-09T15:06:20.208" v="1089"/>
        <pc:sldMkLst>
          <pc:docMk/>
          <pc:sldMk cId="1617963315" sldId="284"/>
        </pc:sldMkLst>
        <pc:spChg chg="mod">
          <ac:chgData name="LEIDY TOLEDO ROJAS" userId="c10416f8c6a8dd15" providerId="LiveId" clId="{C8DB66A6-C594-48B8-ACBB-BD11216D2FE3}" dt="2026-02-09T15:03:01.018" v="1019" actId="1076"/>
          <ac:spMkLst>
            <pc:docMk/>
            <pc:sldMk cId="1617963315" sldId="284"/>
            <ac:spMk id="2" creationId="{63D63637-32B1-4088-AB9E-E1B4E1B8B89B}"/>
          </ac:spMkLst>
        </pc:spChg>
        <pc:spChg chg="add del mod">
          <ac:chgData name="LEIDY TOLEDO ROJAS" userId="c10416f8c6a8dd15" providerId="LiveId" clId="{C8DB66A6-C594-48B8-ACBB-BD11216D2FE3}" dt="2026-02-09T15:05:21.305" v="1079" actId="478"/>
          <ac:spMkLst>
            <pc:docMk/>
            <pc:sldMk cId="1617963315" sldId="284"/>
            <ac:spMk id="3" creationId="{A5ED82D8-3830-48E8-A20C-45BB2C350359}"/>
          </ac:spMkLst>
        </pc:spChg>
        <pc:spChg chg="add mod">
          <ac:chgData name="LEIDY TOLEDO ROJAS" userId="c10416f8c6a8dd15" providerId="LiveId" clId="{C8DB66A6-C594-48B8-ACBB-BD11216D2FE3}" dt="2026-02-09T15:06:04.877" v="1088" actId="208"/>
          <ac:spMkLst>
            <pc:docMk/>
            <pc:sldMk cId="1617963315" sldId="284"/>
            <ac:spMk id="4" creationId="{7B3760CD-E087-4DEE-8962-1CEDD3C790EB}"/>
          </ac:spMkLst>
        </pc:spChg>
        <pc:spChg chg="add mod">
          <ac:chgData name="LEIDY TOLEDO ROJAS" userId="c10416f8c6a8dd15" providerId="LiveId" clId="{C8DB66A6-C594-48B8-ACBB-BD11216D2FE3}" dt="2026-02-09T15:06:20.208" v="1089"/>
          <ac:spMkLst>
            <pc:docMk/>
            <pc:sldMk cId="1617963315" sldId="284"/>
            <ac:spMk id="7" creationId="{2DA51373-C9DE-4561-AD92-D95A22DDF2D0}"/>
          </ac:spMkLst>
        </pc:spChg>
        <pc:spChg chg="mod">
          <ac:chgData name="LEIDY TOLEDO ROJAS" userId="c10416f8c6a8dd15" providerId="LiveId" clId="{C8DB66A6-C594-48B8-ACBB-BD11216D2FE3}" dt="2026-02-09T15:05:04.168" v="1076" actId="208"/>
          <ac:spMkLst>
            <pc:docMk/>
            <pc:sldMk cId="1617963315" sldId="284"/>
            <ac:spMk id="9" creationId="{837560DC-6140-403B-AD76-B17C8F43D497}"/>
          </ac:spMkLst>
        </pc:spChg>
        <pc:spChg chg="mod">
          <ac:chgData name="LEIDY TOLEDO ROJAS" userId="c10416f8c6a8dd15" providerId="LiveId" clId="{C8DB66A6-C594-48B8-ACBB-BD11216D2FE3}" dt="2026-02-09T15:05:44.986" v="1084" actId="1076"/>
          <ac:spMkLst>
            <pc:docMk/>
            <pc:sldMk cId="1617963315" sldId="284"/>
            <ac:spMk id="11" creationId="{93E0B63D-11B4-4C48-B701-78890190EDF8}"/>
          </ac:spMkLst>
        </pc:spChg>
      </pc:sldChg>
      <pc:sldChg chg="addSp modSp mod">
        <pc:chgData name="LEIDY TOLEDO ROJAS" userId="c10416f8c6a8dd15" providerId="LiveId" clId="{C8DB66A6-C594-48B8-ACBB-BD11216D2FE3}" dt="2026-02-09T15:32:48.896" v="1203" actId="1076"/>
        <pc:sldMkLst>
          <pc:docMk/>
          <pc:sldMk cId="3985379610" sldId="285"/>
        </pc:sldMkLst>
        <pc:spChg chg="add mod">
          <ac:chgData name="LEIDY TOLEDO ROJAS" userId="c10416f8c6a8dd15" providerId="LiveId" clId="{C8DB66A6-C594-48B8-ACBB-BD11216D2FE3}" dt="2026-02-09T15:32:48.896" v="1203" actId="1076"/>
          <ac:spMkLst>
            <pc:docMk/>
            <pc:sldMk cId="3985379610" sldId="285"/>
            <ac:spMk id="5" creationId="{1C61113F-F7AC-4C63-BD37-A876DA7BC945}"/>
          </ac:spMkLst>
        </pc:spChg>
      </pc:sldChg>
      <pc:sldChg chg="addSp modSp add del mod">
        <pc:chgData name="LEIDY TOLEDO ROJAS" userId="c10416f8c6a8dd15" providerId="LiveId" clId="{C8DB66A6-C594-48B8-ACBB-BD11216D2FE3}" dt="2026-02-09T15:25:19.911" v="1187" actId="1076"/>
        <pc:sldMkLst>
          <pc:docMk/>
          <pc:sldMk cId="2981944825" sldId="286"/>
        </pc:sldMkLst>
        <pc:spChg chg="add mod">
          <ac:chgData name="LEIDY TOLEDO ROJAS" userId="c10416f8c6a8dd15" providerId="LiveId" clId="{C8DB66A6-C594-48B8-ACBB-BD11216D2FE3}" dt="2026-02-09T15:25:19.911" v="1187" actId="1076"/>
          <ac:spMkLst>
            <pc:docMk/>
            <pc:sldMk cId="2981944825" sldId="286"/>
            <ac:spMk id="9" creationId="{DD6C39F4-80F8-4730-8254-00DF265D6819}"/>
          </ac:spMkLst>
        </pc:spChg>
        <pc:graphicFrameChg chg="add mod modGraphic">
          <ac:chgData name="LEIDY TOLEDO ROJAS" userId="c10416f8c6a8dd15" providerId="LiveId" clId="{C8DB66A6-C594-48B8-ACBB-BD11216D2FE3}" dt="2026-02-09T15:09:47.591" v="1132"/>
          <ac:graphicFrameMkLst>
            <pc:docMk/>
            <pc:sldMk cId="2981944825" sldId="286"/>
            <ac:graphicFrameMk id="3" creationId="{C4BBA478-537A-41FC-B9FA-57513082CE7A}"/>
          </ac:graphicFrameMkLst>
        </pc:graphicFrameChg>
        <pc:picChg chg="mod ord modCrop">
          <ac:chgData name="LEIDY TOLEDO ROJAS" userId="c10416f8c6a8dd15" providerId="LiveId" clId="{C8DB66A6-C594-48B8-ACBB-BD11216D2FE3}" dt="2026-02-09T15:09:55.703" v="1134" actId="1076"/>
          <ac:picMkLst>
            <pc:docMk/>
            <pc:sldMk cId="2981944825" sldId="286"/>
            <ac:picMk id="4" creationId="{A43B2D13-9F7A-42D2-A4EE-D3CF56639039}"/>
          </ac:picMkLst>
        </pc:picChg>
        <pc:picChg chg="mod ord">
          <ac:chgData name="LEIDY TOLEDO ROJAS" userId="c10416f8c6a8dd15" providerId="LiveId" clId="{C8DB66A6-C594-48B8-ACBB-BD11216D2FE3}" dt="2026-02-09T15:09:58.254" v="1135" actId="1076"/>
          <ac:picMkLst>
            <pc:docMk/>
            <pc:sldMk cId="2981944825" sldId="286"/>
            <ac:picMk id="6" creationId="{04F26357-22C5-448A-83C4-06EF7568654E}"/>
          </ac:picMkLst>
        </pc:picChg>
        <pc:picChg chg="mod ord">
          <ac:chgData name="LEIDY TOLEDO ROJAS" userId="c10416f8c6a8dd15" providerId="LiveId" clId="{C8DB66A6-C594-48B8-ACBB-BD11216D2FE3}" dt="2026-02-09T15:09:07.819" v="1121" actId="166"/>
          <ac:picMkLst>
            <pc:docMk/>
            <pc:sldMk cId="2981944825" sldId="286"/>
            <ac:picMk id="8" creationId="{42508B54-6A7D-4745-A23D-BA51129C6A81}"/>
          </ac:picMkLst>
        </pc:picChg>
        <pc:picChg chg="mod">
          <ac:chgData name="LEIDY TOLEDO ROJAS" userId="c10416f8c6a8dd15" providerId="LiveId" clId="{C8DB66A6-C594-48B8-ACBB-BD11216D2FE3}" dt="2026-02-09T15:09:14.119" v="1123" actId="1076"/>
          <ac:picMkLst>
            <pc:docMk/>
            <pc:sldMk cId="2981944825" sldId="286"/>
            <ac:picMk id="16" creationId="{A14F40A6-BC97-42C3-9252-884CB9CBE4D6}"/>
          </ac:picMkLst>
        </pc:picChg>
      </pc:sldChg>
      <pc:sldChg chg="add del mod modShow">
        <pc:chgData name="LEIDY TOLEDO ROJAS" userId="c10416f8c6a8dd15" providerId="LiveId" clId="{C8DB66A6-C594-48B8-ACBB-BD11216D2FE3}" dt="2026-02-09T14:15:37.301" v="825" actId="47"/>
        <pc:sldMkLst>
          <pc:docMk/>
          <pc:sldMk cId="600044152" sldId="287"/>
        </pc:sldMkLst>
      </pc:sldChg>
      <pc:sldChg chg="add del mod modShow">
        <pc:chgData name="LEIDY TOLEDO ROJAS" userId="c10416f8c6a8dd15" providerId="LiveId" clId="{C8DB66A6-C594-48B8-ACBB-BD11216D2FE3}" dt="2026-02-09T14:15:38.217" v="826" actId="47"/>
        <pc:sldMkLst>
          <pc:docMk/>
          <pc:sldMk cId="2991255730" sldId="288"/>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C40087E-FA5F-F04B-9BD8-0BC2E0EF649A}"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s-ES"/>
        </a:p>
      </dgm:t>
    </dgm:pt>
    <dgm:pt modelId="{67F46805-59AE-5E45-BF91-DC6C3F4FEBF7}">
      <dgm:prSet custT="1"/>
      <dgm:spPr/>
      <dgm:t>
        <a:bodyPr/>
        <a:lstStyle/>
        <a:p>
          <a:r>
            <a:rPr lang="es-CO" sz="1800" i="0" dirty="0"/>
            <a:t>1. </a:t>
          </a:r>
          <a:r>
            <a:rPr lang="es-CO" sz="1800" i="0" dirty="0" err="1"/>
            <a:t>Retinopatía</a:t>
          </a:r>
          <a:r>
            <a:rPr lang="es-CO" sz="1800" i="0" dirty="0"/>
            <a:t>:</a:t>
          </a:r>
        </a:p>
      </dgm:t>
    </dgm:pt>
    <dgm:pt modelId="{75975F15-01DB-3B46-AAE2-2EEC8E62BF1B}" type="parTrans" cxnId="{086BF1BD-9A36-9747-B4C5-78629DBB46A4}">
      <dgm:prSet/>
      <dgm:spPr/>
      <dgm:t>
        <a:bodyPr/>
        <a:lstStyle/>
        <a:p>
          <a:endParaRPr lang="es-ES"/>
        </a:p>
      </dgm:t>
    </dgm:pt>
    <dgm:pt modelId="{07AB0320-1D97-3841-9109-4B3DBBF82227}" type="sibTrans" cxnId="{086BF1BD-9A36-9747-B4C5-78629DBB46A4}">
      <dgm:prSet/>
      <dgm:spPr/>
      <dgm:t>
        <a:bodyPr/>
        <a:lstStyle/>
        <a:p>
          <a:endParaRPr lang="es-ES"/>
        </a:p>
      </dgm:t>
    </dgm:pt>
    <dgm:pt modelId="{5FA18F90-D1B5-6E4D-A7A1-F76995C61761}">
      <dgm:prSet custT="1"/>
      <dgm:spPr/>
      <dgm:t>
        <a:bodyPr/>
        <a:lstStyle/>
        <a:p>
          <a:r>
            <a:rPr lang="es-CO" sz="1800" i="0" dirty="0"/>
            <a:t>2. </a:t>
          </a:r>
          <a:r>
            <a:rPr lang="es-CO" sz="1800" i="0" dirty="0" err="1"/>
            <a:t>Cardiopatía</a:t>
          </a:r>
          <a:r>
            <a:rPr lang="es-CO" sz="1800" i="0" dirty="0"/>
            <a:t>:</a:t>
          </a:r>
        </a:p>
      </dgm:t>
    </dgm:pt>
    <dgm:pt modelId="{C1A401F6-4297-F240-B5EA-5B0C4B765580}" type="parTrans" cxnId="{15F89B52-5B3B-D845-A478-F35AC65F5589}">
      <dgm:prSet/>
      <dgm:spPr/>
      <dgm:t>
        <a:bodyPr/>
        <a:lstStyle/>
        <a:p>
          <a:endParaRPr lang="es-ES"/>
        </a:p>
      </dgm:t>
    </dgm:pt>
    <dgm:pt modelId="{C98CEEFB-443B-3D44-8447-4DEDEA517BE4}" type="sibTrans" cxnId="{15F89B52-5B3B-D845-A478-F35AC65F5589}">
      <dgm:prSet/>
      <dgm:spPr/>
      <dgm:t>
        <a:bodyPr/>
        <a:lstStyle/>
        <a:p>
          <a:endParaRPr lang="es-ES"/>
        </a:p>
      </dgm:t>
    </dgm:pt>
    <dgm:pt modelId="{B64EFF4C-1887-324A-9B2A-86D5F9D7A8D5}">
      <dgm:prSet custT="1"/>
      <dgm:spPr/>
      <dgm:t>
        <a:bodyPr/>
        <a:lstStyle/>
        <a:p>
          <a:r>
            <a:rPr lang="es-CO" sz="1800" i="0" dirty="0"/>
            <a:t>3. </a:t>
          </a:r>
          <a:r>
            <a:rPr lang="es-CO" sz="1800" i="0" dirty="0" err="1"/>
            <a:t>Nefropatía</a:t>
          </a:r>
          <a:r>
            <a:rPr lang="es-CO" sz="1800" i="0" dirty="0"/>
            <a:t>:</a:t>
          </a:r>
        </a:p>
      </dgm:t>
    </dgm:pt>
    <dgm:pt modelId="{17128776-4B48-4146-929D-7D0FE79039FC}" type="parTrans" cxnId="{4BCEC0C6-F966-2047-8D2D-39320B8EA268}">
      <dgm:prSet/>
      <dgm:spPr/>
      <dgm:t>
        <a:bodyPr/>
        <a:lstStyle/>
        <a:p>
          <a:endParaRPr lang="es-ES"/>
        </a:p>
      </dgm:t>
    </dgm:pt>
    <dgm:pt modelId="{A72AA0F2-4819-314C-B488-868507DF15C0}" type="sibTrans" cxnId="{4BCEC0C6-F966-2047-8D2D-39320B8EA268}">
      <dgm:prSet/>
      <dgm:spPr/>
      <dgm:t>
        <a:bodyPr/>
        <a:lstStyle/>
        <a:p>
          <a:endParaRPr lang="es-ES"/>
        </a:p>
      </dgm:t>
    </dgm:pt>
    <dgm:pt modelId="{04C40F11-B816-ED43-B617-9258D93148AC}">
      <dgm:prSet custT="1"/>
      <dgm:spPr/>
      <dgm:t>
        <a:bodyPr/>
        <a:lstStyle/>
        <a:p>
          <a:r>
            <a:rPr lang="es-CO" sz="1800" i="0" dirty="0"/>
            <a:t>5. </a:t>
          </a:r>
          <a:r>
            <a:rPr lang="es-CO" sz="1800" i="0" dirty="0" err="1"/>
            <a:t>Neuropatía</a:t>
          </a:r>
          <a:r>
            <a:rPr lang="es-CO" sz="1800" i="0" dirty="0"/>
            <a:t> </a:t>
          </a:r>
          <a:r>
            <a:rPr lang="es-CO" sz="1800" i="0" dirty="0" err="1"/>
            <a:t>diabética</a:t>
          </a:r>
          <a:r>
            <a:rPr lang="es-CO" sz="1800" i="0" dirty="0"/>
            <a:t>/ pie </a:t>
          </a:r>
          <a:r>
            <a:rPr lang="es-CO" sz="1800" i="0" dirty="0" err="1"/>
            <a:t>diabético</a:t>
          </a:r>
          <a:r>
            <a:rPr lang="es-CO" sz="1800" i="0" dirty="0"/>
            <a:t>:</a:t>
          </a:r>
        </a:p>
      </dgm:t>
    </dgm:pt>
    <dgm:pt modelId="{D08BA18E-BDD5-994C-9DB4-1A837E0B426A}" type="parTrans" cxnId="{6C84BF53-5F4E-E342-BF9A-DD454972EBD5}">
      <dgm:prSet/>
      <dgm:spPr/>
      <dgm:t>
        <a:bodyPr/>
        <a:lstStyle/>
        <a:p>
          <a:endParaRPr lang="es-ES"/>
        </a:p>
      </dgm:t>
    </dgm:pt>
    <dgm:pt modelId="{B1E0A2D4-B88E-D84A-AAE2-6F48B4A54B96}" type="sibTrans" cxnId="{6C84BF53-5F4E-E342-BF9A-DD454972EBD5}">
      <dgm:prSet/>
      <dgm:spPr/>
      <dgm:t>
        <a:bodyPr/>
        <a:lstStyle/>
        <a:p>
          <a:endParaRPr lang="es-ES"/>
        </a:p>
      </dgm:t>
    </dgm:pt>
    <dgm:pt modelId="{340DCAB3-830D-8248-BEB8-85CFF2D897C2}">
      <dgm:prSet custT="1"/>
      <dgm:spPr/>
      <dgm:t>
        <a:bodyPr/>
        <a:lstStyle/>
        <a:p>
          <a:r>
            <a:rPr lang="es-CO" sz="1400" i="0" dirty="0"/>
            <a:t>Realizar </a:t>
          </a:r>
          <a:r>
            <a:rPr lang="es-CO" sz="1400" i="0" dirty="0" err="1"/>
            <a:t>evaluación</a:t>
          </a:r>
          <a:r>
            <a:rPr lang="es-CO" sz="1400" i="0" dirty="0"/>
            <a:t> integral de los pies: </a:t>
          </a:r>
          <a:r>
            <a:rPr lang="es-CO" sz="1400" i="0" dirty="0" err="1"/>
            <a:t>inspección</a:t>
          </a:r>
          <a:r>
            <a:rPr lang="es-CO" sz="1400" i="0" dirty="0"/>
            <a:t> (</a:t>
          </a:r>
          <a:r>
            <a:rPr lang="es-CO" sz="1400" i="0" dirty="0" err="1"/>
            <a:t>úlceras,deformidades</a:t>
          </a:r>
          <a:r>
            <a:rPr lang="es-CO" sz="1400" i="0" dirty="0"/>
            <a:t>), </a:t>
          </a:r>
          <a:r>
            <a:rPr lang="es-CO" sz="1400" i="0" dirty="0" err="1"/>
            <a:t>sensación</a:t>
          </a:r>
          <a:r>
            <a:rPr lang="es-CO" sz="1400" i="0" dirty="0"/>
            <a:t> vibratoria con </a:t>
          </a:r>
          <a:r>
            <a:rPr lang="es-CO" sz="1400" i="0" dirty="0" err="1"/>
            <a:t>diapasón</a:t>
          </a:r>
          <a:r>
            <a:rPr lang="es-CO" sz="1400" i="0" dirty="0"/>
            <a:t> de 128Hz, temperatura y prueba de Monofilamento : Si </a:t>
          </a:r>
          <a:r>
            <a:rPr lang="es-CO" sz="1400" i="0" dirty="0" err="1"/>
            <a:t>valoración</a:t>
          </a:r>
          <a:r>
            <a:rPr lang="es-CO" sz="1400" i="0" dirty="0"/>
            <a:t> es normal, realizar control ANUAL y EDUCACIÓN </a:t>
          </a:r>
        </a:p>
      </dgm:t>
    </dgm:pt>
    <dgm:pt modelId="{8D6F2E62-B8F8-F04F-9166-03F92AA7C5E8}" type="parTrans" cxnId="{532B369F-3649-AF49-8065-8128395EA027}">
      <dgm:prSet/>
      <dgm:spPr/>
      <dgm:t>
        <a:bodyPr/>
        <a:lstStyle/>
        <a:p>
          <a:endParaRPr lang="es-ES"/>
        </a:p>
      </dgm:t>
    </dgm:pt>
    <dgm:pt modelId="{24F8D968-FB27-DB4D-9EE9-4D45B5466A81}" type="sibTrans" cxnId="{532B369F-3649-AF49-8065-8128395EA027}">
      <dgm:prSet/>
      <dgm:spPr/>
      <dgm:t>
        <a:bodyPr/>
        <a:lstStyle/>
        <a:p>
          <a:endParaRPr lang="es-ES"/>
        </a:p>
      </dgm:t>
    </dgm:pt>
    <dgm:pt modelId="{653EA266-ADA4-254A-B52D-C368BD3532B4}">
      <dgm:prSet custT="1"/>
      <dgm:spPr/>
      <dgm:t>
        <a:bodyPr/>
        <a:lstStyle/>
        <a:p>
          <a:r>
            <a:rPr lang="es-CO" sz="1400" i="0" dirty="0"/>
            <a:t>Desde el </a:t>
          </a:r>
          <a:r>
            <a:rPr lang="es-CO" sz="1400" i="0" dirty="0" err="1"/>
            <a:t>diagnóstico</a:t>
          </a:r>
          <a:r>
            <a:rPr lang="es-CO" sz="1400" i="0" dirty="0"/>
            <a:t> de DM2 derivar a </a:t>
          </a:r>
          <a:r>
            <a:rPr lang="es-CO" sz="1400" i="0" dirty="0" err="1"/>
            <a:t>oftalmología</a:t>
          </a:r>
          <a:r>
            <a:rPr lang="es-CO" sz="1400" i="0" dirty="0"/>
            <a:t>.</a:t>
          </a:r>
        </a:p>
      </dgm:t>
    </dgm:pt>
    <dgm:pt modelId="{B3B9E7F6-1FFA-D040-B2AC-B0483C817B8A}" type="parTrans" cxnId="{46550CE2-C09B-0049-9A13-4A1294F3E84E}">
      <dgm:prSet/>
      <dgm:spPr/>
      <dgm:t>
        <a:bodyPr/>
        <a:lstStyle/>
        <a:p>
          <a:endParaRPr lang="es-ES"/>
        </a:p>
      </dgm:t>
    </dgm:pt>
    <dgm:pt modelId="{A606DD0A-9E2C-154B-8354-6999BC0A5D73}" type="sibTrans" cxnId="{46550CE2-C09B-0049-9A13-4A1294F3E84E}">
      <dgm:prSet/>
      <dgm:spPr/>
      <dgm:t>
        <a:bodyPr/>
        <a:lstStyle/>
        <a:p>
          <a:endParaRPr lang="es-ES"/>
        </a:p>
      </dgm:t>
    </dgm:pt>
    <dgm:pt modelId="{95D57D6B-53C0-3141-A823-20367BCC26F3}">
      <dgm:prSet custT="1"/>
      <dgm:spPr/>
      <dgm:t>
        <a:bodyPr/>
        <a:lstStyle/>
        <a:p>
          <a:r>
            <a:rPr lang="es-CO" sz="1400" i="0" dirty="0"/>
            <a:t>Si no hay </a:t>
          </a:r>
          <a:r>
            <a:rPr lang="es-CO" sz="1400" i="0" dirty="0" err="1"/>
            <a:t>alteración</a:t>
          </a:r>
          <a:r>
            <a:rPr lang="es-CO" sz="1400" i="0" dirty="0"/>
            <a:t> asegurar </a:t>
          </a:r>
          <a:r>
            <a:rPr lang="es-CO" sz="1400" i="0" dirty="0" err="1"/>
            <a:t>valoración</a:t>
          </a:r>
          <a:r>
            <a:rPr lang="es-CO" sz="1400" i="0" dirty="0"/>
            <a:t> cada 1-2 </a:t>
          </a:r>
          <a:r>
            <a:rPr lang="es-CO" sz="1400" i="0" dirty="0" err="1"/>
            <a:t>años</a:t>
          </a:r>
          <a:r>
            <a:rPr lang="es-CO" sz="800" i="0" dirty="0"/>
            <a:t>.</a:t>
          </a:r>
        </a:p>
      </dgm:t>
    </dgm:pt>
    <dgm:pt modelId="{16DA6249-7D49-F84F-8435-58561D8CF8FD}" type="parTrans" cxnId="{8CD4AF5E-EF30-C849-B47D-2A060CF662F6}">
      <dgm:prSet/>
      <dgm:spPr/>
      <dgm:t>
        <a:bodyPr/>
        <a:lstStyle/>
        <a:p>
          <a:endParaRPr lang="es-ES"/>
        </a:p>
      </dgm:t>
    </dgm:pt>
    <dgm:pt modelId="{7E98B697-2969-7746-BDBB-37F5B22B00CC}" type="sibTrans" cxnId="{8CD4AF5E-EF30-C849-B47D-2A060CF662F6}">
      <dgm:prSet/>
      <dgm:spPr/>
      <dgm:t>
        <a:bodyPr/>
        <a:lstStyle/>
        <a:p>
          <a:endParaRPr lang="es-ES"/>
        </a:p>
      </dgm:t>
    </dgm:pt>
    <dgm:pt modelId="{4A1DE4E2-0654-BA4E-9DCE-6B2468D3D9FF}">
      <dgm:prSet custT="1"/>
      <dgm:spPr/>
      <dgm:t>
        <a:bodyPr/>
        <a:lstStyle/>
        <a:p>
          <a:r>
            <a:rPr lang="es-CO" sz="1400" i="0" dirty="0"/>
            <a:t>Evaluar signos y </a:t>
          </a:r>
          <a:r>
            <a:rPr lang="es-CO" sz="1400" i="0" dirty="0" err="1"/>
            <a:t>síntomas</a:t>
          </a:r>
          <a:r>
            <a:rPr lang="es-CO" sz="1400" i="0" dirty="0"/>
            <a:t> asociados a </a:t>
          </a:r>
          <a:r>
            <a:rPr lang="es-CO" sz="1400" i="0" dirty="0" err="1"/>
            <a:t>cardiopatía</a:t>
          </a:r>
          <a:r>
            <a:rPr lang="es-CO" sz="1400" i="0" dirty="0"/>
            <a:t> </a:t>
          </a:r>
        </a:p>
      </dgm:t>
    </dgm:pt>
    <dgm:pt modelId="{93B674F0-7D1B-8B4E-8AE3-D6F5F7746B80}" type="parTrans" cxnId="{669FD9F4-2D05-8A4B-B23D-5A68871FDCDF}">
      <dgm:prSet/>
      <dgm:spPr/>
      <dgm:t>
        <a:bodyPr/>
        <a:lstStyle/>
        <a:p>
          <a:endParaRPr lang="es-ES"/>
        </a:p>
      </dgm:t>
    </dgm:pt>
    <dgm:pt modelId="{C00B5B7B-7E67-5E49-9E71-B8B0BCCB2C5A}" type="sibTrans" cxnId="{669FD9F4-2D05-8A4B-B23D-5A68871FDCDF}">
      <dgm:prSet/>
      <dgm:spPr/>
      <dgm:t>
        <a:bodyPr/>
        <a:lstStyle/>
        <a:p>
          <a:endParaRPr lang="es-ES"/>
        </a:p>
      </dgm:t>
    </dgm:pt>
    <dgm:pt modelId="{7EAFA392-4245-2946-97C1-B85FBBA08F6D}">
      <dgm:prSet custT="1"/>
      <dgm:spPr/>
      <dgm:t>
        <a:bodyPr/>
        <a:lstStyle/>
        <a:p>
          <a:r>
            <a:rPr lang="es-CO" sz="1400" i="0" dirty="0"/>
            <a:t>Si TFG es menor de 60 ml/min/1.73m2 (primera toma): nueva creatinina en 3 meses.</a:t>
          </a:r>
        </a:p>
      </dgm:t>
    </dgm:pt>
    <dgm:pt modelId="{38B0F43F-99AB-B049-AE55-C2604AC1E368}" type="parTrans" cxnId="{49A8A47C-AF55-E342-89DF-A82C0C602F92}">
      <dgm:prSet/>
      <dgm:spPr/>
      <dgm:t>
        <a:bodyPr/>
        <a:lstStyle/>
        <a:p>
          <a:endParaRPr lang="es-ES"/>
        </a:p>
      </dgm:t>
    </dgm:pt>
    <dgm:pt modelId="{E831D02F-1491-F549-868A-832CC58646E8}" type="sibTrans" cxnId="{49A8A47C-AF55-E342-89DF-A82C0C602F92}">
      <dgm:prSet/>
      <dgm:spPr/>
      <dgm:t>
        <a:bodyPr/>
        <a:lstStyle/>
        <a:p>
          <a:endParaRPr lang="es-ES"/>
        </a:p>
      </dgm:t>
    </dgm:pt>
    <dgm:pt modelId="{6E652466-8909-3845-8644-315FE41B33C8}">
      <dgm:prSet custT="1"/>
      <dgm:spPr/>
      <dgm:t>
        <a:bodyPr/>
        <a:lstStyle/>
        <a:p>
          <a:r>
            <a:rPr lang="es-CO" sz="1400" i="0" dirty="0"/>
            <a:t>Si RAC es &gt; 30mg/g (primera toma): nueva RAC en 3 meses.</a:t>
          </a:r>
        </a:p>
      </dgm:t>
    </dgm:pt>
    <dgm:pt modelId="{E1F67B1B-2FDF-4B42-BD8A-160DC84B90D7}" type="parTrans" cxnId="{F72D10C5-790F-C54F-9D1A-298A0FC1EA84}">
      <dgm:prSet/>
      <dgm:spPr/>
      <dgm:t>
        <a:bodyPr/>
        <a:lstStyle/>
        <a:p>
          <a:endParaRPr lang="es-ES"/>
        </a:p>
      </dgm:t>
    </dgm:pt>
    <dgm:pt modelId="{C34BE8D1-4806-5D44-A5AA-B6D53F1DDABB}" type="sibTrans" cxnId="{F72D10C5-790F-C54F-9D1A-298A0FC1EA84}">
      <dgm:prSet/>
      <dgm:spPr/>
      <dgm:t>
        <a:bodyPr/>
        <a:lstStyle/>
        <a:p>
          <a:endParaRPr lang="es-ES"/>
        </a:p>
      </dgm:t>
    </dgm:pt>
    <dgm:pt modelId="{CF599E88-5CEE-D945-80F3-A6E0EA1F2C7D}">
      <dgm:prSet custT="1"/>
      <dgm:spPr/>
      <dgm:t>
        <a:bodyPr/>
        <a:lstStyle/>
        <a:p>
          <a:r>
            <a:rPr lang="es-CO" sz="1800" i="0" dirty="0"/>
            <a:t>4. Enfermedad arterial </a:t>
          </a:r>
          <a:r>
            <a:rPr lang="es-CO" sz="1800" i="0" dirty="0" err="1"/>
            <a:t>periférica</a:t>
          </a:r>
          <a:r>
            <a:rPr lang="es-CO" sz="1800" i="0" dirty="0"/>
            <a:t> (EAP):</a:t>
          </a:r>
        </a:p>
      </dgm:t>
    </dgm:pt>
    <dgm:pt modelId="{C5AA4E87-2294-9046-BB14-7C51D78EE430}" type="parTrans" cxnId="{7E7C0415-52B9-3D40-B917-042701E1EDDA}">
      <dgm:prSet/>
      <dgm:spPr/>
      <dgm:t>
        <a:bodyPr/>
        <a:lstStyle/>
        <a:p>
          <a:endParaRPr lang="es-ES"/>
        </a:p>
      </dgm:t>
    </dgm:pt>
    <dgm:pt modelId="{508E89AE-F879-4345-BB85-B5BB58A6BEE6}" type="sibTrans" cxnId="{7E7C0415-52B9-3D40-B917-042701E1EDDA}">
      <dgm:prSet/>
      <dgm:spPr/>
      <dgm:t>
        <a:bodyPr/>
        <a:lstStyle/>
        <a:p>
          <a:endParaRPr lang="es-ES"/>
        </a:p>
      </dgm:t>
    </dgm:pt>
    <dgm:pt modelId="{827DDABB-7755-844B-AAD3-2D7FC64A1707}">
      <dgm:prSet custT="1"/>
      <dgm:spPr/>
      <dgm:t>
        <a:bodyPr/>
        <a:lstStyle/>
        <a:p>
          <a:r>
            <a:rPr lang="es-CO" sz="1400" i="0" dirty="0"/>
            <a:t>Evaluar pulsos distales y </a:t>
          </a:r>
          <a:r>
            <a:rPr lang="es-CO" sz="1400" i="0" dirty="0" err="1"/>
            <a:t>síntomas</a:t>
          </a:r>
          <a:r>
            <a:rPr lang="es-CO" sz="1400" i="0" dirty="0"/>
            <a:t> asociados a EAP - </a:t>
          </a:r>
          <a:r>
            <a:rPr lang="es-CO" sz="1400" i="0" dirty="0" err="1"/>
            <a:t>clasificación</a:t>
          </a:r>
          <a:r>
            <a:rPr lang="es-CO" sz="1400" i="0" dirty="0"/>
            <a:t> de Fontaine </a:t>
          </a:r>
        </a:p>
      </dgm:t>
    </dgm:pt>
    <dgm:pt modelId="{C4E66750-1178-4D44-97BA-756D1C779F8F}" type="parTrans" cxnId="{689D7272-8D0E-2240-B155-05C9A10DFF71}">
      <dgm:prSet/>
      <dgm:spPr/>
      <dgm:t>
        <a:bodyPr/>
        <a:lstStyle/>
        <a:p>
          <a:endParaRPr lang="es-ES"/>
        </a:p>
      </dgm:t>
    </dgm:pt>
    <dgm:pt modelId="{A03340F1-9369-AB46-BC6B-9BBA3A1A8D94}" type="sibTrans" cxnId="{689D7272-8D0E-2240-B155-05C9A10DFF71}">
      <dgm:prSet/>
      <dgm:spPr/>
      <dgm:t>
        <a:bodyPr/>
        <a:lstStyle/>
        <a:p>
          <a:endParaRPr lang="es-ES"/>
        </a:p>
      </dgm:t>
    </dgm:pt>
    <dgm:pt modelId="{6B441BF8-D91F-9B4B-970B-D9CB4D66097C}">
      <dgm:prSet custT="1"/>
      <dgm:spPr/>
      <dgm:t>
        <a:bodyPr/>
        <a:lstStyle/>
        <a:p>
          <a:r>
            <a:rPr lang="es-CO" sz="1400" i="0" dirty="0"/>
            <a:t>Evaluar </a:t>
          </a:r>
          <a:r>
            <a:rPr lang="es-CO" sz="1400" i="0" dirty="0" err="1"/>
            <a:t>síntomas</a:t>
          </a:r>
          <a:r>
            <a:rPr lang="es-CO" sz="1400" i="0" dirty="0"/>
            <a:t> y signos de </a:t>
          </a:r>
          <a:r>
            <a:rPr lang="es-CO" sz="1400" i="0" dirty="0" err="1"/>
            <a:t>neuropatía</a:t>
          </a:r>
          <a:endParaRPr lang="es-CO" sz="1400" i="0" dirty="0"/>
        </a:p>
      </dgm:t>
    </dgm:pt>
    <dgm:pt modelId="{8F12CB88-2FA8-034E-BFEC-77227D8E1936}" type="parTrans" cxnId="{05316562-88D8-9342-8DEE-92F3BB5B9439}">
      <dgm:prSet/>
      <dgm:spPr/>
      <dgm:t>
        <a:bodyPr/>
        <a:lstStyle/>
        <a:p>
          <a:endParaRPr lang="es-ES"/>
        </a:p>
      </dgm:t>
    </dgm:pt>
    <dgm:pt modelId="{1D6687DE-7500-7A42-8438-A85466B37E47}" type="sibTrans" cxnId="{05316562-88D8-9342-8DEE-92F3BB5B9439}">
      <dgm:prSet/>
      <dgm:spPr/>
      <dgm:t>
        <a:bodyPr/>
        <a:lstStyle/>
        <a:p>
          <a:endParaRPr lang="es-ES"/>
        </a:p>
      </dgm:t>
    </dgm:pt>
    <dgm:pt modelId="{DEFAA2B4-7348-A844-BDDF-2EC7BBB3A8E9}">
      <dgm:prSet custT="1"/>
      <dgm:spPr/>
      <dgm:t>
        <a:bodyPr/>
        <a:lstStyle/>
        <a:p>
          <a:r>
            <a:rPr lang="es-CO" sz="1400" i="0" dirty="0"/>
            <a:t>Descartar otras causas de </a:t>
          </a:r>
          <a:r>
            <a:rPr lang="es-CO" sz="1400" i="0" dirty="0" err="1"/>
            <a:t>polineuropatía</a:t>
          </a:r>
          <a:r>
            <a:rPr lang="es-CO" sz="1400" i="0" dirty="0"/>
            <a:t>: toxinas (</a:t>
          </a:r>
          <a:r>
            <a:rPr lang="es-CO" sz="1400" i="0" dirty="0" err="1"/>
            <a:t>ej</a:t>
          </a:r>
          <a:r>
            <a:rPr lang="es-CO" sz="1400" i="0" dirty="0"/>
            <a:t>; alcohol), deficiencia </a:t>
          </a:r>
          <a:r>
            <a:rPr lang="es-CO" sz="1400" i="0" dirty="0" err="1"/>
            <a:t>vit</a:t>
          </a:r>
          <a:r>
            <a:rPr lang="es-CO" sz="1400" i="0" dirty="0"/>
            <a:t>. B12, hipotiroidismo, enfermedad renal, medicamentos </a:t>
          </a:r>
          <a:r>
            <a:rPr lang="es-CO" sz="1400" i="0" dirty="0" err="1"/>
            <a:t>neurotóxicos</a:t>
          </a:r>
          <a:r>
            <a:rPr lang="es-CO" sz="1400" i="0" dirty="0"/>
            <a:t> (</a:t>
          </a:r>
          <a:r>
            <a:rPr lang="es-CO" sz="1400" i="0" dirty="0" err="1"/>
            <a:t>ej:quimioterapia</a:t>
          </a:r>
          <a:r>
            <a:rPr lang="es-CO" sz="1400" i="0" dirty="0"/>
            <a:t>), malignidad, infecciones (</a:t>
          </a:r>
          <a:r>
            <a:rPr lang="es-CO" sz="1400" i="0" dirty="0" err="1"/>
            <a:t>ej:VIH</a:t>
          </a:r>
          <a:r>
            <a:rPr lang="es-CO" sz="1400" i="0" dirty="0"/>
            <a:t>), </a:t>
          </a:r>
          <a:r>
            <a:rPr lang="es-CO" sz="1400" i="0" dirty="0" err="1"/>
            <a:t>neuropatía</a:t>
          </a:r>
          <a:r>
            <a:rPr lang="es-CO" sz="1400" i="0" dirty="0"/>
            <a:t> inflamatoria desmielinizante y vasculitis.</a:t>
          </a:r>
        </a:p>
      </dgm:t>
    </dgm:pt>
    <dgm:pt modelId="{8E3267C9-8839-9F4D-9320-51B1968E4162}" type="parTrans" cxnId="{7231C3EA-5024-7A43-BFA9-A2B40EEB4046}">
      <dgm:prSet/>
      <dgm:spPr/>
      <dgm:t>
        <a:bodyPr/>
        <a:lstStyle/>
        <a:p>
          <a:endParaRPr lang="es-ES"/>
        </a:p>
      </dgm:t>
    </dgm:pt>
    <dgm:pt modelId="{D48E1CE1-B8B3-6E4F-BDCF-DC3F0CAB9174}" type="sibTrans" cxnId="{7231C3EA-5024-7A43-BFA9-A2B40EEB4046}">
      <dgm:prSet/>
      <dgm:spPr/>
      <dgm:t>
        <a:bodyPr/>
        <a:lstStyle/>
        <a:p>
          <a:endParaRPr lang="es-ES"/>
        </a:p>
      </dgm:t>
    </dgm:pt>
    <dgm:pt modelId="{033C2763-0484-464C-AA4F-0C4C56030398}" type="pres">
      <dgm:prSet presAssocID="{2C40087E-FA5F-F04B-9BD8-0BC2E0EF649A}" presName="Name0" presStyleCnt="0">
        <dgm:presLayoutVars>
          <dgm:dir/>
          <dgm:animLvl val="lvl"/>
          <dgm:resizeHandles val="exact"/>
        </dgm:presLayoutVars>
      </dgm:prSet>
      <dgm:spPr/>
    </dgm:pt>
    <dgm:pt modelId="{E886A1AF-53F7-1C4B-836D-BA07A9317033}" type="pres">
      <dgm:prSet presAssocID="{67F46805-59AE-5E45-BF91-DC6C3F4FEBF7}" presName="linNode" presStyleCnt="0"/>
      <dgm:spPr/>
    </dgm:pt>
    <dgm:pt modelId="{571DB5F5-E620-E94A-A255-BC5AD5866C06}" type="pres">
      <dgm:prSet presAssocID="{67F46805-59AE-5E45-BF91-DC6C3F4FEBF7}" presName="parentText" presStyleLbl="node1" presStyleIdx="0" presStyleCnt="5">
        <dgm:presLayoutVars>
          <dgm:chMax val="1"/>
          <dgm:bulletEnabled val="1"/>
        </dgm:presLayoutVars>
      </dgm:prSet>
      <dgm:spPr/>
    </dgm:pt>
    <dgm:pt modelId="{6E61B14D-0439-0143-BA09-E4D0EB3BCAA7}" type="pres">
      <dgm:prSet presAssocID="{67F46805-59AE-5E45-BF91-DC6C3F4FEBF7}" presName="descendantText" presStyleLbl="alignAccFollowNode1" presStyleIdx="0" presStyleCnt="5">
        <dgm:presLayoutVars>
          <dgm:bulletEnabled val="1"/>
        </dgm:presLayoutVars>
      </dgm:prSet>
      <dgm:spPr/>
    </dgm:pt>
    <dgm:pt modelId="{87CBE0E4-7F65-3147-9FE6-9F0950E2F6C3}" type="pres">
      <dgm:prSet presAssocID="{07AB0320-1D97-3841-9109-4B3DBBF82227}" presName="sp" presStyleCnt="0"/>
      <dgm:spPr/>
    </dgm:pt>
    <dgm:pt modelId="{55B56C0A-2595-5249-85DF-3E861CAFD354}" type="pres">
      <dgm:prSet presAssocID="{5FA18F90-D1B5-6E4D-A7A1-F76995C61761}" presName="linNode" presStyleCnt="0"/>
      <dgm:spPr/>
    </dgm:pt>
    <dgm:pt modelId="{BCAE31D3-B019-EC47-9DE2-96607E21D761}" type="pres">
      <dgm:prSet presAssocID="{5FA18F90-D1B5-6E4D-A7A1-F76995C61761}" presName="parentText" presStyleLbl="node1" presStyleIdx="1" presStyleCnt="5">
        <dgm:presLayoutVars>
          <dgm:chMax val="1"/>
          <dgm:bulletEnabled val="1"/>
        </dgm:presLayoutVars>
      </dgm:prSet>
      <dgm:spPr/>
    </dgm:pt>
    <dgm:pt modelId="{23E0A552-B2C4-554D-B081-428ED4C602A2}" type="pres">
      <dgm:prSet presAssocID="{5FA18F90-D1B5-6E4D-A7A1-F76995C61761}" presName="descendantText" presStyleLbl="alignAccFollowNode1" presStyleIdx="1" presStyleCnt="5">
        <dgm:presLayoutVars>
          <dgm:bulletEnabled val="1"/>
        </dgm:presLayoutVars>
      </dgm:prSet>
      <dgm:spPr/>
    </dgm:pt>
    <dgm:pt modelId="{C82FC738-EC3D-C641-8103-CC0AABFE66DA}" type="pres">
      <dgm:prSet presAssocID="{C98CEEFB-443B-3D44-8447-4DEDEA517BE4}" presName="sp" presStyleCnt="0"/>
      <dgm:spPr/>
    </dgm:pt>
    <dgm:pt modelId="{500D24EB-6CC9-1848-9D8C-1EA2A6CA2FD1}" type="pres">
      <dgm:prSet presAssocID="{B64EFF4C-1887-324A-9B2A-86D5F9D7A8D5}" presName="linNode" presStyleCnt="0"/>
      <dgm:spPr/>
    </dgm:pt>
    <dgm:pt modelId="{16E6F3EE-4A7C-B341-8F9B-4ADF6B747E28}" type="pres">
      <dgm:prSet presAssocID="{B64EFF4C-1887-324A-9B2A-86D5F9D7A8D5}" presName="parentText" presStyleLbl="node1" presStyleIdx="2" presStyleCnt="5">
        <dgm:presLayoutVars>
          <dgm:chMax val="1"/>
          <dgm:bulletEnabled val="1"/>
        </dgm:presLayoutVars>
      </dgm:prSet>
      <dgm:spPr/>
    </dgm:pt>
    <dgm:pt modelId="{E1A09EBA-60BE-0449-B76D-6CC9B45A4806}" type="pres">
      <dgm:prSet presAssocID="{B64EFF4C-1887-324A-9B2A-86D5F9D7A8D5}" presName="descendantText" presStyleLbl="alignAccFollowNode1" presStyleIdx="2" presStyleCnt="5" custScaleY="146542">
        <dgm:presLayoutVars>
          <dgm:bulletEnabled val="1"/>
        </dgm:presLayoutVars>
      </dgm:prSet>
      <dgm:spPr/>
    </dgm:pt>
    <dgm:pt modelId="{487B4C4E-012D-274D-BE74-27AAC9024D5B}" type="pres">
      <dgm:prSet presAssocID="{A72AA0F2-4819-314C-B488-868507DF15C0}" presName="sp" presStyleCnt="0"/>
      <dgm:spPr/>
    </dgm:pt>
    <dgm:pt modelId="{7D4625EE-2C5D-BC43-BD81-0460993CCA1A}" type="pres">
      <dgm:prSet presAssocID="{CF599E88-5CEE-D945-80F3-A6E0EA1F2C7D}" presName="linNode" presStyleCnt="0"/>
      <dgm:spPr/>
    </dgm:pt>
    <dgm:pt modelId="{FE8EA4B3-1820-B44F-BD15-F33F28561032}" type="pres">
      <dgm:prSet presAssocID="{CF599E88-5CEE-D945-80F3-A6E0EA1F2C7D}" presName="parentText" presStyleLbl="node1" presStyleIdx="3" presStyleCnt="5">
        <dgm:presLayoutVars>
          <dgm:chMax val="1"/>
          <dgm:bulletEnabled val="1"/>
        </dgm:presLayoutVars>
      </dgm:prSet>
      <dgm:spPr/>
    </dgm:pt>
    <dgm:pt modelId="{7AF25F38-85C5-6045-BA45-B5FDF3F43FFC}" type="pres">
      <dgm:prSet presAssocID="{CF599E88-5CEE-D945-80F3-A6E0EA1F2C7D}" presName="descendantText" presStyleLbl="alignAccFollowNode1" presStyleIdx="3" presStyleCnt="5">
        <dgm:presLayoutVars>
          <dgm:bulletEnabled val="1"/>
        </dgm:presLayoutVars>
      </dgm:prSet>
      <dgm:spPr/>
    </dgm:pt>
    <dgm:pt modelId="{27E0E5C1-6496-BB4C-81D7-963258E2DF3F}" type="pres">
      <dgm:prSet presAssocID="{508E89AE-F879-4345-BB85-B5BB58A6BEE6}" presName="sp" presStyleCnt="0"/>
      <dgm:spPr/>
    </dgm:pt>
    <dgm:pt modelId="{BB3CD3DC-3FFE-8545-A6BB-F739289D84C0}" type="pres">
      <dgm:prSet presAssocID="{04C40F11-B816-ED43-B617-9258D93148AC}" presName="linNode" presStyleCnt="0"/>
      <dgm:spPr/>
    </dgm:pt>
    <dgm:pt modelId="{23E4BEE4-ABFE-4B4A-99AC-AF1FC9D57082}" type="pres">
      <dgm:prSet presAssocID="{04C40F11-B816-ED43-B617-9258D93148AC}" presName="parentText" presStyleLbl="node1" presStyleIdx="4" presStyleCnt="5" custScaleY="305053">
        <dgm:presLayoutVars>
          <dgm:chMax val="1"/>
          <dgm:bulletEnabled val="1"/>
        </dgm:presLayoutVars>
      </dgm:prSet>
      <dgm:spPr/>
    </dgm:pt>
    <dgm:pt modelId="{53F1BEB6-6780-8540-9025-A0ECAA370A20}" type="pres">
      <dgm:prSet presAssocID="{04C40F11-B816-ED43-B617-9258D93148AC}" presName="descendantText" presStyleLbl="alignAccFollowNode1" presStyleIdx="4" presStyleCnt="5" custScaleY="305053">
        <dgm:presLayoutVars>
          <dgm:bulletEnabled val="1"/>
        </dgm:presLayoutVars>
      </dgm:prSet>
      <dgm:spPr/>
    </dgm:pt>
  </dgm:ptLst>
  <dgm:cxnLst>
    <dgm:cxn modelId="{7E7C0415-52B9-3D40-B917-042701E1EDDA}" srcId="{2C40087E-FA5F-F04B-9BD8-0BC2E0EF649A}" destId="{CF599E88-5CEE-D945-80F3-A6E0EA1F2C7D}" srcOrd="3" destOrd="0" parTransId="{C5AA4E87-2294-9046-BB14-7C51D78EE430}" sibTransId="{508E89AE-F879-4345-BB85-B5BB58A6BEE6}"/>
    <dgm:cxn modelId="{672B681D-68DF-AB49-B16B-86A309D93B4C}" type="presOf" srcId="{4A1DE4E2-0654-BA4E-9DCE-6B2468D3D9FF}" destId="{23E0A552-B2C4-554D-B081-428ED4C602A2}" srcOrd="0" destOrd="0" presId="urn:microsoft.com/office/officeart/2005/8/layout/vList5"/>
    <dgm:cxn modelId="{32A2351F-C1B4-A04C-ACA8-93F03CFC58D2}" type="presOf" srcId="{6E652466-8909-3845-8644-315FE41B33C8}" destId="{E1A09EBA-60BE-0449-B76D-6CC9B45A4806}" srcOrd="0" destOrd="1" presId="urn:microsoft.com/office/officeart/2005/8/layout/vList5"/>
    <dgm:cxn modelId="{10726629-E9F3-9E47-AD03-E50EFAB04D0B}" type="presOf" srcId="{5FA18F90-D1B5-6E4D-A7A1-F76995C61761}" destId="{BCAE31D3-B019-EC47-9DE2-96607E21D761}" srcOrd="0" destOrd="0" presId="urn:microsoft.com/office/officeart/2005/8/layout/vList5"/>
    <dgm:cxn modelId="{BF944938-8C3F-1944-B8E8-B766822C89A9}" type="presOf" srcId="{827DDABB-7755-844B-AAD3-2D7FC64A1707}" destId="{7AF25F38-85C5-6045-BA45-B5FDF3F43FFC}" srcOrd="0" destOrd="0" presId="urn:microsoft.com/office/officeart/2005/8/layout/vList5"/>
    <dgm:cxn modelId="{C47EE53C-306D-9245-B988-3201D5E6385F}" type="presOf" srcId="{2C40087E-FA5F-F04B-9BD8-0BC2E0EF649A}" destId="{033C2763-0484-464C-AA4F-0C4C56030398}" srcOrd="0" destOrd="0" presId="urn:microsoft.com/office/officeart/2005/8/layout/vList5"/>
    <dgm:cxn modelId="{3CE3DE3F-FCF2-CC4D-B9AC-1C367D3E7174}" type="presOf" srcId="{04C40F11-B816-ED43-B617-9258D93148AC}" destId="{23E4BEE4-ABFE-4B4A-99AC-AF1FC9D57082}" srcOrd="0" destOrd="0" presId="urn:microsoft.com/office/officeart/2005/8/layout/vList5"/>
    <dgm:cxn modelId="{26EE174C-7E9D-1041-95D0-577198D93079}" type="presOf" srcId="{6B441BF8-D91F-9B4B-970B-D9CB4D66097C}" destId="{53F1BEB6-6780-8540-9025-A0ECAA370A20}" srcOrd="0" destOrd="0" presId="urn:microsoft.com/office/officeart/2005/8/layout/vList5"/>
    <dgm:cxn modelId="{15F89B52-5B3B-D845-A478-F35AC65F5589}" srcId="{2C40087E-FA5F-F04B-9BD8-0BC2E0EF649A}" destId="{5FA18F90-D1B5-6E4D-A7A1-F76995C61761}" srcOrd="1" destOrd="0" parTransId="{C1A401F6-4297-F240-B5EA-5B0C4B765580}" sibTransId="{C98CEEFB-443B-3D44-8447-4DEDEA517BE4}"/>
    <dgm:cxn modelId="{6C84BF53-5F4E-E342-BF9A-DD454972EBD5}" srcId="{2C40087E-FA5F-F04B-9BD8-0BC2E0EF649A}" destId="{04C40F11-B816-ED43-B617-9258D93148AC}" srcOrd="4" destOrd="0" parTransId="{D08BA18E-BDD5-994C-9DB4-1A837E0B426A}" sibTransId="{B1E0A2D4-B88E-D84A-AAE2-6F48B4A54B96}"/>
    <dgm:cxn modelId="{8CD4AF5E-EF30-C849-B47D-2A060CF662F6}" srcId="{67F46805-59AE-5E45-BF91-DC6C3F4FEBF7}" destId="{95D57D6B-53C0-3141-A823-20367BCC26F3}" srcOrd="1" destOrd="0" parTransId="{16DA6249-7D49-F84F-8435-58561D8CF8FD}" sibTransId="{7E98B697-2969-7746-BDBB-37F5B22B00CC}"/>
    <dgm:cxn modelId="{05316562-88D8-9342-8DEE-92F3BB5B9439}" srcId="{04C40F11-B816-ED43-B617-9258D93148AC}" destId="{6B441BF8-D91F-9B4B-970B-D9CB4D66097C}" srcOrd="0" destOrd="0" parTransId="{8F12CB88-2FA8-034E-BFEC-77227D8E1936}" sibTransId="{1D6687DE-7500-7A42-8438-A85466B37E47}"/>
    <dgm:cxn modelId="{149FDF66-DD29-BF42-9F17-CD96731726E5}" type="presOf" srcId="{B64EFF4C-1887-324A-9B2A-86D5F9D7A8D5}" destId="{16E6F3EE-4A7C-B341-8F9B-4ADF6B747E28}" srcOrd="0" destOrd="0" presId="urn:microsoft.com/office/officeart/2005/8/layout/vList5"/>
    <dgm:cxn modelId="{689D7272-8D0E-2240-B155-05C9A10DFF71}" srcId="{CF599E88-5CEE-D945-80F3-A6E0EA1F2C7D}" destId="{827DDABB-7755-844B-AAD3-2D7FC64A1707}" srcOrd="0" destOrd="0" parTransId="{C4E66750-1178-4D44-97BA-756D1C779F8F}" sibTransId="{A03340F1-9369-AB46-BC6B-9BBA3A1A8D94}"/>
    <dgm:cxn modelId="{82285975-DC63-F546-BC42-F6DDB43AED28}" type="presOf" srcId="{DEFAA2B4-7348-A844-BDDF-2EC7BBB3A8E9}" destId="{53F1BEB6-6780-8540-9025-A0ECAA370A20}" srcOrd="0" destOrd="1" presId="urn:microsoft.com/office/officeart/2005/8/layout/vList5"/>
    <dgm:cxn modelId="{49A8A47C-AF55-E342-89DF-A82C0C602F92}" srcId="{B64EFF4C-1887-324A-9B2A-86D5F9D7A8D5}" destId="{7EAFA392-4245-2946-97C1-B85FBBA08F6D}" srcOrd="0" destOrd="0" parTransId="{38B0F43F-99AB-B049-AE55-C2604AC1E368}" sibTransId="{E831D02F-1491-F549-868A-832CC58646E8}"/>
    <dgm:cxn modelId="{50700381-4CE1-C043-8482-EC51BCC44D7F}" type="presOf" srcId="{7EAFA392-4245-2946-97C1-B85FBBA08F6D}" destId="{E1A09EBA-60BE-0449-B76D-6CC9B45A4806}" srcOrd="0" destOrd="0" presId="urn:microsoft.com/office/officeart/2005/8/layout/vList5"/>
    <dgm:cxn modelId="{5836A68A-D0C1-624F-A3AE-394F26AFF12B}" type="presOf" srcId="{653EA266-ADA4-254A-B52D-C368BD3532B4}" destId="{6E61B14D-0439-0143-BA09-E4D0EB3BCAA7}" srcOrd="0" destOrd="0" presId="urn:microsoft.com/office/officeart/2005/8/layout/vList5"/>
    <dgm:cxn modelId="{532B369F-3649-AF49-8065-8128395EA027}" srcId="{04C40F11-B816-ED43-B617-9258D93148AC}" destId="{340DCAB3-830D-8248-BEB8-85CFF2D897C2}" srcOrd="2" destOrd="0" parTransId="{8D6F2E62-B8F8-F04F-9166-03F92AA7C5E8}" sibTransId="{24F8D968-FB27-DB4D-9EE9-4D45B5466A81}"/>
    <dgm:cxn modelId="{C3C900AC-465F-A245-BDB2-E603F54161B0}" type="presOf" srcId="{CF599E88-5CEE-D945-80F3-A6E0EA1F2C7D}" destId="{FE8EA4B3-1820-B44F-BD15-F33F28561032}" srcOrd="0" destOrd="0" presId="urn:microsoft.com/office/officeart/2005/8/layout/vList5"/>
    <dgm:cxn modelId="{086BF1BD-9A36-9747-B4C5-78629DBB46A4}" srcId="{2C40087E-FA5F-F04B-9BD8-0BC2E0EF649A}" destId="{67F46805-59AE-5E45-BF91-DC6C3F4FEBF7}" srcOrd="0" destOrd="0" parTransId="{75975F15-01DB-3B46-AAE2-2EEC8E62BF1B}" sibTransId="{07AB0320-1D97-3841-9109-4B3DBBF82227}"/>
    <dgm:cxn modelId="{083022C0-C590-3547-9ADC-7CA9EC3D64BB}" type="presOf" srcId="{95D57D6B-53C0-3141-A823-20367BCC26F3}" destId="{6E61B14D-0439-0143-BA09-E4D0EB3BCAA7}" srcOrd="0" destOrd="1" presId="urn:microsoft.com/office/officeart/2005/8/layout/vList5"/>
    <dgm:cxn modelId="{F72D10C5-790F-C54F-9D1A-298A0FC1EA84}" srcId="{B64EFF4C-1887-324A-9B2A-86D5F9D7A8D5}" destId="{6E652466-8909-3845-8644-315FE41B33C8}" srcOrd="1" destOrd="0" parTransId="{E1F67B1B-2FDF-4B42-BD8A-160DC84B90D7}" sibTransId="{C34BE8D1-4806-5D44-A5AA-B6D53F1DDABB}"/>
    <dgm:cxn modelId="{4BCEC0C6-F966-2047-8D2D-39320B8EA268}" srcId="{2C40087E-FA5F-F04B-9BD8-0BC2E0EF649A}" destId="{B64EFF4C-1887-324A-9B2A-86D5F9D7A8D5}" srcOrd="2" destOrd="0" parTransId="{17128776-4B48-4146-929D-7D0FE79039FC}" sibTransId="{A72AA0F2-4819-314C-B488-868507DF15C0}"/>
    <dgm:cxn modelId="{02C9C7C6-FE41-8B45-A119-B24411D8D09F}" type="presOf" srcId="{340DCAB3-830D-8248-BEB8-85CFF2D897C2}" destId="{53F1BEB6-6780-8540-9025-A0ECAA370A20}" srcOrd="0" destOrd="2" presId="urn:microsoft.com/office/officeart/2005/8/layout/vList5"/>
    <dgm:cxn modelId="{46550CE2-C09B-0049-9A13-4A1294F3E84E}" srcId="{67F46805-59AE-5E45-BF91-DC6C3F4FEBF7}" destId="{653EA266-ADA4-254A-B52D-C368BD3532B4}" srcOrd="0" destOrd="0" parTransId="{B3B9E7F6-1FFA-D040-B2AC-B0483C817B8A}" sibTransId="{A606DD0A-9E2C-154B-8354-6999BC0A5D73}"/>
    <dgm:cxn modelId="{7231C3EA-5024-7A43-BFA9-A2B40EEB4046}" srcId="{04C40F11-B816-ED43-B617-9258D93148AC}" destId="{DEFAA2B4-7348-A844-BDDF-2EC7BBB3A8E9}" srcOrd="1" destOrd="0" parTransId="{8E3267C9-8839-9F4D-9320-51B1968E4162}" sibTransId="{D48E1CE1-B8B3-6E4F-BDCF-DC3F0CAB9174}"/>
    <dgm:cxn modelId="{3CA7BCED-1D69-0D44-A808-27D47C1239E3}" type="presOf" srcId="{67F46805-59AE-5E45-BF91-DC6C3F4FEBF7}" destId="{571DB5F5-E620-E94A-A255-BC5AD5866C06}" srcOrd="0" destOrd="0" presId="urn:microsoft.com/office/officeart/2005/8/layout/vList5"/>
    <dgm:cxn modelId="{669FD9F4-2D05-8A4B-B23D-5A68871FDCDF}" srcId="{5FA18F90-D1B5-6E4D-A7A1-F76995C61761}" destId="{4A1DE4E2-0654-BA4E-9DCE-6B2468D3D9FF}" srcOrd="0" destOrd="0" parTransId="{93B674F0-7D1B-8B4E-8AE3-D6F5F7746B80}" sibTransId="{C00B5B7B-7E67-5E49-9E71-B8B0BCCB2C5A}"/>
    <dgm:cxn modelId="{DB9A40DF-D5A7-0A48-8CE7-06A5F9A8F7E0}" type="presParOf" srcId="{033C2763-0484-464C-AA4F-0C4C56030398}" destId="{E886A1AF-53F7-1C4B-836D-BA07A9317033}" srcOrd="0" destOrd="0" presId="urn:microsoft.com/office/officeart/2005/8/layout/vList5"/>
    <dgm:cxn modelId="{23216A42-6A4A-154A-AB5A-57290A1737E1}" type="presParOf" srcId="{E886A1AF-53F7-1C4B-836D-BA07A9317033}" destId="{571DB5F5-E620-E94A-A255-BC5AD5866C06}" srcOrd="0" destOrd="0" presId="urn:microsoft.com/office/officeart/2005/8/layout/vList5"/>
    <dgm:cxn modelId="{6737C0EB-D3C3-2A40-AECF-43A78CEC6DCE}" type="presParOf" srcId="{E886A1AF-53F7-1C4B-836D-BA07A9317033}" destId="{6E61B14D-0439-0143-BA09-E4D0EB3BCAA7}" srcOrd="1" destOrd="0" presId="urn:microsoft.com/office/officeart/2005/8/layout/vList5"/>
    <dgm:cxn modelId="{F31A4431-D127-5D42-B0A3-32F4A6C9FE46}" type="presParOf" srcId="{033C2763-0484-464C-AA4F-0C4C56030398}" destId="{87CBE0E4-7F65-3147-9FE6-9F0950E2F6C3}" srcOrd="1" destOrd="0" presId="urn:microsoft.com/office/officeart/2005/8/layout/vList5"/>
    <dgm:cxn modelId="{31E5F3CE-9CE0-3E47-86F8-382A242F8093}" type="presParOf" srcId="{033C2763-0484-464C-AA4F-0C4C56030398}" destId="{55B56C0A-2595-5249-85DF-3E861CAFD354}" srcOrd="2" destOrd="0" presId="urn:microsoft.com/office/officeart/2005/8/layout/vList5"/>
    <dgm:cxn modelId="{77706BAE-95C3-E94E-81BB-B3EF7F4B605F}" type="presParOf" srcId="{55B56C0A-2595-5249-85DF-3E861CAFD354}" destId="{BCAE31D3-B019-EC47-9DE2-96607E21D761}" srcOrd="0" destOrd="0" presId="urn:microsoft.com/office/officeart/2005/8/layout/vList5"/>
    <dgm:cxn modelId="{52E2FAC2-DF01-BA4D-8150-26CF9A4D7F21}" type="presParOf" srcId="{55B56C0A-2595-5249-85DF-3E861CAFD354}" destId="{23E0A552-B2C4-554D-B081-428ED4C602A2}" srcOrd="1" destOrd="0" presId="urn:microsoft.com/office/officeart/2005/8/layout/vList5"/>
    <dgm:cxn modelId="{E32618F2-8DE4-EE4B-A26B-0F8A80B5B9C3}" type="presParOf" srcId="{033C2763-0484-464C-AA4F-0C4C56030398}" destId="{C82FC738-EC3D-C641-8103-CC0AABFE66DA}" srcOrd="3" destOrd="0" presId="urn:microsoft.com/office/officeart/2005/8/layout/vList5"/>
    <dgm:cxn modelId="{CEFD7AFB-2D5D-FF4F-9C84-BA53D6ADDD22}" type="presParOf" srcId="{033C2763-0484-464C-AA4F-0C4C56030398}" destId="{500D24EB-6CC9-1848-9D8C-1EA2A6CA2FD1}" srcOrd="4" destOrd="0" presId="urn:microsoft.com/office/officeart/2005/8/layout/vList5"/>
    <dgm:cxn modelId="{954B6A8D-590E-D547-BCB8-A8F1D81E5074}" type="presParOf" srcId="{500D24EB-6CC9-1848-9D8C-1EA2A6CA2FD1}" destId="{16E6F3EE-4A7C-B341-8F9B-4ADF6B747E28}" srcOrd="0" destOrd="0" presId="urn:microsoft.com/office/officeart/2005/8/layout/vList5"/>
    <dgm:cxn modelId="{CC8EDAFD-F0E4-3A48-BB20-B1D6974ADC71}" type="presParOf" srcId="{500D24EB-6CC9-1848-9D8C-1EA2A6CA2FD1}" destId="{E1A09EBA-60BE-0449-B76D-6CC9B45A4806}" srcOrd="1" destOrd="0" presId="urn:microsoft.com/office/officeart/2005/8/layout/vList5"/>
    <dgm:cxn modelId="{9CF1635B-8E60-E843-BA0B-4F01313308A0}" type="presParOf" srcId="{033C2763-0484-464C-AA4F-0C4C56030398}" destId="{487B4C4E-012D-274D-BE74-27AAC9024D5B}" srcOrd="5" destOrd="0" presId="urn:microsoft.com/office/officeart/2005/8/layout/vList5"/>
    <dgm:cxn modelId="{4785D3EA-0EBB-CC43-931C-7EAD88059F65}" type="presParOf" srcId="{033C2763-0484-464C-AA4F-0C4C56030398}" destId="{7D4625EE-2C5D-BC43-BD81-0460993CCA1A}" srcOrd="6" destOrd="0" presId="urn:microsoft.com/office/officeart/2005/8/layout/vList5"/>
    <dgm:cxn modelId="{04DD8E97-43F1-8146-A7ED-F3058BA8B4E3}" type="presParOf" srcId="{7D4625EE-2C5D-BC43-BD81-0460993CCA1A}" destId="{FE8EA4B3-1820-B44F-BD15-F33F28561032}" srcOrd="0" destOrd="0" presId="urn:microsoft.com/office/officeart/2005/8/layout/vList5"/>
    <dgm:cxn modelId="{C3DA5B60-593A-F14E-BB3F-422FC8209A7D}" type="presParOf" srcId="{7D4625EE-2C5D-BC43-BD81-0460993CCA1A}" destId="{7AF25F38-85C5-6045-BA45-B5FDF3F43FFC}" srcOrd="1" destOrd="0" presId="urn:microsoft.com/office/officeart/2005/8/layout/vList5"/>
    <dgm:cxn modelId="{478DE4C8-509F-0642-B9DA-AD2E6E9EA5FB}" type="presParOf" srcId="{033C2763-0484-464C-AA4F-0C4C56030398}" destId="{27E0E5C1-6496-BB4C-81D7-963258E2DF3F}" srcOrd="7" destOrd="0" presId="urn:microsoft.com/office/officeart/2005/8/layout/vList5"/>
    <dgm:cxn modelId="{B815F81A-EFE9-CD4E-8572-B0675D9B189A}" type="presParOf" srcId="{033C2763-0484-464C-AA4F-0C4C56030398}" destId="{BB3CD3DC-3FFE-8545-A6BB-F739289D84C0}" srcOrd="8" destOrd="0" presId="urn:microsoft.com/office/officeart/2005/8/layout/vList5"/>
    <dgm:cxn modelId="{E6F93F8B-1A73-7D47-8041-8D456D3C5485}" type="presParOf" srcId="{BB3CD3DC-3FFE-8545-A6BB-F739289D84C0}" destId="{23E4BEE4-ABFE-4B4A-99AC-AF1FC9D57082}" srcOrd="0" destOrd="0" presId="urn:microsoft.com/office/officeart/2005/8/layout/vList5"/>
    <dgm:cxn modelId="{CF647016-B9C2-E649-8325-B5A7207FCD57}" type="presParOf" srcId="{BB3CD3DC-3FFE-8545-A6BB-F739289D84C0}" destId="{53F1BEB6-6780-8540-9025-A0ECAA370A20}" srcOrd="1" destOrd="0" presId="urn:microsoft.com/office/officeart/2005/8/layout/vList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61B14D-0439-0143-BA09-E4D0EB3BCAA7}">
      <dsp:nvSpPr>
        <dsp:cNvPr id="0" name=""/>
        <dsp:cNvSpPr/>
      </dsp:nvSpPr>
      <dsp:spPr>
        <a:xfrm rot="5400000">
          <a:off x="6759697" y="-2940571"/>
          <a:ext cx="606443" cy="6647453"/>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es-CO" sz="1400" i="0" kern="1200" dirty="0"/>
            <a:t>Desde el </a:t>
          </a:r>
          <a:r>
            <a:rPr lang="es-CO" sz="1400" i="0" kern="1200" dirty="0" err="1"/>
            <a:t>diagnóstico</a:t>
          </a:r>
          <a:r>
            <a:rPr lang="es-CO" sz="1400" i="0" kern="1200" dirty="0"/>
            <a:t> de DM2 derivar a </a:t>
          </a:r>
          <a:r>
            <a:rPr lang="es-CO" sz="1400" i="0" kern="1200" dirty="0" err="1"/>
            <a:t>oftalmología</a:t>
          </a:r>
          <a:r>
            <a:rPr lang="es-CO" sz="1400" i="0" kern="1200" dirty="0"/>
            <a:t>.</a:t>
          </a:r>
        </a:p>
        <a:p>
          <a:pPr marL="114300" lvl="1" indent="-114300" algn="l" defTabSz="622300">
            <a:lnSpc>
              <a:spcPct val="90000"/>
            </a:lnSpc>
            <a:spcBef>
              <a:spcPct val="0"/>
            </a:spcBef>
            <a:spcAft>
              <a:spcPct val="15000"/>
            </a:spcAft>
            <a:buChar char="•"/>
          </a:pPr>
          <a:r>
            <a:rPr lang="es-CO" sz="1400" i="0" kern="1200" dirty="0"/>
            <a:t>Si no hay </a:t>
          </a:r>
          <a:r>
            <a:rPr lang="es-CO" sz="1400" i="0" kern="1200" dirty="0" err="1"/>
            <a:t>alteración</a:t>
          </a:r>
          <a:r>
            <a:rPr lang="es-CO" sz="1400" i="0" kern="1200" dirty="0"/>
            <a:t> asegurar </a:t>
          </a:r>
          <a:r>
            <a:rPr lang="es-CO" sz="1400" i="0" kern="1200" dirty="0" err="1"/>
            <a:t>valoración</a:t>
          </a:r>
          <a:r>
            <a:rPr lang="es-CO" sz="1400" i="0" kern="1200" dirty="0"/>
            <a:t> cada 1-2 </a:t>
          </a:r>
          <a:r>
            <a:rPr lang="es-CO" sz="1400" i="0" kern="1200" dirty="0" err="1"/>
            <a:t>años</a:t>
          </a:r>
          <a:r>
            <a:rPr lang="es-CO" sz="800" i="0" kern="1200" dirty="0"/>
            <a:t>.</a:t>
          </a:r>
        </a:p>
      </dsp:txBody>
      <dsp:txXfrm rot="-5400000">
        <a:off x="3739192" y="109538"/>
        <a:ext cx="6617849" cy="547235"/>
      </dsp:txXfrm>
    </dsp:sp>
    <dsp:sp modelId="{571DB5F5-E620-E94A-A255-BC5AD5866C06}">
      <dsp:nvSpPr>
        <dsp:cNvPr id="0" name=""/>
        <dsp:cNvSpPr/>
      </dsp:nvSpPr>
      <dsp:spPr>
        <a:xfrm>
          <a:off x="0" y="4127"/>
          <a:ext cx="3739192" cy="75805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s-CO" sz="1800" i="0" kern="1200" dirty="0"/>
            <a:t>1. </a:t>
          </a:r>
          <a:r>
            <a:rPr lang="es-CO" sz="1800" i="0" kern="1200" dirty="0" err="1"/>
            <a:t>Retinopatía</a:t>
          </a:r>
          <a:r>
            <a:rPr lang="es-CO" sz="1800" i="0" kern="1200" dirty="0"/>
            <a:t>:</a:t>
          </a:r>
        </a:p>
      </dsp:txBody>
      <dsp:txXfrm>
        <a:off x="37005" y="41132"/>
        <a:ext cx="3665182" cy="684044"/>
      </dsp:txXfrm>
    </dsp:sp>
    <dsp:sp modelId="{23E0A552-B2C4-554D-B081-428ED4C602A2}">
      <dsp:nvSpPr>
        <dsp:cNvPr id="0" name=""/>
        <dsp:cNvSpPr/>
      </dsp:nvSpPr>
      <dsp:spPr>
        <a:xfrm rot="5400000">
          <a:off x="6759697" y="-2144614"/>
          <a:ext cx="606443" cy="6647453"/>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es-CO" sz="1400" i="0" kern="1200" dirty="0"/>
            <a:t>Evaluar signos y </a:t>
          </a:r>
          <a:r>
            <a:rPr lang="es-CO" sz="1400" i="0" kern="1200" dirty="0" err="1"/>
            <a:t>síntomas</a:t>
          </a:r>
          <a:r>
            <a:rPr lang="es-CO" sz="1400" i="0" kern="1200" dirty="0"/>
            <a:t> asociados a </a:t>
          </a:r>
          <a:r>
            <a:rPr lang="es-CO" sz="1400" i="0" kern="1200" dirty="0" err="1"/>
            <a:t>cardiopatía</a:t>
          </a:r>
          <a:r>
            <a:rPr lang="es-CO" sz="1400" i="0" kern="1200" dirty="0"/>
            <a:t> </a:t>
          </a:r>
        </a:p>
      </dsp:txBody>
      <dsp:txXfrm rot="-5400000">
        <a:off x="3739192" y="905495"/>
        <a:ext cx="6617849" cy="547235"/>
      </dsp:txXfrm>
    </dsp:sp>
    <dsp:sp modelId="{BCAE31D3-B019-EC47-9DE2-96607E21D761}">
      <dsp:nvSpPr>
        <dsp:cNvPr id="0" name=""/>
        <dsp:cNvSpPr/>
      </dsp:nvSpPr>
      <dsp:spPr>
        <a:xfrm>
          <a:off x="0" y="800085"/>
          <a:ext cx="3739192" cy="75805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s-CO" sz="1800" i="0" kern="1200" dirty="0"/>
            <a:t>2. </a:t>
          </a:r>
          <a:r>
            <a:rPr lang="es-CO" sz="1800" i="0" kern="1200" dirty="0" err="1"/>
            <a:t>Cardiopatía</a:t>
          </a:r>
          <a:r>
            <a:rPr lang="es-CO" sz="1800" i="0" kern="1200" dirty="0"/>
            <a:t>:</a:t>
          </a:r>
        </a:p>
      </dsp:txBody>
      <dsp:txXfrm>
        <a:off x="37005" y="837090"/>
        <a:ext cx="3665182" cy="684044"/>
      </dsp:txXfrm>
    </dsp:sp>
    <dsp:sp modelId="{E1A09EBA-60BE-0449-B76D-6CC9B45A4806}">
      <dsp:nvSpPr>
        <dsp:cNvPr id="0" name=""/>
        <dsp:cNvSpPr/>
      </dsp:nvSpPr>
      <dsp:spPr>
        <a:xfrm rot="5400000">
          <a:off x="6611674" y="-1280091"/>
          <a:ext cx="888694" cy="6640961"/>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es-CO" sz="1400" i="0" kern="1200" dirty="0"/>
            <a:t>Si TFG es menor de 60 ml/min/1.73m2 (primera toma): nueva creatinina en 3 meses.</a:t>
          </a:r>
        </a:p>
        <a:p>
          <a:pPr marL="114300" lvl="1" indent="-114300" algn="l" defTabSz="622300">
            <a:lnSpc>
              <a:spcPct val="90000"/>
            </a:lnSpc>
            <a:spcBef>
              <a:spcPct val="0"/>
            </a:spcBef>
            <a:spcAft>
              <a:spcPct val="15000"/>
            </a:spcAft>
            <a:buChar char="•"/>
          </a:pPr>
          <a:r>
            <a:rPr lang="es-CO" sz="1400" i="0" kern="1200" dirty="0"/>
            <a:t>Si RAC es &gt; 30mg/g (primera toma): nueva RAC en 3 meses.</a:t>
          </a:r>
        </a:p>
      </dsp:txBody>
      <dsp:txXfrm rot="-5400000">
        <a:off x="3735541" y="1639424"/>
        <a:ext cx="6597579" cy="801930"/>
      </dsp:txXfrm>
    </dsp:sp>
    <dsp:sp modelId="{16E6F3EE-4A7C-B341-8F9B-4ADF6B747E28}">
      <dsp:nvSpPr>
        <dsp:cNvPr id="0" name=""/>
        <dsp:cNvSpPr/>
      </dsp:nvSpPr>
      <dsp:spPr>
        <a:xfrm>
          <a:off x="0" y="1661362"/>
          <a:ext cx="3735541" cy="75805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s-CO" sz="1800" i="0" kern="1200" dirty="0"/>
            <a:t>3. </a:t>
          </a:r>
          <a:r>
            <a:rPr lang="es-CO" sz="1800" i="0" kern="1200" dirty="0" err="1"/>
            <a:t>Nefropatía</a:t>
          </a:r>
          <a:r>
            <a:rPr lang="es-CO" sz="1800" i="0" kern="1200" dirty="0"/>
            <a:t>:</a:t>
          </a:r>
        </a:p>
      </dsp:txBody>
      <dsp:txXfrm>
        <a:off x="37005" y="1698367"/>
        <a:ext cx="3661531" cy="684044"/>
      </dsp:txXfrm>
    </dsp:sp>
    <dsp:sp modelId="{7AF25F38-85C5-6045-BA45-B5FDF3F43FFC}">
      <dsp:nvSpPr>
        <dsp:cNvPr id="0" name=""/>
        <dsp:cNvSpPr/>
      </dsp:nvSpPr>
      <dsp:spPr>
        <a:xfrm rot="5400000">
          <a:off x="6759697" y="-422059"/>
          <a:ext cx="606443" cy="6647453"/>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es-CO" sz="1400" i="0" kern="1200" dirty="0"/>
            <a:t>Evaluar pulsos distales y </a:t>
          </a:r>
          <a:r>
            <a:rPr lang="es-CO" sz="1400" i="0" kern="1200" dirty="0" err="1"/>
            <a:t>síntomas</a:t>
          </a:r>
          <a:r>
            <a:rPr lang="es-CO" sz="1400" i="0" kern="1200" dirty="0"/>
            <a:t> asociados a EAP - </a:t>
          </a:r>
          <a:r>
            <a:rPr lang="es-CO" sz="1400" i="0" kern="1200" dirty="0" err="1"/>
            <a:t>clasificación</a:t>
          </a:r>
          <a:r>
            <a:rPr lang="es-CO" sz="1400" i="0" kern="1200" dirty="0"/>
            <a:t> de Fontaine </a:t>
          </a:r>
        </a:p>
      </dsp:txBody>
      <dsp:txXfrm rot="-5400000">
        <a:off x="3739192" y="2628050"/>
        <a:ext cx="6617849" cy="547235"/>
      </dsp:txXfrm>
    </dsp:sp>
    <dsp:sp modelId="{FE8EA4B3-1820-B44F-BD15-F33F28561032}">
      <dsp:nvSpPr>
        <dsp:cNvPr id="0" name=""/>
        <dsp:cNvSpPr/>
      </dsp:nvSpPr>
      <dsp:spPr>
        <a:xfrm>
          <a:off x="0" y="2522639"/>
          <a:ext cx="3739192" cy="75805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s-CO" sz="1800" i="0" kern="1200" dirty="0"/>
            <a:t>4. Enfermedad arterial </a:t>
          </a:r>
          <a:r>
            <a:rPr lang="es-CO" sz="1800" i="0" kern="1200" dirty="0" err="1"/>
            <a:t>periférica</a:t>
          </a:r>
          <a:r>
            <a:rPr lang="es-CO" sz="1800" i="0" kern="1200" dirty="0"/>
            <a:t> (EAP):</a:t>
          </a:r>
        </a:p>
      </dsp:txBody>
      <dsp:txXfrm>
        <a:off x="37005" y="2559644"/>
        <a:ext cx="3665182" cy="684044"/>
      </dsp:txXfrm>
    </dsp:sp>
    <dsp:sp modelId="{53F1BEB6-6780-8540-9025-A0ECAA370A20}">
      <dsp:nvSpPr>
        <dsp:cNvPr id="0" name=""/>
        <dsp:cNvSpPr/>
      </dsp:nvSpPr>
      <dsp:spPr>
        <a:xfrm rot="5400000">
          <a:off x="6131034" y="1154350"/>
          <a:ext cx="1849974" cy="6640961"/>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es-CO" sz="1400" i="0" kern="1200" dirty="0"/>
            <a:t>Evaluar </a:t>
          </a:r>
          <a:r>
            <a:rPr lang="es-CO" sz="1400" i="0" kern="1200" dirty="0" err="1"/>
            <a:t>síntomas</a:t>
          </a:r>
          <a:r>
            <a:rPr lang="es-CO" sz="1400" i="0" kern="1200" dirty="0"/>
            <a:t> y signos de </a:t>
          </a:r>
          <a:r>
            <a:rPr lang="es-CO" sz="1400" i="0" kern="1200" dirty="0" err="1"/>
            <a:t>neuropatía</a:t>
          </a:r>
          <a:endParaRPr lang="es-CO" sz="1400" i="0" kern="1200" dirty="0"/>
        </a:p>
        <a:p>
          <a:pPr marL="114300" lvl="1" indent="-114300" algn="l" defTabSz="622300">
            <a:lnSpc>
              <a:spcPct val="90000"/>
            </a:lnSpc>
            <a:spcBef>
              <a:spcPct val="0"/>
            </a:spcBef>
            <a:spcAft>
              <a:spcPct val="15000"/>
            </a:spcAft>
            <a:buChar char="•"/>
          </a:pPr>
          <a:r>
            <a:rPr lang="es-CO" sz="1400" i="0" kern="1200" dirty="0"/>
            <a:t>Descartar otras causas de </a:t>
          </a:r>
          <a:r>
            <a:rPr lang="es-CO" sz="1400" i="0" kern="1200" dirty="0" err="1"/>
            <a:t>polineuropatía</a:t>
          </a:r>
          <a:r>
            <a:rPr lang="es-CO" sz="1400" i="0" kern="1200" dirty="0"/>
            <a:t>: toxinas (</a:t>
          </a:r>
          <a:r>
            <a:rPr lang="es-CO" sz="1400" i="0" kern="1200" dirty="0" err="1"/>
            <a:t>ej</a:t>
          </a:r>
          <a:r>
            <a:rPr lang="es-CO" sz="1400" i="0" kern="1200" dirty="0"/>
            <a:t>; alcohol), deficiencia </a:t>
          </a:r>
          <a:r>
            <a:rPr lang="es-CO" sz="1400" i="0" kern="1200" dirty="0" err="1"/>
            <a:t>vit</a:t>
          </a:r>
          <a:r>
            <a:rPr lang="es-CO" sz="1400" i="0" kern="1200" dirty="0"/>
            <a:t>. B12, hipotiroidismo, enfermedad renal, medicamentos </a:t>
          </a:r>
          <a:r>
            <a:rPr lang="es-CO" sz="1400" i="0" kern="1200" dirty="0" err="1"/>
            <a:t>neurotóxicos</a:t>
          </a:r>
          <a:r>
            <a:rPr lang="es-CO" sz="1400" i="0" kern="1200" dirty="0"/>
            <a:t> (</a:t>
          </a:r>
          <a:r>
            <a:rPr lang="es-CO" sz="1400" i="0" kern="1200" dirty="0" err="1"/>
            <a:t>ej:quimioterapia</a:t>
          </a:r>
          <a:r>
            <a:rPr lang="es-CO" sz="1400" i="0" kern="1200" dirty="0"/>
            <a:t>), malignidad, infecciones (</a:t>
          </a:r>
          <a:r>
            <a:rPr lang="es-CO" sz="1400" i="0" kern="1200" dirty="0" err="1"/>
            <a:t>ej:VIH</a:t>
          </a:r>
          <a:r>
            <a:rPr lang="es-CO" sz="1400" i="0" kern="1200" dirty="0"/>
            <a:t>), </a:t>
          </a:r>
          <a:r>
            <a:rPr lang="es-CO" sz="1400" i="0" kern="1200" dirty="0" err="1"/>
            <a:t>neuropatía</a:t>
          </a:r>
          <a:r>
            <a:rPr lang="es-CO" sz="1400" i="0" kern="1200" dirty="0"/>
            <a:t> inflamatoria desmielinizante y vasculitis.</a:t>
          </a:r>
        </a:p>
        <a:p>
          <a:pPr marL="114300" lvl="1" indent="-114300" algn="l" defTabSz="622300">
            <a:lnSpc>
              <a:spcPct val="90000"/>
            </a:lnSpc>
            <a:spcBef>
              <a:spcPct val="0"/>
            </a:spcBef>
            <a:spcAft>
              <a:spcPct val="15000"/>
            </a:spcAft>
            <a:buChar char="•"/>
          </a:pPr>
          <a:r>
            <a:rPr lang="es-CO" sz="1400" i="0" kern="1200" dirty="0"/>
            <a:t>Realizar </a:t>
          </a:r>
          <a:r>
            <a:rPr lang="es-CO" sz="1400" i="0" kern="1200" dirty="0" err="1"/>
            <a:t>evaluación</a:t>
          </a:r>
          <a:r>
            <a:rPr lang="es-CO" sz="1400" i="0" kern="1200" dirty="0"/>
            <a:t> integral de los pies: </a:t>
          </a:r>
          <a:r>
            <a:rPr lang="es-CO" sz="1400" i="0" kern="1200" dirty="0" err="1"/>
            <a:t>inspección</a:t>
          </a:r>
          <a:r>
            <a:rPr lang="es-CO" sz="1400" i="0" kern="1200" dirty="0"/>
            <a:t> (</a:t>
          </a:r>
          <a:r>
            <a:rPr lang="es-CO" sz="1400" i="0" kern="1200" dirty="0" err="1"/>
            <a:t>úlceras,deformidades</a:t>
          </a:r>
          <a:r>
            <a:rPr lang="es-CO" sz="1400" i="0" kern="1200" dirty="0"/>
            <a:t>), </a:t>
          </a:r>
          <a:r>
            <a:rPr lang="es-CO" sz="1400" i="0" kern="1200" dirty="0" err="1"/>
            <a:t>sensación</a:t>
          </a:r>
          <a:r>
            <a:rPr lang="es-CO" sz="1400" i="0" kern="1200" dirty="0"/>
            <a:t> vibratoria con </a:t>
          </a:r>
          <a:r>
            <a:rPr lang="es-CO" sz="1400" i="0" kern="1200" dirty="0" err="1"/>
            <a:t>diapasón</a:t>
          </a:r>
          <a:r>
            <a:rPr lang="es-CO" sz="1400" i="0" kern="1200" dirty="0"/>
            <a:t> de 128Hz, temperatura y prueba de Monofilamento : Si </a:t>
          </a:r>
          <a:r>
            <a:rPr lang="es-CO" sz="1400" i="0" kern="1200" dirty="0" err="1"/>
            <a:t>valoración</a:t>
          </a:r>
          <a:r>
            <a:rPr lang="es-CO" sz="1400" i="0" kern="1200" dirty="0"/>
            <a:t> es normal, realizar control ANUAL y EDUCACIÓN </a:t>
          </a:r>
        </a:p>
      </dsp:txBody>
      <dsp:txXfrm rot="-5400000">
        <a:off x="3735541" y="3640151"/>
        <a:ext cx="6550653" cy="1669358"/>
      </dsp:txXfrm>
    </dsp:sp>
    <dsp:sp modelId="{23E4BEE4-ABFE-4B4A-99AC-AF1FC9D57082}">
      <dsp:nvSpPr>
        <dsp:cNvPr id="0" name=""/>
        <dsp:cNvSpPr/>
      </dsp:nvSpPr>
      <dsp:spPr>
        <a:xfrm>
          <a:off x="0" y="3318597"/>
          <a:ext cx="3735541" cy="231246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s-CO" sz="1800" i="0" kern="1200" dirty="0"/>
            <a:t>5. </a:t>
          </a:r>
          <a:r>
            <a:rPr lang="es-CO" sz="1800" i="0" kern="1200" dirty="0" err="1"/>
            <a:t>Neuropatía</a:t>
          </a:r>
          <a:r>
            <a:rPr lang="es-CO" sz="1800" i="0" kern="1200" dirty="0"/>
            <a:t> </a:t>
          </a:r>
          <a:r>
            <a:rPr lang="es-CO" sz="1800" i="0" kern="1200" dirty="0" err="1"/>
            <a:t>diabética</a:t>
          </a:r>
          <a:r>
            <a:rPr lang="es-CO" sz="1800" i="0" kern="1200" dirty="0"/>
            <a:t>/ pie </a:t>
          </a:r>
          <a:r>
            <a:rPr lang="es-CO" sz="1800" i="0" kern="1200" dirty="0" err="1"/>
            <a:t>diabético</a:t>
          </a:r>
          <a:r>
            <a:rPr lang="es-CO" sz="1800" i="0" kern="1200" dirty="0"/>
            <a:t>:</a:t>
          </a:r>
        </a:p>
      </dsp:txBody>
      <dsp:txXfrm>
        <a:off x="112885" y="3431482"/>
        <a:ext cx="3509771" cy="2086698"/>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40CF5C-9800-43BC-BEB5-5FEBC38FE68B}" type="datetimeFigureOut">
              <a:rPr lang="es-CO" smtClean="0"/>
              <a:t>26/03/26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793711-583D-46E7-AF3B-BBE4F3801F46}" type="slidenum">
              <a:rPr lang="es-CO" smtClean="0"/>
              <a:t>‹Nº›</a:t>
            </a:fld>
            <a:endParaRPr lang="es-CO"/>
          </a:p>
        </p:txBody>
      </p:sp>
    </p:spTree>
    <p:extLst>
      <p:ext uri="{BB962C8B-B14F-4D97-AF65-F5344CB8AC3E}">
        <p14:creationId xmlns:p14="http://schemas.microsoft.com/office/powerpoint/2010/main" val="7518796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B6793711-583D-46E7-AF3B-BBE4F3801F46}" type="slidenum">
              <a:rPr lang="es-CO" smtClean="0"/>
              <a:t>2</a:t>
            </a:fld>
            <a:endParaRPr lang="es-CO"/>
          </a:p>
        </p:txBody>
      </p:sp>
    </p:spTree>
    <p:extLst>
      <p:ext uri="{BB962C8B-B14F-4D97-AF65-F5344CB8AC3E}">
        <p14:creationId xmlns:p14="http://schemas.microsoft.com/office/powerpoint/2010/main" val="21036164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O" dirty="0"/>
              <a:t>Cambio: Hba1c como criterio formal </a:t>
            </a:r>
          </a:p>
        </p:txBody>
      </p:sp>
      <p:sp>
        <p:nvSpPr>
          <p:cNvPr id="4" name="Marcador de número de diapositiva 3"/>
          <p:cNvSpPr>
            <a:spLocks noGrp="1"/>
          </p:cNvSpPr>
          <p:nvPr>
            <p:ph type="sldNum" sz="quarter" idx="5"/>
          </p:nvPr>
        </p:nvSpPr>
        <p:spPr/>
        <p:txBody>
          <a:bodyPr/>
          <a:lstStyle/>
          <a:p>
            <a:fld id="{B6793711-583D-46E7-AF3B-BBE4F3801F46}" type="slidenum">
              <a:rPr lang="es-CO" smtClean="0"/>
              <a:t>4</a:t>
            </a:fld>
            <a:endParaRPr lang="es-CO"/>
          </a:p>
        </p:txBody>
      </p:sp>
    </p:spTree>
    <p:extLst>
      <p:ext uri="{BB962C8B-B14F-4D97-AF65-F5344CB8AC3E}">
        <p14:creationId xmlns:p14="http://schemas.microsoft.com/office/powerpoint/2010/main" val="33262557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B6793711-583D-46E7-AF3B-BBE4F3801F46}" type="slidenum">
              <a:rPr lang="es-CO" smtClean="0"/>
              <a:t>5</a:t>
            </a:fld>
            <a:endParaRPr lang="es-CO"/>
          </a:p>
        </p:txBody>
      </p:sp>
    </p:spTree>
    <p:extLst>
      <p:ext uri="{BB962C8B-B14F-4D97-AF65-F5344CB8AC3E}">
        <p14:creationId xmlns:p14="http://schemas.microsoft.com/office/powerpoint/2010/main" val="22550649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B6793711-583D-46E7-AF3B-BBE4F3801F46}" type="slidenum">
              <a:rPr lang="es-CO" smtClean="0"/>
              <a:t>6</a:t>
            </a:fld>
            <a:endParaRPr lang="es-CO"/>
          </a:p>
        </p:txBody>
      </p:sp>
    </p:spTree>
    <p:extLst>
      <p:ext uri="{BB962C8B-B14F-4D97-AF65-F5344CB8AC3E}">
        <p14:creationId xmlns:p14="http://schemas.microsoft.com/office/powerpoint/2010/main" val="23057057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B6793711-583D-46E7-AF3B-BBE4F3801F46}" type="slidenum">
              <a:rPr lang="es-CO" smtClean="0"/>
              <a:t>8</a:t>
            </a:fld>
            <a:endParaRPr lang="es-CO"/>
          </a:p>
        </p:txBody>
      </p:sp>
    </p:spTree>
    <p:extLst>
      <p:ext uri="{BB962C8B-B14F-4D97-AF65-F5344CB8AC3E}">
        <p14:creationId xmlns:p14="http://schemas.microsoft.com/office/powerpoint/2010/main" val="22579044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l"/>
            <a:r>
              <a:rPr lang="es-CO" b="0" i="0" u="none" strike="noStrike" dirty="0">
                <a:solidFill>
                  <a:srgbClr val="000000"/>
                </a:solidFill>
                <a:effectLst/>
                <a:latin typeface="-webkit-standard"/>
              </a:rPr>
              <a:t>La guía resalta que, frente a iDPP-4, conviene priorizar iSGLT2 por su impacto favorable en peso, presión arterial y desenlaces de falla cardiaca/enfermedad renal. </a:t>
            </a:r>
            <a:r>
              <a:rPr lang="es-CO" b="1" i="0" u="none" strike="noStrike" dirty="0">
                <a:solidFill>
                  <a:srgbClr val="000000"/>
                </a:solidFill>
                <a:effectLst/>
              </a:rPr>
              <a:t>iDPP-4</a:t>
            </a:r>
            <a:r>
              <a:rPr lang="es-CO" b="0" i="0" u="none" strike="noStrike" dirty="0">
                <a:solidFill>
                  <a:srgbClr val="000000"/>
                </a:solidFill>
                <a:effectLst/>
              </a:rPr>
              <a:t>: es opción cuando se desea una alternativa oral segura, sin hipoglucemia ni ganancia de peso, especialmente si no se elige iSGLT2. La guía lo mantiene como alternativa válida de combinación con metformina. </a:t>
            </a:r>
          </a:p>
          <a:p>
            <a:pPr algn="l"/>
            <a:r>
              <a:rPr lang="es-CO" b="1" i="0" u="none" strike="noStrike" dirty="0">
                <a:solidFill>
                  <a:srgbClr val="000000"/>
                </a:solidFill>
                <a:effectLst/>
              </a:rPr>
              <a:t>Sulfonilureas</a:t>
            </a:r>
            <a:r>
              <a:rPr lang="es-CO" b="0" i="0" u="none" strike="noStrike" dirty="0">
                <a:solidFill>
                  <a:srgbClr val="000000"/>
                </a:solidFill>
                <a:effectLst/>
              </a:rPr>
              <a:t>: la guía </a:t>
            </a:r>
            <a:r>
              <a:rPr lang="es-CO" b="1" i="0" u="none" strike="noStrike" dirty="0">
                <a:solidFill>
                  <a:srgbClr val="000000"/>
                </a:solidFill>
                <a:effectLst/>
              </a:rPr>
              <a:t>no las recomienda</a:t>
            </a:r>
            <a:r>
              <a:rPr lang="es-CO" b="0" i="0" u="none" strike="noStrike" dirty="0">
                <a:solidFill>
                  <a:srgbClr val="000000"/>
                </a:solidFill>
                <a:effectLst/>
              </a:rPr>
              <a:t> en combinación inicial. </a:t>
            </a:r>
          </a:p>
          <a:p>
            <a:r>
              <a:rPr lang="es-CO" b="1" dirty="0"/>
              <a:t>Metformina + iSGLT2</a:t>
            </a:r>
            <a:r>
              <a:rPr lang="es-CO" dirty="0"/>
              <a:t>: opción preferida si buscas eficacia, neutralidad o pérdida de peso, bajo riesgo de hipoglucemia y beneficio cardiorrenal adicional. </a:t>
            </a:r>
            <a:r>
              <a:rPr lang="es-CO" b="1" dirty="0"/>
              <a:t>Metformina + AR GLP-1</a:t>
            </a:r>
            <a:r>
              <a:rPr lang="es-CO" dirty="0"/>
              <a:t>: mejor si hay </a:t>
            </a:r>
            <a:r>
              <a:rPr lang="es-CO" b="1" dirty="0"/>
              <a:t>sobrepeso/obesidad</a:t>
            </a:r>
            <a:r>
              <a:rPr lang="es-CO" dirty="0"/>
              <a:t> o se necesita bajar más la HbA1c. </a:t>
            </a:r>
            <a:r>
              <a:rPr lang="es-CO" b="1" dirty="0"/>
              <a:t>Metformina + iDPP-4</a:t>
            </a:r>
            <a:r>
              <a:rPr lang="es-CO" dirty="0"/>
              <a:t>: opción si se quiere una estrategia oral sencilla, con bajo riesgo de hipoglucemia, pero sin el mismo peso </a:t>
            </a:r>
            <a:r>
              <a:rPr lang="es-CO" dirty="0" err="1"/>
              <a:t>cardiometabólico</a:t>
            </a:r>
            <a:r>
              <a:rPr lang="es-CO" dirty="0"/>
              <a:t> de iSGLT2 o AR GLP-1. </a:t>
            </a:r>
          </a:p>
        </p:txBody>
      </p:sp>
      <p:sp>
        <p:nvSpPr>
          <p:cNvPr id="4" name="Marcador de número de diapositiva 3"/>
          <p:cNvSpPr>
            <a:spLocks noGrp="1"/>
          </p:cNvSpPr>
          <p:nvPr>
            <p:ph type="sldNum" sz="quarter" idx="5"/>
          </p:nvPr>
        </p:nvSpPr>
        <p:spPr/>
        <p:txBody>
          <a:bodyPr/>
          <a:lstStyle/>
          <a:p>
            <a:fld id="{B6793711-583D-46E7-AF3B-BBE4F3801F46}" type="slidenum">
              <a:rPr lang="es-CO" smtClean="0"/>
              <a:t>9</a:t>
            </a:fld>
            <a:endParaRPr lang="es-CO"/>
          </a:p>
        </p:txBody>
      </p:sp>
    </p:spTree>
    <p:extLst>
      <p:ext uri="{BB962C8B-B14F-4D97-AF65-F5344CB8AC3E}">
        <p14:creationId xmlns:p14="http://schemas.microsoft.com/office/powerpoint/2010/main" val="6664088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l"/>
            <a:r>
              <a:rPr lang="es-CO" b="0" i="0" u="none" strike="noStrike" dirty="0">
                <a:solidFill>
                  <a:srgbClr val="000000"/>
                </a:solidFill>
                <a:effectLst/>
                <a:latin typeface="-webkit-standard"/>
              </a:rPr>
              <a:t>En personas con mal control pese a </a:t>
            </a:r>
            <a:r>
              <a:rPr lang="es-CO" b="1" i="0" u="none" strike="noStrike" dirty="0">
                <a:solidFill>
                  <a:srgbClr val="000000"/>
                </a:solidFill>
                <a:effectLst/>
              </a:rPr>
              <a:t>dos o más antidiabéticos orales</a:t>
            </a:r>
            <a:r>
              <a:rPr lang="es-CO" b="0" i="0" u="none" strike="noStrike" dirty="0">
                <a:solidFill>
                  <a:srgbClr val="000000"/>
                </a:solidFill>
                <a:effectLst/>
                <a:latin typeface="-webkit-standard"/>
              </a:rPr>
              <a:t>, la guía recomienda </a:t>
            </a:r>
            <a:r>
              <a:rPr lang="es-CO" b="1" i="0" u="none" strike="noStrike" dirty="0">
                <a:solidFill>
                  <a:srgbClr val="000000"/>
                </a:solidFill>
                <a:effectLst/>
              </a:rPr>
              <a:t>usar un AR GLP-1 como parte de la intensificación</a:t>
            </a:r>
            <a:r>
              <a:rPr lang="es-CO" b="0" i="0" u="none" strike="noStrike" dirty="0">
                <a:solidFill>
                  <a:srgbClr val="000000"/>
                </a:solidFill>
                <a:effectLst/>
                <a:latin typeface="-webkit-standard"/>
              </a:rPr>
              <a:t>, especialmente si el </a:t>
            </a:r>
            <a:r>
              <a:rPr lang="es-CO" b="1" i="0" u="none" strike="noStrike" dirty="0">
                <a:solidFill>
                  <a:srgbClr val="000000"/>
                </a:solidFill>
                <a:effectLst/>
              </a:rPr>
              <a:t>IMC es ≥27 kg/m²</a:t>
            </a:r>
            <a:r>
              <a:rPr lang="es-CO" b="0" i="0" u="none" strike="noStrike" dirty="0">
                <a:solidFill>
                  <a:srgbClr val="000000"/>
                </a:solidFill>
                <a:effectLst/>
                <a:latin typeface="-webkit-standard"/>
              </a:rPr>
              <a:t>. También sugiere escoger AR GLP-1 con beneficio cardiovascular demostrado, como </a:t>
            </a:r>
            <a:r>
              <a:rPr lang="es-CO" b="1" i="0" u="none" strike="noStrike" dirty="0" err="1">
                <a:solidFill>
                  <a:srgbClr val="000000"/>
                </a:solidFill>
                <a:effectLst/>
              </a:rPr>
              <a:t>liraglutida</a:t>
            </a:r>
            <a:r>
              <a:rPr lang="es-CO" b="1" i="0" u="none" strike="noStrike" dirty="0">
                <a:solidFill>
                  <a:srgbClr val="000000"/>
                </a:solidFill>
                <a:effectLst/>
              </a:rPr>
              <a:t>, </a:t>
            </a:r>
            <a:r>
              <a:rPr lang="es-CO" b="1" i="0" u="none" strike="noStrike" dirty="0" err="1">
                <a:solidFill>
                  <a:srgbClr val="000000"/>
                </a:solidFill>
                <a:effectLst/>
              </a:rPr>
              <a:t>semaglutida</a:t>
            </a:r>
            <a:r>
              <a:rPr lang="es-CO" b="1" i="0" u="none" strike="noStrike" dirty="0">
                <a:solidFill>
                  <a:srgbClr val="000000"/>
                </a:solidFill>
                <a:effectLst/>
              </a:rPr>
              <a:t> o </a:t>
            </a:r>
            <a:r>
              <a:rPr lang="es-CO" b="1" i="0" u="none" strike="noStrike" dirty="0" err="1">
                <a:solidFill>
                  <a:srgbClr val="000000"/>
                </a:solidFill>
                <a:effectLst/>
              </a:rPr>
              <a:t>dulaglutida</a:t>
            </a:r>
            <a:r>
              <a:rPr lang="es-CO" b="0" i="0" u="none" strike="noStrike" dirty="0">
                <a:solidFill>
                  <a:srgbClr val="000000"/>
                </a:solidFill>
                <a:effectLst/>
                <a:latin typeface="-webkit-standard"/>
              </a:rPr>
              <a:t>. </a:t>
            </a:r>
          </a:p>
          <a:p>
            <a:pPr algn="l"/>
            <a:r>
              <a:rPr lang="es-CO" b="0" i="0" u="none" strike="noStrike" dirty="0">
                <a:solidFill>
                  <a:srgbClr val="000000"/>
                </a:solidFill>
                <a:effectLst/>
                <a:latin typeface="-webkit-standard"/>
              </a:rPr>
              <a:t>Hace una precisión importante: si el paciente tiene </a:t>
            </a:r>
            <a:r>
              <a:rPr lang="es-CO" b="1" i="0" u="none" strike="noStrike" dirty="0">
                <a:solidFill>
                  <a:srgbClr val="000000"/>
                </a:solidFill>
                <a:effectLst/>
              </a:rPr>
              <a:t>IMC &lt;27 kg/m²</a:t>
            </a:r>
            <a:r>
              <a:rPr lang="es-CO" b="0" i="0" u="none" strike="noStrike" dirty="0">
                <a:solidFill>
                  <a:srgbClr val="000000"/>
                </a:solidFill>
                <a:effectLst/>
                <a:latin typeface="-webkit-standard"/>
              </a:rPr>
              <a:t> y además presenta </a:t>
            </a:r>
            <a:r>
              <a:rPr lang="es-CO" b="1" i="0" u="none" strike="noStrike" dirty="0">
                <a:solidFill>
                  <a:srgbClr val="000000"/>
                </a:solidFill>
                <a:effectLst/>
              </a:rPr>
              <a:t>signos de </a:t>
            </a:r>
            <a:r>
              <a:rPr lang="es-CO" b="1" i="0" u="none" strike="noStrike" dirty="0" err="1">
                <a:solidFill>
                  <a:srgbClr val="000000"/>
                </a:solidFill>
                <a:effectLst/>
              </a:rPr>
              <a:t>insulinopenia</a:t>
            </a:r>
            <a:r>
              <a:rPr lang="es-CO" b="1" i="0" u="none" strike="noStrike" dirty="0">
                <a:solidFill>
                  <a:srgbClr val="000000"/>
                </a:solidFill>
                <a:effectLst/>
              </a:rPr>
              <a:t> endógena</a:t>
            </a:r>
            <a:r>
              <a:rPr lang="es-CO" b="0" i="0" u="none" strike="noStrike" dirty="0">
                <a:solidFill>
                  <a:srgbClr val="000000"/>
                </a:solidFill>
                <a:effectLst/>
                <a:latin typeface="-webkit-standard"/>
              </a:rPr>
              <a:t>, como </a:t>
            </a:r>
            <a:r>
              <a:rPr lang="es-CO" b="1" i="0" u="none" strike="noStrike" dirty="0">
                <a:solidFill>
                  <a:srgbClr val="000000"/>
                </a:solidFill>
                <a:effectLst/>
              </a:rPr>
              <a:t>pérdida acelerada e involuntaria de peso</a:t>
            </a:r>
            <a:r>
              <a:rPr lang="es-CO" b="0" i="0" u="none" strike="noStrike" dirty="0">
                <a:solidFill>
                  <a:srgbClr val="000000"/>
                </a:solidFill>
                <a:effectLst/>
                <a:latin typeface="-webkit-standard"/>
              </a:rPr>
              <a:t> en contexto de mal control o </a:t>
            </a:r>
            <a:r>
              <a:rPr lang="es-CO" b="1" i="0" u="none" strike="noStrike" dirty="0">
                <a:solidFill>
                  <a:srgbClr val="000000"/>
                </a:solidFill>
                <a:effectLst/>
              </a:rPr>
              <a:t>cetonas en orina o sangre</a:t>
            </a:r>
            <a:r>
              <a:rPr lang="es-CO" b="0" i="0" u="none" strike="noStrike" dirty="0">
                <a:solidFill>
                  <a:srgbClr val="000000"/>
                </a:solidFill>
                <a:effectLst/>
                <a:latin typeface="-webkit-standard"/>
              </a:rPr>
              <a:t>, se debe </a:t>
            </a:r>
            <a:r>
              <a:rPr lang="es-CO" b="1" i="0" u="none" strike="noStrike" dirty="0">
                <a:solidFill>
                  <a:srgbClr val="000000"/>
                </a:solidFill>
                <a:effectLst/>
              </a:rPr>
              <a:t>preferir insulina basal</a:t>
            </a:r>
            <a:r>
              <a:rPr lang="es-CO" b="0" i="0" u="none" strike="noStrike" dirty="0">
                <a:solidFill>
                  <a:srgbClr val="000000"/>
                </a:solidFill>
                <a:effectLst/>
                <a:latin typeface="-webkit-standard"/>
              </a:rPr>
              <a:t> antes que AR GLP-1</a:t>
            </a:r>
          </a:p>
          <a:p>
            <a:pPr algn="l"/>
            <a:r>
              <a:rPr lang="es-CO" b="0" i="0" u="none" strike="noStrike" dirty="0">
                <a:solidFill>
                  <a:srgbClr val="000000"/>
                </a:solidFill>
                <a:effectLst/>
                <a:latin typeface="-webkit-standard"/>
              </a:rPr>
              <a:t>La guía recomienda usar </a:t>
            </a:r>
            <a:r>
              <a:rPr lang="es-CO" b="1" i="0" u="none" strike="noStrike" dirty="0">
                <a:solidFill>
                  <a:srgbClr val="000000"/>
                </a:solidFill>
                <a:effectLst/>
              </a:rPr>
              <a:t>insulina basal</a:t>
            </a:r>
            <a:r>
              <a:rPr lang="es-CO" b="0" i="0" u="none" strike="noStrike" dirty="0">
                <a:solidFill>
                  <a:srgbClr val="000000"/>
                </a:solidFill>
                <a:effectLst/>
                <a:latin typeface="-webkit-standard"/>
              </a:rPr>
              <a:t> en personas con DM2 que no alcanzan control a pesar del uso de </a:t>
            </a:r>
            <a:r>
              <a:rPr lang="es-CO" b="1" i="0" u="none" strike="noStrike" dirty="0">
                <a:solidFill>
                  <a:srgbClr val="000000"/>
                </a:solidFill>
                <a:effectLst/>
              </a:rPr>
              <a:t>AR GLP-1</a:t>
            </a:r>
            <a:r>
              <a:rPr lang="es-CO" b="0" i="0" u="none" strike="noStrike" dirty="0">
                <a:solidFill>
                  <a:srgbClr val="000000"/>
                </a:solidFill>
                <a:effectLst/>
                <a:latin typeface="-webkit-standard"/>
              </a:rPr>
              <a:t>. También permite intensificar con una </a:t>
            </a:r>
            <a:r>
              <a:rPr lang="es-CO" b="1" i="0" u="none" strike="noStrike" dirty="0" err="1">
                <a:solidFill>
                  <a:srgbClr val="000000"/>
                </a:solidFill>
                <a:effectLst/>
              </a:rPr>
              <a:t>coformulación</a:t>
            </a:r>
            <a:r>
              <a:rPr lang="es-CO" b="1" i="0" u="none" strike="noStrike" dirty="0">
                <a:solidFill>
                  <a:srgbClr val="000000"/>
                </a:solidFill>
                <a:effectLst/>
              </a:rPr>
              <a:t> fija de insulina basal + AR GLP-1</a:t>
            </a:r>
            <a:r>
              <a:rPr lang="es-CO" b="0" i="0" u="none" strike="noStrike" dirty="0">
                <a:solidFill>
                  <a:srgbClr val="000000"/>
                </a:solidFill>
                <a:effectLst/>
                <a:latin typeface="-webkit-standard"/>
              </a:rPr>
              <a:t>.</a:t>
            </a:r>
            <a:endParaRPr lang="es-CO" dirty="0"/>
          </a:p>
        </p:txBody>
      </p:sp>
      <p:sp>
        <p:nvSpPr>
          <p:cNvPr id="4" name="Marcador de número de diapositiva 3"/>
          <p:cNvSpPr>
            <a:spLocks noGrp="1"/>
          </p:cNvSpPr>
          <p:nvPr>
            <p:ph type="sldNum" sz="quarter" idx="5"/>
          </p:nvPr>
        </p:nvSpPr>
        <p:spPr/>
        <p:txBody>
          <a:bodyPr/>
          <a:lstStyle/>
          <a:p>
            <a:fld id="{B6793711-583D-46E7-AF3B-BBE4F3801F46}" type="slidenum">
              <a:rPr lang="es-CO" smtClean="0"/>
              <a:t>10</a:t>
            </a:fld>
            <a:endParaRPr lang="es-CO"/>
          </a:p>
        </p:txBody>
      </p:sp>
    </p:spTree>
    <p:extLst>
      <p:ext uri="{BB962C8B-B14F-4D97-AF65-F5344CB8AC3E}">
        <p14:creationId xmlns:p14="http://schemas.microsoft.com/office/powerpoint/2010/main" val="10646195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B6793711-583D-46E7-AF3B-BBE4F3801F46}" type="slidenum">
              <a:rPr lang="es-CO" smtClean="0"/>
              <a:t>11</a:t>
            </a:fld>
            <a:endParaRPr lang="es-CO"/>
          </a:p>
        </p:txBody>
      </p:sp>
    </p:spTree>
    <p:extLst>
      <p:ext uri="{BB962C8B-B14F-4D97-AF65-F5344CB8AC3E}">
        <p14:creationId xmlns:p14="http://schemas.microsoft.com/office/powerpoint/2010/main" val="35644121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B6793711-583D-46E7-AF3B-BBE4F3801F46}" type="slidenum">
              <a:rPr lang="es-CO" smtClean="0"/>
              <a:t>13</a:t>
            </a:fld>
            <a:endParaRPr lang="es-CO"/>
          </a:p>
        </p:txBody>
      </p:sp>
    </p:spTree>
    <p:extLst>
      <p:ext uri="{BB962C8B-B14F-4D97-AF65-F5344CB8AC3E}">
        <p14:creationId xmlns:p14="http://schemas.microsoft.com/office/powerpoint/2010/main" val="37672424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2F5F97-1020-4EE6-ACA1-E90897E1DD8E}"/>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C2759910-1034-49E7-BC79-A280229290A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968F966D-C1C7-40B0-8162-73CDD1D80026}"/>
              </a:ext>
            </a:extLst>
          </p:cNvPr>
          <p:cNvSpPr>
            <a:spLocks noGrp="1"/>
          </p:cNvSpPr>
          <p:nvPr>
            <p:ph type="dt" sz="half" idx="10"/>
          </p:nvPr>
        </p:nvSpPr>
        <p:spPr/>
        <p:txBody>
          <a:bodyPr/>
          <a:lstStyle/>
          <a:p>
            <a:fld id="{6BED464F-AE49-4530-AB8F-BF5C16571F6A}" type="datetimeFigureOut">
              <a:rPr lang="es-CO" smtClean="0"/>
              <a:t>26/03/26</a:t>
            </a:fld>
            <a:endParaRPr lang="es-CO"/>
          </a:p>
        </p:txBody>
      </p:sp>
      <p:sp>
        <p:nvSpPr>
          <p:cNvPr id="5" name="Marcador de pie de página 4">
            <a:extLst>
              <a:ext uri="{FF2B5EF4-FFF2-40B4-BE49-F238E27FC236}">
                <a16:creationId xmlns:a16="http://schemas.microsoft.com/office/drawing/2014/main" id="{C9DB57A8-5238-40C4-9A88-85BF392CF476}"/>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67885B3-B239-4D90-B0FD-A877E874E32A}"/>
              </a:ext>
            </a:extLst>
          </p:cNvPr>
          <p:cNvSpPr>
            <a:spLocks noGrp="1"/>
          </p:cNvSpPr>
          <p:nvPr>
            <p:ph type="sldNum" sz="quarter" idx="12"/>
          </p:nvPr>
        </p:nvSpPr>
        <p:spPr/>
        <p:txBody>
          <a:bodyPr/>
          <a:lstStyle/>
          <a:p>
            <a:fld id="{998B09BD-4935-4E15-915B-CAF5541A0352}" type="slidenum">
              <a:rPr lang="es-CO" smtClean="0"/>
              <a:t>‹Nº›</a:t>
            </a:fld>
            <a:endParaRPr lang="es-CO"/>
          </a:p>
        </p:txBody>
      </p:sp>
    </p:spTree>
    <p:extLst>
      <p:ext uri="{BB962C8B-B14F-4D97-AF65-F5344CB8AC3E}">
        <p14:creationId xmlns:p14="http://schemas.microsoft.com/office/powerpoint/2010/main" val="1913594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E4AE1A-77EF-484F-A804-44EA302E910C}"/>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3F646D03-5F22-4FA5-9817-2E410DFDD53F}"/>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A9E9FB61-F9C1-4AA1-99BC-7FC860015251}"/>
              </a:ext>
            </a:extLst>
          </p:cNvPr>
          <p:cNvSpPr>
            <a:spLocks noGrp="1"/>
          </p:cNvSpPr>
          <p:nvPr>
            <p:ph type="dt" sz="half" idx="10"/>
          </p:nvPr>
        </p:nvSpPr>
        <p:spPr/>
        <p:txBody>
          <a:bodyPr/>
          <a:lstStyle/>
          <a:p>
            <a:fld id="{6BED464F-AE49-4530-AB8F-BF5C16571F6A}" type="datetimeFigureOut">
              <a:rPr lang="es-CO" smtClean="0"/>
              <a:t>26/03/26</a:t>
            </a:fld>
            <a:endParaRPr lang="es-CO"/>
          </a:p>
        </p:txBody>
      </p:sp>
      <p:sp>
        <p:nvSpPr>
          <p:cNvPr id="5" name="Marcador de pie de página 4">
            <a:extLst>
              <a:ext uri="{FF2B5EF4-FFF2-40B4-BE49-F238E27FC236}">
                <a16:creationId xmlns:a16="http://schemas.microsoft.com/office/drawing/2014/main" id="{5F68517D-FDB7-4C54-926C-6304547E3624}"/>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4F863A7-71BC-40F8-A158-5A9A60572004}"/>
              </a:ext>
            </a:extLst>
          </p:cNvPr>
          <p:cNvSpPr>
            <a:spLocks noGrp="1"/>
          </p:cNvSpPr>
          <p:nvPr>
            <p:ph type="sldNum" sz="quarter" idx="12"/>
          </p:nvPr>
        </p:nvSpPr>
        <p:spPr/>
        <p:txBody>
          <a:bodyPr/>
          <a:lstStyle/>
          <a:p>
            <a:fld id="{998B09BD-4935-4E15-915B-CAF5541A0352}" type="slidenum">
              <a:rPr lang="es-CO" smtClean="0"/>
              <a:t>‹Nº›</a:t>
            </a:fld>
            <a:endParaRPr lang="es-CO"/>
          </a:p>
        </p:txBody>
      </p:sp>
    </p:spTree>
    <p:extLst>
      <p:ext uri="{BB962C8B-B14F-4D97-AF65-F5344CB8AC3E}">
        <p14:creationId xmlns:p14="http://schemas.microsoft.com/office/powerpoint/2010/main" val="1087401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7C4E17-CB96-4580-8A84-23CF451DACE5}"/>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46E743F1-DEAC-4FEA-91AE-57CBDF5982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F4BEDFEA-2651-4C28-9F34-60EF561933A6}"/>
              </a:ext>
            </a:extLst>
          </p:cNvPr>
          <p:cNvSpPr>
            <a:spLocks noGrp="1"/>
          </p:cNvSpPr>
          <p:nvPr>
            <p:ph type="dt" sz="half" idx="10"/>
          </p:nvPr>
        </p:nvSpPr>
        <p:spPr/>
        <p:txBody>
          <a:bodyPr/>
          <a:lstStyle/>
          <a:p>
            <a:fld id="{6BED464F-AE49-4530-AB8F-BF5C16571F6A}" type="datetimeFigureOut">
              <a:rPr lang="es-CO" smtClean="0"/>
              <a:t>26/03/26</a:t>
            </a:fld>
            <a:endParaRPr lang="es-CO"/>
          </a:p>
        </p:txBody>
      </p:sp>
      <p:sp>
        <p:nvSpPr>
          <p:cNvPr id="5" name="Marcador de pie de página 4">
            <a:extLst>
              <a:ext uri="{FF2B5EF4-FFF2-40B4-BE49-F238E27FC236}">
                <a16:creationId xmlns:a16="http://schemas.microsoft.com/office/drawing/2014/main" id="{878A936E-A542-4128-89FE-25910D878611}"/>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E454940-65B8-43B5-805A-62F15723B73B}"/>
              </a:ext>
            </a:extLst>
          </p:cNvPr>
          <p:cNvSpPr>
            <a:spLocks noGrp="1"/>
          </p:cNvSpPr>
          <p:nvPr>
            <p:ph type="sldNum" sz="quarter" idx="12"/>
          </p:nvPr>
        </p:nvSpPr>
        <p:spPr/>
        <p:txBody>
          <a:bodyPr/>
          <a:lstStyle/>
          <a:p>
            <a:fld id="{998B09BD-4935-4E15-915B-CAF5541A0352}" type="slidenum">
              <a:rPr lang="es-CO" smtClean="0"/>
              <a:t>‹Nº›</a:t>
            </a:fld>
            <a:endParaRPr lang="es-CO"/>
          </a:p>
        </p:txBody>
      </p:sp>
    </p:spTree>
    <p:extLst>
      <p:ext uri="{BB962C8B-B14F-4D97-AF65-F5344CB8AC3E}">
        <p14:creationId xmlns:p14="http://schemas.microsoft.com/office/powerpoint/2010/main" val="15194309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86DA25-4C0D-463D-8289-FD732DC764B8}"/>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947EFF1D-D0BE-43A4-A41B-9A5351DE9D02}"/>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EB3B7E19-8BC9-476E-B506-BDD3FD610BFF}"/>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BFBF8CF4-5E72-4DEB-B453-063D3A0C3400}"/>
              </a:ext>
            </a:extLst>
          </p:cNvPr>
          <p:cNvSpPr>
            <a:spLocks noGrp="1"/>
          </p:cNvSpPr>
          <p:nvPr>
            <p:ph type="dt" sz="half" idx="10"/>
          </p:nvPr>
        </p:nvSpPr>
        <p:spPr/>
        <p:txBody>
          <a:bodyPr/>
          <a:lstStyle/>
          <a:p>
            <a:fld id="{6BED464F-AE49-4530-AB8F-BF5C16571F6A}" type="datetimeFigureOut">
              <a:rPr lang="es-CO" smtClean="0"/>
              <a:t>26/03/26</a:t>
            </a:fld>
            <a:endParaRPr lang="es-CO"/>
          </a:p>
        </p:txBody>
      </p:sp>
      <p:sp>
        <p:nvSpPr>
          <p:cNvPr id="6" name="Marcador de pie de página 5">
            <a:extLst>
              <a:ext uri="{FF2B5EF4-FFF2-40B4-BE49-F238E27FC236}">
                <a16:creationId xmlns:a16="http://schemas.microsoft.com/office/drawing/2014/main" id="{A3299471-A835-445F-85B7-0393FD2DBCEC}"/>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1F22F38A-CD7A-4C0A-841F-3C02134E5E1B}"/>
              </a:ext>
            </a:extLst>
          </p:cNvPr>
          <p:cNvSpPr>
            <a:spLocks noGrp="1"/>
          </p:cNvSpPr>
          <p:nvPr>
            <p:ph type="sldNum" sz="quarter" idx="12"/>
          </p:nvPr>
        </p:nvSpPr>
        <p:spPr/>
        <p:txBody>
          <a:bodyPr/>
          <a:lstStyle/>
          <a:p>
            <a:fld id="{998B09BD-4935-4E15-915B-CAF5541A0352}" type="slidenum">
              <a:rPr lang="es-CO" smtClean="0"/>
              <a:t>‹Nº›</a:t>
            </a:fld>
            <a:endParaRPr lang="es-CO"/>
          </a:p>
        </p:txBody>
      </p:sp>
    </p:spTree>
    <p:extLst>
      <p:ext uri="{BB962C8B-B14F-4D97-AF65-F5344CB8AC3E}">
        <p14:creationId xmlns:p14="http://schemas.microsoft.com/office/powerpoint/2010/main" val="3783086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D640F6-05C2-4688-955A-7296D05799E1}"/>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5CDF0F71-EDCE-454E-AC7A-677AE7014D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6321545F-6E58-42EF-8380-F7D3C73B995A}"/>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D2EE216B-093A-470C-8716-5CD593F78DC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34D12FC-F7E9-471F-9845-0726EC89197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C1A4E2CE-8782-4667-83A9-AD4D03229C18}"/>
              </a:ext>
            </a:extLst>
          </p:cNvPr>
          <p:cNvSpPr>
            <a:spLocks noGrp="1"/>
          </p:cNvSpPr>
          <p:nvPr>
            <p:ph type="dt" sz="half" idx="10"/>
          </p:nvPr>
        </p:nvSpPr>
        <p:spPr/>
        <p:txBody>
          <a:bodyPr/>
          <a:lstStyle/>
          <a:p>
            <a:fld id="{6BED464F-AE49-4530-AB8F-BF5C16571F6A}" type="datetimeFigureOut">
              <a:rPr lang="es-CO" smtClean="0"/>
              <a:t>26/03/26</a:t>
            </a:fld>
            <a:endParaRPr lang="es-CO"/>
          </a:p>
        </p:txBody>
      </p:sp>
      <p:sp>
        <p:nvSpPr>
          <p:cNvPr id="8" name="Marcador de pie de página 7">
            <a:extLst>
              <a:ext uri="{FF2B5EF4-FFF2-40B4-BE49-F238E27FC236}">
                <a16:creationId xmlns:a16="http://schemas.microsoft.com/office/drawing/2014/main" id="{1742954F-5699-49D0-B195-CC619067889D}"/>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5428E020-0DE7-4ADC-B298-3E3348C41B6B}"/>
              </a:ext>
            </a:extLst>
          </p:cNvPr>
          <p:cNvSpPr>
            <a:spLocks noGrp="1"/>
          </p:cNvSpPr>
          <p:nvPr>
            <p:ph type="sldNum" sz="quarter" idx="12"/>
          </p:nvPr>
        </p:nvSpPr>
        <p:spPr/>
        <p:txBody>
          <a:bodyPr/>
          <a:lstStyle/>
          <a:p>
            <a:fld id="{998B09BD-4935-4E15-915B-CAF5541A0352}" type="slidenum">
              <a:rPr lang="es-CO" smtClean="0"/>
              <a:t>‹Nº›</a:t>
            </a:fld>
            <a:endParaRPr lang="es-CO"/>
          </a:p>
        </p:txBody>
      </p:sp>
    </p:spTree>
    <p:extLst>
      <p:ext uri="{BB962C8B-B14F-4D97-AF65-F5344CB8AC3E}">
        <p14:creationId xmlns:p14="http://schemas.microsoft.com/office/powerpoint/2010/main" val="19325375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71C42E-3A84-4A7D-A0D7-DFDBEEDAE87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0607FEBB-E137-4290-A7C2-BB81D055CE1D}"/>
              </a:ext>
            </a:extLst>
          </p:cNvPr>
          <p:cNvSpPr>
            <a:spLocks noGrp="1"/>
          </p:cNvSpPr>
          <p:nvPr>
            <p:ph type="dt" sz="half" idx="10"/>
          </p:nvPr>
        </p:nvSpPr>
        <p:spPr/>
        <p:txBody>
          <a:bodyPr/>
          <a:lstStyle/>
          <a:p>
            <a:fld id="{6BED464F-AE49-4530-AB8F-BF5C16571F6A}" type="datetimeFigureOut">
              <a:rPr lang="es-CO" smtClean="0"/>
              <a:t>26/03/26</a:t>
            </a:fld>
            <a:endParaRPr lang="es-CO"/>
          </a:p>
        </p:txBody>
      </p:sp>
      <p:sp>
        <p:nvSpPr>
          <p:cNvPr id="4" name="Marcador de pie de página 3">
            <a:extLst>
              <a:ext uri="{FF2B5EF4-FFF2-40B4-BE49-F238E27FC236}">
                <a16:creationId xmlns:a16="http://schemas.microsoft.com/office/drawing/2014/main" id="{3BB4A668-FBFF-444A-9606-25D30B879C74}"/>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6EAD0BAB-85DB-4994-8FE2-8B134970A9A2}"/>
              </a:ext>
            </a:extLst>
          </p:cNvPr>
          <p:cNvSpPr>
            <a:spLocks noGrp="1"/>
          </p:cNvSpPr>
          <p:nvPr>
            <p:ph type="sldNum" sz="quarter" idx="12"/>
          </p:nvPr>
        </p:nvSpPr>
        <p:spPr/>
        <p:txBody>
          <a:bodyPr/>
          <a:lstStyle/>
          <a:p>
            <a:fld id="{998B09BD-4935-4E15-915B-CAF5541A0352}" type="slidenum">
              <a:rPr lang="es-CO" smtClean="0"/>
              <a:t>‹Nº›</a:t>
            </a:fld>
            <a:endParaRPr lang="es-CO"/>
          </a:p>
        </p:txBody>
      </p:sp>
    </p:spTree>
    <p:extLst>
      <p:ext uri="{BB962C8B-B14F-4D97-AF65-F5344CB8AC3E}">
        <p14:creationId xmlns:p14="http://schemas.microsoft.com/office/powerpoint/2010/main" val="40556573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B0EAEA6E-C7E2-400D-9F2C-7655A3A7FD93}"/>
              </a:ext>
            </a:extLst>
          </p:cNvPr>
          <p:cNvSpPr>
            <a:spLocks noGrp="1"/>
          </p:cNvSpPr>
          <p:nvPr>
            <p:ph type="dt" sz="half" idx="10"/>
          </p:nvPr>
        </p:nvSpPr>
        <p:spPr/>
        <p:txBody>
          <a:bodyPr/>
          <a:lstStyle/>
          <a:p>
            <a:fld id="{6BED464F-AE49-4530-AB8F-BF5C16571F6A}" type="datetimeFigureOut">
              <a:rPr lang="es-CO" smtClean="0"/>
              <a:t>26/03/26</a:t>
            </a:fld>
            <a:endParaRPr lang="es-CO"/>
          </a:p>
        </p:txBody>
      </p:sp>
      <p:sp>
        <p:nvSpPr>
          <p:cNvPr id="3" name="Marcador de pie de página 2">
            <a:extLst>
              <a:ext uri="{FF2B5EF4-FFF2-40B4-BE49-F238E27FC236}">
                <a16:creationId xmlns:a16="http://schemas.microsoft.com/office/drawing/2014/main" id="{A5EAF9C2-66E4-4F6C-B5A9-DCE7CBD54807}"/>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9854F549-00DE-4C3D-92E9-C11D0660D1FD}"/>
              </a:ext>
            </a:extLst>
          </p:cNvPr>
          <p:cNvSpPr>
            <a:spLocks noGrp="1"/>
          </p:cNvSpPr>
          <p:nvPr>
            <p:ph type="sldNum" sz="quarter" idx="12"/>
          </p:nvPr>
        </p:nvSpPr>
        <p:spPr/>
        <p:txBody>
          <a:bodyPr/>
          <a:lstStyle/>
          <a:p>
            <a:fld id="{998B09BD-4935-4E15-915B-CAF5541A0352}" type="slidenum">
              <a:rPr lang="es-CO" smtClean="0"/>
              <a:t>‹Nº›</a:t>
            </a:fld>
            <a:endParaRPr lang="es-CO"/>
          </a:p>
        </p:txBody>
      </p:sp>
    </p:spTree>
    <p:extLst>
      <p:ext uri="{BB962C8B-B14F-4D97-AF65-F5344CB8AC3E}">
        <p14:creationId xmlns:p14="http://schemas.microsoft.com/office/powerpoint/2010/main" val="29757230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9AC0ED-9A90-49B3-8F84-4CCBDA10AC3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102F82F6-A48C-4802-95FC-4E44B56B96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7DCDABEF-7742-4D1B-98F0-BDC980609C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14EEF5A-EECA-4654-BFBC-C3224B67C946}"/>
              </a:ext>
            </a:extLst>
          </p:cNvPr>
          <p:cNvSpPr>
            <a:spLocks noGrp="1"/>
          </p:cNvSpPr>
          <p:nvPr>
            <p:ph type="dt" sz="half" idx="10"/>
          </p:nvPr>
        </p:nvSpPr>
        <p:spPr/>
        <p:txBody>
          <a:bodyPr/>
          <a:lstStyle/>
          <a:p>
            <a:fld id="{6BED464F-AE49-4530-AB8F-BF5C16571F6A}" type="datetimeFigureOut">
              <a:rPr lang="es-CO" smtClean="0"/>
              <a:t>26/03/26</a:t>
            </a:fld>
            <a:endParaRPr lang="es-CO"/>
          </a:p>
        </p:txBody>
      </p:sp>
      <p:sp>
        <p:nvSpPr>
          <p:cNvPr id="6" name="Marcador de pie de página 5">
            <a:extLst>
              <a:ext uri="{FF2B5EF4-FFF2-40B4-BE49-F238E27FC236}">
                <a16:creationId xmlns:a16="http://schemas.microsoft.com/office/drawing/2014/main" id="{8A26A55B-4ECE-4555-81F3-7B01EFF52A11}"/>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B6BC4BBE-5C8F-406F-A5F6-D7DC51E74582}"/>
              </a:ext>
            </a:extLst>
          </p:cNvPr>
          <p:cNvSpPr>
            <a:spLocks noGrp="1"/>
          </p:cNvSpPr>
          <p:nvPr>
            <p:ph type="sldNum" sz="quarter" idx="12"/>
          </p:nvPr>
        </p:nvSpPr>
        <p:spPr/>
        <p:txBody>
          <a:bodyPr/>
          <a:lstStyle/>
          <a:p>
            <a:fld id="{998B09BD-4935-4E15-915B-CAF5541A0352}" type="slidenum">
              <a:rPr lang="es-CO" smtClean="0"/>
              <a:t>‹Nº›</a:t>
            </a:fld>
            <a:endParaRPr lang="es-CO"/>
          </a:p>
        </p:txBody>
      </p:sp>
    </p:spTree>
    <p:extLst>
      <p:ext uri="{BB962C8B-B14F-4D97-AF65-F5344CB8AC3E}">
        <p14:creationId xmlns:p14="http://schemas.microsoft.com/office/powerpoint/2010/main" val="15913159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485C43-08EF-4BD9-A218-38CAD2668AF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D4B6F318-8444-4900-BC88-875353FA60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E3D25216-3601-4132-A466-A43F914465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A07827F-E9CB-426E-88E8-51BB702387A3}"/>
              </a:ext>
            </a:extLst>
          </p:cNvPr>
          <p:cNvSpPr>
            <a:spLocks noGrp="1"/>
          </p:cNvSpPr>
          <p:nvPr>
            <p:ph type="dt" sz="half" idx="10"/>
          </p:nvPr>
        </p:nvSpPr>
        <p:spPr/>
        <p:txBody>
          <a:bodyPr/>
          <a:lstStyle/>
          <a:p>
            <a:fld id="{6BED464F-AE49-4530-AB8F-BF5C16571F6A}" type="datetimeFigureOut">
              <a:rPr lang="es-CO" smtClean="0"/>
              <a:t>26/03/26</a:t>
            </a:fld>
            <a:endParaRPr lang="es-CO"/>
          </a:p>
        </p:txBody>
      </p:sp>
      <p:sp>
        <p:nvSpPr>
          <p:cNvPr id="6" name="Marcador de pie de página 5">
            <a:extLst>
              <a:ext uri="{FF2B5EF4-FFF2-40B4-BE49-F238E27FC236}">
                <a16:creationId xmlns:a16="http://schemas.microsoft.com/office/drawing/2014/main" id="{C55746CE-82F9-4FA8-9A0E-E8F8DA709DAA}"/>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9D1589BA-AA34-440C-96EE-5096F4D80989}"/>
              </a:ext>
            </a:extLst>
          </p:cNvPr>
          <p:cNvSpPr>
            <a:spLocks noGrp="1"/>
          </p:cNvSpPr>
          <p:nvPr>
            <p:ph type="sldNum" sz="quarter" idx="12"/>
          </p:nvPr>
        </p:nvSpPr>
        <p:spPr/>
        <p:txBody>
          <a:bodyPr/>
          <a:lstStyle/>
          <a:p>
            <a:fld id="{998B09BD-4935-4E15-915B-CAF5541A0352}" type="slidenum">
              <a:rPr lang="es-CO" smtClean="0"/>
              <a:t>‹Nº›</a:t>
            </a:fld>
            <a:endParaRPr lang="es-CO"/>
          </a:p>
        </p:txBody>
      </p:sp>
    </p:spTree>
    <p:extLst>
      <p:ext uri="{BB962C8B-B14F-4D97-AF65-F5344CB8AC3E}">
        <p14:creationId xmlns:p14="http://schemas.microsoft.com/office/powerpoint/2010/main" val="11546979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951E2B-923F-4458-9B56-B6694F6C3705}"/>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E3F8E8BD-05AE-42F6-A28F-DE6821AC6B4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86F1BADB-96DB-4328-9A9B-39ECD064501B}"/>
              </a:ext>
            </a:extLst>
          </p:cNvPr>
          <p:cNvSpPr>
            <a:spLocks noGrp="1"/>
          </p:cNvSpPr>
          <p:nvPr>
            <p:ph type="dt" sz="half" idx="10"/>
          </p:nvPr>
        </p:nvSpPr>
        <p:spPr/>
        <p:txBody>
          <a:bodyPr/>
          <a:lstStyle/>
          <a:p>
            <a:fld id="{6BED464F-AE49-4530-AB8F-BF5C16571F6A}" type="datetimeFigureOut">
              <a:rPr lang="es-CO" smtClean="0"/>
              <a:t>26/03/26</a:t>
            </a:fld>
            <a:endParaRPr lang="es-CO"/>
          </a:p>
        </p:txBody>
      </p:sp>
      <p:sp>
        <p:nvSpPr>
          <p:cNvPr id="5" name="Marcador de pie de página 4">
            <a:extLst>
              <a:ext uri="{FF2B5EF4-FFF2-40B4-BE49-F238E27FC236}">
                <a16:creationId xmlns:a16="http://schemas.microsoft.com/office/drawing/2014/main" id="{D2F361CB-E120-4FCE-BC69-B351C1064DE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1A0C5800-7D4C-473A-A846-3DA77B77F6E4}"/>
              </a:ext>
            </a:extLst>
          </p:cNvPr>
          <p:cNvSpPr>
            <a:spLocks noGrp="1"/>
          </p:cNvSpPr>
          <p:nvPr>
            <p:ph type="sldNum" sz="quarter" idx="12"/>
          </p:nvPr>
        </p:nvSpPr>
        <p:spPr/>
        <p:txBody>
          <a:bodyPr/>
          <a:lstStyle/>
          <a:p>
            <a:fld id="{998B09BD-4935-4E15-915B-CAF5541A0352}" type="slidenum">
              <a:rPr lang="es-CO" smtClean="0"/>
              <a:t>‹Nº›</a:t>
            </a:fld>
            <a:endParaRPr lang="es-CO"/>
          </a:p>
        </p:txBody>
      </p:sp>
    </p:spTree>
    <p:extLst>
      <p:ext uri="{BB962C8B-B14F-4D97-AF65-F5344CB8AC3E}">
        <p14:creationId xmlns:p14="http://schemas.microsoft.com/office/powerpoint/2010/main" val="15758463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39A63E9-572F-4E70-900E-8289A8BA0808}"/>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1F3A2B5C-5897-4F84-B25A-DEA36E31FF1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72819DD3-DEDB-4FDA-B961-E728E57A9293}"/>
              </a:ext>
            </a:extLst>
          </p:cNvPr>
          <p:cNvSpPr>
            <a:spLocks noGrp="1"/>
          </p:cNvSpPr>
          <p:nvPr>
            <p:ph type="dt" sz="half" idx="10"/>
          </p:nvPr>
        </p:nvSpPr>
        <p:spPr/>
        <p:txBody>
          <a:bodyPr/>
          <a:lstStyle/>
          <a:p>
            <a:fld id="{6BED464F-AE49-4530-AB8F-BF5C16571F6A}" type="datetimeFigureOut">
              <a:rPr lang="es-CO" smtClean="0"/>
              <a:t>26/03/26</a:t>
            </a:fld>
            <a:endParaRPr lang="es-CO"/>
          </a:p>
        </p:txBody>
      </p:sp>
      <p:sp>
        <p:nvSpPr>
          <p:cNvPr id="5" name="Marcador de pie de página 4">
            <a:extLst>
              <a:ext uri="{FF2B5EF4-FFF2-40B4-BE49-F238E27FC236}">
                <a16:creationId xmlns:a16="http://schemas.microsoft.com/office/drawing/2014/main" id="{8FEFDFE9-8BB3-47D4-8027-F3E67B3CA62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D4ABD4CB-278D-4FCC-99DC-7BC9FE90A8FD}"/>
              </a:ext>
            </a:extLst>
          </p:cNvPr>
          <p:cNvSpPr>
            <a:spLocks noGrp="1"/>
          </p:cNvSpPr>
          <p:nvPr>
            <p:ph type="sldNum" sz="quarter" idx="12"/>
          </p:nvPr>
        </p:nvSpPr>
        <p:spPr/>
        <p:txBody>
          <a:bodyPr/>
          <a:lstStyle/>
          <a:p>
            <a:fld id="{998B09BD-4935-4E15-915B-CAF5541A0352}" type="slidenum">
              <a:rPr lang="es-CO" smtClean="0"/>
              <a:t>‹Nº›</a:t>
            </a:fld>
            <a:endParaRPr lang="es-CO"/>
          </a:p>
        </p:txBody>
      </p:sp>
    </p:spTree>
    <p:extLst>
      <p:ext uri="{BB962C8B-B14F-4D97-AF65-F5344CB8AC3E}">
        <p14:creationId xmlns:p14="http://schemas.microsoft.com/office/powerpoint/2010/main" val="2483546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BBD8030-76DF-446F-8225-156CADC5D7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2A1A0A47-AAFE-4984-8867-B71DC703FA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0E5AFFB-23A1-4118-A1AD-F7A3420B9E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ED464F-AE49-4530-AB8F-BF5C16571F6A}" type="datetimeFigureOut">
              <a:rPr lang="es-CO" smtClean="0"/>
              <a:t>26/03/26</a:t>
            </a:fld>
            <a:endParaRPr lang="es-CO"/>
          </a:p>
        </p:txBody>
      </p:sp>
      <p:sp>
        <p:nvSpPr>
          <p:cNvPr id="5" name="Marcador de pie de página 4">
            <a:extLst>
              <a:ext uri="{FF2B5EF4-FFF2-40B4-BE49-F238E27FC236}">
                <a16:creationId xmlns:a16="http://schemas.microsoft.com/office/drawing/2014/main" id="{227482B8-2E51-4D91-8D5A-2BE6ED75B6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592081BF-C090-4E4F-855F-FB857FCD281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8B09BD-4935-4E15-915B-CAF5541A0352}" type="slidenum">
              <a:rPr lang="es-CO" smtClean="0"/>
              <a:t>‹Nº›</a:t>
            </a:fld>
            <a:endParaRPr lang="es-CO"/>
          </a:p>
        </p:txBody>
      </p:sp>
    </p:spTree>
    <p:extLst>
      <p:ext uri="{BB962C8B-B14F-4D97-AF65-F5344CB8AC3E}">
        <p14:creationId xmlns:p14="http://schemas.microsoft.com/office/powerpoint/2010/main" val="35718254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6.png"/><Relationship Id="rId7" Type="http://schemas.openxmlformats.org/officeDocument/2006/relationships/diagramColors" Target="../diagrams/colors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B69533-1871-4A5A-9BE1-C29688C859B4}"/>
              </a:ext>
            </a:extLst>
          </p:cNvPr>
          <p:cNvSpPr>
            <a:spLocks noGrp="1"/>
          </p:cNvSpPr>
          <p:nvPr>
            <p:ph type="ctrTitle"/>
          </p:nvPr>
        </p:nvSpPr>
        <p:spPr>
          <a:xfrm>
            <a:off x="4099648" y="2629714"/>
            <a:ext cx="6655837" cy="949514"/>
          </a:xfrm>
        </p:spPr>
        <p:txBody>
          <a:bodyPr>
            <a:noAutofit/>
          </a:bodyPr>
          <a:lstStyle/>
          <a:p>
            <a:r>
              <a:rPr lang="es-CO" sz="5200" b="1" dirty="0">
                <a:solidFill>
                  <a:schemeClr val="bg1"/>
                </a:solidFill>
              </a:rPr>
              <a:t>Diabetes Mellitus tipo 2 en Mayores de 18 años</a:t>
            </a:r>
          </a:p>
        </p:txBody>
      </p:sp>
      <p:sp>
        <p:nvSpPr>
          <p:cNvPr id="3" name="Subtítulo 2">
            <a:extLst>
              <a:ext uri="{FF2B5EF4-FFF2-40B4-BE49-F238E27FC236}">
                <a16:creationId xmlns:a16="http://schemas.microsoft.com/office/drawing/2014/main" id="{BCD6ED36-3E6F-4691-BDA3-31B08010DD6D}"/>
              </a:ext>
            </a:extLst>
          </p:cNvPr>
          <p:cNvSpPr>
            <a:spLocks noGrp="1"/>
          </p:cNvSpPr>
          <p:nvPr>
            <p:ph type="subTitle" idx="1"/>
          </p:nvPr>
        </p:nvSpPr>
        <p:spPr>
          <a:xfrm>
            <a:off x="464033" y="5030291"/>
            <a:ext cx="9144000" cy="846756"/>
          </a:xfrm>
        </p:spPr>
        <p:txBody>
          <a:bodyPr>
            <a:normAutofit lnSpcReduction="10000"/>
          </a:bodyPr>
          <a:lstStyle/>
          <a:p>
            <a:r>
              <a:rPr lang="es-MX" b="1" dirty="0">
                <a:solidFill>
                  <a:schemeClr val="accent6">
                    <a:lumMod val="50000"/>
                  </a:schemeClr>
                </a:solidFill>
              </a:rPr>
              <a:t>Silvia Tatiana González Gómez</a:t>
            </a:r>
          </a:p>
          <a:p>
            <a:r>
              <a:rPr lang="es-MX" b="1" dirty="0">
                <a:solidFill>
                  <a:schemeClr val="accent6">
                    <a:lumMod val="50000"/>
                  </a:schemeClr>
                </a:solidFill>
              </a:rPr>
              <a:t>Especialista en Medicina Familiar</a:t>
            </a:r>
          </a:p>
        </p:txBody>
      </p:sp>
    </p:spTree>
    <p:extLst>
      <p:ext uri="{BB962C8B-B14F-4D97-AF65-F5344CB8AC3E}">
        <p14:creationId xmlns:p14="http://schemas.microsoft.com/office/powerpoint/2010/main" val="17950833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r="-1000"/>
          </a:stretch>
        </a:blip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D64D2AA8-87C2-4C59-95E8-68296A897C21}"/>
              </a:ext>
            </a:extLst>
          </p:cNvPr>
          <p:cNvSpPr txBox="1"/>
          <p:nvPr/>
        </p:nvSpPr>
        <p:spPr>
          <a:xfrm>
            <a:off x="3751384" y="243945"/>
            <a:ext cx="8159262" cy="584775"/>
          </a:xfrm>
          <a:prstGeom prst="rect">
            <a:avLst/>
          </a:prstGeom>
          <a:noFill/>
        </p:spPr>
        <p:txBody>
          <a:bodyPr wrap="square">
            <a:spAutoFit/>
          </a:bodyPr>
          <a:lstStyle/>
          <a:p>
            <a:pPr algn="r"/>
            <a:r>
              <a:rPr lang="es-MX" sz="1600" b="1" dirty="0">
                <a:solidFill>
                  <a:schemeClr val="accent6">
                    <a:lumMod val="50000"/>
                  </a:schemeClr>
                </a:solidFill>
              </a:rPr>
              <a:t>Adopción: GPC Diabetes Mellitus tipo 2 MinSalud 2015</a:t>
            </a:r>
            <a:endParaRPr lang="es-CO" sz="1600" dirty="0">
              <a:effectLst/>
            </a:endParaRPr>
          </a:p>
          <a:p>
            <a:pPr algn="r"/>
            <a:r>
              <a:rPr lang="es-MX" sz="1600" b="1" dirty="0">
                <a:solidFill>
                  <a:schemeClr val="accent6">
                    <a:lumMod val="50000"/>
                  </a:schemeClr>
                </a:solidFill>
              </a:rPr>
              <a:t>Adaptación: GPC Asociación Colombiana de Endocrinología 2025 y Guía Americana (ADA) 2026</a:t>
            </a:r>
            <a:endParaRPr lang="es-CO" sz="1600" b="1" dirty="0">
              <a:solidFill>
                <a:schemeClr val="accent6">
                  <a:lumMod val="50000"/>
                </a:schemeClr>
              </a:solidFill>
            </a:endParaRPr>
          </a:p>
        </p:txBody>
      </p:sp>
      <p:sp>
        <p:nvSpPr>
          <p:cNvPr id="4" name="Content Placeholder 2">
            <a:extLst>
              <a:ext uri="{FF2B5EF4-FFF2-40B4-BE49-F238E27FC236}">
                <a16:creationId xmlns:a16="http://schemas.microsoft.com/office/drawing/2014/main" id="{D1D677F0-9449-4EE9-9FFC-34F4EB8C24C7}"/>
              </a:ext>
            </a:extLst>
          </p:cNvPr>
          <p:cNvSpPr>
            <a:spLocks noGrp="1"/>
          </p:cNvSpPr>
          <p:nvPr>
            <p:ph idx="1"/>
          </p:nvPr>
        </p:nvSpPr>
        <p:spPr>
          <a:xfrm>
            <a:off x="2962835" y="1146067"/>
            <a:ext cx="8834718" cy="1337158"/>
          </a:xfrm>
          <a:solidFill>
            <a:schemeClr val="accent6">
              <a:lumMod val="20000"/>
              <a:lumOff val="80000"/>
            </a:schemeClr>
          </a:solidFill>
          <a:ln w="19050">
            <a:solidFill>
              <a:schemeClr val="accent6">
                <a:lumMod val="50000"/>
              </a:schemeClr>
            </a:solidFill>
          </a:ln>
        </p:spPr>
        <p:txBody>
          <a:bodyPr>
            <a:normAutofit lnSpcReduction="10000"/>
          </a:bodyPr>
          <a:lstStyle/>
          <a:p>
            <a:r>
              <a:rPr sz="1600" b="1" dirty="0">
                <a:solidFill>
                  <a:schemeClr val="accent6">
                    <a:lumMod val="50000"/>
                  </a:schemeClr>
                </a:solidFill>
              </a:rPr>
              <a:t>La guía base </a:t>
            </a:r>
            <a:r>
              <a:rPr sz="1600" b="1" dirty="0" err="1">
                <a:solidFill>
                  <a:schemeClr val="accent6">
                    <a:lumMod val="50000"/>
                  </a:schemeClr>
                </a:solidFill>
              </a:rPr>
              <a:t>adoptada</a:t>
            </a:r>
            <a:r>
              <a:rPr sz="1600" b="1" dirty="0">
                <a:solidFill>
                  <a:schemeClr val="accent6">
                    <a:lumMod val="50000"/>
                  </a:schemeClr>
                </a:solidFill>
              </a:rPr>
              <a:t> </a:t>
            </a:r>
            <a:r>
              <a:rPr sz="1600" b="1" dirty="0" err="1">
                <a:solidFill>
                  <a:schemeClr val="accent6">
                    <a:lumMod val="50000"/>
                  </a:schemeClr>
                </a:solidFill>
              </a:rPr>
              <a:t>institucionalmente</a:t>
            </a:r>
            <a:r>
              <a:rPr sz="1600" b="1" dirty="0">
                <a:solidFill>
                  <a:schemeClr val="accent6">
                    <a:lumMod val="50000"/>
                  </a:schemeClr>
                </a:solidFill>
              </a:rPr>
              <a:t> es la </a:t>
            </a:r>
            <a:r>
              <a:rPr sz="1600" b="1" dirty="0" err="1">
                <a:solidFill>
                  <a:schemeClr val="accent6">
                    <a:lumMod val="50000"/>
                  </a:schemeClr>
                </a:solidFill>
              </a:rPr>
              <a:t>Guía</a:t>
            </a:r>
            <a:r>
              <a:rPr sz="1600" b="1" dirty="0">
                <a:solidFill>
                  <a:schemeClr val="accent6">
                    <a:lumMod val="50000"/>
                  </a:schemeClr>
                </a:solidFill>
              </a:rPr>
              <a:t> </a:t>
            </a:r>
            <a:r>
              <a:rPr lang="es-CO" sz="1600" b="1" dirty="0">
                <a:solidFill>
                  <a:schemeClr val="accent6">
                    <a:lumMod val="50000"/>
                  </a:schemeClr>
                </a:solidFill>
              </a:rPr>
              <a:t>Colombiana</a:t>
            </a:r>
            <a:r>
              <a:rPr sz="1600" b="1" dirty="0">
                <a:solidFill>
                  <a:schemeClr val="accent6">
                    <a:lumMod val="50000"/>
                  </a:schemeClr>
                </a:solidFill>
              </a:rPr>
              <a:t> de </a:t>
            </a:r>
            <a:r>
              <a:rPr lang="en-US" sz="1600" b="1" dirty="0">
                <a:solidFill>
                  <a:schemeClr val="accent6">
                    <a:lumMod val="50000"/>
                  </a:schemeClr>
                </a:solidFill>
              </a:rPr>
              <a:t>Diabetes Mellitus </a:t>
            </a:r>
            <a:r>
              <a:rPr lang="en-US" sz="1600" b="1" dirty="0" err="1">
                <a:solidFill>
                  <a:schemeClr val="accent6">
                    <a:lumMod val="50000"/>
                  </a:schemeClr>
                </a:solidFill>
              </a:rPr>
              <a:t>tipo</a:t>
            </a:r>
            <a:r>
              <a:rPr lang="en-US" sz="1600" b="1" dirty="0">
                <a:solidFill>
                  <a:schemeClr val="accent6">
                    <a:lumMod val="50000"/>
                  </a:schemeClr>
                </a:solidFill>
              </a:rPr>
              <a:t> 2 del </a:t>
            </a:r>
            <a:r>
              <a:rPr lang="en-US" sz="1600" b="1" dirty="0" err="1">
                <a:solidFill>
                  <a:schemeClr val="accent6">
                    <a:lumMod val="50000"/>
                  </a:schemeClr>
                </a:solidFill>
              </a:rPr>
              <a:t>MinSalud</a:t>
            </a:r>
            <a:r>
              <a:rPr lang="en-US" sz="1600" b="1" dirty="0">
                <a:solidFill>
                  <a:schemeClr val="accent6">
                    <a:lumMod val="50000"/>
                  </a:schemeClr>
                </a:solidFill>
              </a:rPr>
              <a:t> 2015.</a:t>
            </a:r>
            <a:endParaRPr sz="1600" b="1" dirty="0">
              <a:solidFill>
                <a:schemeClr val="accent6">
                  <a:lumMod val="50000"/>
                </a:schemeClr>
              </a:solidFill>
            </a:endParaRPr>
          </a:p>
          <a:p>
            <a:r>
              <a:rPr sz="1600" b="1" dirty="0">
                <a:solidFill>
                  <a:schemeClr val="accent6">
                    <a:lumMod val="50000"/>
                  </a:schemeClr>
                </a:solidFill>
              </a:rPr>
              <a:t>Sus recomendaciones se </a:t>
            </a:r>
            <a:r>
              <a:rPr sz="1600" b="1" dirty="0" err="1">
                <a:solidFill>
                  <a:schemeClr val="accent6">
                    <a:lumMod val="50000"/>
                  </a:schemeClr>
                </a:solidFill>
              </a:rPr>
              <a:t>han</a:t>
            </a:r>
            <a:r>
              <a:rPr sz="1600" b="1" dirty="0">
                <a:solidFill>
                  <a:schemeClr val="accent6">
                    <a:lumMod val="50000"/>
                  </a:schemeClr>
                </a:solidFill>
              </a:rPr>
              <a:t> </a:t>
            </a:r>
            <a:r>
              <a:rPr sz="1600" b="1" dirty="0" err="1">
                <a:solidFill>
                  <a:schemeClr val="accent6">
                    <a:lumMod val="50000"/>
                  </a:schemeClr>
                </a:solidFill>
              </a:rPr>
              <a:t>adaptado</a:t>
            </a:r>
            <a:r>
              <a:rPr sz="1600" b="1" dirty="0">
                <a:solidFill>
                  <a:schemeClr val="accent6">
                    <a:lumMod val="50000"/>
                  </a:schemeClr>
                </a:solidFill>
              </a:rPr>
              <a:t> </a:t>
            </a:r>
            <a:r>
              <a:rPr sz="1600" b="1" dirty="0" err="1">
                <a:solidFill>
                  <a:schemeClr val="accent6">
                    <a:lumMod val="50000"/>
                  </a:schemeClr>
                </a:solidFill>
              </a:rPr>
              <a:t>considerando</a:t>
            </a:r>
            <a:r>
              <a:rPr sz="1600" b="1" dirty="0">
                <a:solidFill>
                  <a:schemeClr val="accent6">
                    <a:lumMod val="50000"/>
                  </a:schemeClr>
                </a:solidFill>
              </a:rPr>
              <a:t> </a:t>
            </a:r>
            <a:r>
              <a:rPr sz="1600" b="1" dirty="0" err="1">
                <a:solidFill>
                  <a:schemeClr val="accent6">
                    <a:lumMod val="50000"/>
                  </a:schemeClr>
                </a:solidFill>
              </a:rPr>
              <a:t>actualizaciones</a:t>
            </a:r>
            <a:r>
              <a:rPr sz="1600" b="1" dirty="0">
                <a:solidFill>
                  <a:schemeClr val="accent6">
                    <a:lumMod val="50000"/>
                  </a:schemeClr>
                </a:solidFill>
              </a:rPr>
              <a:t> de la </a:t>
            </a:r>
            <a:r>
              <a:rPr sz="1600" b="1" dirty="0" err="1">
                <a:solidFill>
                  <a:schemeClr val="accent6">
                    <a:lumMod val="50000"/>
                  </a:schemeClr>
                </a:solidFill>
              </a:rPr>
              <a:t>guía</a:t>
            </a:r>
            <a:r>
              <a:rPr sz="1600" b="1" dirty="0">
                <a:solidFill>
                  <a:schemeClr val="accent6">
                    <a:lumMod val="50000"/>
                  </a:schemeClr>
                </a:solidFill>
              </a:rPr>
              <a:t> </a:t>
            </a:r>
            <a:r>
              <a:rPr lang="en-US" sz="1600" b="1" dirty="0">
                <a:solidFill>
                  <a:schemeClr val="accent6">
                    <a:lumMod val="50000"/>
                  </a:schemeClr>
                </a:solidFill>
              </a:rPr>
              <a:t>de la </a:t>
            </a:r>
            <a:r>
              <a:rPr lang="en-US" sz="1600" b="1" dirty="0" err="1">
                <a:solidFill>
                  <a:schemeClr val="accent6">
                    <a:lumMod val="50000"/>
                  </a:schemeClr>
                </a:solidFill>
              </a:rPr>
              <a:t>Asociación</a:t>
            </a:r>
            <a:r>
              <a:rPr lang="en-US" sz="1600" b="1" dirty="0">
                <a:solidFill>
                  <a:schemeClr val="accent6">
                    <a:lumMod val="50000"/>
                  </a:schemeClr>
                </a:solidFill>
              </a:rPr>
              <a:t> </a:t>
            </a:r>
            <a:r>
              <a:rPr lang="en-US" sz="1600" b="1" dirty="0" err="1">
                <a:solidFill>
                  <a:schemeClr val="accent6">
                    <a:lumMod val="50000"/>
                  </a:schemeClr>
                </a:solidFill>
              </a:rPr>
              <a:t>Colombiana</a:t>
            </a:r>
            <a:r>
              <a:rPr lang="en-US" sz="1600" b="1" dirty="0">
                <a:solidFill>
                  <a:schemeClr val="accent6">
                    <a:lumMod val="50000"/>
                  </a:schemeClr>
                </a:solidFill>
              </a:rPr>
              <a:t> de </a:t>
            </a:r>
            <a:r>
              <a:rPr lang="en-US" sz="1600" b="1" dirty="0" err="1">
                <a:solidFill>
                  <a:schemeClr val="accent6">
                    <a:lumMod val="50000"/>
                  </a:schemeClr>
                </a:solidFill>
              </a:rPr>
              <a:t>Endocrinología</a:t>
            </a:r>
            <a:r>
              <a:rPr sz="1600" b="1" dirty="0">
                <a:solidFill>
                  <a:schemeClr val="accent6">
                    <a:lumMod val="50000"/>
                  </a:schemeClr>
                </a:solidFill>
              </a:rPr>
              <a:t> y </a:t>
            </a:r>
            <a:r>
              <a:rPr lang="en-US" sz="1600" b="1" dirty="0">
                <a:solidFill>
                  <a:schemeClr val="accent6">
                    <a:lumMod val="50000"/>
                  </a:schemeClr>
                </a:solidFill>
              </a:rPr>
              <a:t>la A</a:t>
            </a:r>
            <a:r>
              <a:rPr sz="1600" b="1" dirty="0">
                <a:solidFill>
                  <a:schemeClr val="accent6">
                    <a:lumMod val="50000"/>
                  </a:schemeClr>
                </a:solidFill>
              </a:rPr>
              <a:t>mericana.</a:t>
            </a:r>
          </a:p>
          <a:p>
            <a:r>
              <a:rPr sz="1600" b="1" dirty="0">
                <a:solidFill>
                  <a:schemeClr val="accent6">
                    <a:lumMod val="50000"/>
                  </a:schemeClr>
                </a:solidFill>
              </a:rPr>
              <a:t>La </a:t>
            </a:r>
            <a:r>
              <a:rPr sz="1600" b="1" dirty="0" err="1">
                <a:solidFill>
                  <a:schemeClr val="accent6">
                    <a:lumMod val="50000"/>
                  </a:schemeClr>
                </a:solidFill>
              </a:rPr>
              <a:t>adaptación</a:t>
            </a:r>
            <a:r>
              <a:rPr sz="1600" b="1" dirty="0">
                <a:solidFill>
                  <a:schemeClr val="accent6">
                    <a:lumMod val="50000"/>
                  </a:schemeClr>
                </a:solidFill>
              </a:rPr>
              <a:t> se </a:t>
            </a:r>
            <a:r>
              <a:rPr sz="1600" b="1" dirty="0" err="1">
                <a:solidFill>
                  <a:schemeClr val="accent6">
                    <a:lumMod val="50000"/>
                  </a:schemeClr>
                </a:solidFill>
              </a:rPr>
              <a:t>ajusta</a:t>
            </a:r>
            <a:r>
              <a:rPr sz="1600" b="1" dirty="0">
                <a:solidFill>
                  <a:schemeClr val="accent6">
                    <a:lumMod val="50000"/>
                  </a:schemeClr>
                </a:solidFill>
              </a:rPr>
              <a:t> al </a:t>
            </a:r>
            <a:r>
              <a:rPr sz="1600" b="1" dirty="0" err="1">
                <a:solidFill>
                  <a:schemeClr val="accent6">
                    <a:lumMod val="50000"/>
                  </a:schemeClr>
                </a:solidFill>
              </a:rPr>
              <a:t>contexto</a:t>
            </a:r>
            <a:r>
              <a:rPr sz="1600" b="1" dirty="0">
                <a:solidFill>
                  <a:schemeClr val="accent6">
                    <a:lumMod val="50000"/>
                  </a:schemeClr>
                </a:solidFill>
              </a:rPr>
              <a:t> </a:t>
            </a:r>
            <a:r>
              <a:rPr sz="1600" b="1" dirty="0" err="1">
                <a:solidFill>
                  <a:schemeClr val="accent6">
                    <a:lumMod val="50000"/>
                  </a:schemeClr>
                </a:solidFill>
              </a:rPr>
              <a:t>institucional</a:t>
            </a:r>
            <a:r>
              <a:rPr sz="1600" b="1" dirty="0">
                <a:solidFill>
                  <a:schemeClr val="accent6">
                    <a:lumMod val="50000"/>
                  </a:schemeClr>
                </a:solidFill>
              </a:rPr>
              <a:t> y </a:t>
            </a:r>
            <a:r>
              <a:rPr sz="1600" b="1" dirty="0" err="1">
                <a:solidFill>
                  <a:schemeClr val="accent6">
                    <a:lumMod val="50000"/>
                  </a:schemeClr>
                </a:solidFill>
              </a:rPr>
              <a:t>orienta</a:t>
            </a:r>
            <a:r>
              <a:rPr sz="1600" b="1" dirty="0">
                <a:solidFill>
                  <a:schemeClr val="accent6">
                    <a:lumMod val="50000"/>
                  </a:schemeClr>
                </a:solidFill>
              </a:rPr>
              <a:t> la </a:t>
            </a:r>
            <a:r>
              <a:rPr sz="1600" b="1" dirty="0" err="1">
                <a:solidFill>
                  <a:schemeClr val="accent6">
                    <a:lumMod val="50000"/>
                  </a:schemeClr>
                </a:solidFill>
              </a:rPr>
              <a:t>práctica</a:t>
            </a:r>
            <a:r>
              <a:rPr sz="1600" b="1" dirty="0">
                <a:solidFill>
                  <a:schemeClr val="accent6">
                    <a:lumMod val="50000"/>
                  </a:schemeClr>
                </a:solidFill>
              </a:rPr>
              <a:t> </a:t>
            </a:r>
            <a:r>
              <a:rPr sz="1600" b="1" dirty="0" err="1">
                <a:solidFill>
                  <a:schemeClr val="accent6">
                    <a:lumMod val="50000"/>
                  </a:schemeClr>
                </a:solidFill>
              </a:rPr>
              <a:t>clínica</a:t>
            </a:r>
            <a:r>
              <a:rPr sz="1600" b="1" dirty="0">
                <a:solidFill>
                  <a:schemeClr val="accent6">
                    <a:lumMod val="50000"/>
                  </a:schemeClr>
                </a:solidFill>
              </a:rPr>
              <a:t> </a:t>
            </a:r>
            <a:r>
              <a:rPr sz="1600" b="1" dirty="0" err="1">
                <a:solidFill>
                  <a:schemeClr val="accent6">
                    <a:lumMod val="50000"/>
                  </a:schemeClr>
                </a:solidFill>
              </a:rPr>
              <a:t>diaria</a:t>
            </a:r>
            <a:r>
              <a:rPr sz="1600" b="1" dirty="0">
                <a:solidFill>
                  <a:srgbClr val="002060"/>
                </a:solidFill>
              </a:rPr>
              <a:t>.</a:t>
            </a:r>
          </a:p>
          <a:p>
            <a:pPr marL="0" indent="0">
              <a:buNone/>
            </a:pPr>
            <a:endParaRPr sz="1600" b="1" dirty="0">
              <a:solidFill>
                <a:srgbClr val="002060"/>
              </a:solidFill>
            </a:endParaRPr>
          </a:p>
        </p:txBody>
      </p:sp>
      <p:sp>
        <p:nvSpPr>
          <p:cNvPr id="17" name="CuadroTexto 16">
            <a:extLst>
              <a:ext uri="{FF2B5EF4-FFF2-40B4-BE49-F238E27FC236}">
                <a16:creationId xmlns:a16="http://schemas.microsoft.com/office/drawing/2014/main" id="{0AEDAADD-1A49-4BB2-AD98-ED392CDEF81B}"/>
              </a:ext>
            </a:extLst>
          </p:cNvPr>
          <p:cNvSpPr txBox="1"/>
          <p:nvPr/>
        </p:nvSpPr>
        <p:spPr>
          <a:xfrm>
            <a:off x="4190130" y="2615906"/>
            <a:ext cx="310433" cy="369332"/>
          </a:xfrm>
          <a:prstGeom prst="rect">
            <a:avLst/>
          </a:prstGeom>
          <a:noFill/>
        </p:spPr>
        <p:txBody>
          <a:bodyPr wrap="square">
            <a:spAutoFit/>
          </a:bodyPr>
          <a:lstStyle/>
          <a:p>
            <a:r>
              <a:rPr lang="es-MX" dirty="0"/>
              <a:t>📌</a:t>
            </a:r>
            <a:endParaRPr lang="es-CO" dirty="0"/>
          </a:p>
        </p:txBody>
      </p:sp>
      <p:pic>
        <p:nvPicPr>
          <p:cNvPr id="5" name="Imagen 4">
            <a:extLst>
              <a:ext uri="{FF2B5EF4-FFF2-40B4-BE49-F238E27FC236}">
                <a16:creationId xmlns:a16="http://schemas.microsoft.com/office/drawing/2014/main" id="{43EB8D07-74DC-AA1F-629B-2E72741848FD}"/>
              </a:ext>
            </a:extLst>
          </p:cNvPr>
          <p:cNvPicPr>
            <a:picLocks/>
          </p:cNvPicPr>
          <p:nvPr/>
        </p:nvPicPr>
        <p:blipFill rotWithShape="1">
          <a:blip r:embed="rId4">
            <a:extLst>
              <a:ext uri="{28A0092B-C50C-407E-A947-70E740481C1C}">
                <a14:useLocalDpi xmlns:a14="http://schemas.microsoft.com/office/drawing/2010/main" val="0"/>
              </a:ext>
            </a:extLst>
          </a:blip>
          <a:srcRect l="28405" t="9922" r="28193" b="21907"/>
          <a:stretch/>
        </p:blipFill>
        <p:spPr>
          <a:xfrm>
            <a:off x="549520" y="2811991"/>
            <a:ext cx="3783485" cy="3588657"/>
          </a:xfrm>
          <a:prstGeom prst="rect">
            <a:avLst/>
          </a:prstGeom>
        </p:spPr>
      </p:pic>
      <p:pic>
        <p:nvPicPr>
          <p:cNvPr id="7" name="Imagen 6">
            <a:extLst>
              <a:ext uri="{FF2B5EF4-FFF2-40B4-BE49-F238E27FC236}">
                <a16:creationId xmlns:a16="http://schemas.microsoft.com/office/drawing/2014/main" id="{7AADF3D2-1997-370D-BCC8-92A8C33A3D1E}"/>
              </a:ext>
            </a:extLst>
          </p:cNvPr>
          <p:cNvPicPr>
            <a:picLocks/>
          </p:cNvPicPr>
          <p:nvPr/>
        </p:nvPicPr>
        <p:blipFill rotWithShape="1">
          <a:blip r:embed="rId5">
            <a:extLst>
              <a:ext uri="{28A0092B-C50C-407E-A947-70E740481C1C}">
                <a14:useLocalDpi xmlns:a14="http://schemas.microsoft.com/office/drawing/2010/main" val="0"/>
              </a:ext>
            </a:extLst>
          </a:blip>
          <a:srcRect l="25614" t="2353" r="25708" b="2941"/>
          <a:stretch/>
        </p:blipFill>
        <p:spPr>
          <a:xfrm>
            <a:off x="4479244" y="2985238"/>
            <a:ext cx="2714626" cy="3297612"/>
          </a:xfrm>
          <a:prstGeom prst="rect">
            <a:avLst/>
          </a:prstGeom>
        </p:spPr>
      </p:pic>
      <p:pic>
        <p:nvPicPr>
          <p:cNvPr id="11" name="Imagen 10">
            <a:extLst>
              <a:ext uri="{FF2B5EF4-FFF2-40B4-BE49-F238E27FC236}">
                <a16:creationId xmlns:a16="http://schemas.microsoft.com/office/drawing/2014/main" id="{FF51DD44-B5F1-654B-E273-F63C8E2EDA46}"/>
              </a:ext>
            </a:extLst>
          </p:cNvPr>
          <p:cNvPicPr>
            <a:picLocks/>
          </p:cNvPicPr>
          <p:nvPr/>
        </p:nvPicPr>
        <p:blipFill rotWithShape="1">
          <a:blip r:embed="rId6">
            <a:extLst>
              <a:ext uri="{28A0092B-C50C-407E-A947-70E740481C1C}">
                <a14:useLocalDpi xmlns:a14="http://schemas.microsoft.com/office/drawing/2010/main" val="0"/>
              </a:ext>
            </a:extLst>
          </a:blip>
          <a:srcRect l="26348" t="2648" r="26593" b="39485"/>
          <a:stretch/>
        </p:blipFill>
        <p:spPr>
          <a:xfrm>
            <a:off x="7340109" y="3228508"/>
            <a:ext cx="3804141" cy="2811071"/>
          </a:xfrm>
          <a:prstGeom prst="rect">
            <a:avLst/>
          </a:prstGeom>
        </p:spPr>
      </p:pic>
    </p:spTree>
    <p:extLst>
      <p:ext uri="{BB962C8B-B14F-4D97-AF65-F5344CB8AC3E}">
        <p14:creationId xmlns:p14="http://schemas.microsoft.com/office/powerpoint/2010/main" val="2910541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0011F9AB-FACA-47C0-8948-0521D1278CC5}"/>
              </a:ext>
            </a:extLst>
          </p:cNvPr>
          <p:cNvSpPr>
            <a:spLocks noGrp="1"/>
          </p:cNvSpPr>
          <p:nvPr>
            <p:ph type="title"/>
          </p:nvPr>
        </p:nvSpPr>
        <p:spPr>
          <a:xfrm>
            <a:off x="1662959" y="517857"/>
            <a:ext cx="10306049" cy="468594"/>
          </a:xfrm>
        </p:spPr>
        <p:txBody>
          <a:bodyPr>
            <a:noAutofit/>
          </a:bodyPr>
          <a:lstStyle/>
          <a:p>
            <a:r>
              <a:rPr lang="es-CO" sz="4000" b="1" u="sng" dirty="0">
                <a:solidFill>
                  <a:schemeClr val="accent6">
                    <a:lumMod val="50000"/>
                  </a:schemeClr>
                </a:solidFill>
              </a:rPr>
              <a:t>Recomendación 1</a:t>
            </a:r>
            <a:r>
              <a:rPr lang="es-CO" sz="4000" b="1" dirty="0">
                <a:solidFill>
                  <a:schemeClr val="accent6">
                    <a:lumMod val="50000"/>
                  </a:schemeClr>
                </a:solidFill>
              </a:rPr>
              <a:t>: INGRESO Y TAMIZAJE</a:t>
            </a:r>
          </a:p>
        </p:txBody>
      </p:sp>
      <p:sp>
        <p:nvSpPr>
          <p:cNvPr id="11" name="CuadroTexto 10">
            <a:extLst>
              <a:ext uri="{FF2B5EF4-FFF2-40B4-BE49-F238E27FC236}">
                <a16:creationId xmlns:a16="http://schemas.microsoft.com/office/drawing/2014/main" id="{5CA70AB5-21C0-4D87-9127-2EE5101C1D31}"/>
              </a:ext>
            </a:extLst>
          </p:cNvPr>
          <p:cNvSpPr txBox="1"/>
          <p:nvPr/>
        </p:nvSpPr>
        <p:spPr>
          <a:xfrm>
            <a:off x="1958001" y="2153739"/>
            <a:ext cx="8275997" cy="3108543"/>
          </a:xfrm>
          <a:prstGeom prst="rect">
            <a:avLst/>
          </a:prstGeom>
          <a:solidFill>
            <a:schemeClr val="accent6">
              <a:lumMod val="20000"/>
              <a:lumOff val="80000"/>
            </a:schemeClr>
          </a:solidFill>
          <a:ln w="19050">
            <a:solidFill>
              <a:schemeClr val="accent6">
                <a:lumMod val="50000"/>
              </a:schemeClr>
            </a:solidFill>
          </a:ln>
        </p:spPr>
        <p:txBody>
          <a:bodyPr wrap="square">
            <a:spAutoFit/>
          </a:bodyPr>
          <a:lstStyle/>
          <a:p>
            <a:r>
              <a:rPr lang="es-CO" b="1" u="sng" dirty="0">
                <a:solidFill>
                  <a:srgbClr val="333333"/>
                </a:solidFill>
                <a:effectLst/>
              </a:rPr>
              <a:t>Preguntar </a:t>
            </a:r>
            <a:r>
              <a:rPr lang="es-CO" b="1" u="sng" dirty="0">
                <a:solidFill>
                  <a:srgbClr val="333333"/>
                </a:solidFill>
              </a:rPr>
              <a:t>por:</a:t>
            </a:r>
          </a:p>
          <a:p>
            <a:endParaRPr lang="es-CO" b="1" u="sng" dirty="0">
              <a:solidFill>
                <a:srgbClr val="333333"/>
              </a:solidFill>
            </a:endParaRPr>
          </a:p>
          <a:p>
            <a:pPr marL="285750" indent="-285750">
              <a:buFont typeface="Arial" panose="020B0604020202020204" pitchFamily="34" charset="0"/>
              <a:buChar char="•"/>
            </a:pPr>
            <a:r>
              <a:rPr lang="es-CO" b="1" dirty="0" err="1">
                <a:solidFill>
                  <a:srgbClr val="333333"/>
                </a:solidFill>
                <a:effectLst/>
              </a:rPr>
              <a:t>Diagnóstico</a:t>
            </a:r>
            <a:r>
              <a:rPr lang="es-CO" b="1" dirty="0">
                <a:solidFill>
                  <a:srgbClr val="333333"/>
                </a:solidFill>
                <a:effectLst/>
              </a:rPr>
              <a:t> previo </a:t>
            </a:r>
            <a:r>
              <a:rPr lang="es-CO" dirty="0">
                <a:solidFill>
                  <a:srgbClr val="333333"/>
                </a:solidFill>
                <a:effectLst/>
                <a:sym typeface="Wingdings" pitchFamily="2" charset="2"/>
              </a:rPr>
              <a:t> Derivar a crónicos si respuesta positiva. </a:t>
            </a:r>
          </a:p>
          <a:p>
            <a:pPr marL="285750" indent="-285750">
              <a:buFont typeface="Arial" panose="020B0604020202020204" pitchFamily="34" charset="0"/>
              <a:buChar char="•"/>
            </a:pPr>
            <a:endParaRPr lang="es-CO" dirty="0">
              <a:solidFill>
                <a:srgbClr val="333333"/>
              </a:solidFill>
            </a:endParaRPr>
          </a:p>
          <a:p>
            <a:pPr marL="285750" indent="-285750">
              <a:buFont typeface="Arial" panose="020B0604020202020204" pitchFamily="34" charset="0"/>
              <a:buChar char="•"/>
            </a:pPr>
            <a:r>
              <a:rPr lang="es-CO" dirty="0">
                <a:solidFill>
                  <a:srgbClr val="333333"/>
                </a:solidFill>
              </a:rPr>
              <a:t>U</a:t>
            </a:r>
            <a:r>
              <a:rPr lang="es-CO" dirty="0">
                <a:solidFill>
                  <a:srgbClr val="333333"/>
                </a:solidFill>
                <a:effectLst/>
              </a:rPr>
              <a:t>so de </a:t>
            </a:r>
            <a:r>
              <a:rPr lang="es-CO" b="1" dirty="0">
                <a:solidFill>
                  <a:srgbClr val="333333"/>
                </a:solidFill>
                <a:effectLst/>
              </a:rPr>
              <a:t>medicamentos</a:t>
            </a:r>
            <a:r>
              <a:rPr lang="es-CO" dirty="0">
                <a:solidFill>
                  <a:srgbClr val="333333"/>
                </a:solidFill>
                <a:effectLst/>
              </a:rPr>
              <a:t>, </a:t>
            </a:r>
            <a:r>
              <a:rPr lang="es-CO" b="1" dirty="0" err="1">
                <a:solidFill>
                  <a:srgbClr val="333333"/>
                </a:solidFill>
                <a:effectLst/>
              </a:rPr>
              <a:t>síntomas</a:t>
            </a:r>
            <a:r>
              <a:rPr lang="es-CO" dirty="0">
                <a:solidFill>
                  <a:srgbClr val="333333"/>
                </a:solidFill>
                <a:effectLst/>
              </a:rPr>
              <a:t> cardinales (poliuria, polidipsia, polifagia, </a:t>
            </a:r>
            <a:r>
              <a:rPr lang="es-CO" dirty="0" err="1">
                <a:solidFill>
                  <a:srgbClr val="333333"/>
                </a:solidFill>
                <a:effectLst/>
              </a:rPr>
              <a:t>pérdida</a:t>
            </a:r>
            <a:r>
              <a:rPr lang="es-CO" dirty="0">
                <a:solidFill>
                  <a:srgbClr val="333333"/>
                </a:solidFill>
                <a:effectLst/>
              </a:rPr>
              <a:t> de peso no intencional) y </a:t>
            </a:r>
            <a:r>
              <a:rPr lang="es-CO" b="1" dirty="0">
                <a:solidFill>
                  <a:srgbClr val="333333"/>
                </a:solidFill>
                <a:effectLst/>
              </a:rPr>
              <a:t>factores de riesgo. </a:t>
            </a:r>
          </a:p>
          <a:p>
            <a:pPr marL="285750" indent="-285750">
              <a:buFont typeface="Arial" panose="020B0604020202020204" pitchFamily="34" charset="0"/>
              <a:buChar char="•"/>
            </a:pPr>
            <a:endParaRPr lang="es-CO" dirty="0">
              <a:solidFill>
                <a:srgbClr val="333333"/>
              </a:solidFill>
              <a:effectLst/>
            </a:endParaRPr>
          </a:p>
          <a:p>
            <a:pPr marL="285750" indent="-285750">
              <a:buFont typeface="Arial" panose="020B0604020202020204" pitchFamily="34" charset="0"/>
              <a:buChar char="•"/>
            </a:pPr>
            <a:r>
              <a:rPr lang="es-CO" b="1" dirty="0">
                <a:solidFill>
                  <a:srgbClr val="333333"/>
                </a:solidFill>
              </a:rPr>
              <a:t>T</a:t>
            </a:r>
            <a:r>
              <a:rPr lang="es-CO" b="1" dirty="0">
                <a:solidFill>
                  <a:srgbClr val="333333"/>
                </a:solidFill>
                <a:effectLst/>
              </a:rPr>
              <a:t>amizaje</a:t>
            </a:r>
            <a:r>
              <a:rPr lang="es-CO" dirty="0">
                <a:solidFill>
                  <a:srgbClr val="333333"/>
                </a:solidFill>
                <a:effectLst/>
              </a:rPr>
              <a:t> oportunista en consulta.</a:t>
            </a:r>
          </a:p>
          <a:p>
            <a:pPr marL="285750" indent="-285750">
              <a:buFont typeface="Arial" panose="020B0604020202020204" pitchFamily="34" charset="0"/>
              <a:buChar char="•"/>
            </a:pPr>
            <a:r>
              <a:rPr lang="es-CO" b="1" dirty="0">
                <a:solidFill>
                  <a:srgbClr val="333333"/>
                </a:solidFill>
                <a:effectLst/>
              </a:rPr>
              <a:t>FINDRISC</a:t>
            </a:r>
            <a:r>
              <a:rPr lang="es-CO" dirty="0">
                <a:solidFill>
                  <a:srgbClr val="333333"/>
                </a:solidFill>
                <a:effectLst/>
              </a:rPr>
              <a:t> como apoyo </a:t>
            </a:r>
            <a:r>
              <a:rPr lang="es-CO" dirty="0">
                <a:solidFill>
                  <a:srgbClr val="333333"/>
                </a:solidFill>
                <a:effectLst/>
                <a:sym typeface="Wingdings" pitchFamily="2" charset="2"/>
              </a:rPr>
              <a:t> N</a:t>
            </a:r>
            <a:r>
              <a:rPr lang="es-CO" dirty="0">
                <a:solidFill>
                  <a:srgbClr val="333333"/>
                </a:solidFill>
                <a:effectLst/>
              </a:rPr>
              <a:t>o debe reemplazar los criterios </a:t>
            </a:r>
            <a:r>
              <a:rPr lang="es-CO" dirty="0" err="1">
                <a:solidFill>
                  <a:srgbClr val="333333"/>
                </a:solidFill>
                <a:effectLst/>
              </a:rPr>
              <a:t>diagnósticos</a:t>
            </a:r>
            <a:r>
              <a:rPr lang="es-CO" dirty="0">
                <a:solidFill>
                  <a:srgbClr val="333333"/>
                </a:solidFill>
              </a:rPr>
              <a:t> </a:t>
            </a:r>
            <a:r>
              <a:rPr lang="es-CO" dirty="0" err="1">
                <a:solidFill>
                  <a:srgbClr val="333333"/>
                </a:solidFill>
                <a:effectLst/>
              </a:rPr>
              <a:t>bioquímicos</a:t>
            </a:r>
            <a:r>
              <a:rPr lang="es-CO" dirty="0">
                <a:solidFill>
                  <a:srgbClr val="333333"/>
                </a:solidFill>
                <a:effectLst/>
              </a:rPr>
              <a:t>. </a:t>
            </a:r>
            <a:endParaRPr lang="es-CO" dirty="0">
              <a:effectLst/>
            </a:endParaRPr>
          </a:p>
          <a:p>
            <a:pPr marL="742950" lvl="1" indent="-285750">
              <a:buFont typeface="Arial" panose="020B0604020202020204" pitchFamily="34" charset="0"/>
              <a:buChar char="•"/>
            </a:pPr>
            <a:endParaRPr lang="es-MX" sz="1600" dirty="0"/>
          </a:p>
        </p:txBody>
      </p:sp>
      <p:sp>
        <p:nvSpPr>
          <p:cNvPr id="13" name="CuadroTexto 12">
            <a:extLst>
              <a:ext uri="{FF2B5EF4-FFF2-40B4-BE49-F238E27FC236}">
                <a16:creationId xmlns:a16="http://schemas.microsoft.com/office/drawing/2014/main" id="{65542EF3-7D69-4A43-8DBC-74B043511FB8}"/>
              </a:ext>
            </a:extLst>
          </p:cNvPr>
          <p:cNvSpPr txBox="1"/>
          <p:nvPr/>
        </p:nvSpPr>
        <p:spPr>
          <a:xfrm>
            <a:off x="2759813" y="6535077"/>
            <a:ext cx="6672371" cy="276999"/>
          </a:xfrm>
          <a:prstGeom prst="rect">
            <a:avLst/>
          </a:prstGeom>
          <a:noFill/>
        </p:spPr>
        <p:txBody>
          <a:bodyPr wrap="square">
            <a:spAutoFit/>
          </a:bodyPr>
          <a:lstStyle/>
          <a:p>
            <a:pPr algn="ctr"/>
            <a:r>
              <a:rPr lang="es-CO" sz="1200" b="1" dirty="0">
                <a:effectLst/>
                <a:ea typeface="Calibri" panose="020F0502020204030204" pitchFamily="34" charset="0"/>
              </a:rPr>
              <a:t>Guía Colombiana Diabetes Mellitus tipo 2. </a:t>
            </a:r>
            <a:r>
              <a:rPr lang="es-CO" sz="1200" b="1" dirty="0" err="1">
                <a:effectLst/>
                <a:ea typeface="Calibri" panose="020F0502020204030204" pitchFamily="34" charset="0"/>
              </a:rPr>
              <a:t>MinSalud</a:t>
            </a:r>
            <a:r>
              <a:rPr lang="es-CO" sz="1200" b="1" dirty="0">
                <a:ea typeface="Calibri" panose="020F0502020204030204" pitchFamily="34" charset="0"/>
              </a:rPr>
              <a:t>. </a:t>
            </a:r>
            <a:r>
              <a:rPr lang="es-CO" sz="1200" b="1" dirty="0">
                <a:effectLst/>
                <a:ea typeface="Calibri" panose="020F0502020204030204" pitchFamily="34" charset="0"/>
              </a:rPr>
              <a:t>2015 / </a:t>
            </a:r>
            <a:r>
              <a:rPr lang="es-MX" sz="1200" b="1" dirty="0"/>
              <a:t>Consenso institucional Medicina Familiar</a:t>
            </a:r>
          </a:p>
        </p:txBody>
      </p:sp>
    </p:spTree>
    <p:extLst>
      <p:ext uri="{BB962C8B-B14F-4D97-AF65-F5344CB8AC3E}">
        <p14:creationId xmlns:p14="http://schemas.microsoft.com/office/powerpoint/2010/main" val="1620558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r="-1000"/>
          </a:stretch>
        </a:blipFill>
        <a:effectLst/>
      </p:bgPr>
    </p:bg>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531A500E-E583-4A5C-AE34-18B4E9A1BAF2}"/>
              </a:ext>
            </a:extLst>
          </p:cNvPr>
          <p:cNvSpPr txBox="1"/>
          <p:nvPr/>
        </p:nvSpPr>
        <p:spPr>
          <a:xfrm>
            <a:off x="1907676" y="1254627"/>
            <a:ext cx="7479061" cy="2585323"/>
          </a:xfrm>
          <a:prstGeom prst="rect">
            <a:avLst/>
          </a:prstGeom>
          <a:solidFill>
            <a:schemeClr val="accent6">
              <a:lumMod val="20000"/>
              <a:lumOff val="80000"/>
            </a:schemeClr>
          </a:solidFill>
          <a:ln w="19050">
            <a:solidFill>
              <a:schemeClr val="accent6">
                <a:lumMod val="50000"/>
              </a:schemeClr>
            </a:solidFill>
          </a:ln>
        </p:spPr>
        <p:txBody>
          <a:bodyPr wrap="square">
            <a:spAutoFit/>
          </a:bodyPr>
          <a:lstStyle/>
          <a:p>
            <a:r>
              <a:rPr lang="es-CO" sz="1800" b="1" dirty="0">
                <a:solidFill>
                  <a:srgbClr val="333333"/>
                </a:solidFill>
                <a:effectLst/>
              </a:rPr>
              <a:t>Diagnosticar con cualquiera de los siguientes criterios: </a:t>
            </a:r>
          </a:p>
          <a:p>
            <a:endParaRPr lang="es-CO" dirty="0">
              <a:solidFill>
                <a:srgbClr val="333333"/>
              </a:solidFill>
            </a:endParaRPr>
          </a:p>
          <a:p>
            <a:pPr marL="285750" indent="-285750">
              <a:buFont typeface="Arial" panose="020B0604020202020204" pitchFamily="34" charset="0"/>
              <a:buChar char="•"/>
            </a:pPr>
            <a:r>
              <a:rPr lang="es-CO" dirty="0">
                <a:solidFill>
                  <a:srgbClr val="333333"/>
                </a:solidFill>
              </a:rPr>
              <a:t>G</a:t>
            </a:r>
            <a:r>
              <a:rPr lang="es-CO" sz="1800" dirty="0">
                <a:solidFill>
                  <a:srgbClr val="333333"/>
                </a:solidFill>
                <a:effectLst/>
              </a:rPr>
              <a:t>licemia en ayunas </a:t>
            </a:r>
            <a:r>
              <a:rPr lang="es-MX" sz="1800" b="1" dirty="0"/>
              <a:t>≥</a:t>
            </a:r>
            <a:r>
              <a:rPr lang="es-CO" sz="1800" b="1" dirty="0">
                <a:solidFill>
                  <a:srgbClr val="333333"/>
                </a:solidFill>
                <a:effectLst/>
              </a:rPr>
              <a:t> 126 </a:t>
            </a:r>
            <a:r>
              <a:rPr lang="es-CO" sz="1800" dirty="0">
                <a:solidFill>
                  <a:srgbClr val="333333"/>
                </a:solidFill>
                <a:effectLst/>
              </a:rPr>
              <a:t>mg/</a:t>
            </a:r>
            <a:r>
              <a:rPr lang="es-CO" sz="1800" dirty="0" err="1">
                <a:solidFill>
                  <a:srgbClr val="333333"/>
                </a:solidFill>
                <a:effectLst/>
              </a:rPr>
              <a:t>dL</a:t>
            </a:r>
            <a:r>
              <a:rPr lang="es-CO" sz="1800" dirty="0">
                <a:solidFill>
                  <a:srgbClr val="333333"/>
                </a:solidFill>
                <a:effectLst/>
              </a:rPr>
              <a:t> </a:t>
            </a:r>
            <a:endParaRPr lang="es-CO" dirty="0">
              <a:solidFill>
                <a:srgbClr val="333333"/>
              </a:solidFill>
            </a:endParaRPr>
          </a:p>
          <a:p>
            <a:pPr marL="285750" indent="-285750">
              <a:buFont typeface="Arial" panose="020B0604020202020204" pitchFamily="34" charset="0"/>
              <a:buChar char="•"/>
            </a:pPr>
            <a:r>
              <a:rPr lang="es-CO" sz="1800" dirty="0">
                <a:solidFill>
                  <a:srgbClr val="333333"/>
                </a:solidFill>
                <a:effectLst/>
              </a:rPr>
              <a:t>Glicemia a las 2 horas poscarga de 75 g </a:t>
            </a:r>
            <a:r>
              <a:rPr lang="es-MX" sz="1800" b="1" dirty="0"/>
              <a:t>≥</a:t>
            </a:r>
            <a:r>
              <a:rPr lang="es-CO" sz="1800" b="1" dirty="0">
                <a:solidFill>
                  <a:srgbClr val="333333"/>
                </a:solidFill>
                <a:effectLst/>
              </a:rPr>
              <a:t> 200 </a:t>
            </a:r>
            <a:r>
              <a:rPr lang="es-CO" sz="1800" dirty="0">
                <a:solidFill>
                  <a:srgbClr val="333333"/>
                </a:solidFill>
                <a:effectLst/>
              </a:rPr>
              <a:t>mg/</a:t>
            </a:r>
            <a:r>
              <a:rPr lang="es-CO" sz="1800" dirty="0" err="1">
                <a:solidFill>
                  <a:srgbClr val="333333"/>
                </a:solidFill>
                <a:effectLst/>
              </a:rPr>
              <a:t>dL</a:t>
            </a:r>
            <a:r>
              <a:rPr lang="es-CO" dirty="0">
                <a:solidFill>
                  <a:srgbClr val="333333"/>
                </a:solidFill>
              </a:rPr>
              <a:t> </a:t>
            </a:r>
            <a:r>
              <a:rPr lang="es-CO" sz="1800" dirty="0">
                <a:solidFill>
                  <a:srgbClr val="333333"/>
                </a:solidFill>
                <a:effectLst/>
              </a:rPr>
              <a:t>o</a:t>
            </a:r>
          </a:p>
          <a:p>
            <a:pPr marL="285750" indent="-285750">
              <a:buFont typeface="Arial" panose="020B0604020202020204" pitchFamily="34" charset="0"/>
              <a:buChar char="•"/>
            </a:pPr>
            <a:r>
              <a:rPr lang="es-CO" sz="1800" dirty="0">
                <a:solidFill>
                  <a:srgbClr val="333333"/>
                </a:solidFill>
                <a:effectLst/>
              </a:rPr>
              <a:t>HbA1c </a:t>
            </a:r>
            <a:r>
              <a:rPr lang="es-MX" sz="1800" b="1" dirty="0"/>
              <a:t>≥</a:t>
            </a:r>
            <a:r>
              <a:rPr lang="es-CO" sz="1800" b="1" dirty="0">
                <a:solidFill>
                  <a:srgbClr val="333333"/>
                </a:solidFill>
                <a:effectLst/>
              </a:rPr>
              <a:t> 6,5% </a:t>
            </a:r>
          </a:p>
          <a:p>
            <a:pPr marL="285750" indent="-285750">
              <a:buFont typeface="Arial" panose="020B0604020202020204" pitchFamily="34" charset="0"/>
              <a:buChar char="•"/>
            </a:pPr>
            <a:r>
              <a:rPr lang="es-CO" sz="1800" dirty="0">
                <a:solidFill>
                  <a:srgbClr val="333333"/>
                </a:solidFill>
                <a:effectLst/>
              </a:rPr>
              <a:t>Glicemia al azar </a:t>
            </a:r>
            <a:r>
              <a:rPr lang="es-MX" sz="1800" b="1" dirty="0"/>
              <a:t>≥</a:t>
            </a:r>
            <a:r>
              <a:rPr lang="es-CO" sz="1800" b="1" dirty="0">
                <a:solidFill>
                  <a:srgbClr val="333333"/>
                </a:solidFill>
                <a:effectLst/>
              </a:rPr>
              <a:t> 200 </a:t>
            </a:r>
            <a:r>
              <a:rPr lang="es-CO" sz="1800" dirty="0">
                <a:solidFill>
                  <a:srgbClr val="333333"/>
                </a:solidFill>
                <a:effectLst/>
              </a:rPr>
              <a:t>mg/</a:t>
            </a:r>
            <a:r>
              <a:rPr lang="es-CO" sz="1800" dirty="0" err="1">
                <a:solidFill>
                  <a:srgbClr val="333333"/>
                </a:solidFill>
                <a:effectLst/>
              </a:rPr>
              <a:t>dL</a:t>
            </a:r>
            <a:r>
              <a:rPr lang="es-CO" sz="1800" dirty="0">
                <a:solidFill>
                  <a:srgbClr val="333333"/>
                </a:solidFill>
                <a:effectLst/>
              </a:rPr>
              <a:t> </a:t>
            </a:r>
            <a:r>
              <a:rPr lang="es-CO" sz="1800" b="1" dirty="0">
                <a:solidFill>
                  <a:srgbClr val="333333"/>
                </a:solidFill>
                <a:effectLst/>
              </a:rPr>
              <a:t>con </a:t>
            </a:r>
            <a:r>
              <a:rPr lang="es-CO" sz="1800" b="1" dirty="0" err="1">
                <a:solidFill>
                  <a:srgbClr val="333333"/>
                </a:solidFill>
                <a:effectLst/>
              </a:rPr>
              <a:t>síntomas</a:t>
            </a:r>
            <a:r>
              <a:rPr lang="es-CO" sz="1800" dirty="0">
                <a:solidFill>
                  <a:srgbClr val="333333"/>
                </a:solidFill>
                <a:effectLst/>
              </a:rPr>
              <a:t> </a:t>
            </a:r>
            <a:r>
              <a:rPr lang="es-CO" sz="1800" dirty="0" err="1">
                <a:solidFill>
                  <a:srgbClr val="333333"/>
                </a:solidFill>
                <a:effectLst/>
              </a:rPr>
              <a:t>clásicos</a:t>
            </a:r>
            <a:r>
              <a:rPr lang="es-CO" sz="1800" dirty="0">
                <a:solidFill>
                  <a:srgbClr val="333333"/>
                </a:solidFill>
                <a:effectLst/>
              </a:rPr>
              <a:t> o crisis </a:t>
            </a:r>
            <a:r>
              <a:rPr lang="es-CO" sz="1800" dirty="0" err="1">
                <a:solidFill>
                  <a:srgbClr val="333333"/>
                </a:solidFill>
                <a:effectLst/>
              </a:rPr>
              <a:t>hiperglucémica</a:t>
            </a:r>
            <a:r>
              <a:rPr lang="es-CO" sz="1800" dirty="0">
                <a:solidFill>
                  <a:srgbClr val="333333"/>
                </a:solidFill>
                <a:effectLst/>
              </a:rPr>
              <a:t>. </a:t>
            </a:r>
          </a:p>
          <a:p>
            <a:endParaRPr lang="es-CO" dirty="0">
              <a:solidFill>
                <a:srgbClr val="333333"/>
              </a:solidFill>
            </a:endParaRPr>
          </a:p>
          <a:p>
            <a:r>
              <a:rPr lang="es-CO" sz="1800" dirty="0">
                <a:solidFill>
                  <a:srgbClr val="333333"/>
                </a:solidFill>
                <a:effectLst/>
              </a:rPr>
              <a:t>Si no existe hiperglucemia </a:t>
            </a:r>
            <a:r>
              <a:rPr lang="es-CO" sz="1800" dirty="0" err="1">
                <a:solidFill>
                  <a:srgbClr val="333333"/>
                </a:solidFill>
                <a:effectLst/>
              </a:rPr>
              <a:t>inequívoca</a:t>
            </a:r>
            <a:r>
              <a:rPr lang="es-CO" sz="1800" dirty="0">
                <a:solidFill>
                  <a:srgbClr val="333333"/>
                </a:solidFill>
                <a:effectLst/>
              </a:rPr>
              <a:t>, confirmar con </a:t>
            </a:r>
            <a:r>
              <a:rPr lang="es-CO" sz="1800" b="1" dirty="0">
                <a:solidFill>
                  <a:srgbClr val="333333"/>
                </a:solidFill>
                <a:effectLst/>
              </a:rPr>
              <a:t>DOS</a:t>
            </a:r>
            <a:r>
              <a:rPr lang="es-CO" sz="1800" dirty="0">
                <a:solidFill>
                  <a:srgbClr val="333333"/>
                </a:solidFill>
                <a:effectLst/>
              </a:rPr>
              <a:t> resultados anormales. </a:t>
            </a:r>
            <a:endParaRPr lang="es-CO" dirty="0">
              <a:effectLst/>
            </a:endParaRPr>
          </a:p>
        </p:txBody>
      </p:sp>
      <p:sp>
        <p:nvSpPr>
          <p:cNvPr id="8" name="CuadroTexto 7">
            <a:extLst>
              <a:ext uri="{FF2B5EF4-FFF2-40B4-BE49-F238E27FC236}">
                <a16:creationId xmlns:a16="http://schemas.microsoft.com/office/drawing/2014/main" id="{0FD7DDB2-2019-401F-B612-E6E36EBE7440}"/>
              </a:ext>
            </a:extLst>
          </p:cNvPr>
          <p:cNvSpPr txBox="1"/>
          <p:nvPr/>
        </p:nvSpPr>
        <p:spPr>
          <a:xfrm>
            <a:off x="1194205" y="4053461"/>
            <a:ext cx="4901795" cy="2308324"/>
          </a:xfrm>
          <a:prstGeom prst="rect">
            <a:avLst/>
          </a:prstGeom>
          <a:solidFill>
            <a:schemeClr val="accent6">
              <a:lumMod val="20000"/>
              <a:lumOff val="80000"/>
            </a:schemeClr>
          </a:solidFill>
          <a:ln w="19050">
            <a:solidFill>
              <a:schemeClr val="accent6">
                <a:lumMod val="50000"/>
              </a:schemeClr>
            </a:solidFill>
          </a:ln>
        </p:spPr>
        <p:txBody>
          <a:bodyPr wrap="square">
            <a:spAutoFit/>
          </a:bodyPr>
          <a:lstStyle/>
          <a:p>
            <a:r>
              <a:rPr lang="es-CO" sz="1800" b="1" dirty="0">
                <a:solidFill>
                  <a:srgbClr val="333333"/>
                </a:solidFill>
                <a:effectLst/>
              </a:rPr>
              <a:t>Prediabetes: </a:t>
            </a:r>
          </a:p>
          <a:p>
            <a:endParaRPr lang="es-CO" dirty="0">
              <a:solidFill>
                <a:srgbClr val="333333"/>
              </a:solidFill>
            </a:endParaRPr>
          </a:p>
          <a:p>
            <a:pPr marL="285750" indent="-285750">
              <a:buFont typeface="Arial" panose="020B0604020202020204" pitchFamily="34" charset="0"/>
              <a:buChar char="•"/>
            </a:pPr>
            <a:r>
              <a:rPr lang="es-CO" sz="1800" dirty="0">
                <a:solidFill>
                  <a:srgbClr val="333333"/>
                </a:solidFill>
                <a:effectLst/>
              </a:rPr>
              <a:t>HbA1c 5,7%-6,4%</a:t>
            </a:r>
          </a:p>
          <a:p>
            <a:pPr marL="285750" indent="-285750">
              <a:buFont typeface="Arial" panose="020B0604020202020204" pitchFamily="34" charset="0"/>
              <a:buChar char="•"/>
            </a:pPr>
            <a:r>
              <a:rPr lang="es-CO" dirty="0">
                <a:solidFill>
                  <a:srgbClr val="333333"/>
                </a:solidFill>
              </a:rPr>
              <a:t>G</a:t>
            </a:r>
            <a:r>
              <a:rPr lang="es-CO" sz="1800" dirty="0">
                <a:solidFill>
                  <a:srgbClr val="333333"/>
                </a:solidFill>
                <a:effectLst/>
              </a:rPr>
              <a:t>licemia en ayunas 100-125 mg/</a:t>
            </a:r>
            <a:r>
              <a:rPr lang="es-CO" sz="1800" dirty="0" err="1">
                <a:solidFill>
                  <a:srgbClr val="333333"/>
                </a:solidFill>
                <a:effectLst/>
              </a:rPr>
              <a:t>dL</a:t>
            </a:r>
            <a:endParaRPr lang="es-CO" dirty="0">
              <a:solidFill>
                <a:srgbClr val="333333"/>
              </a:solidFill>
            </a:endParaRPr>
          </a:p>
          <a:p>
            <a:pPr marL="285750" indent="-285750">
              <a:buFont typeface="Arial" panose="020B0604020202020204" pitchFamily="34" charset="0"/>
              <a:buChar char="•"/>
            </a:pPr>
            <a:r>
              <a:rPr lang="es-CO" sz="1800" dirty="0">
                <a:solidFill>
                  <a:srgbClr val="333333"/>
                </a:solidFill>
                <a:effectLst/>
              </a:rPr>
              <a:t>Poscarga 140-199 mg/</a:t>
            </a:r>
            <a:r>
              <a:rPr lang="es-CO" sz="1800" dirty="0" err="1">
                <a:solidFill>
                  <a:srgbClr val="333333"/>
                </a:solidFill>
                <a:effectLst/>
              </a:rPr>
              <a:t>dL</a:t>
            </a:r>
            <a:r>
              <a:rPr lang="es-CO" sz="1800" dirty="0">
                <a:solidFill>
                  <a:srgbClr val="333333"/>
                </a:solidFill>
                <a:effectLst/>
              </a:rPr>
              <a:t>. </a:t>
            </a:r>
          </a:p>
          <a:p>
            <a:endParaRPr lang="es-CO" dirty="0">
              <a:solidFill>
                <a:srgbClr val="333333"/>
              </a:solidFill>
            </a:endParaRPr>
          </a:p>
          <a:p>
            <a:r>
              <a:rPr lang="es-CO" sz="1800" dirty="0">
                <a:solidFill>
                  <a:srgbClr val="333333"/>
                </a:solidFill>
                <a:effectLst/>
              </a:rPr>
              <a:t>Indicar </a:t>
            </a:r>
            <a:r>
              <a:rPr lang="es-CO" sz="1800" dirty="0" err="1">
                <a:solidFill>
                  <a:srgbClr val="333333"/>
                </a:solidFill>
                <a:effectLst/>
              </a:rPr>
              <a:t>intervención</a:t>
            </a:r>
            <a:r>
              <a:rPr lang="es-CO" sz="1800" dirty="0">
                <a:solidFill>
                  <a:srgbClr val="333333"/>
                </a:solidFill>
                <a:effectLst/>
              </a:rPr>
              <a:t> intensiva en estilo de vida y </a:t>
            </a:r>
            <a:r>
              <a:rPr lang="es-CO" sz="1800" dirty="0" err="1">
                <a:solidFill>
                  <a:srgbClr val="333333"/>
                </a:solidFill>
                <a:effectLst/>
              </a:rPr>
              <a:t>reevaluación</a:t>
            </a:r>
            <a:r>
              <a:rPr lang="es-CO" sz="1800" dirty="0">
                <a:solidFill>
                  <a:srgbClr val="333333"/>
                </a:solidFill>
                <a:effectLst/>
              </a:rPr>
              <a:t> </a:t>
            </a:r>
            <a:r>
              <a:rPr lang="es-CO" sz="1800" dirty="0" err="1">
                <a:solidFill>
                  <a:srgbClr val="333333"/>
                </a:solidFill>
                <a:effectLst/>
              </a:rPr>
              <a:t>periódica</a:t>
            </a:r>
            <a:r>
              <a:rPr lang="es-CO" sz="1800" dirty="0">
                <a:solidFill>
                  <a:srgbClr val="333333"/>
                </a:solidFill>
                <a:effectLst/>
              </a:rPr>
              <a:t>. </a:t>
            </a:r>
            <a:endParaRPr lang="es-CO" b="1" i="0" u="none" strike="noStrike" dirty="0">
              <a:solidFill>
                <a:srgbClr val="000000"/>
              </a:solidFill>
              <a:effectLst/>
            </a:endParaRPr>
          </a:p>
        </p:txBody>
      </p:sp>
      <p:sp>
        <p:nvSpPr>
          <p:cNvPr id="13" name="CuadroTexto 12">
            <a:extLst>
              <a:ext uri="{FF2B5EF4-FFF2-40B4-BE49-F238E27FC236}">
                <a16:creationId xmlns:a16="http://schemas.microsoft.com/office/drawing/2014/main" id="{D58544B4-2835-40D7-95A5-FEAB2AE9534D}"/>
              </a:ext>
            </a:extLst>
          </p:cNvPr>
          <p:cNvSpPr txBox="1"/>
          <p:nvPr/>
        </p:nvSpPr>
        <p:spPr>
          <a:xfrm>
            <a:off x="3744292" y="6575296"/>
            <a:ext cx="4703416" cy="276999"/>
          </a:xfrm>
          <a:prstGeom prst="rect">
            <a:avLst/>
          </a:prstGeom>
          <a:noFill/>
        </p:spPr>
        <p:txBody>
          <a:bodyPr wrap="square">
            <a:spAutoFit/>
          </a:bodyPr>
          <a:lstStyle/>
          <a:p>
            <a:pPr algn="ctr"/>
            <a:r>
              <a:rPr lang="es-CO" sz="1200" b="1" dirty="0">
                <a:effectLst/>
                <a:ea typeface="Calibri" panose="020F0502020204030204" pitchFamily="34" charset="0"/>
              </a:rPr>
              <a:t>GPC Asociación Colombiana de Endocrinología 2025 / ADA 2026</a:t>
            </a:r>
            <a:endParaRPr lang="es-MX" sz="1000" b="1" dirty="0"/>
          </a:p>
        </p:txBody>
      </p:sp>
      <p:sp>
        <p:nvSpPr>
          <p:cNvPr id="5" name="Título 4">
            <a:extLst>
              <a:ext uri="{FF2B5EF4-FFF2-40B4-BE49-F238E27FC236}">
                <a16:creationId xmlns:a16="http://schemas.microsoft.com/office/drawing/2014/main" id="{ED8E0E43-E5E5-677B-8EC7-8422CD9A8BA5}"/>
              </a:ext>
            </a:extLst>
          </p:cNvPr>
          <p:cNvSpPr txBox="1">
            <a:spLocks/>
          </p:cNvSpPr>
          <p:nvPr/>
        </p:nvSpPr>
        <p:spPr>
          <a:xfrm>
            <a:off x="2368959" y="438138"/>
            <a:ext cx="9738705" cy="46859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4000" b="1" u="sng" dirty="0">
                <a:solidFill>
                  <a:schemeClr val="accent6">
                    <a:lumMod val="50000"/>
                  </a:schemeClr>
                </a:solidFill>
              </a:rPr>
              <a:t>Recomendación 2: </a:t>
            </a:r>
            <a:r>
              <a:rPr lang="es-CO" sz="4000" b="1" dirty="0">
                <a:solidFill>
                  <a:schemeClr val="accent6">
                    <a:lumMod val="50000"/>
                  </a:schemeClr>
                </a:solidFill>
              </a:rPr>
              <a:t>DIAGNÓSTICO</a:t>
            </a:r>
          </a:p>
        </p:txBody>
      </p:sp>
      <p:sp>
        <p:nvSpPr>
          <p:cNvPr id="7" name="CuadroTexto 6">
            <a:extLst>
              <a:ext uri="{FF2B5EF4-FFF2-40B4-BE49-F238E27FC236}">
                <a16:creationId xmlns:a16="http://schemas.microsoft.com/office/drawing/2014/main" id="{E4E49A79-3073-65E8-3D74-68B4DFDDF46A}"/>
              </a:ext>
            </a:extLst>
          </p:cNvPr>
          <p:cNvSpPr txBox="1"/>
          <p:nvPr/>
        </p:nvSpPr>
        <p:spPr>
          <a:xfrm>
            <a:off x="6307015" y="5161456"/>
            <a:ext cx="3692769" cy="1200329"/>
          </a:xfrm>
          <a:prstGeom prst="rect">
            <a:avLst/>
          </a:prstGeom>
          <a:solidFill>
            <a:schemeClr val="accent4">
              <a:lumMod val="20000"/>
              <a:lumOff val="80000"/>
            </a:schemeClr>
          </a:solidFill>
          <a:ln w="19050">
            <a:solidFill>
              <a:schemeClr val="accent4">
                <a:lumMod val="75000"/>
              </a:schemeClr>
            </a:solidFill>
          </a:ln>
        </p:spPr>
        <p:txBody>
          <a:bodyPr wrap="square">
            <a:spAutoFit/>
          </a:bodyPr>
          <a:lstStyle/>
          <a:p>
            <a:pPr algn="l"/>
            <a:r>
              <a:rPr lang="es-CO" b="1" i="0" u="none" strike="noStrike" dirty="0">
                <a:solidFill>
                  <a:srgbClr val="000000"/>
                </a:solidFill>
                <a:effectLst/>
              </a:rPr>
              <a:t>Considerar manejo farmacológico si: </a:t>
            </a:r>
          </a:p>
          <a:p>
            <a:pPr algn="l"/>
            <a:r>
              <a:rPr lang="es-CO" b="0" i="0" u="none" strike="noStrike" dirty="0">
                <a:solidFill>
                  <a:srgbClr val="000000"/>
                </a:solidFill>
                <a:effectLst/>
              </a:rPr>
              <a:t>IMC ≥35, &lt;60 años, DM gestacional previa, Progresión pese a cambios de estilo de vida, </a:t>
            </a:r>
            <a:r>
              <a:rPr lang="es-CO" dirty="0">
                <a:solidFill>
                  <a:srgbClr val="000000"/>
                </a:solidFill>
              </a:rPr>
              <a:t>Otros Factores de RCV.</a:t>
            </a:r>
            <a:endParaRPr lang="es-CO" b="0" i="0" u="none" strike="noStrike" dirty="0">
              <a:solidFill>
                <a:srgbClr val="000000"/>
              </a:solidFill>
              <a:effectLst/>
            </a:endParaRPr>
          </a:p>
        </p:txBody>
      </p:sp>
    </p:spTree>
    <p:extLst>
      <p:ext uri="{BB962C8B-B14F-4D97-AF65-F5344CB8AC3E}">
        <p14:creationId xmlns:p14="http://schemas.microsoft.com/office/powerpoint/2010/main" val="2045474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r="-1000"/>
          </a:stretch>
        </a:blipFill>
        <a:effectLst/>
      </p:bgPr>
    </p:bg>
    <p:spTree>
      <p:nvGrpSpPr>
        <p:cNvPr id="1" name=""/>
        <p:cNvGrpSpPr/>
        <p:nvPr/>
      </p:nvGrpSpPr>
      <p:grpSpPr>
        <a:xfrm>
          <a:off x="0" y="0"/>
          <a:ext cx="0" cy="0"/>
          <a:chOff x="0" y="0"/>
          <a:chExt cx="0" cy="0"/>
        </a:xfrm>
      </p:grpSpPr>
      <p:sp>
        <p:nvSpPr>
          <p:cNvPr id="2" name="Título 4">
            <a:extLst>
              <a:ext uri="{FF2B5EF4-FFF2-40B4-BE49-F238E27FC236}">
                <a16:creationId xmlns:a16="http://schemas.microsoft.com/office/drawing/2014/main" id="{63D63637-32B1-4088-AB9E-E1B4E1B8B89B}"/>
              </a:ext>
            </a:extLst>
          </p:cNvPr>
          <p:cNvSpPr>
            <a:spLocks noGrp="1"/>
          </p:cNvSpPr>
          <p:nvPr>
            <p:ph type="title"/>
          </p:nvPr>
        </p:nvSpPr>
        <p:spPr>
          <a:xfrm>
            <a:off x="2134585" y="182560"/>
            <a:ext cx="9753600" cy="468594"/>
          </a:xfrm>
        </p:spPr>
        <p:txBody>
          <a:bodyPr>
            <a:noAutofit/>
          </a:bodyPr>
          <a:lstStyle/>
          <a:p>
            <a:r>
              <a:rPr lang="es-CO" sz="4000" b="1" u="sng" dirty="0">
                <a:solidFill>
                  <a:schemeClr val="accent6">
                    <a:lumMod val="50000"/>
                  </a:schemeClr>
                </a:solidFill>
              </a:rPr>
              <a:t> Recomendación 3: </a:t>
            </a:r>
            <a:r>
              <a:rPr lang="es-CO" sz="4000" b="1" dirty="0">
                <a:solidFill>
                  <a:schemeClr val="accent6">
                    <a:lumMod val="50000"/>
                  </a:schemeClr>
                </a:solidFill>
              </a:rPr>
              <a:t>VALORACIÓN INICIAL</a:t>
            </a:r>
          </a:p>
        </p:txBody>
      </p:sp>
      <p:sp>
        <p:nvSpPr>
          <p:cNvPr id="4" name="CuadroTexto 3">
            <a:extLst>
              <a:ext uri="{FF2B5EF4-FFF2-40B4-BE49-F238E27FC236}">
                <a16:creationId xmlns:a16="http://schemas.microsoft.com/office/drawing/2014/main" id="{C1E62FA6-990E-4D96-A9B3-FCBF86854899}"/>
              </a:ext>
            </a:extLst>
          </p:cNvPr>
          <p:cNvSpPr txBox="1"/>
          <p:nvPr/>
        </p:nvSpPr>
        <p:spPr>
          <a:xfrm>
            <a:off x="601093" y="1465289"/>
            <a:ext cx="4463278" cy="4247317"/>
          </a:xfrm>
          <a:prstGeom prst="rect">
            <a:avLst/>
          </a:prstGeom>
          <a:solidFill>
            <a:schemeClr val="accent6">
              <a:lumMod val="20000"/>
              <a:lumOff val="80000"/>
            </a:schemeClr>
          </a:solidFill>
          <a:ln w="19050">
            <a:solidFill>
              <a:schemeClr val="accent6">
                <a:lumMod val="50000"/>
              </a:schemeClr>
            </a:solidFill>
          </a:ln>
        </p:spPr>
        <p:txBody>
          <a:bodyPr wrap="square">
            <a:spAutoFit/>
          </a:bodyPr>
          <a:lstStyle/>
          <a:p>
            <a:r>
              <a:rPr lang="es-CO" b="1" dirty="0"/>
              <a:t>Valoración inicial (TODOS los pacientes)</a:t>
            </a:r>
          </a:p>
          <a:p>
            <a:endParaRPr lang="es-CO" b="1" dirty="0"/>
          </a:p>
          <a:p>
            <a:r>
              <a:rPr lang="es-CO" sz="1800" b="1" u="sng" dirty="0">
                <a:solidFill>
                  <a:srgbClr val="333333"/>
                </a:solidFill>
                <a:effectLst/>
                <a:latin typeface="NotoSerif"/>
              </a:rPr>
              <a:t>En la primera consulta confirmar:</a:t>
            </a:r>
          </a:p>
          <a:p>
            <a:pPr marL="285750" indent="-285750">
              <a:buFont typeface="Arial" panose="020B0604020202020204" pitchFamily="34" charset="0"/>
              <a:buChar char="•"/>
            </a:pPr>
            <a:r>
              <a:rPr lang="es-CO" dirty="0">
                <a:solidFill>
                  <a:srgbClr val="333333"/>
                </a:solidFill>
                <a:latin typeface="NotoSerif"/>
              </a:rPr>
              <a:t>T</a:t>
            </a:r>
            <a:r>
              <a:rPr lang="es-CO" sz="1800" dirty="0">
                <a:solidFill>
                  <a:srgbClr val="333333"/>
                </a:solidFill>
                <a:effectLst/>
                <a:latin typeface="NotoSerif"/>
              </a:rPr>
              <a:t>iempo de </a:t>
            </a:r>
            <a:r>
              <a:rPr lang="es-CO" sz="1800" dirty="0" err="1">
                <a:solidFill>
                  <a:srgbClr val="333333"/>
                </a:solidFill>
                <a:effectLst/>
                <a:latin typeface="NotoSerif"/>
              </a:rPr>
              <a:t>evolución</a:t>
            </a:r>
            <a:endParaRPr lang="es-CO" dirty="0">
              <a:solidFill>
                <a:srgbClr val="333333"/>
              </a:solidFill>
              <a:latin typeface="NotoSerif"/>
            </a:endParaRPr>
          </a:p>
          <a:p>
            <a:pPr marL="285750" indent="-285750">
              <a:buFont typeface="Arial" panose="020B0604020202020204" pitchFamily="34" charset="0"/>
              <a:buChar char="•"/>
            </a:pPr>
            <a:r>
              <a:rPr lang="es-CO" sz="1800" dirty="0">
                <a:solidFill>
                  <a:srgbClr val="333333"/>
                </a:solidFill>
                <a:effectLst/>
                <a:latin typeface="NotoSerif"/>
              </a:rPr>
              <a:t>Comorbilidades</a:t>
            </a:r>
          </a:p>
          <a:p>
            <a:pPr marL="285750" indent="-285750">
              <a:buFont typeface="Arial" panose="020B0604020202020204" pitchFamily="34" charset="0"/>
              <a:buChar char="•"/>
            </a:pPr>
            <a:r>
              <a:rPr lang="es-CO" dirty="0">
                <a:solidFill>
                  <a:srgbClr val="333333"/>
                </a:solidFill>
                <a:latin typeface="NotoSerif"/>
              </a:rPr>
              <a:t>E</a:t>
            </a:r>
            <a:r>
              <a:rPr lang="es-CO" sz="1800" dirty="0">
                <a:solidFill>
                  <a:srgbClr val="333333"/>
                </a:solidFill>
                <a:effectLst/>
                <a:latin typeface="NotoSerif"/>
              </a:rPr>
              <a:t>ventos cardiovasculares / ICC</a:t>
            </a:r>
            <a:endParaRPr lang="es-CO" dirty="0">
              <a:solidFill>
                <a:srgbClr val="333333"/>
              </a:solidFill>
              <a:latin typeface="NotoSerif"/>
            </a:endParaRPr>
          </a:p>
          <a:p>
            <a:pPr marL="285750" indent="-285750">
              <a:buFont typeface="Arial" panose="020B0604020202020204" pitchFamily="34" charset="0"/>
              <a:buChar char="•"/>
            </a:pPr>
            <a:r>
              <a:rPr lang="es-CO" sz="1800" dirty="0">
                <a:solidFill>
                  <a:srgbClr val="333333"/>
                </a:solidFill>
                <a:effectLst/>
                <a:latin typeface="NotoSerif"/>
              </a:rPr>
              <a:t>ERC</a:t>
            </a:r>
          </a:p>
          <a:p>
            <a:pPr marL="285750" indent="-285750">
              <a:buFont typeface="Arial" panose="020B0604020202020204" pitchFamily="34" charset="0"/>
              <a:buChar char="•"/>
            </a:pPr>
            <a:r>
              <a:rPr lang="es-CO" dirty="0">
                <a:solidFill>
                  <a:srgbClr val="333333"/>
                </a:solidFill>
                <a:latin typeface="NotoSerif"/>
              </a:rPr>
              <a:t>O</a:t>
            </a:r>
            <a:r>
              <a:rPr lang="es-CO" sz="1800" dirty="0">
                <a:solidFill>
                  <a:srgbClr val="333333"/>
                </a:solidFill>
                <a:effectLst/>
                <a:latin typeface="NotoSerif"/>
              </a:rPr>
              <a:t>besidad</a:t>
            </a:r>
          </a:p>
          <a:p>
            <a:pPr marL="285750" indent="-285750">
              <a:buFont typeface="Arial" panose="020B0604020202020204" pitchFamily="34" charset="0"/>
              <a:buChar char="•"/>
            </a:pPr>
            <a:r>
              <a:rPr lang="es-CO" dirty="0">
                <a:solidFill>
                  <a:srgbClr val="333333"/>
                </a:solidFill>
                <a:latin typeface="NotoSerif"/>
              </a:rPr>
              <a:t>H</a:t>
            </a:r>
            <a:r>
              <a:rPr lang="es-CO" sz="1800" dirty="0">
                <a:solidFill>
                  <a:srgbClr val="333333"/>
                </a:solidFill>
                <a:effectLst/>
                <a:latin typeface="NotoSerif"/>
              </a:rPr>
              <a:t>ipoglicemias</a:t>
            </a:r>
          </a:p>
          <a:p>
            <a:pPr marL="285750" indent="-285750">
              <a:buFont typeface="Arial" panose="020B0604020202020204" pitchFamily="34" charset="0"/>
              <a:buChar char="•"/>
            </a:pPr>
            <a:r>
              <a:rPr lang="es-CO" dirty="0">
                <a:solidFill>
                  <a:srgbClr val="333333"/>
                </a:solidFill>
                <a:latin typeface="NotoSerif"/>
              </a:rPr>
              <a:t>A</a:t>
            </a:r>
            <a:r>
              <a:rPr lang="es-CO" sz="1800" dirty="0">
                <a:solidFill>
                  <a:srgbClr val="333333"/>
                </a:solidFill>
                <a:effectLst/>
                <a:latin typeface="NotoSerif"/>
              </a:rPr>
              <a:t>dherencia (</a:t>
            </a:r>
            <a:r>
              <a:rPr lang="es-CO" dirty="0" err="1">
                <a:solidFill>
                  <a:srgbClr val="333333"/>
                </a:solidFill>
                <a:latin typeface="NotoSerif"/>
              </a:rPr>
              <a:t>M</a:t>
            </a:r>
            <a:r>
              <a:rPr lang="es-CO" sz="1800" dirty="0" err="1">
                <a:solidFill>
                  <a:srgbClr val="333333"/>
                </a:solidFill>
                <a:effectLst/>
                <a:latin typeface="NotoSerif"/>
              </a:rPr>
              <a:t>orisky</a:t>
            </a:r>
            <a:r>
              <a:rPr lang="es-CO" sz="1800" dirty="0">
                <a:solidFill>
                  <a:srgbClr val="333333"/>
                </a:solidFill>
                <a:effectLst/>
                <a:latin typeface="NotoSerif"/>
              </a:rPr>
              <a:t> Green)</a:t>
            </a:r>
          </a:p>
          <a:p>
            <a:pPr marL="285750" indent="-285750">
              <a:buFont typeface="Arial" panose="020B0604020202020204" pitchFamily="34" charset="0"/>
              <a:buChar char="•"/>
            </a:pPr>
            <a:r>
              <a:rPr lang="es-CO" dirty="0">
                <a:solidFill>
                  <a:srgbClr val="333333"/>
                </a:solidFill>
                <a:latin typeface="NotoSerif"/>
              </a:rPr>
              <a:t>E</a:t>
            </a:r>
            <a:r>
              <a:rPr lang="es-CO" sz="1800" dirty="0">
                <a:solidFill>
                  <a:srgbClr val="333333"/>
                </a:solidFill>
                <a:effectLst/>
                <a:latin typeface="NotoSerif"/>
              </a:rPr>
              <a:t>xamen de pies</a:t>
            </a:r>
          </a:p>
          <a:p>
            <a:pPr marL="285750" indent="-285750">
              <a:buFont typeface="Arial" panose="020B0604020202020204" pitchFamily="34" charset="0"/>
              <a:buChar char="•"/>
            </a:pPr>
            <a:r>
              <a:rPr lang="es-CO" dirty="0">
                <a:solidFill>
                  <a:srgbClr val="333333"/>
                </a:solidFill>
                <a:latin typeface="NotoSerif"/>
              </a:rPr>
              <a:t>F</a:t>
            </a:r>
            <a:r>
              <a:rPr lang="es-CO" sz="1800" dirty="0">
                <a:solidFill>
                  <a:srgbClr val="333333"/>
                </a:solidFill>
                <a:effectLst/>
                <a:latin typeface="NotoSerif"/>
              </a:rPr>
              <a:t>ondo de ojo/</a:t>
            </a:r>
            <a:r>
              <a:rPr lang="es-CO" sz="1800" dirty="0" err="1">
                <a:solidFill>
                  <a:srgbClr val="333333"/>
                </a:solidFill>
                <a:effectLst/>
                <a:latin typeface="NotoSerif"/>
              </a:rPr>
              <a:t>remisión</a:t>
            </a:r>
            <a:endParaRPr lang="es-CO" dirty="0">
              <a:solidFill>
                <a:srgbClr val="333333"/>
              </a:solidFill>
              <a:latin typeface="NotoSerif"/>
            </a:endParaRPr>
          </a:p>
          <a:p>
            <a:pPr marL="285750" indent="-285750">
              <a:buFont typeface="Arial" panose="020B0604020202020204" pitchFamily="34" charset="0"/>
              <a:buChar char="•"/>
            </a:pPr>
            <a:r>
              <a:rPr lang="es-CO" sz="1800" dirty="0">
                <a:solidFill>
                  <a:srgbClr val="333333"/>
                </a:solidFill>
                <a:effectLst/>
                <a:latin typeface="NotoSerif"/>
              </a:rPr>
              <a:t>Creatinina </a:t>
            </a:r>
            <a:r>
              <a:rPr lang="es-CO" sz="1800" dirty="0" err="1">
                <a:solidFill>
                  <a:srgbClr val="333333"/>
                </a:solidFill>
                <a:effectLst/>
                <a:latin typeface="NotoSerif"/>
              </a:rPr>
              <a:t>sérica</a:t>
            </a:r>
            <a:r>
              <a:rPr lang="es-CO" sz="1800" dirty="0">
                <a:solidFill>
                  <a:srgbClr val="333333"/>
                </a:solidFill>
                <a:effectLst/>
                <a:latin typeface="NotoSerif"/>
              </a:rPr>
              <a:t>, uroanálisis, RAC urinaria, creatinina en orina parcial, perfil </a:t>
            </a:r>
            <a:r>
              <a:rPr lang="es-CO" sz="1800" dirty="0" err="1">
                <a:solidFill>
                  <a:srgbClr val="333333"/>
                </a:solidFill>
                <a:effectLst/>
                <a:latin typeface="NotoSerif"/>
              </a:rPr>
              <a:t>lipídico</a:t>
            </a:r>
            <a:r>
              <a:rPr lang="es-CO" sz="1800" dirty="0">
                <a:solidFill>
                  <a:srgbClr val="333333"/>
                </a:solidFill>
                <a:effectLst/>
                <a:latin typeface="NotoSerif"/>
              </a:rPr>
              <a:t> y HbA1c. </a:t>
            </a:r>
          </a:p>
        </p:txBody>
      </p:sp>
      <p:sp>
        <p:nvSpPr>
          <p:cNvPr id="3" name="CuadroTexto 2">
            <a:extLst>
              <a:ext uri="{FF2B5EF4-FFF2-40B4-BE49-F238E27FC236}">
                <a16:creationId xmlns:a16="http://schemas.microsoft.com/office/drawing/2014/main" id="{F1C38DFA-737A-0BF4-7965-D7B2299DCFFC}"/>
              </a:ext>
            </a:extLst>
          </p:cNvPr>
          <p:cNvSpPr txBox="1"/>
          <p:nvPr/>
        </p:nvSpPr>
        <p:spPr>
          <a:xfrm>
            <a:off x="911000" y="6029109"/>
            <a:ext cx="3843463" cy="646331"/>
          </a:xfrm>
          <a:prstGeom prst="rect">
            <a:avLst/>
          </a:prstGeom>
          <a:noFill/>
        </p:spPr>
        <p:txBody>
          <a:bodyPr wrap="square">
            <a:spAutoFit/>
          </a:bodyPr>
          <a:lstStyle/>
          <a:p>
            <a:pPr algn="ctr"/>
            <a:r>
              <a:rPr lang="es-CO" sz="1200" b="1" dirty="0">
                <a:effectLst/>
                <a:ea typeface="Calibri" panose="020F0502020204030204" pitchFamily="34" charset="0"/>
              </a:rPr>
              <a:t>GPC Asociación Colombiana de Endocrinología 2025 / ADA 2026 / </a:t>
            </a:r>
            <a:r>
              <a:rPr lang="es-CO" sz="1200" b="1" dirty="0"/>
              <a:t>Consenso Colombiano para el diagnóstico y tratamiento de dislipidemias en adultos 2024</a:t>
            </a:r>
          </a:p>
        </p:txBody>
      </p:sp>
      <p:pic>
        <p:nvPicPr>
          <p:cNvPr id="7" name="Imagen 6">
            <a:extLst>
              <a:ext uri="{FF2B5EF4-FFF2-40B4-BE49-F238E27FC236}">
                <a16:creationId xmlns:a16="http://schemas.microsoft.com/office/drawing/2014/main" id="{5E674BCF-8896-8FD4-95EA-27130E478CD9}"/>
              </a:ext>
            </a:extLst>
          </p:cNvPr>
          <p:cNvPicPr>
            <a:picLocks noChangeAspect="1"/>
          </p:cNvPicPr>
          <p:nvPr/>
        </p:nvPicPr>
        <p:blipFill>
          <a:blip r:embed="rId4"/>
          <a:stretch>
            <a:fillRect/>
          </a:stretch>
        </p:blipFill>
        <p:spPr>
          <a:xfrm>
            <a:off x="5896707" y="867597"/>
            <a:ext cx="4607169" cy="4197821"/>
          </a:xfrm>
          <a:prstGeom prst="rect">
            <a:avLst/>
          </a:prstGeom>
        </p:spPr>
      </p:pic>
      <p:pic>
        <p:nvPicPr>
          <p:cNvPr id="8" name="Imagen 7">
            <a:extLst>
              <a:ext uri="{FF2B5EF4-FFF2-40B4-BE49-F238E27FC236}">
                <a16:creationId xmlns:a16="http://schemas.microsoft.com/office/drawing/2014/main" id="{50210194-41BF-D2D3-C86F-A7E2F17F062D}"/>
              </a:ext>
            </a:extLst>
          </p:cNvPr>
          <p:cNvPicPr>
            <a:picLocks noChangeAspect="1"/>
          </p:cNvPicPr>
          <p:nvPr/>
        </p:nvPicPr>
        <p:blipFill>
          <a:blip r:embed="rId5"/>
          <a:stretch>
            <a:fillRect/>
          </a:stretch>
        </p:blipFill>
        <p:spPr>
          <a:xfrm>
            <a:off x="5310554" y="5065418"/>
            <a:ext cx="5779477" cy="1717633"/>
          </a:xfrm>
          <a:prstGeom prst="rect">
            <a:avLst/>
          </a:prstGeom>
        </p:spPr>
      </p:pic>
    </p:spTree>
    <p:extLst>
      <p:ext uri="{BB962C8B-B14F-4D97-AF65-F5344CB8AC3E}">
        <p14:creationId xmlns:p14="http://schemas.microsoft.com/office/powerpoint/2010/main" val="2653249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r="-1000"/>
          </a:stretch>
        </a:blipFill>
        <a:effectLst/>
      </p:bgPr>
    </p:bg>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8851FA25-F60C-4ADB-95BA-9BF8ED29E9DC}"/>
              </a:ext>
            </a:extLst>
          </p:cNvPr>
          <p:cNvSpPr txBox="1"/>
          <p:nvPr/>
        </p:nvSpPr>
        <p:spPr>
          <a:xfrm>
            <a:off x="2523575" y="6581001"/>
            <a:ext cx="7144850" cy="276999"/>
          </a:xfrm>
          <a:prstGeom prst="rect">
            <a:avLst/>
          </a:prstGeom>
          <a:noFill/>
        </p:spPr>
        <p:txBody>
          <a:bodyPr wrap="square">
            <a:spAutoFit/>
          </a:bodyPr>
          <a:lstStyle/>
          <a:p>
            <a:r>
              <a:rPr lang="es-CO" sz="1200" b="1" dirty="0">
                <a:effectLst/>
                <a:ea typeface="Calibri" panose="020F0502020204030204" pitchFamily="34" charset="0"/>
              </a:rPr>
              <a:t>GPC Asociación Colombiana de Endocrinología 2025 / ADA 2026 </a:t>
            </a:r>
            <a:r>
              <a:rPr lang="es-MX" sz="1200" b="1" dirty="0"/>
              <a:t>/ Consenso institucional Medicina Familiar</a:t>
            </a:r>
            <a:endParaRPr lang="es-MX" sz="1200" dirty="0"/>
          </a:p>
        </p:txBody>
      </p:sp>
      <p:graphicFrame>
        <p:nvGraphicFramePr>
          <p:cNvPr id="11" name="Diagrama 10">
            <a:extLst>
              <a:ext uri="{FF2B5EF4-FFF2-40B4-BE49-F238E27FC236}">
                <a16:creationId xmlns:a16="http://schemas.microsoft.com/office/drawing/2014/main" id="{C6E36D1E-1130-7D73-FCD9-D89D0D19945C}"/>
              </a:ext>
            </a:extLst>
          </p:cNvPr>
          <p:cNvGraphicFramePr/>
          <p:nvPr>
            <p:extLst>
              <p:ext uri="{D42A27DB-BD31-4B8C-83A1-F6EECF244321}">
                <p14:modId xmlns:p14="http://schemas.microsoft.com/office/powerpoint/2010/main" val="2259474677"/>
              </p:ext>
            </p:extLst>
          </p:nvPr>
        </p:nvGraphicFramePr>
        <p:xfrm>
          <a:off x="703385" y="931033"/>
          <a:ext cx="10386646" cy="563519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0" name="Título 4">
            <a:extLst>
              <a:ext uri="{FF2B5EF4-FFF2-40B4-BE49-F238E27FC236}">
                <a16:creationId xmlns:a16="http://schemas.microsoft.com/office/drawing/2014/main" id="{C37936EF-7190-4E42-4F43-88B54ADF6B2C}"/>
              </a:ext>
            </a:extLst>
          </p:cNvPr>
          <p:cNvSpPr>
            <a:spLocks noGrp="1"/>
          </p:cNvSpPr>
          <p:nvPr>
            <p:ph type="title"/>
          </p:nvPr>
        </p:nvSpPr>
        <p:spPr>
          <a:xfrm>
            <a:off x="2134585" y="182560"/>
            <a:ext cx="9753600" cy="468594"/>
          </a:xfrm>
        </p:spPr>
        <p:txBody>
          <a:bodyPr>
            <a:noAutofit/>
          </a:bodyPr>
          <a:lstStyle/>
          <a:p>
            <a:r>
              <a:rPr lang="es-CO" sz="4000" b="1" u="sng" dirty="0">
                <a:solidFill>
                  <a:schemeClr val="accent6">
                    <a:lumMod val="50000"/>
                  </a:schemeClr>
                </a:solidFill>
              </a:rPr>
              <a:t> Recomendación 3: </a:t>
            </a:r>
            <a:r>
              <a:rPr lang="es-CO" sz="4000" b="1" dirty="0">
                <a:solidFill>
                  <a:schemeClr val="accent6">
                    <a:lumMod val="50000"/>
                  </a:schemeClr>
                </a:solidFill>
              </a:rPr>
              <a:t>VALORACIÓN INICIAL</a:t>
            </a:r>
          </a:p>
        </p:txBody>
      </p:sp>
    </p:spTree>
    <p:extLst>
      <p:ext uri="{BB962C8B-B14F-4D97-AF65-F5344CB8AC3E}">
        <p14:creationId xmlns:p14="http://schemas.microsoft.com/office/powerpoint/2010/main" val="9591909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2" name="Título 4">
            <a:extLst>
              <a:ext uri="{FF2B5EF4-FFF2-40B4-BE49-F238E27FC236}">
                <a16:creationId xmlns:a16="http://schemas.microsoft.com/office/drawing/2014/main" id="{63D63637-32B1-4088-AB9E-E1B4E1B8B89B}"/>
              </a:ext>
            </a:extLst>
          </p:cNvPr>
          <p:cNvSpPr>
            <a:spLocks noGrp="1"/>
          </p:cNvSpPr>
          <p:nvPr>
            <p:ph type="title"/>
          </p:nvPr>
        </p:nvSpPr>
        <p:spPr>
          <a:xfrm>
            <a:off x="323850" y="494081"/>
            <a:ext cx="11868150" cy="468594"/>
          </a:xfrm>
        </p:spPr>
        <p:txBody>
          <a:bodyPr>
            <a:noAutofit/>
          </a:bodyPr>
          <a:lstStyle/>
          <a:p>
            <a:pPr algn="ctr"/>
            <a:r>
              <a:rPr lang="es-CO" sz="4000" b="1" u="sng" dirty="0">
                <a:solidFill>
                  <a:schemeClr val="accent6">
                    <a:lumMod val="50000"/>
                  </a:schemeClr>
                </a:solidFill>
              </a:rPr>
              <a:t>Recomendación 4: </a:t>
            </a:r>
            <a:br>
              <a:rPr lang="es-CO" sz="4000" b="1" u="sng" dirty="0">
                <a:solidFill>
                  <a:schemeClr val="accent6">
                    <a:lumMod val="50000"/>
                  </a:schemeClr>
                </a:solidFill>
              </a:rPr>
            </a:br>
            <a:r>
              <a:rPr lang="es-CO" sz="4000" b="1" u="sng" dirty="0">
                <a:solidFill>
                  <a:schemeClr val="accent6">
                    <a:lumMod val="50000"/>
                  </a:schemeClr>
                </a:solidFill>
              </a:rPr>
              <a:t>TRATAMIENTO NO FARMACOLÓGICO</a:t>
            </a:r>
          </a:p>
        </p:txBody>
      </p:sp>
      <p:sp>
        <p:nvSpPr>
          <p:cNvPr id="4" name="Marcador de contenido 3">
            <a:extLst>
              <a:ext uri="{FF2B5EF4-FFF2-40B4-BE49-F238E27FC236}">
                <a16:creationId xmlns:a16="http://schemas.microsoft.com/office/drawing/2014/main" id="{91305BDE-C428-48E1-4AE0-1E95E2499E6B}"/>
              </a:ext>
            </a:extLst>
          </p:cNvPr>
          <p:cNvSpPr>
            <a:spLocks noGrp="1"/>
          </p:cNvSpPr>
          <p:nvPr>
            <p:ph idx="1"/>
          </p:nvPr>
        </p:nvSpPr>
        <p:spPr>
          <a:xfrm>
            <a:off x="1000125" y="1730741"/>
            <a:ext cx="10515600" cy="4351338"/>
          </a:xfrm>
        </p:spPr>
        <p:txBody>
          <a:bodyPr>
            <a:normAutofit fontScale="92500" lnSpcReduction="10000"/>
          </a:bodyPr>
          <a:lstStyle/>
          <a:p>
            <a:pPr marL="0" indent="0" algn="l">
              <a:buNone/>
            </a:pPr>
            <a:r>
              <a:rPr lang="es-CO" sz="2100" b="1" i="0" u="none" strike="noStrike" dirty="0">
                <a:solidFill>
                  <a:srgbClr val="000000"/>
                </a:solidFill>
                <a:effectLst/>
              </a:rPr>
              <a:t>Nutrición:</a:t>
            </a:r>
          </a:p>
          <a:p>
            <a:pPr algn="l">
              <a:buFont typeface="Arial" panose="020B0604020202020204" pitchFamily="34" charset="0"/>
              <a:buChar char="•"/>
            </a:pPr>
            <a:r>
              <a:rPr lang="es-CO" sz="2100" b="1" i="0" u="none" strike="noStrike" dirty="0">
                <a:solidFill>
                  <a:srgbClr val="000000"/>
                </a:solidFill>
                <a:effectLst/>
              </a:rPr>
              <a:t>Alimentación saludable individualizada.</a:t>
            </a:r>
            <a:endParaRPr lang="es-CO" sz="2100" b="0" i="0" u="none" strike="noStrike" dirty="0">
              <a:solidFill>
                <a:srgbClr val="000000"/>
              </a:solidFill>
              <a:effectLst/>
            </a:endParaRPr>
          </a:p>
          <a:p>
            <a:pPr algn="l">
              <a:buFont typeface="Arial" panose="020B0604020202020204" pitchFamily="34" charset="0"/>
              <a:buChar char="•"/>
            </a:pPr>
            <a:r>
              <a:rPr lang="es-CO" sz="2100" b="0" i="0" u="sng" strike="noStrike" dirty="0">
                <a:solidFill>
                  <a:srgbClr val="000000"/>
                </a:solidFill>
                <a:effectLst/>
              </a:rPr>
              <a:t>Disminuir</a:t>
            </a:r>
            <a:r>
              <a:rPr lang="es-CO" sz="2100" b="0" i="0" u="none" strike="noStrike" dirty="0">
                <a:solidFill>
                  <a:srgbClr val="000000"/>
                </a:solidFill>
                <a:effectLst/>
              </a:rPr>
              <a:t>: carbohidratos refinados / azúcares simples y grasas saturadas y trans.</a:t>
            </a:r>
          </a:p>
          <a:p>
            <a:pPr algn="l">
              <a:buFont typeface="Arial" panose="020B0604020202020204" pitchFamily="34" charset="0"/>
              <a:buChar char="•"/>
            </a:pPr>
            <a:r>
              <a:rPr lang="es-CO" sz="2100" b="0" i="0" u="sng" strike="noStrike" dirty="0">
                <a:solidFill>
                  <a:srgbClr val="000000"/>
                </a:solidFill>
                <a:effectLst/>
              </a:rPr>
              <a:t>Aumentar</a:t>
            </a:r>
            <a:r>
              <a:rPr lang="es-CO" sz="2100" b="0" i="0" u="none" strike="noStrike" dirty="0">
                <a:solidFill>
                  <a:srgbClr val="000000"/>
                </a:solidFill>
                <a:effectLst/>
              </a:rPr>
              <a:t>: vegetales, fibra, patrón tipo mediterráneo.</a:t>
            </a:r>
          </a:p>
          <a:p>
            <a:pPr marL="0" indent="0" algn="l">
              <a:buNone/>
            </a:pPr>
            <a:r>
              <a:rPr lang="es-CO" sz="2100" b="1" i="0" u="none" strike="noStrike" dirty="0">
                <a:solidFill>
                  <a:srgbClr val="000000"/>
                </a:solidFill>
                <a:effectLst/>
              </a:rPr>
              <a:t>Ejercicio:</a:t>
            </a:r>
          </a:p>
          <a:p>
            <a:pPr algn="l">
              <a:buFont typeface="Arial" panose="020B0604020202020204" pitchFamily="34" charset="0"/>
              <a:buChar char="•"/>
            </a:pPr>
            <a:r>
              <a:rPr lang="es-CO" sz="2100" b="1" i="0" u="none" strike="noStrike" dirty="0">
                <a:solidFill>
                  <a:srgbClr val="000000"/>
                </a:solidFill>
                <a:effectLst/>
              </a:rPr>
              <a:t>≥150 min/semana </a:t>
            </a:r>
            <a:r>
              <a:rPr lang="es-CO" sz="2100" i="0" u="none" strike="noStrike" dirty="0">
                <a:solidFill>
                  <a:srgbClr val="000000"/>
                </a:solidFill>
                <a:effectLst/>
              </a:rPr>
              <a:t>de ejercicio aeróbico moderado.</a:t>
            </a:r>
          </a:p>
          <a:p>
            <a:pPr algn="l">
              <a:buFont typeface="Arial" panose="020B0604020202020204" pitchFamily="34" charset="0"/>
              <a:buChar char="•"/>
            </a:pPr>
            <a:r>
              <a:rPr lang="es-CO" sz="2100" b="1" i="0" u="none" strike="noStrike" dirty="0">
                <a:solidFill>
                  <a:srgbClr val="000000"/>
                </a:solidFill>
                <a:effectLst/>
              </a:rPr>
              <a:t>Ejercicio de resistencia </a:t>
            </a:r>
            <a:r>
              <a:rPr lang="es-CO" sz="2100" i="0" u="none" strike="noStrike" dirty="0">
                <a:solidFill>
                  <a:srgbClr val="000000"/>
                </a:solidFill>
                <a:effectLst/>
              </a:rPr>
              <a:t>≥2-3 veces/semana.</a:t>
            </a:r>
          </a:p>
          <a:p>
            <a:pPr marL="0" indent="0" algn="l">
              <a:buNone/>
            </a:pPr>
            <a:r>
              <a:rPr lang="es-CO" sz="2100" b="1" i="0" u="none" strike="noStrike" dirty="0">
                <a:solidFill>
                  <a:srgbClr val="000000"/>
                </a:solidFill>
                <a:effectLst/>
              </a:rPr>
              <a:t>Pérdida de peso:</a:t>
            </a:r>
          </a:p>
          <a:p>
            <a:pPr algn="l">
              <a:buFont typeface="Arial" panose="020B0604020202020204" pitchFamily="34" charset="0"/>
              <a:buChar char="•"/>
            </a:pPr>
            <a:r>
              <a:rPr lang="es-CO" sz="2100" b="0" i="0" u="none" strike="noStrike" dirty="0">
                <a:solidFill>
                  <a:srgbClr val="000000"/>
                </a:solidFill>
                <a:effectLst/>
              </a:rPr>
              <a:t>Meta: </a:t>
            </a:r>
            <a:r>
              <a:rPr lang="es-CO" sz="2100" b="1" i="0" u="none" strike="noStrike" dirty="0">
                <a:solidFill>
                  <a:srgbClr val="000000"/>
                </a:solidFill>
                <a:effectLst/>
              </a:rPr>
              <a:t>5-10% </a:t>
            </a:r>
            <a:r>
              <a:rPr lang="es-CO" sz="2100" i="0" u="none" strike="noStrike" dirty="0">
                <a:solidFill>
                  <a:srgbClr val="000000"/>
                </a:solidFill>
                <a:effectLst/>
              </a:rPr>
              <a:t>(mínimo clínicamente significativo) / </a:t>
            </a:r>
            <a:r>
              <a:rPr lang="es-CO" sz="2100" b="0" i="0" u="none" strike="noStrike" dirty="0">
                <a:solidFill>
                  <a:srgbClr val="000000"/>
                </a:solidFill>
                <a:effectLst/>
              </a:rPr>
              <a:t>Puede llegar a </a:t>
            </a:r>
            <a:r>
              <a:rPr lang="es-CO" sz="2100" b="1" i="0" u="none" strike="noStrike" dirty="0">
                <a:solidFill>
                  <a:srgbClr val="000000"/>
                </a:solidFill>
                <a:effectLst/>
              </a:rPr>
              <a:t>10-15% </a:t>
            </a:r>
            <a:r>
              <a:rPr lang="es-CO" sz="2100" i="0" u="none" strike="noStrike" dirty="0">
                <a:solidFill>
                  <a:srgbClr val="000000"/>
                </a:solidFill>
                <a:effectLst/>
              </a:rPr>
              <a:t>en alto riesgo.</a:t>
            </a:r>
          </a:p>
          <a:p>
            <a:pPr marL="0" indent="0" algn="l">
              <a:buNone/>
            </a:pPr>
            <a:r>
              <a:rPr lang="es-CO" sz="2100" b="1" i="0" u="none" strike="noStrike" dirty="0">
                <a:solidFill>
                  <a:srgbClr val="000000"/>
                </a:solidFill>
                <a:effectLst/>
              </a:rPr>
              <a:t>Tabaquismo y alcohol (consejería conductual):</a:t>
            </a:r>
          </a:p>
          <a:p>
            <a:pPr algn="l">
              <a:buFont typeface="Arial" panose="020B0604020202020204" pitchFamily="34" charset="0"/>
              <a:buChar char="•"/>
            </a:pPr>
            <a:r>
              <a:rPr lang="es-CO" sz="2100" b="1" i="0" u="none" strike="noStrike" dirty="0">
                <a:solidFill>
                  <a:srgbClr val="000000"/>
                </a:solidFill>
                <a:effectLst/>
              </a:rPr>
              <a:t>Cese de tabaquismo </a:t>
            </a:r>
            <a:r>
              <a:rPr lang="es-CO" sz="2100" i="0" u="none" strike="noStrike" dirty="0">
                <a:solidFill>
                  <a:srgbClr val="000000"/>
                </a:solidFill>
                <a:effectLst/>
              </a:rPr>
              <a:t>recomendado de forma fuerte.</a:t>
            </a:r>
          </a:p>
          <a:p>
            <a:pPr algn="l">
              <a:buFont typeface="Arial" panose="020B0604020202020204" pitchFamily="34" charset="0"/>
              <a:buChar char="•"/>
            </a:pPr>
            <a:r>
              <a:rPr lang="es-CO" sz="2100" b="1" i="0" u="none" strike="noStrike" dirty="0">
                <a:solidFill>
                  <a:srgbClr val="000000"/>
                </a:solidFill>
                <a:effectLst/>
              </a:rPr>
              <a:t>Alcohol</a:t>
            </a:r>
            <a:r>
              <a:rPr lang="es-CO" sz="2100" b="0" i="0" u="none" strike="noStrike" dirty="0">
                <a:solidFill>
                  <a:srgbClr val="000000"/>
                </a:solidFill>
                <a:effectLst/>
              </a:rPr>
              <a:t>: Limitar consumo y evitar en alto riesgo metabólico.</a:t>
            </a:r>
            <a:endParaRPr lang="es-CO" i="0" u="none" strike="noStrike" dirty="0">
              <a:solidFill>
                <a:srgbClr val="000000"/>
              </a:solidFill>
              <a:effectLst/>
            </a:endParaRPr>
          </a:p>
          <a:p>
            <a:pPr algn="l">
              <a:buFont typeface="Arial" panose="020B0604020202020204" pitchFamily="34" charset="0"/>
              <a:buChar char="•"/>
            </a:pPr>
            <a:endParaRPr lang="es-CO" b="0" i="0" u="none" strike="noStrike" dirty="0">
              <a:solidFill>
                <a:srgbClr val="000000"/>
              </a:solidFill>
              <a:effectLst/>
            </a:endParaRPr>
          </a:p>
          <a:p>
            <a:pPr marL="0" indent="0">
              <a:buNone/>
            </a:pPr>
            <a:endParaRPr lang="es-CO" sz="1800" dirty="0"/>
          </a:p>
          <a:p>
            <a:pPr marL="0" indent="0">
              <a:buNone/>
            </a:pPr>
            <a:endParaRPr lang="es-CO" dirty="0"/>
          </a:p>
        </p:txBody>
      </p:sp>
      <p:sp>
        <p:nvSpPr>
          <p:cNvPr id="5" name="CuadroTexto 4">
            <a:extLst>
              <a:ext uri="{FF2B5EF4-FFF2-40B4-BE49-F238E27FC236}">
                <a16:creationId xmlns:a16="http://schemas.microsoft.com/office/drawing/2014/main" id="{2949A15E-EC22-C787-0B23-0E1DCC6B4A5F}"/>
              </a:ext>
            </a:extLst>
          </p:cNvPr>
          <p:cNvSpPr txBox="1"/>
          <p:nvPr/>
        </p:nvSpPr>
        <p:spPr>
          <a:xfrm>
            <a:off x="2725981" y="6578122"/>
            <a:ext cx="6740037" cy="279878"/>
          </a:xfrm>
          <a:prstGeom prst="rect">
            <a:avLst/>
          </a:prstGeom>
          <a:noFill/>
        </p:spPr>
        <p:txBody>
          <a:bodyPr wrap="square">
            <a:spAutoFit/>
          </a:bodyPr>
          <a:lstStyle/>
          <a:p>
            <a:pPr algn="ctr"/>
            <a:r>
              <a:rPr lang="es-CO" sz="1200" b="1" dirty="0">
                <a:effectLst/>
                <a:ea typeface="Calibri" panose="020F0502020204030204" pitchFamily="34" charset="0"/>
              </a:rPr>
              <a:t>ADA 2026 </a:t>
            </a:r>
            <a:r>
              <a:rPr lang="es-MX" sz="1200" b="1" dirty="0"/>
              <a:t>/ Consenso institucional Medicina Familiar</a:t>
            </a:r>
            <a:endParaRPr lang="es-MX" sz="1200" dirty="0"/>
          </a:p>
        </p:txBody>
      </p:sp>
    </p:spTree>
    <p:extLst>
      <p:ext uri="{BB962C8B-B14F-4D97-AF65-F5344CB8AC3E}">
        <p14:creationId xmlns:p14="http://schemas.microsoft.com/office/powerpoint/2010/main" val="6406236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r="-1000"/>
          </a:stretch>
        </a:blipFill>
        <a:effectLst/>
      </p:bgPr>
    </p:bg>
    <p:spTree>
      <p:nvGrpSpPr>
        <p:cNvPr id="1" name=""/>
        <p:cNvGrpSpPr/>
        <p:nvPr/>
      </p:nvGrpSpPr>
      <p:grpSpPr>
        <a:xfrm>
          <a:off x="0" y="0"/>
          <a:ext cx="0" cy="0"/>
          <a:chOff x="0" y="0"/>
          <a:chExt cx="0" cy="0"/>
        </a:xfrm>
      </p:grpSpPr>
      <p:sp>
        <p:nvSpPr>
          <p:cNvPr id="2" name="Título 4">
            <a:extLst>
              <a:ext uri="{FF2B5EF4-FFF2-40B4-BE49-F238E27FC236}">
                <a16:creationId xmlns:a16="http://schemas.microsoft.com/office/drawing/2014/main" id="{63D63637-32B1-4088-AB9E-E1B4E1B8B89B}"/>
              </a:ext>
            </a:extLst>
          </p:cNvPr>
          <p:cNvSpPr>
            <a:spLocks noGrp="1"/>
          </p:cNvSpPr>
          <p:nvPr>
            <p:ph type="title"/>
          </p:nvPr>
        </p:nvSpPr>
        <p:spPr>
          <a:xfrm>
            <a:off x="1219200" y="341965"/>
            <a:ext cx="9753600" cy="468594"/>
          </a:xfrm>
        </p:spPr>
        <p:txBody>
          <a:bodyPr>
            <a:noAutofit/>
          </a:bodyPr>
          <a:lstStyle/>
          <a:p>
            <a:pPr algn="ctr"/>
            <a:r>
              <a:rPr lang="es-CO" sz="4000" b="1" u="sng" dirty="0">
                <a:solidFill>
                  <a:schemeClr val="accent6">
                    <a:lumMod val="50000"/>
                  </a:schemeClr>
                </a:solidFill>
              </a:rPr>
              <a:t>Recomendación 5: </a:t>
            </a:r>
            <a:br>
              <a:rPr lang="es-CO" sz="4000" b="1" u="sng" dirty="0">
                <a:solidFill>
                  <a:schemeClr val="accent6">
                    <a:lumMod val="50000"/>
                  </a:schemeClr>
                </a:solidFill>
              </a:rPr>
            </a:br>
            <a:r>
              <a:rPr lang="es-CO" sz="4000" b="1" u="sng" dirty="0">
                <a:solidFill>
                  <a:schemeClr val="accent6">
                    <a:lumMod val="50000"/>
                  </a:schemeClr>
                </a:solidFill>
              </a:rPr>
              <a:t>TRATAMIENTO FARMACOLÓGICO</a:t>
            </a:r>
          </a:p>
        </p:txBody>
      </p:sp>
      <p:sp>
        <p:nvSpPr>
          <p:cNvPr id="3" name="CuadroTexto 2">
            <a:extLst>
              <a:ext uri="{FF2B5EF4-FFF2-40B4-BE49-F238E27FC236}">
                <a16:creationId xmlns:a16="http://schemas.microsoft.com/office/drawing/2014/main" id="{128FC1ED-AA22-729D-1A5B-94994CCD47AD}"/>
              </a:ext>
            </a:extLst>
          </p:cNvPr>
          <p:cNvSpPr txBox="1"/>
          <p:nvPr/>
        </p:nvSpPr>
        <p:spPr>
          <a:xfrm>
            <a:off x="2523575" y="6516035"/>
            <a:ext cx="7144850" cy="276999"/>
          </a:xfrm>
          <a:prstGeom prst="rect">
            <a:avLst/>
          </a:prstGeom>
          <a:noFill/>
        </p:spPr>
        <p:txBody>
          <a:bodyPr wrap="square">
            <a:spAutoFit/>
          </a:bodyPr>
          <a:lstStyle/>
          <a:p>
            <a:pPr algn="ctr"/>
            <a:r>
              <a:rPr lang="es-CO" sz="1200" b="1" dirty="0">
                <a:effectLst/>
                <a:ea typeface="Calibri" panose="020F0502020204030204" pitchFamily="34" charset="0"/>
              </a:rPr>
              <a:t>ADA 2026 </a:t>
            </a:r>
            <a:r>
              <a:rPr lang="es-MX" sz="1200" b="1" dirty="0"/>
              <a:t>/ Consenso institucional Medicina Familiar</a:t>
            </a:r>
            <a:endParaRPr lang="es-MX" sz="1200" dirty="0"/>
          </a:p>
        </p:txBody>
      </p:sp>
      <p:pic>
        <p:nvPicPr>
          <p:cNvPr id="10" name="Imagen 9">
            <a:extLst>
              <a:ext uri="{FF2B5EF4-FFF2-40B4-BE49-F238E27FC236}">
                <a16:creationId xmlns:a16="http://schemas.microsoft.com/office/drawing/2014/main" id="{18FC51EA-E0A4-5158-A3C1-BEA53C8941C0}"/>
              </a:ext>
            </a:extLst>
          </p:cNvPr>
          <p:cNvPicPr>
            <a:picLocks/>
          </p:cNvPicPr>
          <p:nvPr/>
        </p:nvPicPr>
        <p:blipFill rotWithShape="1">
          <a:blip r:embed="rId4"/>
          <a:srcRect b="18462"/>
          <a:stretch/>
        </p:blipFill>
        <p:spPr>
          <a:xfrm>
            <a:off x="1509346" y="1277815"/>
            <a:ext cx="9173308" cy="4302370"/>
          </a:xfrm>
          <a:prstGeom prst="rect">
            <a:avLst/>
          </a:prstGeom>
        </p:spPr>
      </p:pic>
      <p:sp>
        <p:nvSpPr>
          <p:cNvPr id="18" name="CuadroTexto 17">
            <a:extLst>
              <a:ext uri="{FF2B5EF4-FFF2-40B4-BE49-F238E27FC236}">
                <a16:creationId xmlns:a16="http://schemas.microsoft.com/office/drawing/2014/main" id="{9D93337E-2925-86BA-2253-D9A0B50A52CB}"/>
              </a:ext>
            </a:extLst>
          </p:cNvPr>
          <p:cNvSpPr txBox="1"/>
          <p:nvPr/>
        </p:nvSpPr>
        <p:spPr>
          <a:xfrm>
            <a:off x="1509346" y="5785831"/>
            <a:ext cx="9173308" cy="52322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s-CO" sz="1400" b="0" i="0" u="none" strike="noStrike" dirty="0">
                <a:solidFill>
                  <a:srgbClr val="000000"/>
                </a:solidFill>
                <a:effectLst/>
              </a:rPr>
              <a:t>Hiperglucemia persistente, situaciones especiales (corticoides, </a:t>
            </a:r>
            <a:r>
              <a:rPr lang="es-CO" sz="1400" b="0" i="0" u="none" strike="noStrike" dirty="0" err="1">
                <a:solidFill>
                  <a:srgbClr val="000000"/>
                </a:solidFill>
                <a:effectLst/>
              </a:rPr>
              <a:t>enf</a:t>
            </a:r>
            <a:r>
              <a:rPr lang="es-CO" sz="1400" b="0" i="0" u="none" strike="noStrike" dirty="0">
                <a:solidFill>
                  <a:srgbClr val="000000"/>
                </a:solidFill>
                <a:effectLst/>
              </a:rPr>
              <a:t> aguda), Contraindicación a otros fármacos (ERC avanzada)*</a:t>
            </a:r>
            <a:endParaRPr lang="es-CO" sz="1400" dirty="0"/>
          </a:p>
        </p:txBody>
      </p:sp>
    </p:spTree>
    <p:extLst>
      <p:ext uri="{BB962C8B-B14F-4D97-AF65-F5344CB8AC3E}">
        <p14:creationId xmlns:p14="http://schemas.microsoft.com/office/powerpoint/2010/main" val="16179633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r="-1000"/>
          </a:stretch>
        </a:blipFill>
        <a:effectLst/>
      </p:bgPr>
    </p:bg>
    <p:spTree>
      <p:nvGrpSpPr>
        <p:cNvPr id="1" name=""/>
        <p:cNvGrpSpPr/>
        <p:nvPr/>
      </p:nvGrpSpPr>
      <p:grpSpPr>
        <a:xfrm>
          <a:off x="0" y="0"/>
          <a:ext cx="0" cy="0"/>
          <a:chOff x="0" y="0"/>
          <a:chExt cx="0" cy="0"/>
        </a:xfrm>
      </p:grpSpPr>
      <p:sp>
        <p:nvSpPr>
          <p:cNvPr id="9" name="Título 4">
            <a:extLst>
              <a:ext uri="{FF2B5EF4-FFF2-40B4-BE49-F238E27FC236}">
                <a16:creationId xmlns:a16="http://schemas.microsoft.com/office/drawing/2014/main" id="{5BB73CCB-F20B-8958-1037-846628ACFC22}"/>
              </a:ext>
            </a:extLst>
          </p:cNvPr>
          <p:cNvSpPr>
            <a:spLocks noGrp="1"/>
          </p:cNvSpPr>
          <p:nvPr>
            <p:ph type="title"/>
          </p:nvPr>
        </p:nvSpPr>
        <p:spPr>
          <a:xfrm>
            <a:off x="1219200" y="189565"/>
            <a:ext cx="9753600" cy="468594"/>
          </a:xfrm>
        </p:spPr>
        <p:txBody>
          <a:bodyPr>
            <a:noAutofit/>
          </a:bodyPr>
          <a:lstStyle/>
          <a:p>
            <a:pPr algn="ctr"/>
            <a:r>
              <a:rPr lang="es-CO" sz="4000" b="1" u="sng" dirty="0">
                <a:solidFill>
                  <a:schemeClr val="accent6">
                    <a:lumMod val="50000"/>
                  </a:schemeClr>
                </a:solidFill>
              </a:rPr>
              <a:t>TRATAMIENTO FARMACOLÓGICO</a:t>
            </a:r>
          </a:p>
        </p:txBody>
      </p:sp>
      <p:sp>
        <p:nvSpPr>
          <p:cNvPr id="10" name="CuadroTexto 9">
            <a:extLst>
              <a:ext uri="{FF2B5EF4-FFF2-40B4-BE49-F238E27FC236}">
                <a16:creationId xmlns:a16="http://schemas.microsoft.com/office/drawing/2014/main" id="{F9BD8E10-A458-A9AB-9D68-B6FA4307BAFE}"/>
              </a:ext>
            </a:extLst>
          </p:cNvPr>
          <p:cNvSpPr txBox="1"/>
          <p:nvPr/>
        </p:nvSpPr>
        <p:spPr>
          <a:xfrm>
            <a:off x="2523575" y="6581001"/>
            <a:ext cx="7144850" cy="276999"/>
          </a:xfrm>
          <a:prstGeom prst="rect">
            <a:avLst/>
          </a:prstGeom>
          <a:noFill/>
        </p:spPr>
        <p:txBody>
          <a:bodyPr wrap="square">
            <a:spAutoFit/>
          </a:bodyPr>
          <a:lstStyle/>
          <a:p>
            <a:pPr algn="ctr"/>
            <a:r>
              <a:rPr lang="es-CO" sz="1200" b="1" dirty="0">
                <a:effectLst/>
                <a:ea typeface="Calibri" panose="020F0502020204030204" pitchFamily="34" charset="0"/>
              </a:rPr>
              <a:t>GPC Asociación Colombiana de Endocrinología 2025 </a:t>
            </a:r>
            <a:r>
              <a:rPr lang="es-MX" sz="1200" b="1" dirty="0"/>
              <a:t>/ Consenso institucional Medicina Familiar</a:t>
            </a:r>
            <a:endParaRPr lang="es-MX" sz="1200" dirty="0"/>
          </a:p>
        </p:txBody>
      </p:sp>
      <p:sp>
        <p:nvSpPr>
          <p:cNvPr id="11" name="CuadroTexto 10">
            <a:extLst>
              <a:ext uri="{FF2B5EF4-FFF2-40B4-BE49-F238E27FC236}">
                <a16:creationId xmlns:a16="http://schemas.microsoft.com/office/drawing/2014/main" id="{EE5A3CA7-082D-F57D-3730-5731F0376CCF}"/>
              </a:ext>
            </a:extLst>
          </p:cNvPr>
          <p:cNvSpPr txBox="1"/>
          <p:nvPr/>
        </p:nvSpPr>
        <p:spPr>
          <a:xfrm>
            <a:off x="961292" y="830051"/>
            <a:ext cx="10011508" cy="64633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s-CO" b="0" i="0" u="none" strike="noStrike" dirty="0">
                <a:solidFill>
                  <a:srgbClr val="000000"/>
                </a:solidFill>
                <a:effectLst/>
              </a:rPr>
              <a:t>La lógica general: </a:t>
            </a:r>
            <a:r>
              <a:rPr lang="es-CO" dirty="0">
                <a:solidFill>
                  <a:srgbClr val="000000"/>
                </a:solidFill>
              </a:rPr>
              <a:t>N</a:t>
            </a:r>
            <a:r>
              <a:rPr lang="es-CO" b="0" i="0" u="none" strike="noStrike" dirty="0">
                <a:solidFill>
                  <a:srgbClr val="000000"/>
                </a:solidFill>
                <a:effectLst/>
              </a:rPr>
              <a:t>o centrarse solo en glucosa, evitar inercia terapéutica, individualizar metas, y elegir fármacos según peso, riesgo de hipoglucemia y comorbilidad cardiovascular/renal.</a:t>
            </a:r>
            <a:endParaRPr lang="es-CO" dirty="0"/>
          </a:p>
        </p:txBody>
      </p:sp>
      <p:pic>
        <p:nvPicPr>
          <p:cNvPr id="13" name="Imagen 12">
            <a:extLst>
              <a:ext uri="{FF2B5EF4-FFF2-40B4-BE49-F238E27FC236}">
                <a16:creationId xmlns:a16="http://schemas.microsoft.com/office/drawing/2014/main" id="{33133376-FA1F-E092-5FFF-DF5D0499FB9F}"/>
              </a:ext>
            </a:extLst>
          </p:cNvPr>
          <p:cNvPicPr>
            <a:picLocks/>
          </p:cNvPicPr>
          <p:nvPr/>
        </p:nvPicPr>
        <p:blipFill rotWithShape="1">
          <a:blip r:embed="rId4">
            <a:extLst>
              <a:ext uri="{28A0092B-C50C-407E-A947-70E740481C1C}">
                <a14:useLocalDpi xmlns:a14="http://schemas.microsoft.com/office/drawing/2010/main" val="0"/>
              </a:ext>
            </a:extLst>
          </a:blip>
          <a:srcRect l="19608" r="18099"/>
          <a:stretch/>
        </p:blipFill>
        <p:spPr>
          <a:xfrm>
            <a:off x="773723" y="1567333"/>
            <a:ext cx="4841631" cy="4857750"/>
          </a:xfrm>
          <a:prstGeom prst="rect">
            <a:avLst/>
          </a:prstGeom>
        </p:spPr>
      </p:pic>
      <p:pic>
        <p:nvPicPr>
          <p:cNvPr id="15" name="Imagen 14">
            <a:extLst>
              <a:ext uri="{FF2B5EF4-FFF2-40B4-BE49-F238E27FC236}">
                <a16:creationId xmlns:a16="http://schemas.microsoft.com/office/drawing/2014/main" id="{EE48132C-0B84-6903-87C0-BB6B3799D692}"/>
              </a:ext>
            </a:extLst>
          </p:cNvPr>
          <p:cNvPicPr>
            <a:picLocks/>
          </p:cNvPicPr>
          <p:nvPr/>
        </p:nvPicPr>
        <p:blipFill rotWithShape="1">
          <a:blip r:embed="rId5">
            <a:extLst>
              <a:ext uri="{28A0092B-C50C-407E-A947-70E740481C1C}">
                <a14:useLocalDpi xmlns:a14="http://schemas.microsoft.com/office/drawing/2010/main" val="0"/>
              </a:ext>
            </a:extLst>
          </a:blip>
          <a:srcRect l="17496" r="21870" b="17708"/>
          <a:stretch/>
        </p:blipFill>
        <p:spPr>
          <a:xfrm>
            <a:off x="5967046" y="1997423"/>
            <a:ext cx="4712678" cy="3997569"/>
          </a:xfrm>
          <a:prstGeom prst="rect">
            <a:avLst/>
          </a:prstGeom>
        </p:spPr>
      </p:pic>
    </p:spTree>
    <p:extLst>
      <p:ext uri="{BB962C8B-B14F-4D97-AF65-F5344CB8AC3E}">
        <p14:creationId xmlns:p14="http://schemas.microsoft.com/office/powerpoint/2010/main" val="2537278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r="-1000"/>
          </a:stretch>
        </a:blipFill>
        <a:effectLst/>
      </p:bgPr>
    </p:bg>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A96B1834-C62F-4AF3-8D55-5CE25459077E}"/>
              </a:ext>
            </a:extLst>
          </p:cNvPr>
          <p:cNvSpPr/>
          <p:nvPr/>
        </p:nvSpPr>
        <p:spPr>
          <a:xfrm>
            <a:off x="8287967" y="1673156"/>
            <a:ext cx="612842" cy="32101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 name="Título 4">
            <a:extLst>
              <a:ext uri="{FF2B5EF4-FFF2-40B4-BE49-F238E27FC236}">
                <a16:creationId xmlns:a16="http://schemas.microsoft.com/office/drawing/2014/main" id="{FE0CA055-7EFE-47B7-913C-B2B7E239A3B5}"/>
              </a:ext>
            </a:extLst>
          </p:cNvPr>
          <p:cNvSpPr>
            <a:spLocks noGrp="1"/>
          </p:cNvSpPr>
          <p:nvPr>
            <p:ph type="title"/>
          </p:nvPr>
        </p:nvSpPr>
        <p:spPr>
          <a:xfrm>
            <a:off x="2760077" y="153092"/>
            <a:ext cx="9753600" cy="468594"/>
          </a:xfrm>
        </p:spPr>
        <p:txBody>
          <a:bodyPr>
            <a:noAutofit/>
          </a:bodyPr>
          <a:lstStyle/>
          <a:p>
            <a:r>
              <a:rPr lang="es-CO" sz="4000" b="1" u="sng" dirty="0">
                <a:solidFill>
                  <a:schemeClr val="accent6">
                    <a:lumMod val="50000"/>
                  </a:schemeClr>
                </a:solidFill>
              </a:rPr>
              <a:t>TRATAMIENTO FARMACOLÓGICO</a:t>
            </a:r>
          </a:p>
        </p:txBody>
      </p:sp>
      <p:sp>
        <p:nvSpPr>
          <p:cNvPr id="2" name="Rectángulo 1">
            <a:extLst>
              <a:ext uri="{FF2B5EF4-FFF2-40B4-BE49-F238E27FC236}">
                <a16:creationId xmlns:a16="http://schemas.microsoft.com/office/drawing/2014/main" id="{E54C5328-3A21-47BC-B610-749B01E2CE89}"/>
              </a:ext>
            </a:extLst>
          </p:cNvPr>
          <p:cNvSpPr/>
          <p:nvPr/>
        </p:nvSpPr>
        <p:spPr>
          <a:xfrm>
            <a:off x="7991475" y="1673156"/>
            <a:ext cx="695325" cy="321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CuadroTexto 3">
            <a:extLst>
              <a:ext uri="{FF2B5EF4-FFF2-40B4-BE49-F238E27FC236}">
                <a16:creationId xmlns:a16="http://schemas.microsoft.com/office/drawing/2014/main" id="{D9AA1657-46F2-2585-FECC-5115453AA569}"/>
              </a:ext>
            </a:extLst>
          </p:cNvPr>
          <p:cNvSpPr txBox="1"/>
          <p:nvPr/>
        </p:nvSpPr>
        <p:spPr>
          <a:xfrm>
            <a:off x="2344612" y="849973"/>
            <a:ext cx="7502769" cy="1815882"/>
          </a:xfrm>
          <a:prstGeom prst="rect">
            <a:avLst/>
          </a:prstGeom>
        </p:spPr>
        <p:style>
          <a:lnRef idx="2">
            <a:schemeClr val="dk1"/>
          </a:lnRef>
          <a:fillRef idx="1">
            <a:schemeClr val="lt1"/>
          </a:fillRef>
          <a:effectRef idx="0">
            <a:schemeClr val="dk1"/>
          </a:effectRef>
          <a:fontRef idx="minor">
            <a:schemeClr val="dk1"/>
          </a:fontRef>
        </p:style>
        <p:txBody>
          <a:bodyPr wrap="square" anchor="ctr">
            <a:spAutoFit/>
          </a:bodyPr>
          <a:lstStyle/>
          <a:p>
            <a:pPr algn="l"/>
            <a:r>
              <a:rPr lang="es-CO" sz="1400" b="1" i="0" u="none" strike="noStrike" dirty="0">
                <a:solidFill>
                  <a:srgbClr val="000000"/>
                </a:solidFill>
                <a:effectLst/>
              </a:rPr>
              <a:t>Falla a insulina basal:</a:t>
            </a:r>
            <a:endParaRPr lang="es-CO" sz="1400" dirty="0">
              <a:solidFill>
                <a:srgbClr val="000000"/>
              </a:solidFill>
            </a:endParaRPr>
          </a:p>
          <a:p>
            <a:pPr marL="285750" indent="-285750" algn="l">
              <a:buFont typeface="Arial" panose="020B0604020202020204" pitchFamily="34" charset="0"/>
              <a:buChar char="•"/>
            </a:pPr>
            <a:r>
              <a:rPr lang="es-CO" sz="1400" b="0" i="0" u="none" strike="noStrike" dirty="0">
                <a:solidFill>
                  <a:srgbClr val="000000"/>
                </a:solidFill>
                <a:effectLst/>
              </a:rPr>
              <a:t>Antes de basal-bolo o basal-plus, preferir </a:t>
            </a:r>
            <a:r>
              <a:rPr lang="es-CO" sz="1400" b="1" i="0" u="none" strike="noStrike" dirty="0">
                <a:solidFill>
                  <a:srgbClr val="000000"/>
                </a:solidFill>
                <a:effectLst/>
              </a:rPr>
              <a:t>basal + GLP-1</a:t>
            </a:r>
            <a:r>
              <a:rPr lang="es-CO" sz="1400" b="0" i="0" u="none" strike="noStrike" dirty="0">
                <a:solidFill>
                  <a:srgbClr val="000000"/>
                </a:solidFill>
                <a:effectLst/>
              </a:rPr>
              <a:t>. </a:t>
            </a:r>
          </a:p>
          <a:p>
            <a:pPr algn="l"/>
            <a:endParaRPr lang="es-CO" sz="1400" b="0" i="0" u="none" strike="noStrike" dirty="0">
              <a:solidFill>
                <a:srgbClr val="000000"/>
              </a:solidFill>
              <a:effectLst/>
            </a:endParaRPr>
          </a:p>
          <a:p>
            <a:pPr algn="l"/>
            <a:r>
              <a:rPr lang="es-CO" sz="1400" b="1" i="0" u="none" strike="noStrike" dirty="0">
                <a:solidFill>
                  <a:srgbClr val="000000"/>
                </a:solidFill>
                <a:effectLst/>
              </a:rPr>
              <a:t>Si hay obesidad/sobrepeso:</a:t>
            </a:r>
            <a:endParaRPr lang="es-CO" sz="1400" dirty="0">
              <a:solidFill>
                <a:srgbClr val="000000"/>
              </a:solidFill>
            </a:endParaRPr>
          </a:p>
          <a:p>
            <a:pPr marL="285750" indent="-285750" algn="l">
              <a:buFont typeface="Arial" panose="020B0604020202020204" pitchFamily="34" charset="0"/>
              <a:buChar char="•"/>
            </a:pPr>
            <a:r>
              <a:rPr lang="es-CO" sz="1400" b="0" i="0" u="none" strike="noStrike" dirty="0">
                <a:solidFill>
                  <a:srgbClr val="000000"/>
                </a:solidFill>
                <a:effectLst/>
              </a:rPr>
              <a:t>Priorizar </a:t>
            </a:r>
            <a:r>
              <a:rPr lang="es-CO" sz="1400" b="1" i="0" u="none" strike="noStrike" dirty="0">
                <a:solidFill>
                  <a:srgbClr val="000000"/>
                </a:solidFill>
                <a:effectLst/>
              </a:rPr>
              <a:t>GLP-1</a:t>
            </a:r>
            <a:r>
              <a:rPr lang="es-CO" sz="1400" b="0" i="0" u="none" strike="noStrike" dirty="0">
                <a:solidFill>
                  <a:srgbClr val="000000"/>
                </a:solidFill>
                <a:effectLst/>
              </a:rPr>
              <a:t> o </a:t>
            </a:r>
            <a:r>
              <a:rPr lang="es-CO" sz="1400" b="1" i="0" u="none" strike="noStrike" dirty="0">
                <a:solidFill>
                  <a:srgbClr val="000000"/>
                </a:solidFill>
                <a:effectLst/>
              </a:rPr>
              <a:t>agonista dual GLP-1/GIP</a:t>
            </a:r>
            <a:r>
              <a:rPr lang="es-CO" sz="1400" b="0" i="0" u="none" strike="noStrike" dirty="0">
                <a:solidFill>
                  <a:srgbClr val="000000"/>
                </a:solidFill>
                <a:effectLst/>
              </a:rPr>
              <a:t>; considerar </a:t>
            </a:r>
            <a:r>
              <a:rPr lang="es-CO" sz="1400" b="1" i="0" u="none" strike="noStrike" dirty="0">
                <a:solidFill>
                  <a:srgbClr val="000000"/>
                </a:solidFill>
                <a:effectLst/>
              </a:rPr>
              <a:t>iSGLT2</a:t>
            </a:r>
            <a:r>
              <a:rPr lang="es-CO" sz="1400" b="0" i="0" u="none" strike="noStrike" dirty="0">
                <a:solidFill>
                  <a:srgbClr val="000000"/>
                </a:solidFill>
                <a:effectLst/>
              </a:rPr>
              <a:t> como apoyo para peso. </a:t>
            </a:r>
          </a:p>
          <a:p>
            <a:pPr algn="l"/>
            <a:endParaRPr lang="es-CO" sz="1400" b="0" i="0" u="none" strike="noStrike" dirty="0">
              <a:solidFill>
                <a:srgbClr val="000000"/>
              </a:solidFill>
              <a:effectLst/>
            </a:endParaRPr>
          </a:p>
          <a:p>
            <a:pPr algn="l"/>
            <a:r>
              <a:rPr lang="es-CO" sz="1400" b="1" i="0" u="none" strike="noStrike" dirty="0">
                <a:solidFill>
                  <a:srgbClr val="000000"/>
                </a:solidFill>
                <a:effectLst/>
              </a:rPr>
              <a:t>Si hay ECV, IC o ERC:</a:t>
            </a:r>
            <a:endParaRPr lang="es-CO" sz="1400" b="0" i="0" u="none" strike="noStrike" dirty="0">
              <a:solidFill>
                <a:srgbClr val="000000"/>
              </a:solidFill>
              <a:effectLst/>
            </a:endParaRPr>
          </a:p>
          <a:p>
            <a:pPr marL="285750" indent="-285750" algn="l">
              <a:buFont typeface="Arial" panose="020B0604020202020204" pitchFamily="34" charset="0"/>
              <a:buChar char="•"/>
            </a:pPr>
            <a:r>
              <a:rPr lang="es-CO" sz="1400" b="0" i="0" u="none" strike="noStrike" dirty="0">
                <a:solidFill>
                  <a:srgbClr val="000000"/>
                </a:solidFill>
                <a:effectLst/>
              </a:rPr>
              <a:t>Priorizar </a:t>
            </a:r>
            <a:r>
              <a:rPr lang="es-CO" sz="1400" b="1" i="0" u="none" strike="noStrike" dirty="0">
                <a:solidFill>
                  <a:srgbClr val="000000"/>
                </a:solidFill>
                <a:effectLst/>
              </a:rPr>
              <a:t>iSGLT2</a:t>
            </a:r>
            <a:r>
              <a:rPr lang="es-CO" sz="1400" b="0" i="0" u="none" strike="noStrike" dirty="0">
                <a:solidFill>
                  <a:srgbClr val="000000"/>
                </a:solidFill>
                <a:effectLst/>
              </a:rPr>
              <a:t>, </a:t>
            </a:r>
            <a:r>
              <a:rPr lang="es-CO" sz="1400" b="1" i="0" u="none" strike="noStrike" dirty="0">
                <a:solidFill>
                  <a:srgbClr val="000000"/>
                </a:solidFill>
                <a:effectLst/>
              </a:rPr>
              <a:t>GLP-1</a:t>
            </a:r>
            <a:r>
              <a:rPr lang="es-CO" sz="1400" b="0" i="0" u="none" strike="noStrike" dirty="0">
                <a:solidFill>
                  <a:srgbClr val="000000"/>
                </a:solidFill>
                <a:effectLst/>
              </a:rPr>
              <a:t> y, si persiste albuminuria pese a IECA/ARA II, </a:t>
            </a:r>
            <a:r>
              <a:rPr lang="es-CO" sz="1400" b="1" i="0" u="none" strike="noStrike" dirty="0" err="1">
                <a:solidFill>
                  <a:srgbClr val="000000"/>
                </a:solidFill>
                <a:effectLst/>
              </a:rPr>
              <a:t>finerenona</a:t>
            </a:r>
            <a:r>
              <a:rPr lang="es-CO" sz="1400" b="0" i="0" u="none" strike="noStrike" dirty="0">
                <a:solidFill>
                  <a:srgbClr val="000000"/>
                </a:solidFill>
                <a:effectLst/>
              </a:rPr>
              <a:t>. </a:t>
            </a:r>
          </a:p>
        </p:txBody>
      </p:sp>
      <p:sp>
        <p:nvSpPr>
          <p:cNvPr id="6" name="CuadroTexto 5">
            <a:extLst>
              <a:ext uri="{FF2B5EF4-FFF2-40B4-BE49-F238E27FC236}">
                <a16:creationId xmlns:a16="http://schemas.microsoft.com/office/drawing/2014/main" id="{F443D25A-9EF4-D55E-D309-02D60A9763AD}"/>
              </a:ext>
            </a:extLst>
          </p:cNvPr>
          <p:cNvSpPr txBox="1"/>
          <p:nvPr/>
        </p:nvSpPr>
        <p:spPr>
          <a:xfrm>
            <a:off x="2523573" y="6581001"/>
            <a:ext cx="7144850" cy="276999"/>
          </a:xfrm>
          <a:prstGeom prst="rect">
            <a:avLst/>
          </a:prstGeom>
          <a:noFill/>
        </p:spPr>
        <p:txBody>
          <a:bodyPr wrap="square">
            <a:spAutoFit/>
          </a:bodyPr>
          <a:lstStyle/>
          <a:p>
            <a:pPr algn="ctr"/>
            <a:r>
              <a:rPr lang="es-CO" sz="1200" b="1" dirty="0">
                <a:effectLst/>
                <a:ea typeface="Calibri" panose="020F0502020204030204" pitchFamily="34" charset="0"/>
              </a:rPr>
              <a:t>GPC Asociación Colombiana de Endocrinología 2025 </a:t>
            </a:r>
            <a:r>
              <a:rPr lang="es-MX" sz="1200" b="1" dirty="0"/>
              <a:t>/ Consenso institucional Medicina Familiar</a:t>
            </a:r>
            <a:endParaRPr lang="es-MX" sz="1200" dirty="0"/>
          </a:p>
        </p:txBody>
      </p:sp>
      <p:pic>
        <p:nvPicPr>
          <p:cNvPr id="9" name="Imagen 8">
            <a:extLst>
              <a:ext uri="{FF2B5EF4-FFF2-40B4-BE49-F238E27FC236}">
                <a16:creationId xmlns:a16="http://schemas.microsoft.com/office/drawing/2014/main" id="{5311A5FD-28C8-2655-15EF-C96069FB80D7}"/>
              </a:ext>
            </a:extLst>
          </p:cNvPr>
          <p:cNvPicPr>
            <a:picLocks/>
          </p:cNvPicPr>
          <p:nvPr/>
        </p:nvPicPr>
        <p:blipFill rotWithShape="1">
          <a:blip r:embed="rId4"/>
          <a:srcRect b="19809"/>
          <a:stretch/>
        </p:blipFill>
        <p:spPr>
          <a:xfrm>
            <a:off x="1861036" y="2841339"/>
            <a:ext cx="8469923" cy="3739662"/>
          </a:xfrm>
          <a:prstGeom prst="rect">
            <a:avLst/>
          </a:prstGeom>
          <a:ln>
            <a:solidFill>
              <a:schemeClr val="tx1"/>
            </a:solidFill>
          </a:ln>
        </p:spPr>
      </p:pic>
    </p:spTree>
    <p:extLst>
      <p:ext uri="{BB962C8B-B14F-4D97-AF65-F5344CB8AC3E}">
        <p14:creationId xmlns:p14="http://schemas.microsoft.com/office/powerpoint/2010/main" val="3750929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r="-1000"/>
          </a:stretch>
        </a:blipFill>
        <a:effectLst/>
      </p:bgPr>
    </p:bg>
    <p:spTree>
      <p:nvGrpSpPr>
        <p:cNvPr id="1" name=""/>
        <p:cNvGrpSpPr/>
        <p:nvPr/>
      </p:nvGrpSpPr>
      <p:grpSpPr>
        <a:xfrm>
          <a:off x="0" y="0"/>
          <a:ext cx="0" cy="0"/>
          <a:chOff x="0" y="0"/>
          <a:chExt cx="0" cy="0"/>
        </a:xfrm>
      </p:grpSpPr>
      <p:sp>
        <p:nvSpPr>
          <p:cNvPr id="2" name="Título 4">
            <a:extLst>
              <a:ext uri="{FF2B5EF4-FFF2-40B4-BE49-F238E27FC236}">
                <a16:creationId xmlns:a16="http://schemas.microsoft.com/office/drawing/2014/main" id="{53370804-4D30-419E-832E-825E5B930C91}"/>
              </a:ext>
            </a:extLst>
          </p:cNvPr>
          <p:cNvSpPr>
            <a:spLocks noGrp="1"/>
          </p:cNvSpPr>
          <p:nvPr>
            <p:ph type="title"/>
          </p:nvPr>
        </p:nvSpPr>
        <p:spPr>
          <a:xfrm>
            <a:off x="2376674" y="323724"/>
            <a:ext cx="9483941" cy="468594"/>
          </a:xfrm>
        </p:spPr>
        <p:txBody>
          <a:bodyPr>
            <a:noAutofit/>
          </a:bodyPr>
          <a:lstStyle/>
          <a:p>
            <a:r>
              <a:rPr lang="es-CO" sz="4000" b="1" u="sng" dirty="0">
                <a:solidFill>
                  <a:schemeClr val="accent6">
                    <a:lumMod val="50000"/>
                  </a:schemeClr>
                </a:solidFill>
              </a:rPr>
              <a:t>Recomendación 6: METAS DE TRATAMIENTO</a:t>
            </a:r>
          </a:p>
        </p:txBody>
      </p:sp>
      <p:sp>
        <p:nvSpPr>
          <p:cNvPr id="4" name="CuadroTexto 3">
            <a:extLst>
              <a:ext uri="{FF2B5EF4-FFF2-40B4-BE49-F238E27FC236}">
                <a16:creationId xmlns:a16="http://schemas.microsoft.com/office/drawing/2014/main" id="{EF5459AA-6D3E-4B2D-C13B-090238D50620}"/>
              </a:ext>
            </a:extLst>
          </p:cNvPr>
          <p:cNvSpPr txBox="1"/>
          <p:nvPr/>
        </p:nvSpPr>
        <p:spPr>
          <a:xfrm>
            <a:off x="1022645" y="1538356"/>
            <a:ext cx="6096000" cy="2031325"/>
          </a:xfrm>
          <a:prstGeom prst="rect">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l"/>
            <a:r>
              <a:rPr lang="es-CO" b="1" i="0" u="none" strike="noStrike" dirty="0">
                <a:solidFill>
                  <a:srgbClr val="000000"/>
                </a:solidFill>
                <a:effectLst/>
              </a:rPr>
              <a:t>Meta general: HbA1c &lt;7%</a:t>
            </a:r>
            <a:endParaRPr lang="es-CO" b="0" i="0" u="none" strike="noStrike" dirty="0">
              <a:solidFill>
                <a:srgbClr val="000000"/>
              </a:solidFill>
              <a:effectLst/>
            </a:endParaRPr>
          </a:p>
          <a:p>
            <a:pPr marL="285750" indent="-285750" algn="l">
              <a:buFont typeface="Arial" panose="020B0604020202020204" pitchFamily="34" charset="0"/>
              <a:buChar char="•"/>
            </a:pPr>
            <a:r>
              <a:rPr lang="es-CO" b="1" i="0" u="none" strike="noStrike" dirty="0">
                <a:solidFill>
                  <a:srgbClr val="000000"/>
                </a:solidFill>
                <a:effectLst/>
              </a:rPr>
              <a:t>&lt;6.5%</a:t>
            </a:r>
            <a:r>
              <a:rPr lang="es-CO" b="0" i="0" u="none" strike="noStrike" dirty="0">
                <a:solidFill>
                  <a:srgbClr val="000000"/>
                </a:solidFill>
                <a:effectLst/>
              </a:rPr>
              <a:t> en: Pacientes jóvenes y con bajo riesgo de hipoglucemia</a:t>
            </a:r>
          </a:p>
          <a:p>
            <a:pPr marL="285750" indent="-285750" algn="l">
              <a:buFont typeface="Arial" panose="020B0604020202020204" pitchFamily="34" charset="0"/>
              <a:buChar char="•"/>
            </a:pPr>
            <a:r>
              <a:rPr lang="es-CO" b="1" i="0" u="none" strike="noStrike" dirty="0">
                <a:solidFill>
                  <a:srgbClr val="000000"/>
                </a:solidFill>
                <a:effectLst/>
              </a:rPr>
              <a:t>&lt;7-8%</a:t>
            </a:r>
            <a:r>
              <a:rPr lang="es-CO" b="0" i="0" u="none" strike="noStrike" dirty="0">
                <a:solidFill>
                  <a:srgbClr val="000000"/>
                </a:solidFill>
                <a:effectLst/>
              </a:rPr>
              <a:t> en: Adultos mayores (demencia, fragilidad), comorbilidades</a:t>
            </a:r>
            <a:r>
              <a:rPr lang="es-CO" dirty="0">
                <a:solidFill>
                  <a:srgbClr val="000000"/>
                </a:solidFill>
              </a:rPr>
              <a:t>, </a:t>
            </a:r>
            <a:r>
              <a:rPr lang="es-CO" b="0" i="0" u="none" strike="noStrike" dirty="0">
                <a:solidFill>
                  <a:srgbClr val="000000"/>
                </a:solidFill>
                <a:effectLst/>
              </a:rPr>
              <a:t>riesgo de hipoglucemia</a:t>
            </a:r>
          </a:p>
          <a:p>
            <a:pPr marL="285750" indent="-285750">
              <a:buFont typeface="Arial" panose="020B0604020202020204" pitchFamily="34" charset="0"/>
              <a:buChar char="•"/>
            </a:pPr>
            <a:r>
              <a:rPr lang="es-CO" dirty="0"/>
              <a:t>S</a:t>
            </a:r>
            <a:r>
              <a:rPr lang="es-CO" sz="1800" dirty="0">
                <a:effectLst/>
              </a:rPr>
              <a:t>i se encuentra en fin de vida: limitar tratamiento a evitar hiperglucemias </a:t>
            </a:r>
            <a:r>
              <a:rPr lang="es-CO" sz="1800" dirty="0" err="1">
                <a:effectLst/>
              </a:rPr>
              <a:t>sintomática</a:t>
            </a:r>
            <a:r>
              <a:rPr lang="es-CO" dirty="0" err="1"/>
              <a:t>s</a:t>
            </a:r>
            <a:endParaRPr lang="es-CO" dirty="0"/>
          </a:p>
        </p:txBody>
      </p:sp>
      <p:sp>
        <p:nvSpPr>
          <p:cNvPr id="6" name="CuadroTexto 5">
            <a:extLst>
              <a:ext uri="{FF2B5EF4-FFF2-40B4-BE49-F238E27FC236}">
                <a16:creationId xmlns:a16="http://schemas.microsoft.com/office/drawing/2014/main" id="{B0DD62E9-9769-2367-031B-788DEC43CE04}"/>
              </a:ext>
            </a:extLst>
          </p:cNvPr>
          <p:cNvSpPr txBox="1"/>
          <p:nvPr/>
        </p:nvSpPr>
        <p:spPr>
          <a:xfrm>
            <a:off x="1022645" y="4146796"/>
            <a:ext cx="6096000" cy="1754326"/>
          </a:xfrm>
          <a:prstGeom prst="rect">
            <a:avLst/>
          </a:prstGeom>
          <a:solidFill>
            <a:schemeClr val="accent4">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r>
              <a:rPr lang="es-CO" b="1" dirty="0" err="1">
                <a:effectLst/>
              </a:rPr>
              <a:t>Glucometrías</a:t>
            </a:r>
            <a:r>
              <a:rPr lang="es-CO" b="1" dirty="0">
                <a:effectLst/>
              </a:rPr>
              <a:t>: </a:t>
            </a:r>
            <a:endParaRPr lang="es-CO" b="1" dirty="0"/>
          </a:p>
          <a:p>
            <a:pPr marL="285750" indent="-285750">
              <a:buFont typeface="Arial" panose="020B0604020202020204" pitchFamily="34" charset="0"/>
              <a:buChar char="•"/>
            </a:pPr>
            <a:r>
              <a:rPr lang="es-CO" dirty="0">
                <a:effectLst/>
              </a:rPr>
              <a:t>Antes de comidas 80- 130mg/dl</a:t>
            </a:r>
            <a:endParaRPr lang="es-CO" dirty="0"/>
          </a:p>
          <a:p>
            <a:pPr marL="285750" indent="-285750">
              <a:buFont typeface="Arial" panose="020B0604020202020204" pitchFamily="34" charset="0"/>
              <a:buChar char="•"/>
            </a:pPr>
            <a:r>
              <a:rPr lang="es-CO" dirty="0" err="1">
                <a:effectLst/>
              </a:rPr>
              <a:t>Después</a:t>
            </a:r>
            <a:r>
              <a:rPr lang="es-CO" dirty="0">
                <a:effectLst/>
              </a:rPr>
              <a:t> de comidas hasta 180mg/dl Sin hipoglicemias </a:t>
            </a:r>
            <a:endParaRPr lang="es-CO" dirty="0"/>
          </a:p>
          <a:p>
            <a:pPr marL="285750" indent="-285750">
              <a:buFont typeface="Arial" panose="020B0604020202020204" pitchFamily="34" charset="0"/>
              <a:buChar char="•"/>
            </a:pPr>
            <a:r>
              <a:rPr lang="es-CO" dirty="0">
                <a:effectLst/>
              </a:rPr>
              <a:t>La </a:t>
            </a:r>
            <a:r>
              <a:rPr lang="es-CO" dirty="0" err="1">
                <a:effectLst/>
              </a:rPr>
              <a:t>glucometría</a:t>
            </a:r>
            <a:r>
              <a:rPr lang="es-CO" dirty="0">
                <a:effectLst/>
              </a:rPr>
              <a:t> posprandial debe ser el objetivo si la HbA1c no llega a metas a pesar de un control de glucosa </a:t>
            </a:r>
            <a:r>
              <a:rPr lang="es-CO" dirty="0" err="1">
                <a:effectLst/>
              </a:rPr>
              <a:t>preprandial</a:t>
            </a:r>
            <a:r>
              <a:rPr lang="es-CO" dirty="0">
                <a:effectLst/>
              </a:rPr>
              <a:t> </a:t>
            </a:r>
            <a:endParaRPr lang="es-CO" dirty="0"/>
          </a:p>
        </p:txBody>
      </p:sp>
      <p:sp>
        <p:nvSpPr>
          <p:cNvPr id="14" name="CuadroTexto 13">
            <a:extLst>
              <a:ext uri="{FF2B5EF4-FFF2-40B4-BE49-F238E27FC236}">
                <a16:creationId xmlns:a16="http://schemas.microsoft.com/office/drawing/2014/main" id="{0C7A0494-FF30-9F26-9851-3402233BD47E}"/>
              </a:ext>
            </a:extLst>
          </p:cNvPr>
          <p:cNvSpPr txBox="1"/>
          <p:nvPr/>
        </p:nvSpPr>
        <p:spPr>
          <a:xfrm>
            <a:off x="7397061" y="2715635"/>
            <a:ext cx="3892262" cy="2308324"/>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r>
              <a:rPr lang="es-CO" sz="1800" b="1" dirty="0">
                <a:effectLst/>
              </a:rPr>
              <a:t>Otras metas de tratamiento:</a:t>
            </a:r>
          </a:p>
          <a:p>
            <a:pPr marL="285750" indent="-285750">
              <a:buFont typeface="Arial" panose="020B0604020202020204" pitchFamily="34" charset="0"/>
              <a:buChar char="•"/>
            </a:pPr>
            <a:r>
              <a:rPr lang="es-CO" sz="1800" dirty="0">
                <a:effectLst/>
              </a:rPr>
              <a:t>Colesterol LDL: </a:t>
            </a:r>
            <a:r>
              <a:rPr lang="es-CO" sz="1800" dirty="0" err="1">
                <a:effectLst/>
              </a:rPr>
              <a:t>según</a:t>
            </a:r>
            <a:r>
              <a:rPr lang="es-CO" dirty="0"/>
              <a:t> RCV</a:t>
            </a:r>
          </a:p>
          <a:p>
            <a:pPr marL="285750" indent="-285750">
              <a:buFont typeface="Arial" panose="020B0604020202020204" pitchFamily="34" charset="0"/>
              <a:buChar char="•"/>
            </a:pPr>
            <a:r>
              <a:rPr lang="es-CO" sz="1800" dirty="0" err="1">
                <a:effectLst/>
              </a:rPr>
              <a:t>Triglicéridos</a:t>
            </a:r>
            <a:r>
              <a:rPr lang="es-CO" sz="1800" dirty="0">
                <a:effectLst/>
              </a:rPr>
              <a:t> &lt;150</a:t>
            </a:r>
          </a:p>
          <a:p>
            <a:pPr marL="285750" indent="-285750">
              <a:buFont typeface="Arial" panose="020B0604020202020204" pitchFamily="34" charset="0"/>
              <a:buChar char="•"/>
            </a:pPr>
            <a:r>
              <a:rPr lang="es-CO" sz="1800" dirty="0">
                <a:effectLst/>
              </a:rPr>
              <a:t>RAC:&lt; 30mg/gr</a:t>
            </a:r>
          </a:p>
          <a:p>
            <a:pPr marL="285750" indent="-285750">
              <a:buFont typeface="Arial" panose="020B0604020202020204" pitchFamily="34" charset="0"/>
              <a:buChar char="•"/>
            </a:pPr>
            <a:r>
              <a:rPr lang="es-CO" sz="1800" dirty="0" err="1">
                <a:effectLst/>
              </a:rPr>
              <a:t>Pérdida</a:t>
            </a:r>
            <a:r>
              <a:rPr lang="es-CO" sz="1800" dirty="0">
                <a:effectLst/>
              </a:rPr>
              <a:t> de peso 5-15% *</a:t>
            </a:r>
          </a:p>
          <a:p>
            <a:pPr marL="285750" indent="-285750">
              <a:buFont typeface="Arial" panose="020B0604020202020204" pitchFamily="34" charset="0"/>
              <a:buChar char="•"/>
            </a:pPr>
            <a:r>
              <a:rPr lang="es-CO" sz="1800" dirty="0" err="1">
                <a:effectLst/>
              </a:rPr>
              <a:t>Perímetro</a:t>
            </a:r>
            <a:r>
              <a:rPr lang="es-CO" sz="1800" dirty="0">
                <a:effectLst/>
              </a:rPr>
              <a:t> abdominal: M &lt; 80 cm y H &lt; 90cm</a:t>
            </a:r>
          </a:p>
          <a:p>
            <a:pPr marL="285750" indent="-285750">
              <a:buFont typeface="Arial" panose="020B0604020202020204" pitchFamily="34" charset="0"/>
              <a:buChar char="•"/>
            </a:pPr>
            <a:r>
              <a:rPr lang="es-CO" sz="1800" dirty="0">
                <a:effectLst/>
              </a:rPr>
              <a:t>TA &lt; 130/80 - ver </a:t>
            </a:r>
            <a:r>
              <a:rPr lang="es-CO" sz="1800" dirty="0" err="1">
                <a:effectLst/>
              </a:rPr>
              <a:t>vía</a:t>
            </a:r>
            <a:r>
              <a:rPr lang="es-CO" sz="1800" dirty="0">
                <a:effectLst/>
              </a:rPr>
              <a:t> de HTA </a:t>
            </a:r>
            <a:endParaRPr lang="es-CO" dirty="0"/>
          </a:p>
        </p:txBody>
      </p:sp>
      <p:sp>
        <p:nvSpPr>
          <p:cNvPr id="15" name="CuadroTexto 14">
            <a:extLst>
              <a:ext uri="{FF2B5EF4-FFF2-40B4-BE49-F238E27FC236}">
                <a16:creationId xmlns:a16="http://schemas.microsoft.com/office/drawing/2014/main" id="{C1D1624A-E48B-FADC-F99F-BC99C9442B94}"/>
              </a:ext>
            </a:extLst>
          </p:cNvPr>
          <p:cNvSpPr txBox="1"/>
          <p:nvPr/>
        </p:nvSpPr>
        <p:spPr>
          <a:xfrm>
            <a:off x="2523575" y="6516035"/>
            <a:ext cx="7144850" cy="276999"/>
          </a:xfrm>
          <a:prstGeom prst="rect">
            <a:avLst/>
          </a:prstGeom>
          <a:noFill/>
        </p:spPr>
        <p:txBody>
          <a:bodyPr wrap="square">
            <a:spAutoFit/>
          </a:bodyPr>
          <a:lstStyle/>
          <a:p>
            <a:pPr algn="ctr"/>
            <a:r>
              <a:rPr lang="es-CO" sz="1200" b="1" dirty="0">
                <a:effectLst/>
                <a:ea typeface="Calibri" panose="020F0502020204030204" pitchFamily="34" charset="0"/>
              </a:rPr>
              <a:t>GPC Asociación Colombiana de Endocrinología 2025 </a:t>
            </a:r>
            <a:r>
              <a:rPr lang="es-MX" sz="1200" b="1" dirty="0"/>
              <a:t>/ ADA 2026 / Consenso institucional Medicina Familiar</a:t>
            </a:r>
            <a:endParaRPr lang="es-MX" sz="1200" dirty="0"/>
          </a:p>
        </p:txBody>
      </p:sp>
    </p:spTree>
    <p:extLst>
      <p:ext uri="{BB962C8B-B14F-4D97-AF65-F5344CB8AC3E}">
        <p14:creationId xmlns:p14="http://schemas.microsoft.com/office/powerpoint/2010/main" val="1347506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2" name="Título 4">
            <a:extLst>
              <a:ext uri="{FF2B5EF4-FFF2-40B4-BE49-F238E27FC236}">
                <a16:creationId xmlns:a16="http://schemas.microsoft.com/office/drawing/2014/main" id="{63D63637-32B1-4088-AB9E-E1B4E1B8B89B}"/>
              </a:ext>
            </a:extLst>
          </p:cNvPr>
          <p:cNvSpPr>
            <a:spLocks noGrp="1"/>
          </p:cNvSpPr>
          <p:nvPr>
            <p:ph type="title"/>
          </p:nvPr>
        </p:nvSpPr>
        <p:spPr>
          <a:xfrm>
            <a:off x="1219199" y="610147"/>
            <a:ext cx="9753600" cy="468594"/>
          </a:xfrm>
        </p:spPr>
        <p:txBody>
          <a:bodyPr>
            <a:noAutofit/>
          </a:bodyPr>
          <a:lstStyle/>
          <a:p>
            <a:pPr algn="ctr"/>
            <a:r>
              <a:rPr lang="es-CO" sz="4000" b="1" u="sng" dirty="0">
                <a:solidFill>
                  <a:schemeClr val="accent6">
                    <a:lumMod val="50000"/>
                  </a:schemeClr>
                </a:solidFill>
              </a:rPr>
              <a:t>Recomendación 7: CONTROLES</a:t>
            </a:r>
          </a:p>
        </p:txBody>
      </p:sp>
      <p:pic>
        <p:nvPicPr>
          <p:cNvPr id="7" name="Imagen 6">
            <a:extLst>
              <a:ext uri="{FF2B5EF4-FFF2-40B4-BE49-F238E27FC236}">
                <a16:creationId xmlns:a16="http://schemas.microsoft.com/office/drawing/2014/main" id="{CDBED66F-1EE7-2411-9DEF-3D531DB1AA53}"/>
              </a:ext>
            </a:extLst>
          </p:cNvPr>
          <p:cNvPicPr>
            <a:picLocks/>
          </p:cNvPicPr>
          <p:nvPr/>
        </p:nvPicPr>
        <p:blipFill rotWithShape="1">
          <a:blip r:embed="rId3"/>
          <a:srcRect t="7578" b="53289"/>
          <a:stretch/>
        </p:blipFill>
        <p:spPr>
          <a:xfrm>
            <a:off x="1219201" y="1814493"/>
            <a:ext cx="9753599" cy="3698631"/>
          </a:xfrm>
          <a:prstGeom prst="rect">
            <a:avLst/>
          </a:prstGeom>
          <a:ln>
            <a:solidFill>
              <a:schemeClr val="tx1"/>
            </a:solidFill>
          </a:ln>
        </p:spPr>
      </p:pic>
      <p:sp>
        <p:nvSpPr>
          <p:cNvPr id="8" name="CuadroTexto 7">
            <a:extLst>
              <a:ext uri="{FF2B5EF4-FFF2-40B4-BE49-F238E27FC236}">
                <a16:creationId xmlns:a16="http://schemas.microsoft.com/office/drawing/2014/main" id="{2F884151-8FB3-9948-9754-E6AE65E5A58D}"/>
              </a:ext>
            </a:extLst>
          </p:cNvPr>
          <p:cNvSpPr txBox="1"/>
          <p:nvPr/>
        </p:nvSpPr>
        <p:spPr>
          <a:xfrm>
            <a:off x="2523575" y="6516035"/>
            <a:ext cx="7144850" cy="276999"/>
          </a:xfrm>
          <a:prstGeom prst="rect">
            <a:avLst/>
          </a:prstGeom>
          <a:noFill/>
        </p:spPr>
        <p:txBody>
          <a:bodyPr wrap="square">
            <a:spAutoFit/>
          </a:bodyPr>
          <a:lstStyle/>
          <a:p>
            <a:pPr algn="ctr"/>
            <a:r>
              <a:rPr lang="es-CO" sz="1200" b="1" dirty="0">
                <a:effectLst/>
                <a:ea typeface="Calibri" panose="020F0502020204030204" pitchFamily="34" charset="0"/>
              </a:rPr>
              <a:t>GPC Asociación Colombiana de Endocrinología 2025 </a:t>
            </a:r>
            <a:r>
              <a:rPr lang="es-MX" sz="1200" b="1" dirty="0"/>
              <a:t>/ ADA 2026 / Consenso institucional Medicina Familiar</a:t>
            </a:r>
            <a:endParaRPr lang="es-MX" sz="1200" dirty="0"/>
          </a:p>
        </p:txBody>
      </p:sp>
      <p:sp>
        <p:nvSpPr>
          <p:cNvPr id="9" name="Rectángulo 8">
            <a:extLst>
              <a:ext uri="{FF2B5EF4-FFF2-40B4-BE49-F238E27FC236}">
                <a16:creationId xmlns:a16="http://schemas.microsoft.com/office/drawing/2014/main" id="{459F8943-EA26-8A83-91DC-E45A2E8EAA1E}"/>
              </a:ext>
            </a:extLst>
          </p:cNvPr>
          <p:cNvSpPr/>
          <p:nvPr/>
        </p:nvSpPr>
        <p:spPr>
          <a:xfrm>
            <a:off x="8754025" y="4841630"/>
            <a:ext cx="2218774" cy="483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Rectángulo 9">
            <a:extLst>
              <a:ext uri="{FF2B5EF4-FFF2-40B4-BE49-F238E27FC236}">
                <a16:creationId xmlns:a16="http://schemas.microsoft.com/office/drawing/2014/main" id="{E5C0682D-F675-003D-3F0A-E01240E6DC51}"/>
              </a:ext>
            </a:extLst>
          </p:cNvPr>
          <p:cNvSpPr/>
          <p:nvPr/>
        </p:nvSpPr>
        <p:spPr>
          <a:xfrm>
            <a:off x="8754025" y="1814493"/>
            <a:ext cx="2031206" cy="4872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1" name="CuadroTexto 10">
            <a:extLst>
              <a:ext uri="{FF2B5EF4-FFF2-40B4-BE49-F238E27FC236}">
                <a16:creationId xmlns:a16="http://schemas.microsoft.com/office/drawing/2014/main" id="{B3ECAC32-01F9-552B-4EF2-248AD019C24B}"/>
              </a:ext>
            </a:extLst>
          </p:cNvPr>
          <p:cNvSpPr txBox="1"/>
          <p:nvPr/>
        </p:nvSpPr>
        <p:spPr>
          <a:xfrm>
            <a:off x="9246394" y="1927661"/>
            <a:ext cx="844061" cy="307777"/>
          </a:xfrm>
          <a:prstGeom prst="rect">
            <a:avLst/>
          </a:prstGeom>
          <a:noFill/>
        </p:spPr>
        <p:txBody>
          <a:bodyPr wrap="square" rtlCol="0">
            <a:spAutoFit/>
          </a:bodyPr>
          <a:lstStyle/>
          <a:p>
            <a:pPr algn="ctr"/>
            <a:r>
              <a:rPr lang="es-CO" sz="1400" b="1" dirty="0"/>
              <a:t>Notas</a:t>
            </a:r>
          </a:p>
        </p:txBody>
      </p:sp>
      <p:sp>
        <p:nvSpPr>
          <p:cNvPr id="12" name="CuadroTexto 11">
            <a:extLst>
              <a:ext uri="{FF2B5EF4-FFF2-40B4-BE49-F238E27FC236}">
                <a16:creationId xmlns:a16="http://schemas.microsoft.com/office/drawing/2014/main" id="{254AC651-B345-2A63-4754-DC0F5CDA6164}"/>
              </a:ext>
            </a:extLst>
          </p:cNvPr>
          <p:cNvSpPr txBox="1"/>
          <p:nvPr/>
        </p:nvSpPr>
        <p:spPr>
          <a:xfrm>
            <a:off x="8652820" y="5003841"/>
            <a:ext cx="2031207" cy="276999"/>
          </a:xfrm>
          <a:prstGeom prst="rect">
            <a:avLst/>
          </a:prstGeom>
          <a:noFill/>
        </p:spPr>
        <p:txBody>
          <a:bodyPr wrap="square" rtlCol="0">
            <a:spAutoFit/>
          </a:bodyPr>
          <a:lstStyle/>
          <a:p>
            <a:pPr algn="just"/>
            <a:r>
              <a:rPr lang="es-CO" sz="1200" dirty="0"/>
              <a:t>Estratificar según alteración</a:t>
            </a:r>
          </a:p>
        </p:txBody>
      </p:sp>
    </p:spTree>
    <p:extLst>
      <p:ext uri="{BB962C8B-B14F-4D97-AF65-F5344CB8AC3E}">
        <p14:creationId xmlns:p14="http://schemas.microsoft.com/office/powerpoint/2010/main" val="19971313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r="-1000"/>
          </a:stretch>
        </a:blipFill>
        <a:effectLst/>
      </p:bgPr>
    </p:bg>
    <p:spTree>
      <p:nvGrpSpPr>
        <p:cNvPr id="1" name=""/>
        <p:cNvGrpSpPr/>
        <p:nvPr/>
      </p:nvGrpSpPr>
      <p:grpSpPr>
        <a:xfrm>
          <a:off x="0" y="0"/>
          <a:ext cx="0" cy="0"/>
          <a:chOff x="0" y="0"/>
          <a:chExt cx="0" cy="0"/>
        </a:xfrm>
      </p:grpSpPr>
      <p:sp>
        <p:nvSpPr>
          <p:cNvPr id="10" name="Título 4">
            <a:extLst>
              <a:ext uri="{FF2B5EF4-FFF2-40B4-BE49-F238E27FC236}">
                <a16:creationId xmlns:a16="http://schemas.microsoft.com/office/drawing/2014/main" id="{CCA4E1F5-E4C3-09E8-CACB-6F57E1391726}"/>
              </a:ext>
            </a:extLst>
          </p:cNvPr>
          <p:cNvSpPr>
            <a:spLocks noGrp="1"/>
          </p:cNvSpPr>
          <p:nvPr>
            <p:ph type="title"/>
          </p:nvPr>
        </p:nvSpPr>
        <p:spPr>
          <a:xfrm>
            <a:off x="1219199" y="610147"/>
            <a:ext cx="9753600" cy="468594"/>
          </a:xfrm>
        </p:spPr>
        <p:txBody>
          <a:bodyPr>
            <a:noAutofit/>
          </a:bodyPr>
          <a:lstStyle/>
          <a:p>
            <a:pPr algn="ctr"/>
            <a:r>
              <a:rPr lang="es-CO" sz="4000" b="1" u="sng" dirty="0">
                <a:solidFill>
                  <a:schemeClr val="accent6">
                    <a:lumMod val="50000"/>
                  </a:schemeClr>
                </a:solidFill>
              </a:rPr>
              <a:t>Recomendación 7: CONTROLES</a:t>
            </a:r>
          </a:p>
        </p:txBody>
      </p:sp>
      <p:sp>
        <p:nvSpPr>
          <p:cNvPr id="12" name="CuadroTexto 11">
            <a:extLst>
              <a:ext uri="{FF2B5EF4-FFF2-40B4-BE49-F238E27FC236}">
                <a16:creationId xmlns:a16="http://schemas.microsoft.com/office/drawing/2014/main" id="{1EF6D66E-5D0D-953C-8AB3-97FC0B68250B}"/>
              </a:ext>
            </a:extLst>
          </p:cNvPr>
          <p:cNvSpPr txBox="1"/>
          <p:nvPr/>
        </p:nvSpPr>
        <p:spPr>
          <a:xfrm>
            <a:off x="2327029" y="2227727"/>
            <a:ext cx="7537939" cy="313932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s-CO" b="1" dirty="0" err="1">
                <a:effectLst/>
              </a:rPr>
              <a:t>Oftalmología</a:t>
            </a:r>
            <a:r>
              <a:rPr lang="es-CO" b="1" dirty="0">
                <a:effectLst/>
              </a:rPr>
              <a:t>: </a:t>
            </a:r>
            <a:endParaRPr lang="es-CO" b="1" dirty="0"/>
          </a:p>
          <a:p>
            <a:pPr marL="285750" indent="-285750">
              <a:buFontTx/>
              <a:buChar char="-"/>
            </a:pPr>
            <a:r>
              <a:rPr lang="es-CO" dirty="0">
                <a:effectLst/>
              </a:rPr>
              <a:t>Cada 1-2 </a:t>
            </a:r>
            <a:r>
              <a:rPr lang="es-CO" dirty="0" err="1">
                <a:effectLst/>
              </a:rPr>
              <a:t>años</a:t>
            </a:r>
            <a:r>
              <a:rPr lang="es-CO" dirty="0">
                <a:effectLst/>
              </a:rPr>
              <a:t> en paciente controlado</a:t>
            </a:r>
            <a:endParaRPr lang="es-CO" dirty="0"/>
          </a:p>
          <a:p>
            <a:pPr marL="285750" indent="-285750">
              <a:buFontTx/>
              <a:buChar char="-"/>
            </a:pPr>
            <a:r>
              <a:rPr lang="es-CO" dirty="0">
                <a:effectLst/>
              </a:rPr>
              <a:t>Continuar seguimiento </a:t>
            </a:r>
            <a:r>
              <a:rPr lang="es-CO" dirty="0" err="1">
                <a:effectLst/>
              </a:rPr>
              <a:t>según</a:t>
            </a:r>
            <a:r>
              <a:rPr lang="es-CO" dirty="0">
                <a:effectLst/>
              </a:rPr>
              <a:t> </a:t>
            </a:r>
            <a:r>
              <a:rPr lang="es-CO" dirty="0" err="1">
                <a:effectLst/>
              </a:rPr>
              <a:t>recomendación</a:t>
            </a:r>
            <a:endParaRPr lang="es-CO" dirty="0">
              <a:effectLst/>
            </a:endParaRPr>
          </a:p>
          <a:p>
            <a:endParaRPr lang="es-CO" dirty="0">
              <a:effectLst/>
            </a:endParaRPr>
          </a:p>
          <a:p>
            <a:r>
              <a:rPr lang="es-CO" b="1" dirty="0" err="1">
                <a:effectLst/>
              </a:rPr>
              <a:t>Nefrología</a:t>
            </a:r>
            <a:r>
              <a:rPr lang="es-CO" b="1" dirty="0"/>
              <a:t>:</a:t>
            </a:r>
          </a:p>
          <a:p>
            <a:pPr marL="285750" indent="-285750">
              <a:buFontTx/>
              <a:buChar char="-"/>
            </a:pPr>
            <a:r>
              <a:rPr lang="es-CO" dirty="0">
                <a:effectLst/>
              </a:rPr>
              <a:t>Enfermedad renal 3B, 4 y 5</a:t>
            </a:r>
          </a:p>
          <a:p>
            <a:pPr marL="285750" indent="-285750">
              <a:buFontTx/>
              <a:buChar char="-"/>
            </a:pPr>
            <a:r>
              <a:rPr lang="es-CO" dirty="0"/>
              <a:t>D</a:t>
            </a:r>
            <a:r>
              <a:rPr lang="es-CO" dirty="0">
                <a:effectLst/>
              </a:rPr>
              <a:t>eterioro </a:t>
            </a:r>
            <a:r>
              <a:rPr lang="es-CO" dirty="0" err="1">
                <a:effectLst/>
              </a:rPr>
              <a:t>rápido</a:t>
            </a:r>
            <a:r>
              <a:rPr lang="es-CO" dirty="0">
                <a:effectLst/>
              </a:rPr>
              <a:t> </a:t>
            </a:r>
            <a:r>
              <a:rPr lang="es-CO" dirty="0" err="1">
                <a:effectLst/>
              </a:rPr>
              <a:t>función</a:t>
            </a:r>
            <a:r>
              <a:rPr lang="es-CO" dirty="0">
                <a:effectLst/>
              </a:rPr>
              <a:t> renal</a:t>
            </a:r>
          </a:p>
          <a:p>
            <a:pPr marL="285750" indent="-285750">
              <a:buFontTx/>
              <a:buChar char="-"/>
            </a:pPr>
            <a:r>
              <a:rPr lang="es-CO" dirty="0" err="1"/>
              <a:t>D</a:t>
            </a:r>
            <a:r>
              <a:rPr lang="es-CO" dirty="0" err="1">
                <a:effectLst/>
              </a:rPr>
              <a:t>isminución</a:t>
            </a:r>
            <a:r>
              <a:rPr lang="es-CO" dirty="0">
                <a:effectLst/>
              </a:rPr>
              <a:t> sostenida TFG </a:t>
            </a:r>
            <a:r>
              <a:rPr lang="es-CO" dirty="0"/>
              <a:t>(&gt;</a:t>
            </a:r>
            <a:r>
              <a:rPr lang="es-CO" dirty="0">
                <a:effectLst/>
              </a:rPr>
              <a:t>5 ml/min/1,73 m2/ </a:t>
            </a:r>
            <a:r>
              <a:rPr lang="es-CO" dirty="0" err="1">
                <a:effectLst/>
              </a:rPr>
              <a:t>año</a:t>
            </a:r>
            <a:r>
              <a:rPr lang="es-CO" dirty="0">
                <a:effectLst/>
              </a:rPr>
              <a:t> - RAC &gt; 300mg/g)</a:t>
            </a:r>
            <a:endParaRPr lang="es-CO" dirty="0"/>
          </a:p>
          <a:p>
            <a:endParaRPr lang="es-CO" dirty="0">
              <a:effectLst/>
            </a:endParaRPr>
          </a:p>
          <a:p>
            <a:r>
              <a:rPr lang="es-CO" b="1" dirty="0">
                <a:effectLst/>
              </a:rPr>
              <a:t>Otras: </a:t>
            </a:r>
            <a:r>
              <a:rPr lang="es-CO" u="sng" dirty="0">
                <a:effectLst/>
              </a:rPr>
              <a:t>Medicina Familiar</a:t>
            </a:r>
            <a:r>
              <a:rPr lang="es-CO" dirty="0">
                <a:effectLst/>
              </a:rPr>
              <a:t>, </a:t>
            </a:r>
            <a:r>
              <a:rPr lang="es-CO" dirty="0" err="1">
                <a:effectLst/>
              </a:rPr>
              <a:t>Cardiología</a:t>
            </a:r>
            <a:r>
              <a:rPr lang="es-CO" dirty="0"/>
              <a:t>, </a:t>
            </a:r>
            <a:r>
              <a:rPr lang="es-CO" dirty="0" err="1">
                <a:effectLst/>
              </a:rPr>
              <a:t>Cirugía</a:t>
            </a:r>
            <a:r>
              <a:rPr lang="es-CO" dirty="0">
                <a:effectLst/>
              </a:rPr>
              <a:t> vascular, Obesidad, nutrición y psicología </a:t>
            </a:r>
            <a:r>
              <a:rPr lang="es-CO" dirty="0">
                <a:effectLst/>
                <a:sym typeface="Wingdings" pitchFamily="2" charset="2"/>
              </a:rPr>
              <a:t> Revisar ruta clínica</a:t>
            </a:r>
            <a:endParaRPr lang="es-CO" dirty="0"/>
          </a:p>
        </p:txBody>
      </p:sp>
      <p:sp>
        <p:nvSpPr>
          <p:cNvPr id="13" name="CuadroTexto 12">
            <a:extLst>
              <a:ext uri="{FF2B5EF4-FFF2-40B4-BE49-F238E27FC236}">
                <a16:creationId xmlns:a16="http://schemas.microsoft.com/office/drawing/2014/main" id="{CD42C64A-9FCB-E0C2-A1F0-A442FF400A77}"/>
              </a:ext>
            </a:extLst>
          </p:cNvPr>
          <p:cNvSpPr txBox="1"/>
          <p:nvPr/>
        </p:nvSpPr>
        <p:spPr>
          <a:xfrm>
            <a:off x="2523575" y="6516035"/>
            <a:ext cx="7144850" cy="276999"/>
          </a:xfrm>
          <a:prstGeom prst="rect">
            <a:avLst/>
          </a:prstGeom>
          <a:noFill/>
        </p:spPr>
        <p:txBody>
          <a:bodyPr wrap="square">
            <a:spAutoFit/>
          </a:bodyPr>
          <a:lstStyle/>
          <a:p>
            <a:pPr algn="ctr"/>
            <a:r>
              <a:rPr lang="es-CO" sz="1200" b="1" dirty="0">
                <a:effectLst/>
                <a:ea typeface="Calibri" panose="020F0502020204030204" pitchFamily="34" charset="0"/>
              </a:rPr>
              <a:t>GPC Asociación Colombiana de Endocrinología 2025 </a:t>
            </a:r>
            <a:r>
              <a:rPr lang="es-MX" sz="1200" b="1" dirty="0"/>
              <a:t>/ ADA 2026 / Consenso institucional Medicina Familiar</a:t>
            </a:r>
            <a:endParaRPr lang="es-MX" sz="1200" dirty="0"/>
          </a:p>
        </p:txBody>
      </p:sp>
    </p:spTree>
    <p:extLst>
      <p:ext uri="{BB962C8B-B14F-4D97-AF65-F5344CB8AC3E}">
        <p14:creationId xmlns:p14="http://schemas.microsoft.com/office/powerpoint/2010/main" val="29819448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512542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1790</TotalTime>
  <Words>1434</Words>
  <Application>Microsoft Macintosh PowerPoint</Application>
  <PresentationFormat>Panorámica</PresentationFormat>
  <Paragraphs>149</Paragraphs>
  <Slides>14</Slides>
  <Notes>9</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14</vt:i4>
      </vt:variant>
    </vt:vector>
  </HeadingPairs>
  <TitlesOfParts>
    <vt:vector size="20" baseType="lpstr">
      <vt:lpstr>-webkit-standard</vt:lpstr>
      <vt:lpstr>Arial</vt:lpstr>
      <vt:lpstr>Calibri</vt:lpstr>
      <vt:lpstr>Calibri Light</vt:lpstr>
      <vt:lpstr>NotoSerif</vt:lpstr>
      <vt:lpstr>Tema de Office</vt:lpstr>
      <vt:lpstr>Diabetes Mellitus tipo 2 en Mayores de 18 años</vt:lpstr>
      <vt:lpstr>Presentación de PowerPoint</vt:lpstr>
      <vt:lpstr>Recomendación 1: INGRESO Y TAMIZAJE</vt:lpstr>
      <vt:lpstr>Presentación de PowerPoint</vt:lpstr>
      <vt:lpstr> Recomendación 3: VALORACIÓN INICIAL</vt:lpstr>
      <vt:lpstr> Recomendación 3: VALORACIÓN INICIAL</vt:lpstr>
      <vt:lpstr>Recomendación 4:  TRATAMIENTO NO FARMACOLÓGICO</vt:lpstr>
      <vt:lpstr>Recomendación 5:  TRATAMIENTO FARMACOLÓGICO</vt:lpstr>
      <vt:lpstr>TRATAMIENTO FARMACOLÓGICO</vt:lpstr>
      <vt:lpstr>TRATAMIENTO FARMACOLÓGICO</vt:lpstr>
      <vt:lpstr>Recomendación 6: METAS DE TRATAMIENTO</vt:lpstr>
      <vt:lpstr>Recomendación 7: CONTROLES</vt:lpstr>
      <vt:lpstr>Recomendación 7: CONTROLES</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TITULO PRESENTACIÓN</dc:title>
  <dc:creator>user</dc:creator>
  <cp:lastModifiedBy>Silvia Tatiana Gonzalez Gomez</cp:lastModifiedBy>
  <cp:revision>79</cp:revision>
  <dcterms:created xsi:type="dcterms:W3CDTF">2024-08-26T14:52:25Z</dcterms:created>
  <dcterms:modified xsi:type="dcterms:W3CDTF">2026-03-26T08:44:36Z</dcterms:modified>
</cp:coreProperties>
</file>