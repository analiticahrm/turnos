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561" r:id="rId3"/>
    <p:sldId id="562" r:id="rId4"/>
    <p:sldId id="563" r:id="rId5"/>
    <p:sldId id="564" r:id="rId6"/>
    <p:sldId id="565" r:id="rId7"/>
    <p:sldId id="566" r:id="rId8"/>
    <p:sldId id="560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lson ramirez" initials="nr" lastIdx="2" clrIdx="0">
    <p:extLst>
      <p:ext uri="{19B8F6BF-5375-455C-9EA6-DF929625EA0E}">
        <p15:presenceInfo xmlns:p15="http://schemas.microsoft.com/office/powerpoint/2012/main" userId="a5353b57251aa45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FB2FB-E64F-453D-A478-560A4A9125D4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9F2B6E-7434-4A87-BE66-8186F7F11D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7737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F97-1020-4EE6-ACA1-E90897E1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59910-1034-49E7-BC79-A280229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966D-C1C7-40B0-8162-73CDD1D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B57A8-5238-40C4-9A88-85BF392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885B3-B239-4D90-B0FD-A877E874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5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AE1A-77EF-484F-A804-44EA302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46D03-5F22-4FA5-9817-2E410DFD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9FB61-F9C1-4AA1-99BC-7FC86001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8517D-FDB7-4C54-926C-6304547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863A7-71BC-40F8-A158-5A9A605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40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C4E17-CB96-4580-8A84-23CF451D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743F1-DEAC-4FEA-91AE-57CBDF59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EDFEA-2651-4C28-9F34-60EF5619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A936E-A542-4128-89FE-25910D87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54940-65B8-43B5-805A-62F15723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4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DA25-4C0D-463D-8289-FD732DC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EFF1D-D0BE-43A4-A41B-9A5351DE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B7E19-8BC9-476E-B506-BDD3FD61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F8CF4-5E72-4DEB-B453-063D3A0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99471-A835-445F-85B7-0393FD2D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22F38A-CD7A-4C0A-841F-3C02134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086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40F6-05C2-4688-955A-7296D057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0F71-EDCE-454E-AC7A-677AE701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545F-6E58-42EF-8380-F7D3C73B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E216B-093A-470C-8716-5CD593F7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D12FC-F7E9-471F-9845-0726EC89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A4E2CE-8782-4667-83A9-AD4D032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42954F-5699-49D0-B195-CC61906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8E020-0DE7-4ADC-B298-3E3348C4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253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C42E-3A84-4A7D-A0D7-DFDBEEDA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07FEBB-E137-4290-A7C2-BB81D05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B4A668-FBFF-444A-9606-25D30B87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0BAB-85DB-4994-8FE2-8B134970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565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AEA6E-C7E2-400D-9F2C-7655A3A7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AF9C2-66E4-4F6C-B5A9-DCE7CBD5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54F549-00DE-4C3D-92E9-C11D066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572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C0ED-9A90-49B3-8F84-4CCBDA10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F82F6-A48C-4802-95FC-4E44B56B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DABEF-7742-4D1B-98F0-BDC9806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EEF5A-EECA-4654-BFBC-C3224B6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6A55B-4ECE-4555-81F3-7B01EFF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BC4BBE-5C8F-406F-A5F6-D7DC51E7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31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5C43-08EF-4BD9-A218-38CAD26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6F318-8444-4900-BC88-875353FA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25216-3601-4132-A466-A43F9144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07827F-E9CB-426E-88E8-51BB702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746CE-82F9-4FA8-9A0E-E8F8DA70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589BA-AA34-440C-96EE-5096F4D8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6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51E2B-923F-4458-9B56-B6694F6C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F8E8BD-05AE-42F6-A28F-DE6821AC6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1BADB-96DB-4328-9A9B-39ECD06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361CB-E120-4FCE-BC69-B351C106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C5800-7D4C-473A-A846-3DA77B7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58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A63E9-572F-4E70-900E-8289A8BA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A2B5C-5897-4F84-B25A-DEA36E3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9DD3-DEDB-4FDA-B961-E728E57A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FDFE9-8BB3-47D4-8027-F3E67B3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BD4CB-278D-4FCC-99DC-7BC9FE9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354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BD8030-76DF-446F-8225-156CADC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A0A47-AAFE-4984-8867-B71DC70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5AFFB-23A1-4118-A1AD-F7A3420B9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464F-AE49-4530-AB8F-BF5C16571F6A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482B8-2E51-4D91-8D5A-2BE6ED75B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081BF-C090-4E4F-855F-FB857FCD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8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69533-1871-4A5A-9BE1-C29688C8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2575" y="1491670"/>
            <a:ext cx="7824690" cy="1937330"/>
          </a:xfrm>
        </p:spPr>
        <p:txBody>
          <a:bodyPr>
            <a:noAutofit/>
          </a:bodyPr>
          <a:lstStyle/>
          <a:p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MX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GUÍA DE PRÁCTICA CLÍNICA:</a:t>
            </a:r>
            <a:br>
              <a:rPr lang="es-MX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s-MX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IRA 2026</a:t>
            </a:r>
            <a:endParaRPr lang="es-CO" sz="3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D6ED36-3E6F-4691-BDA3-31B08010D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21" y="4712380"/>
            <a:ext cx="9144000" cy="1655762"/>
          </a:xfrm>
        </p:spPr>
        <p:txBody>
          <a:bodyPr/>
          <a:lstStyle/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PRESENTA: NELSON EFRAIN RAMIREZ MONTAÑEZ</a:t>
            </a:r>
          </a:p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LIDER SERVICIO DE PEDIATRIA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9508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AE2D93C-4220-42EF-9F1E-A89495698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2"/>
            <a:ext cx="12192000" cy="685800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818BE3-0A39-4A06-8613-53632E929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MC REMITIDO DE CONSULTA EXTERNA</a:t>
            </a:r>
          </a:p>
          <a:p>
            <a:r>
              <a:rPr lang="es-ES" dirty="0"/>
              <a:t>EA SE TRATA DE LACTANTE MENOR DE 1 MES Y 23 DIAS QUIEN ES REMITIDO DE CONSULTA EXTERNA POR CUADRO DE 1 SEMANA DE EVOLUCION CONSISTENTE EN TOS CIANOSANTE, EMETISANTE, SIN OTROS SINTOMAS DE IMPORTANTE, NO FIEBRE, REFIERE ACCESOS DE TOS.</a:t>
            </a:r>
          </a:p>
          <a:p>
            <a:r>
              <a:rPr lang="es-ES" dirty="0"/>
              <a:t>ANTECEDENTES PRENATALES PRODUCTO DE EMBARAZO A TERMINO POR PARTO VAGINAL SIN COMPLICACIONES PAN3500 GR TAN 51 CM, HOSPITALIZADO A LOS 4 DIAS POR ICTERICIA.</a:t>
            </a:r>
          </a:p>
          <a:p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93DD6F1-38D9-4C91-8F5B-BB7FC6831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Caso clínico #1</a:t>
            </a:r>
          </a:p>
        </p:txBody>
      </p:sp>
    </p:spTree>
    <p:extLst>
      <p:ext uri="{BB962C8B-B14F-4D97-AF65-F5344CB8AC3E}">
        <p14:creationId xmlns:p14="http://schemas.microsoft.com/office/powerpoint/2010/main" val="4023847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F1D8B15-8CAA-46E5-A930-36C52BCA0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47" y="-1"/>
            <a:ext cx="12192000" cy="68580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5447F7-5919-444E-AB43-FB2518699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Diagnóstico???</a:t>
            </a:r>
            <a:endParaRPr lang="es-CO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9ABE13-2B47-4CF5-91A4-1929E4923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464" y="1855693"/>
            <a:ext cx="5257800" cy="4321269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Examen físico signos vitales FC150 x min Fr 44 x min T36 Saturación 97% ambiente, ruidos rítmicos, no soplos, murmullo vesicular conservado, con escasos </a:t>
            </a:r>
            <a:r>
              <a:rPr lang="es-ES" dirty="0" err="1"/>
              <a:t>roncus</a:t>
            </a:r>
            <a:r>
              <a:rPr lang="es-ES" dirty="0"/>
              <a:t> ocasionales, no tirajes, resto normal</a:t>
            </a:r>
          </a:p>
          <a:p>
            <a:r>
              <a:rPr lang="es-ES" dirty="0"/>
              <a:t>Paraclínicos hemograma leucocitos 20170, neutrófilos 21% linfocitos75%, HB 13.2 HTO 39, Plaquetas 1.166.000</a:t>
            </a:r>
          </a:p>
          <a:p>
            <a:r>
              <a:rPr lang="es-ES" dirty="0"/>
              <a:t>Antígenos respiratorios negativos</a:t>
            </a:r>
          </a:p>
          <a:p>
            <a:r>
              <a:rPr lang="es-ES" dirty="0"/>
              <a:t>Film array???</a:t>
            </a:r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BFD25D8-DAFF-4B48-93BE-D597DEDE32E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2" b="14902"/>
          <a:stretch/>
        </p:blipFill>
        <p:spPr>
          <a:xfrm>
            <a:off x="6106082" y="1704135"/>
            <a:ext cx="5143500" cy="414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527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A6A18D4-B4F0-47B7-9A84-42FE12DD4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2"/>
            <a:ext cx="12192000" cy="68580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59C3975-4982-4ECD-868E-534B0F6B9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Tratamiento</a:t>
            </a:r>
            <a:endParaRPr lang="es-CO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0BCB9C-0D3C-4129-8EF9-A43A8748F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Azitromicina 10 mg/kg/día</a:t>
            </a:r>
          </a:p>
          <a:p>
            <a:r>
              <a:rPr lang="es-ES" dirty="0"/>
              <a:t>Terapia respiratoria</a:t>
            </a:r>
          </a:p>
          <a:p>
            <a:r>
              <a:rPr lang="es-ES" dirty="0"/>
              <a:t>Beclometasona 2 </a:t>
            </a:r>
            <a:r>
              <a:rPr lang="es-ES" dirty="0" err="1"/>
              <a:t>puff</a:t>
            </a:r>
            <a:r>
              <a:rPr lang="es-ES" dirty="0"/>
              <a:t> cada 12 horas</a:t>
            </a:r>
          </a:p>
          <a:p>
            <a:endParaRPr lang="es-ES" dirty="0"/>
          </a:p>
          <a:p>
            <a:r>
              <a:rPr lang="es-ES" dirty="0"/>
              <a:t>Film array positivo para </a:t>
            </a:r>
            <a:r>
              <a:rPr lang="es-ES" dirty="0" err="1"/>
              <a:t>bordetella</a:t>
            </a:r>
            <a:r>
              <a:rPr lang="es-ES" dirty="0"/>
              <a:t> </a:t>
            </a:r>
            <a:r>
              <a:rPr lang="es-ES" dirty="0" err="1"/>
              <a:t>pertussis</a:t>
            </a:r>
            <a:r>
              <a:rPr lang="es-ES" dirty="0"/>
              <a:t>.</a:t>
            </a:r>
          </a:p>
          <a:p>
            <a:r>
              <a:rPr lang="es-ES" dirty="0"/>
              <a:t>No tenia esquema de vacunación completo para su edad</a:t>
            </a:r>
          </a:p>
          <a:p>
            <a:r>
              <a:rPr lang="es-ES" dirty="0"/>
              <a:t>Pentavalente.</a:t>
            </a:r>
            <a:endParaRPr lang="es-CO" dirty="0"/>
          </a:p>
        </p:txBody>
      </p:sp>
      <p:pic>
        <p:nvPicPr>
          <p:cNvPr id="1026" name="Picture 2" descr="Por qué hay que recibir la vacuna de la tosferina? | Familia y Salud">
            <a:extLst>
              <a:ext uri="{FF2B5EF4-FFF2-40B4-BE49-F238E27FC236}">
                <a16:creationId xmlns:a16="http://schemas.microsoft.com/office/drawing/2014/main" id="{64DABCB7-E11E-47E6-AE56-523286111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9834" y="1685923"/>
            <a:ext cx="3286220" cy="218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964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AE2D93C-4220-42EF-9F1E-A89495698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2"/>
            <a:ext cx="12192000" cy="685800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818BE3-0A39-4A06-8613-53632E929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ES" dirty="0"/>
              <a:t>MC TIENE TOS Y VOMITO</a:t>
            </a:r>
          </a:p>
          <a:p>
            <a:r>
              <a:rPr lang="es-ES" dirty="0"/>
              <a:t>EA SE TRATA DE LACTANTE MENOR DE 3 MESES DE EDAD QUIEN ES TRAIDA POR LA MADRE POR CUADRO DE 15 DIAS DE EVOLUCION CONSISTENTE EN TOS EMETISANTE, ASOCIADO A CONGESTION NASAL, REFIERE MANEJO CON LAVADOS NASALES Y ACETAMINOFEN SIN MEJORIA, REFIERE DESDE EL DIA DE AYER, DIFICULTAD RESPIRATORIA DADO POR TIRAJES SUBCOSTALES POR LO CUAL ACUDE POR URGENCIAS.</a:t>
            </a:r>
          </a:p>
          <a:p>
            <a:r>
              <a:rPr lang="es-ES" dirty="0"/>
              <a:t>ANTECEDENTES PRENATALES PRODUCTO DE EMBARAZO PRETERMINO DE 35 SEMANAS POR PARTO VAGINAL SIN COMPLICACIONES PAN 2370 GR TAN 45 CM, HOSPITALIZADO DURANTE 3 DIAS EN LA INSTITUCION, PAI INCOMPLETO SOLO RECIEN NACIDOS</a:t>
            </a:r>
          </a:p>
          <a:p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93DD6F1-38D9-4C91-8F5B-BB7FC6831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7791"/>
            <a:ext cx="10515600" cy="8402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Caso clínico #</a:t>
            </a:r>
            <a:r>
              <a:rPr lang="es-E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endParaRPr lang="es-E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0662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F1D8B15-8CAA-46E5-A930-36C52BCA0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47" y="-1"/>
            <a:ext cx="12192000" cy="68580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5447F7-5919-444E-AB43-FB2518699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Diagnóstico y clasificación???</a:t>
            </a:r>
            <a:endParaRPr lang="es-CO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9ABE13-2B47-4CF5-91A4-1929E4923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7" y="1788459"/>
            <a:ext cx="5342958" cy="4623734"/>
          </a:xfrm>
        </p:spPr>
        <p:txBody>
          <a:bodyPr>
            <a:normAutofit fontScale="85000" lnSpcReduction="10000"/>
          </a:bodyPr>
          <a:lstStyle/>
          <a:p>
            <a:r>
              <a:rPr lang="es-ES" dirty="0"/>
              <a:t>Examen físico signos vitales FC145 x min Fr 43 x min T36 Saturación 85% ambiente, ruidos rítmicos, no soplos, murmullo vesicular conservado, con sibilancias en campos pulmonares, tirajes subcostales marcados</a:t>
            </a:r>
          </a:p>
          <a:p>
            <a:r>
              <a:rPr lang="es-ES" dirty="0"/>
              <a:t>Paraclínicos hemograma leucocitos 12170, neutrófilos 44% linfocitos51%, HB 11.2 HTO 33, Plaquetas 222.000</a:t>
            </a:r>
          </a:p>
          <a:p>
            <a:r>
              <a:rPr lang="es-ES" dirty="0"/>
              <a:t>Antígenos respiratorios negativos</a:t>
            </a:r>
          </a:p>
          <a:p>
            <a:r>
              <a:rPr lang="es-ES" dirty="0"/>
              <a:t>Film array </a:t>
            </a:r>
            <a:r>
              <a:rPr lang="es-ES" b="1" dirty="0"/>
              <a:t>POSITIVO</a:t>
            </a:r>
            <a:r>
              <a:rPr lang="es-ES" dirty="0"/>
              <a:t> para virus sincitial </a:t>
            </a:r>
            <a:r>
              <a:rPr lang="es-ES" b="1" dirty="0"/>
              <a:t>NEGATIVO</a:t>
            </a:r>
            <a:r>
              <a:rPr lang="es-ES" dirty="0"/>
              <a:t> para </a:t>
            </a:r>
            <a:r>
              <a:rPr lang="es-ES" dirty="0" err="1"/>
              <a:t>bordetella</a:t>
            </a:r>
            <a:r>
              <a:rPr lang="es-ES" dirty="0"/>
              <a:t> </a:t>
            </a:r>
            <a:r>
              <a:rPr lang="es-ES" dirty="0" err="1"/>
              <a:t>pertussis</a:t>
            </a:r>
            <a:r>
              <a:rPr lang="es-ES" dirty="0"/>
              <a:t>, </a:t>
            </a:r>
            <a:r>
              <a:rPr lang="es-ES" dirty="0" err="1"/>
              <a:t>parapertussis</a:t>
            </a:r>
            <a:r>
              <a:rPr lang="es-ES" dirty="0"/>
              <a:t> y micoplasma </a:t>
            </a:r>
            <a:r>
              <a:rPr lang="es-ES" dirty="0" err="1"/>
              <a:t>pneumonia</a:t>
            </a:r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  <a:p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5581589-9B6E-4621-87E6-E1413EB2849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31" r="4074" b="16471"/>
          <a:stretch/>
        </p:blipFill>
        <p:spPr>
          <a:xfrm>
            <a:off x="6740936" y="1420626"/>
            <a:ext cx="4132119" cy="422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700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A6A18D4-B4F0-47B7-9A84-42FE12DD4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2"/>
            <a:ext cx="12192000" cy="68580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59C3975-4982-4ECD-868E-534B0F6B9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Tratamiento</a:t>
            </a:r>
            <a:endParaRPr lang="es-CO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0BCB9C-0D3C-4129-8EF9-A43A8748F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MNB con solución hipertónica cada 6 horas</a:t>
            </a:r>
          </a:p>
          <a:p>
            <a:r>
              <a:rPr lang="es-ES" dirty="0"/>
              <a:t>Terapia respiratoria</a:t>
            </a:r>
          </a:p>
          <a:p>
            <a:r>
              <a:rPr lang="es-ES" dirty="0"/>
              <a:t>Lavados nasales a necesidad</a:t>
            </a:r>
          </a:p>
          <a:p>
            <a:r>
              <a:rPr lang="es-ES" dirty="0"/>
              <a:t>Oxigeno suplementario por cánula nasal</a:t>
            </a:r>
          </a:p>
          <a:p>
            <a:endParaRPr lang="es-ES" dirty="0"/>
          </a:p>
          <a:p>
            <a:endParaRPr lang="es-ES" dirty="0"/>
          </a:p>
          <a:p>
            <a:pPr marL="0" indent="0">
              <a:buNone/>
            </a:pPr>
            <a:r>
              <a:rPr lang="es-ES" dirty="0"/>
              <a:t>Posteriormente requirió metilprednisolona en vista de pobre respuesta clínica y salbutamol  2 </a:t>
            </a:r>
            <a:r>
              <a:rPr lang="es-ES" dirty="0" err="1"/>
              <a:t>puff</a:t>
            </a:r>
            <a:r>
              <a:rPr lang="es-ES" dirty="0"/>
              <a:t> cada 6 horas</a:t>
            </a:r>
          </a:p>
          <a:p>
            <a:endParaRPr lang="es-ES" dirty="0"/>
          </a:p>
        </p:txBody>
      </p:sp>
      <p:pic>
        <p:nvPicPr>
          <p:cNvPr id="2050" name="Picture 2" descr="La bronquiolitis vuelve con fuerza y satura las urgencias pediátricas:  estos son sus síntomas de alerta">
            <a:extLst>
              <a:ext uri="{FF2B5EF4-FFF2-40B4-BE49-F238E27FC236}">
                <a16:creationId xmlns:a16="http://schemas.microsoft.com/office/drawing/2014/main" id="{10469F65-5115-4084-AABC-0AE492450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51" y="1027906"/>
            <a:ext cx="42862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533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4C268BB-4031-4FAB-81EC-C8489094B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02"/>
            <a:ext cx="12191999" cy="682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6838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4310</TotalTime>
  <Words>431</Words>
  <Application>Microsoft Office PowerPoint</Application>
  <PresentationFormat>Panorámica</PresentationFormat>
  <Paragraphs>42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Tahoma</vt:lpstr>
      <vt:lpstr>Tema de Office</vt:lpstr>
      <vt:lpstr>                  GUÍA DE PRÁCTICA CLÍNICA:  IRA 2026</vt:lpstr>
      <vt:lpstr>Caso clínico #1</vt:lpstr>
      <vt:lpstr>Diagnóstico???</vt:lpstr>
      <vt:lpstr>Tratamiento</vt:lpstr>
      <vt:lpstr>Caso clínico #2</vt:lpstr>
      <vt:lpstr>Diagnóstico y clasificación???</vt:lpstr>
      <vt:lpstr>Tratamiento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nelson ramirez</cp:lastModifiedBy>
  <cp:revision>101</cp:revision>
  <dcterms:created xsi:type="dcterms:W3CDTF">2024-08-26T14:52:25Z</dcterms:created>
  <dcterms:modified xsi:type="dcterms:W3CDTF">2026-02-19T01:59:31Z</dcterms:modified>
</cp:coreProperties>
</file>