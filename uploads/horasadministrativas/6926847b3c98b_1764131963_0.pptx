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Karla" pitchFamily="2" charset="77"/>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j8+yf27rfDdH7etyQULNkavoEJt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37"/>
  </p:normalViewPr>
  <p:slideViewPr>
    <p:cSldViewPr snapToGrid="0">
      <p:cViewPr varScale="1">
        <p:scale>
          <a:sx n="82" d="100"/>
          <a:sy n="82" d="100"/>
        </p:scale>
        <p:origin x="200"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9db58a156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g39db58a1567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9dc7f1e5a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9dc7f1e5ab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9dc7f1e5a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g39dc7f1e5ab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9dc7f1e5a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g39dc7f1e5ab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9dc7f1e5a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39dc7f1e5ab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9dc7f1e5a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39dc7f1e5ab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9df33df60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9df33df60f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9df33df60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39df33df60f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9df33df60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9df33df60f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4"/>
          <p:cNvSpPr>
            <a:spLocks noGrp="1"/>
          </p:cNvSpPr>
          <p:nvPr>
            <p:ph type="pic" idx="2"/>
          </p:nvPr>
        </p:nvSpPr>
        <p:spPr>
          <a:xfrm>
            <a:off x="5183188" y="987425"/>
            <a:ext cx="6172200" cy="4873625"/>
          </a:xfrm>
          <a:prstGeom prst="rect">
            <a:avLst/>
          </a:prstGeom>
          <a:noFill/>
          <a:ln>
            <a:noFill/>
          </a:ln>
        </p:spPr>
      </p:sp>
      <p:sp>
        <p:nvSpPr>
          <p:cNvPr id="64" name="Google Shape;64;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4001025" y="2106228"/>
            <a:ext cx="6655800" cy="15003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800"/>
              <a:buFont typeface="Calibri"/>
              <a:buNone/>
            </a:pPr>
            <a:r>
              <a:rPr lang="es-CO" sz="4800" b="1">
                <a:solidFill>
                  <a:schemeClr val="lt1"/>
                </a:solidFill>
              </a:rPr>
              <a:t>ANÁLISIS DE CASO: MORTALIDAD PERINATAL</a:t>
            </a:r>
            <a:endParaRPr sz="4800" b="1">
              <a:solidFill>
                <a:schemeClr val="lt1"/>
              </a:solidFill>
            </a:endParaRPr>
          </a:p>
        </p:txBody>
      </p:sp>
      <p:sp>
        <p:nvSpPr>
          <p:cNvPr id="85" name="Google Shape;85;p1"/>
          <p:cNvSpPr txBox="1"/>
          <p:nvPr/>
        </p:nvSpPr>
        <p:spPr>
          <a:xfrm>
            <a:off x="2590825" y="4423250"/>
            <a:ext cx="7790100" cy="1137900"/>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90000"/>
              </a:lnSpc>
              <a:spcBef>
                <a:spcPts val="0"/>
              </a:spcBef>
              <a:spcAft>
                <a:spcPts val="0"/>
              </a:spcAft>
              <a:buNone/>
            </a:pPr>
            <a:r>
              <a:rPr lang="es-CO" sz="8723">
                <a:latin typeface="Karla"/>
                <a:ea typeface="Karla"/>
                <a:cs typeface="Karla"/>
                <a:sym typeface="Karla"/>
              </a:rPr>
              <a:t>Sharon Katherine Acuña - Ginecóloga y Obstetra  / Líder</a:t>
            </a:r>
            <a:endParaRPr sz="8723">
              <a:solidFill>
                <a:srgbClr val="000000"/>
              </a:solidFill>
              <a:latin typeface="Calibri"/>
              <a:ea typeface="Calibri"/>
              <a:cs typeface="Calibri"/>
              <a:sym typeface="Calibri"/>
            </a:endParaRPr>
          </a:p>
          <a:p>
            <a:pPr marL="0" lvl="0" indent="0" algn="ctr" rtl="0">
              <a:lnSpc>
                <a:spcPct val="90000"/>
              </a:lnSpc>
              <a:spcBef>
                <a:spcPts val="1000"/>
              </a:spcBef>
              <a:spcAft>
                <a:spcPts val="0"/>
              </a:spcAft>
              <a:buNone/>
            </a:pPr>
            <a:r>
              <a:rPr lang="es-CO" sz="8723">
                <a:latin typeface="Karla"/>
                <a:ea typeface="Karla"/>
                <a:cs typeface="Karla"/>
                <a:sym typeface="Karla"/>
              </a:rPr>
              <a:t>Sheyla Maria Viveros Pérez – Interna ginecología</a:t>
            </a:r>
            <a:endParaRPr sz="8723">
              <a:solidFill>
                <a:srgbClr val="000000"/>
              </a:solidFill>
              <a:latin typeface="Calibri"/>
              <a:ea typeface="Calibri"/>
              <a:cs typeface="Calibri"/>
              <a:sym typeface="Calibri"/>
            </a:endParaRPr>
          </a:p>
          <a:p>
            <a:pPr marL="0" lvl="0" indent="0" algn="ctr" rtl="0">
              <a:lnSpc>
                <a:spcPct val="90000"/>
              </a:lnSpc>
              <a:spcBef>
                <a:spcPts val="1000"/>
              </a:spcBef>
              <a:spcAft>
                <a:spcPts val="0"/>
              </a:spcAft>
              <a:buNone/>
            </a:pPr>
            <a:r>
              <a:rPr lang="es-CO" sz="8723">
                <a:latin typeface="Karla"/>
                <a:ea typeface="Karla"/>
                <a:cs typeface="Karla"/>
                <a:sym typeface="Karla"/>
              </a:rPr>
              <a:t>Ana Sofia Pineda Pinto - Interna ginecología</a:t>
            </a:r>
            <a:endParaRPr sz="8723">
              <a:solidFill>
                <a:srgbClr val="000000"/>
              </a:solidFill>
              <a:latin typeface="Calibri"/>
              <a:ea typeface="Calibri"/>
              <a:cs typeface="Calibri"/>
              <a:sym typeface="Calibri"/>
            </a:endParaRPr>
          </a:p>
          <a:p>
            <a:pPr marL="0" lvl="0" indent="0" algn="ctr" rtl="0">
              <a:lnSpc>
                <a:spcPct val="90000"/>
              </a:lnSpc>
              <a:spcBef>
                <a:spcPts val="1000"/>
              </a:spcBef>
              <a:spcAft>
                <a:spcPts val="0"/>
              </a:spcAft>
              <a:buNone/>
            </a:pPr>
            <a:endParaRPr sz="1800">
              <a:latin typeface="Karla"/>
              <a:ea typeface="Karla"/>
              <a:cs typeface="Karla"/>
              <a:sym typeface="Karla"/>
            </a:endParaRPr>
          </a:p>
          <a:p>
            <a:pPr marL="0" lvl="0" indent="0" algn="ctr" rtl="0">
              <a:lnSpc>
                <a:spcPct val="90000"/>
              </a:lnSpc>
              <a:spcBef>
                <a:spcPts val="1000"/>
              </a:spcBef>
              <a:spcAft>
                <a:spcPts val="0"/>
              </a:spcAft>
              <a:buNone/>
            </a:pPr>
            <a:endParaRPr sz="240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sp>
        <p:nvSpPr>
          <p:cNvPr id="90" name="Google Shape;90;p2"/>
          <p:cNvSpPr txBox="1"/>
          <p:nvPr/>
        </p:nvSpPr>
        <p:spPr>
          <a:xfrm>
            <a:off x="2877200"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 LA PACIENTE</a:t>
            </a:r>
            <a:endParaRPr sz="4500" b="1">
              <a:solidFill>
                <a:schemeClr val="accent2"/>
              </a:solidFill>
              <a:latin typeface="Calibri"/>
              <a:ea typeface="Calibri"/>
              <a:cs typeface="Calibri"/>
              <a:sym typeface="Calibri"/>
            </a:endParaRPr>
          </a:p>
        </p:txBody>
      </p:sp>
      <p:sp>
        <p:nvSpPr>
          <p:cNvPr id="91" name="Google Shape;91;p2"/>
          <p:cNvSpPr txBox="1"/>
          <p:nvPr/>
        </p:nvSpPr>
        <p:spPr>
          <a:xfrm>
            <a:off x="4938200" y="2087600"/>
            <a:ext cx="5999100" cy="431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O" sz="1900" b="1">
                <a:solidFill>
                  <a:schemeClr val="dk1"/>
                </a:solidFill>
                <a:latin typeface="Calibri"/>
                <a:ea typeface="Calibri"/>
                <a:cs typeface="Calibri"/>
                <a:sym typeface="Calibri"/>
              </a:rPr>
              <a:t>Antecedentes: </a:t>
            </a:r>
            <a:endParaRPr sz="1900" b="1">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Patológicos: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Quirúrgicos: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Farmacológicos: Gestavit</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Alérgicos: AINES</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Hospitalarios: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Tóxicos: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Familiares: Abuelo materno (HTA, DM, próstata)</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Antecedentes de preeclampsia en madre o hermana: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Historia de cáncer heredofamiliar: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Transfusionales: niega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Hemoclasificación materna: O+ - pareja (A+) </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s-CO" sz="1900">
                <a:solidFill>
                  <a:schemeClr val="dk1"/>
                </a:solidFill>
                <a:latin typeface="Calibri"/>
                <a:ea typeface="Calibri"/>
                <a:cs typeface="Calibri"/>
                <a:sym typeface="Calibri"/>
              </a:rPr>
              <a:t>Traumáticos: niega </a:t>
            </a:r>
            <a:endParaRPr sz="1900">
              <a:solidFill>
                <a:schemeClr val="dk1"/>
              </a:solidFill>
              <a:latin typeface="Calibri"/>
              <a:ea typeface="Calibri"/>
              <a:cs typeface="Calibri"/>
              <a:sym typeface="Calibri"/>
            </a:endParaRPr>
          </a:p>
        </p:txBody>
      </p:sp>
      <p:sp>
        <p:nvSpPr>
          <p:cNvPr id="92" name="Google Shape;92;p2"/>
          <p:cNvSpPr txBox="1"/>
          <p:nvPr/>
        </p:nvSpPr>
        <p:spPr>
          <a:xfrm>
            <a:off x="1328725" y="4189400"/>
            <a:ext cx="3247200" cy="116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O" sz="1900" b="1">
                <a:solidFill>
                  <a:schemeClr val="dk1"/>
                </a:solidFill>
                <a:latin typeface="Calibri"/>
                <a:ea typeface="Calibri"/>
                <a:cs typeface="Calibri"/>
                <a:sym typeface="Calibri"/>
              </a:rPr>
              <a:t>23 años </a:t>
            </a:r>
            <a:endParaRPr sz="1900" b="1">
              <a:solidFill>
                <a:schemeClr val="dk1"/>
              </a:solidFill>
              <a:latin typeface="Calibri"/>
              <a:ea typeface="Calibri"/>
              <a:cs typeface="Calibri"/>
              <a:sym typeface="Calibri"/>
            </a:endParaRPr>
          </a:p>
          <a:p>
            <a:pPr marL="0" lvl="0" indent="0" algn="l" rtl="0">
              <a:spcBef>
                <a:spcPts val="0"/>
              </a:spcBef>
              <a:spcAft>
                <a:spcPts val="0"/>
              </a:spcAft>
              <a:buNone/>
            </a:pPr>
            <a:r>
              <a:rPr lang="es-CO" sz="1900" b="1">
                <a:solidFill>
                  <a:schemeClr val="dk1"/>
                </a:solidFill>
                <a:latin typeface="Calibri"/>
                <a:ea typeface="Calibri"/>
                <a:cs typeface="Calibri"/>
                <a:sym typeface="Calibri"/>
              </a:rPr>
              <a:t>G1P0 </a:t>
            </a:r>
            <a:endParaRPr sz="1900" b="1">
              <a:solidFill>
                <a:schemeClr val="dk1"/>
              </a:solidFill>
              <a:latin typeface="Calibri"/>
              <a:ea typeface="Calibri"/>
              <a:cs typeface="Calibri"/>
              <a:sym typeface="Calibri"/>
            </a:endParaRPr>
          </a:p>
          <a:p>
            <a:pPr marL="0" lvl="0" indent="0" algn="l" rtl="0">
              <a:spcBef>
                <a:spcPts val="0"/>
              </a:spcBef>
              <a:spcAft>
                <a:spcPts val="0"/>
              </a:spcAft>
              <a:buNone/>
            </a:pPr>
            <a:r>
              <a:rPr lang="es-CO" sz="1900" b="1">
                <a:solidFill>
                  <a:schemeClr val="dk1"/>
                </a:solidFill>
                <a:latin typeface="Calibri"/>
                <a:ea typeface="Calibri"/>
                <a:cs typeface="Calibri"/>
                <a:sym typeface="Calibri"/>
              </a:rPr>
              <a:t>Embarazo de 24.3 semanas </a:t>
            </a:r>
            <a:endParaRPr sz="1900" b="1">
              <a:solidFill>
                <a:schemeClr val="dk1"/>
              </a:solidFill>
              <a:latin typeface="Calibri"/>
              <a:ea typeface="Calibri"/>
              <a:cs typeface="Calibri"/>
              <a:sym typeface="Calibri"/>
            </a:endParaRPr>
          </a:p>
        </p:txBody>
      </p:sp>
      <p:sp>
        <p:nvSpPr>
          <p:cNvPr id="93" name="Google Shape;93;p2"/>
          <p:cNvSpPr txBox="1"/>
          <p:nvPr/>
        </p:nvSpPr>
        <p:spPr>
          <a:xfrm>
            <a:off x="1328725" y="2311225"/>
            <a:ext cx="3247200" cy="18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CO" sz="1900" b="1">
                <a:solidFill>
                  <a:schemeClr val="dk1"/>
                </a:solidFill>
                <a:latin typeface="Calibri"/>
                <a:ea typeface="Calibri"/>
                <a:cs typeface="Calibri"/>
                <a:sym typeface="Calibri"/>
              </a:rPr>
              <a:t>N.D.C.V</a:t>
            </a:r>
            <a:endParaRPr sz="1900" b="1">
              <a:solidFill>
                <a:schemeClr val="dk1"/>
              </a:solidFill>
              <a:latin typeface="Calibri"/>
              <a:ea typeface="Calibri"/>
              <a:cs typeface="Calibri"/>
              <a:sym typeface="Calibri"/>
            </a:endParaRPr>
          </a:p>
          <a:p>
            <a:pPr marL="0" lvl="0" indent="0" algn="l" rtl="0">
              <a:spcBef>
                <a:spcPts val="0"/>
              </a:spcBef>
              <a:spcAft>
                <a:spcPts val="0"/>
              </a:spcAft>
              <a:buNone/>
            </a:pPr>
            <a:r>
              <a:rPr lang="es-CO" sz="1900" b="1">
                <a:solidFill>
                  <a:schemeClr val="dk1"/>
                </a:solidFill>
                <a:latin typeface="Calibri"/>
                <a:ea typeface="Calibri"/>
                <a:cs typeface="Calibri"/>
                <a:sym typeface="Calibri"/>
              </a:rPr>
              <a:t>1192746</a:t>
            </a:r>
            <a:endParaRPr sz="1900" b="1">
              <a:solidFill>
                <a:schemeClr val="dk1"/>
              </a:solidFill>
              <a:latin typeface="Calibri"/>
              <a:ea typeface="Calibri"/>
              <a:cs typeface="Calibri"/>
              <a:sym typeface="Calibri"/>
            </a:endParaRPr>
          </a:p>
          <a:p>
            <a:pPr marL="0" lvl="0" indent="0" algn="l" rtl="0">
              <a:spcBef>
                <a:spcPts val="0"/>
              </a:spcBef>
              <a:spcAft>
                <a:spcPts val="0"/>
              </a:spcAft>
              <a:buNone/>
            </a:pPr>
            <a:r>
              <a:rPr lang="es-CO" sz="1900" b="1">
                <a:solidFill>
                  <a:schemeClr val="dk1"/>
                </a:solidFill>
                <a:latin typeface="Calibri"/>
                <a:ea typeface="Calibri"/>
                <a:cs typeface="Calibri"/>
                <a:sym typeface="Calibri"/>
              </a:rPr>
              <a:t>NUEVA EPS</a:t>
            </a:r>
            <a:endParaRPr sz="1900" b="1">
              <a:solidFill>
                <a:schemeClr val="dk1"/>
              </a:solidFill>
              <a:latin typeface="Calibri"/>
              <a:ea typeface="Calibri"/>
              <a:cs typeface="Calibri"/>
              <a:sym typeface="Calibri"/>
            </a:endParaRPr>
          </a:p>
          <a:p>
            <a:pPr marL="0" lvl="0" indent="0" algn="l" rtl="0">
              <a:spcBef>
                <a:spcPts val="0"/>
              </a:spcBef>
              <a:spcAft>
                <a:spcPts val="0"/>
              </a:spcAft>
              <a:buNone/>
            </a:pPr>
            <a:r>
              <a:rPr lang="es-CO" sz="1900" b="1">
                <a:solidFill>
                  <a:schemeClr val="dk1"/>
                </a:solidFill>
                <a:latin typeface="Calibri"/>
                <a:ea typeface="Calibri"/>
                <a:cs typeface="Calibri"/>
                <a:sym typeface="Calibri"/>
              </a:rPr>
              <a:t>N° ingreso: </a:t>
            </a:r>
            <a:r>
              <a:rPr lang="es-CO" sz="1900">
                <a:solidFill>
                  <a:schemeClr val="dk1"/>
                </a:solidFill>
                <a:latin typeface="Calibri"/>
                <a:ea typeface="Calibri"/>
                <a:cs typeface="Calibri"/>
                <a:sym typeface="Calibri"/>
              </a:rPr>
              <a:t>910149</a:t>
            </a:r>
            <a:endParaRPr sz="1900">
              <a:solidFill>
                <a:schemeClr val="dk1"/>
              </a:solidFill>
              <a:latin typeface="Calibri"/>
              <a:ea typeface="Calibri"/>
              <a:cs typeface="Calibri"/>
              <a:sym typeface="Calibri"/>
            </a:endParaRPr>
          </a:p>
          <a:p>
            <a:pPr marL="0" lvl="0" indent="0" algn="l" rtl="0">
              <a:spcBef>
                <a:spcPts val="0"/>
              </a:spcBef>
              <a:spcAft>
                <a:spcPts val="0"/>
              </a:spcAft>
              <a:buNone/>
            </a:pPr>
            <a:r>
              <a:rPr lang="es-CO" sz="1900" b="1">
                <a:solidFill>
                  <a:schemeClr val="dk1"/>
                </a:solidFill>
                <a:latin typeface="Calibri"/>
                <a:ea typeface="Calibri"/>
                <a:cs typeface="Calibri"/>
                <a:sym typeface="Calibri"/>
              </a:rPr>
              <a:t>Fecha de ingreso: </a:t>
            </a:r>
            <a:r>
              <a:rPr lang="es-CO" sz="1900">
                <a:solidFill>
                  <a:schemeClr val="dk1"/>
                </a:solidFill>
                <a:latin typeface="Calibri"/>
                <a:ea typeface="Calibri"/>
                <a:cs typeface="Calibri"/>
                <a:sym typeface="Calibri"/>
              </a:rPr>
              <a:t>24/10/25</a:t>
            </a:r>
            <a:r>
              <a:rPr lang="es-CO" sz="1900" b="1">
                <a:solidFill>
                  <a:schemeClr val="dk1"/>
                </a:solidFill>
                <a:latin typeface="Calibri"/>
                <a:ea typeface="Calibri"/>
                <a:cs typeface="Calibri"/>
                <a:sym typeface="Calibri"/>
              </a:rPr>
              <a:t> </a:t>
            </a:r>
            <a:endParaRPr sz="1900" b="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p:cNvGrpSpPr/>
        <p:nvPr/>
      </p:nvGrpSpPr>
      <p:grpSpPr>
        <a:xfrm>
          <a:off x="0" y="0"/>
          <a:ext cx="0" cy="0"/>
          <a:chOff x="0" y="0"/>
          <a:chExt cx="0" cy="0"/>
        </a:xfrm>
      </p:grpSpPr>
      <p:sp>
        <p:nvSpPr>
          <p:cNvPr id="98" name="Google Shape;98;g39db58a1567_0_6"/>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99" name="Google Shape;99;g39db58a1567_0_6"/>
          <p:cNvSpPr txBox="1"/>
          <p:nvPr/>
        </p:nvSpPr>
        <p:spPr>
          <a:xfrm>
            <a:off x="1157300" y="3162825"/>
            <a:ext cx="8763300" cy="2427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CO" sz="1600" b="1">
                <a:solidFill>
                  <a:schemeClr val="dk1"/>
                </a:solidFill>
                <a:latin typeface="Calibri"/>
                <a:ea typeface="Calibri"/>
                <a:cs typeface="Calibri"/>
                <a:sym typeface="Calibri"/>
              </a:rPr>
              <a:t>Enfermedad actual:  </a:t>
            </a:r>
            <a:r>
              <a:rPr lang="es-CO" sz="1600">
                <a:solidFill>
                  <a:schemeClr val="dk1"/>
                </a:solidFill>
                <a:latin typeface="Calibri"/>
                <a:ea typeface="Calibri"/>
                <a:cs typeface="Calibri"/>
                <a:sym typeface="Calibri"/>
              </a:rPr>
              <a:t>Paciente de 23 años G1P0 con embarazo de 24.3 semanas por ecografía obstétrica, no aportan carpeta con paraclínicos prenatales, refiere controles prenatales, consulta por cuadro clínico de 2 semanas de evolución consistente en dolor en hipogastrio tipo cólico de intensidad 7/10 en escala análoga del dolor, cefalea + tinnitus + fosfenos, refiere 2 episodios eméticos de contenido alimentario, movimientos fetales presentes, niega pérdidas vaginales, sangrado vaginal, no otra sintomatología asociada, adicionalmente madre de pte refiere pérdida de pareja sentimental hace 15 días y desde allí comienza sintomatología.</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g39db58a1567_0_6"/>
          <p:cNvSpPr txBox="1"/>
          <p:nvPr/>
        </p:nvSpPr>
        <p:spPr>
          <a:xfrm>
            <a:off x="1157300" y="2669850"/>
            <a:ext cx="8763300" cy="646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Motivo de consulta: </a:t>
            </a:r>
            <a:r>
              <a:rPr lang="es-CO" sz="1600">
                <a:solidFill>
                  <a:schemeClr val="dk1"/>
                </a:solidFill>
                <a:latin typeface="Calibri"/>
                <a:ea typeface="Calibri"/>
                <a:cs typeface="Calibri"/>
                <a:sym typeface="Calibri"/>
              </a:rPr>
              <a:t>“Tengo dolor bajito”</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g39db58a1567_0_6"/>
          <p:cNvSpPr txBox="1"/>
          <p:nvPr/>
        </p:nvSpPr>
        <p:spPr>
          <a:xfrm>
            <a:off x="1157300" y="5156500"/>
            <a:ext cx="8763300" cy="646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Revisión por sistemas: </a:t>
            </a:r>
            <a:r>
              <a:rPr lang="es-CO" sz="1600">
                <a:solidFill>
                  <a:schemeClr val="dk1"/>
                </a:solidFill>
                <a:latin typeface="Calibri"/>
                <a:ea typeface="Calibri"/>
                <a:cs typeface="Calibri"/>
                <a:sym typeface="Calibri"/>
              </a:rPr>
              <a:t>Niega otros síntomas.</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g39db58a1567_0_6"/>
          <p:cNvSpPr txBox="1"/>
          <p:nvPr/>
        </p:nvSpPr>
        <p:spPr>
          <a:xfrm>
            <a:off x="1157300" y="2266625"/>
            <a:ext cx="992100" cy="646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17+14: </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6"/>
        <p:cNvGrpSpPr/>
        <p:nvPr/>
      </p:nvGrpSpPr>
      <p:grpSpPr>
        <a:xfrm>
          <a:off x="0" y="0"/>
          <a:ext cx="0" cy="0"/>
          <a:chOff x="0" y="0"/>
          <a:chExt cx="0" cy="0"/>
        </a:xfrm>
      </p:grpSpPr>
      <p:sp>
        <p:nvSpPr>
          <p:cNvPr id="107" name="Google Shape;107;g39dc7f1e5ab_0_1"/>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08" name="Google Shape;108;g39dc7f1e5ab_0_1"/>
          <p:cNvSpPr txBox="1"/>
          <p:nvPr/>
        </p:nvSpPr>
        <p:spPr>
          <a:xfrm>
            <a:off x="1393775" y="2354850"/>
            <a:ext cx="8763300" cy="36951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CO" sz="1600" b="1">
                <a:solidFill>
                  <a:schemeClr val="dk1"/>
                </a:solidFill>
                <a:latin typeface="Calibri"/>
                <a:ea typeface="Calibri"/>
                <a:cs typeface="Calibri"/>
                <a:sym typeface="Calibri"/>
              </a:rPr>
              <a:t>Ayudas diagnósticas: </a:t>
            </a:r>
            <a:endParaRPr sz="1600" b="1">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Ecografía de detalle anatómico (21/10/25): embarazo de 24 semanas, FPP 10/02/25, sin malformaciones mayores. </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Sin paraclínicos. </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Signos vitales:</a:t>
            </a:r>
            <a:r>
              <a:rPr lang="es-CO" sz="1600">
                <a:solidFill>
                  <a:schemeClr val="dk1"/>
                </a:solidFill>
                <a:latin typeface="Calibri"/>
                <a:ea typeface="Calibri"/>
                <a:cs typeface="Calibri"/>
                <a:sym typeface="Calibri"/>
              </a:rPr>
              <a:t> PA 128/76, FC 76, FR 18, SAO2 96%, FIO2 21%, T 37°C, FCF 141 </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b="1">
                <a:solidFill>
                  <a:schemeClr val="dk1"/>
                </a:solidFill>
                <a:latin typeface="Calibri"/>
                <a:ea typeface="Calibri"/>
                <a:cs typeface="Calibri"/>
                <a:sym typeface="Calibri"/>
              </a:rPr>
              <a:t>Examen físico: </a:t>
            </a:r>
            <a:r>
              <a:rPr lang="es-CO" sz="1600">
                <a:solidFill>
                  <a:schemeClr val="dk1"/>
                </a:solidFill>
                <a:latin typeface="Calibri"/>
                <a:ea typeface="Calibri"/>
                <a:cs typeface="Calibri"/>
                <a:sym typeface="Calibri"/>
              </a:rPr>
              <a:t>Tacto vaginal: vagina NT/NE, cuello central, duro, corto, 1 cm dilatación, E -2, membranas íntegras, sin sangrado vaginal ni amniorrea. Leucorrea blanquecina grumosa no fétida. </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Plan:</a:t>
            </a:r>
            <a:r>
              <a:rPr lang="es-CO" sz="1600">
                <a:solidFill>
                  <a:schemeClr val="dk1"/>
                </a:solidFill>
                <a:latin typeface="Calibri"/>
                <a:ea typeface="Calibri"/>
                <a:cs typeface="Calibri"/>
                <a:sym typeface="Calibri"/>
              </a:rPr>
              <a:t> bolo 500 cc + 60 cc/h, hioscina, ss/ FFV, uroanálisis + gram, hemograma, perfil infeccioso, valoración por psicología, cervicometría, eco TV. </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g39dc7f1e5ab_0_8"/>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14" name="Google Shape;114;g39dc7f1e5ab_0_8"/>
          <p:cNvSpPr txBox="1"/>
          <p:nvPr/>
        </p:nvSpPr>
        <p:spPr>
          <a:xfrm>
            <a:off x="1393775" y="2354850"/>
            <a:ext cx="8763300" cy="3340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17+20: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T 38.2°C  → Dipirona IV dosis única. </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17+25:</a:t>
            </a:r>
            <a:r>
              <a:rPr lang="es-CO" sz="16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Ecografía TV: Embarazo de 24.1 semanas, vitalidad fetal, PFE 685 gr, P 35%</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17+27: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Cervicometría: longitud cervical 23 mm. Cuello corto para edad gestacional. Alto riesgo de parto pretérmino.</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17+48: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Se solicita perfil severidad.  </a:t>
            </a:r>
            <a:endParaRPr sz="1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g39dc7f1e5ab_0_14"/>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20" name="Google Shape;120;g39dc7f1e5ab_0_14"/>
          <p:cNvSpPr txBox="1"/>
          <p:nvPr/>
        </p:nvSpPr>
        <p:spPr>
          <a:xfrm>
            <a:off x="654850" y="2235800"/>
            <a:ext cx="10656000" cy="4094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18+21: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Valoración psicología:</a:t>
            </a:r>
            <a:r>
              <a:rPr lang="es-CO" sz="1600">
                <a:solidFill>
                  <a:schemeClr val="dk1"/>
                </a:solidFill>
                <a:latin typeface="Calibri"/>
                <a:ea typeface="Calibri"/>
                <a:cs typeface="Calibri"/>
                <a:sym typeface="Calibri"/>
              </a:rPr>
              <a:t> Durante la interconsulta, la paciente refiere que actualmente está viviendo en barbosa junto a sus progenitores, después de haber perdido a su pareja sentimental, hecho estresante que durante el discurso le genera activación emocional, tensión muscular, llanto, taquicardia, dificultad para respirar, mareo, náuseas, se presenta parestesias psicosomáticas, debido a la alta carga emocional, del evento traumático. Por tal razón la atención se centra en regular la sintomatología presente, así como también validar las emociones generadas por el relato del evento estresante. No es posible realizar valoración a profundidad debido al estado de la paciente, no se ahonda puesto que se prioriza el bienestar de la paciente y del bebé.</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-Se identifica red de apoyo sólida y funcional.</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-Se evidencia labilidad emocional durante relato de pérdida de su pareja.</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-Se percibe hecho estresante que puede desencadenar sintomatología relacionada con depresión y ansiedad.</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-Se identifica fuerte reactividad emocional relacionada con proceso de duelo reciente (15 días).</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-No es posible realizar valoración completa debido a sintomatología ansiosa de la paciente.</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4"/>
        <p:cNvGrpSpPr/>
        <p:nvPr/>
      </p:nvGrpSpPr>
      <p:grpSpPr>
        <a:xfrm>
          <a:off x="0" y="0"/>
          <a:ext cx="0" cy="0"/>
          <a:chOff x="0" y="0"/>
          <a:chExt cx="0" cy="0"/>
        </a:xfrm>
      </p:grpSpPr>
      <p:sp>
        <p:nvSpPr>
          <p:cNvPr id="125" name="Google Shape;125;g39dc7f1e5ab_0_20"/>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26" name="Google Shape;126;g39dc7f1e5ab_0_20"/>
          <p:cNvSpPr txBox="1"/>
          <p:nvPr/>
        </p:nvSpPr>
        <p:spPr>
          <a:xfrm>
            <a:off x="654850" y="2235800"/>
            <a:ext cx="10656000" cy="4094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23+59: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HEMOGRAMA LEU  12.35 NEU  80.6 LIN   12.3  HB  12.6 HTC  37.9 PLT  298000</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PT  9.4  INR  0.861  PTT  27.2  FIBRINOGENO   474.8   TGO  25  TGP   25.1   HDL  362</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BILIRRUBINAS TOTAL  0.6 DIRECTA  0.3 INDIRECTA  0.30</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CREATININA  0.72  BUN  4.7   RECUENTO MANUAL DE PLAQUETAS  290000</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PROTEINURIA ESPONTÁNEA  30.1 // CREATINURIA ESPONTÁNEA EN ORINA 182.42  RELACIÓN 0.17 NEGATIVA</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TREPONEMA NEG  ANTÍGENO DE HEPATITIS B NEG   VIH NEG</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FFV NO PATOLÓGICO</a:t>
            </a: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 UROANÁLISIS NORMAL  CETONAS POSITIVAS POR DHT</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IDX:</a:t>
            </a:r>
            <a:endParaRPr sz="1600">
              <a:solidFill>
                <a:schemeClr val="dk1"/>
              </a:solidFill>
              <a:latin typeface="Calibri"/>
              <a:ea typeface="Calibri"/>
              <a:cs typeface="Calibri"/>
              <a:sym typeface="Calibri"/>
            </a:endParaRPr>
          </a:p>
          <a:p>
            <a:pPr marL="457200" lvl="0" indent="-330200" algn="just" rtl="0">
              <a:spcBef>
                <a:spcPts val="0"/>
              </a:spcBef>
              <a:spcAft>
                <a:spcPts val="0"/>
              </a:spcAft>
              <a:buClr>
                <a:schemeClr val="dk1"/>
              </a:buClr>
              <a:buSzPts val="1600"/>
              <a:buFont typeface="Calibri"/>
              <a:buAutoNum type="arabicPeriod"/>
            </a:pPr>
            <a:r>
              <a:rPr lang="es-CO" sz="1600">
                <a:solidFill>
                  <a:schemeClr val="dk1"/>
                </a:solidFill>
                <a:latin typeface="Calibri"/>
                <a:ea typeface="Calibri"/>
                <a:cs typeface="Calibri"/>
                <a:sym typeface="Calibri"/>
              </a:rPr>
              <a:t>Dolor pélvico</a:t>
            </a:r>
            <a:endParaRPr sz="1600">
              <a:solidFill>
                <a:schemeClr val="dk1"/>
              </a:solidFill>
              <a:latin typeface="Calibri"/>
              <a:ea typeface="Calibri"/>
              <a:cs typeface="Calibri"/>
              <a:sym typeface="Calibri"/>
            </a:endParaRPr>
          </a:p>
          <a:p>
            <a:pPr marL="457200" lvl="0" indent="-330200" algn="just" rtl="0">
              <a:spcBef>
                <a:spcPts val="0"/>
              </a:spcBef>
              <a:spcAft>
                <a:spcPts val="0"/>
              </a:spcAft>
              <a:buClr>
                <a:schemeClr val="dk1"/>
              </a:buClr>
              <a:buSzPts val="1600"/>
              <a:buFont typeface="Calibri"/>
              <a:buAutoNum type="arabicPeriod"/>
            </a:pPr>
            <a:r>
              <a:rPr lang="es-CO" sz="1600">
                <a:solidFill>
                  <a:schemeClr val="dk1"/>
                </a:solidFill>
                <a:latin typeface="Calibri"/>
                <a:ea typeface="Calibri"/>
                <a:cs typeface="Calibri"/>
                <a:sym typeface="Calibri"/>
              </a:rPr>
              <a:t>DHT G1</a:t>
            </a:r>
            <a:endParaRPr sz="1600">
              <a:solidFill>
                <a:schemeClr val="dk1"/>
              </a:solidFill>
              <a:latin typeface="Calibri"/>
              <a:ea typeface="Calibri"/>
              <a:cs typeface="Calibri"/>
              <a:sym typeface="Calibri"/>
            </a:endParaRPr>
          </a:p>
          <a:p>
            <a:pPr marL="457200" lvl="0" indent="-330200" algn="just" rtl="0">
              <a:spcBef>
                <a:spcPts val="0"/>
              </a:spcBef>
              <a:spcAft>
                <a:spcPts val="0"/>
              </a:spcAft>
              <a:buClr>
                <a:schemeClr val="dk1"/>
              </a:buClr>
              <a:buSzPts val="1600"/>
              <a:buFont typeface="Calibri"/>
              <a:buAutoNum type="arabicPeriod"/>
            </a:pPr>
            <a:r>
              <a:rPr lang="es-CO" sz="1600">
                <a:solidFill>
                  <a:schemeClr val="dk1"/>
                </a:solidFill>
                <a:latin typeface="Calibri"/>
                <a:ea typeface="Calibri"/>
                <a:cs typeface="Calibri"/>
                <a:sym typeface="Calibri"/>
              </a:rPr>
              <a:t>Síndrome febril en estudio </a:t>
            </a:r>
            <a:endParaRPr sz="1600">
              <a:solidFill>
                <a:schemeClr val="dk1"/>
              </a:solidFill>
              <a:latin typeface="Calibri"/>
              <a:ea typeface="Calibri"/>
              <a:cs typeface="Calibri"/>
              <a:sym typeface="Calibri"/>
            </a:endParaRPr>
          </a:p>
          <a:p>
            <a:pPr marL="457200" lvl="0" indent="-330200" algn="just" rtl="0">
              <a:spcBef>
                <a:spcPts val="0"/>
              </a:spcBef>
              <a:spcAft>
                <a:spcPts val="0"/>
              </a:spcAft>
              <a:buClr>
                <a:schemeClr val="dk1"/>
              </a:buClr>
              <a:buSzPts val="1600"/>
              <a:buFont typeface="Calibri"/>
              <a:buAutoNum type="arabicPeriod"/>
            </a:pPr>
            <a:r>
              <a:rPr lang="es-CO" sz="1600">
                <a:solidFill>
                  <a:schemeClr val="dk1"/>
                </a:solidFill>
                <a:latin typeface="Calibri"/>
                <a:ea typeface="Calibri"/>
                <a:cs typeface="Calibri"/>
                <a:sym typeface="Calibri"/>
              </a:rPr>
              <a:t>Vaginitis descartada</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sp>
        <p:nvSpPr>
          <p:cNvPr id="131" name="Google Shape;131;g39dc7f1e5ab_0_25"/>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32" name="Google Shape;132;g39dc7f1e5ab_0_25"/>
          <p:cNvSpPr txBox="1"/>
          <p:nvPr/>
        </p:nvSpPr>
        <p:spPr>
          <a:xfrm>
            <a:off x="448725" y="2103975"/>
            <a:ext cx="11019300" cy="44373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07+08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CH LEU 11.13 NEU 75 HB 11.6 HTC 34.9 PLT 246000 PCR 19.7 TSH 1.11 GLU 51.6 CMV 0.45 RUBEOLA IGG POS IGM NEG TOXO IGG POS IGM NEG PENDIENTE CMV IGG</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11+11: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Examen físico: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Paciente en buenas condiciones generales, no signos de dificultad respiratoria cc normocéfalo, mucosa oral húmeda tórax simétrico, normoexpansible abdomen globoso por útero grávido con AU 24 cm con feto único vivo con FCF 148 lpm GU: se omite tv ext simétricas, eutróficas, sin edemas neu sin déficit aparente.</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Análisis: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Paciente de 23 años G1P0 con embarazo de 24.4 semanas por ecografía obstétrica, hospitalizada en contexto de síndrome febril en estudio y dolor pélvico, a la valoración paciente clínicamente estable, alerta, orientada, no ha presentado nuevos picos febriles, refiere mejoría de dolor abdominal, movimientos fetales presentes, paraclínicos sin evidencia de leucocitosis, no neutrofilia, infecciosos hasta el momento negativos, continúa bajo vigilancia estricta de curva térmica, se suspende antipirético, en caso de realizar nuevos picos febriles se tomarán conductas adicionales, estamos atentos a evolución clínica de la paciente, se explica condición clínica actual y conducta médica a seguir, refiere entender y aceptar.</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6"/>
        <p:cNvGrpSpPr/>
        <p:nvPr/>
      </p:nvGrpSpPr>
      <p:grpSpPr>
        <a:xfrm>
          <a:off x="0" y="0"/>
          <a:ext cx="0" cy="0"/>
          <a:chOff x="0" y="0"/>
          <a:chExt cx="0" cy="0"/>
        </a:xfrm>
      </p:grpSpPr>
      <p:sp>
        <p:nvSpPr>
          <p:cNvPr id="137" name="Google Shape;137;g39df33df60f_0_8"/>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38" name="Google Shape;138;g39df33df60f_0_8"/>
          <p:cNvSpPr txBox="1"/>
          <p:nvPr/>
        </p:nvSpPr>
        <p:spPr>
          <a:xfrm>
            <a:off x="910625" y="2099550"/>
            <a:ext cx="6692700" cy="4459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11+11: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b="1">
                <a:solidFill>
                  <a:schemeClr val="dk1"/>
                </a:solidFill>
                <a:latin typeface="Calibri"/>
                <a:ea typeface="Calibri"/>
                <a:cs typeface="Calibri"/>
                <a:sym typeface="Calibri"/>
              </a:rPr>
              <a:t>IDX:</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Paciente de 23 años G1P0 con diagnósticos de: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Embarazo de 24.4 semanas por ecografía de detalle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Dolor pélvico en resolución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DHT G1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Síndrome febril en estudio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Vaginitis descartada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Riesgo obstétrico: alto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 Primigestante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 Rural disperso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 Episodio ansioso ya valorada por psicología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Riesgo tromboembólico bajo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Riesgo de hemorragia posparto: bajo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Riesgo psicosocial: alto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Diagnóstico nutricional: adecuado para edad gestacional athala 25.6 IMC </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s-CO" sz="1600">
                <a:solidFill>
                  <a:schemeClr val="dk1"/>
                </a:solidFill>
                <a:latin typeface="Calibri"/>
                <a:ea typeface="Calibri"/>
                <a:cs typeface="Calibri"/>
                <a:sym typeface="Calibri"/>
              </a:rPr>
              <a:t>Riesgo para preeclampsia: bajo</a:t>
            </a: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p:txBody>
      </p:sp>
      <p:sp>
        <p:nvSpPr>
          <p:cNvPr id="139" name="Google Shape;139;g39df33df60f_0_8"/>
          <p:cNvSpPr txBox="1"/>
          <p:nvPr/>
        </p:nvSpPr>
        <p:spPr>
          <a:xfrm>
            <a:off x="6336150" y="2167825"/>
            <a:ext cx="5479500" cy="8001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Plan: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Suspensión de antipiretico → vigilancia de curva térmica.</a:t>
            </a:r>
            <a:r>
              <a:rPr lang="es-CO" sz="18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None/>
            </a:pPr>
            <a:endParaRPr sz="18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3"/>
        <p:cNvGrpSpPr/>
        <p:nvPr/>
      </p:nvGrpSpPr>
      <p:grpSpPr>
        <a:xfrm>
          <a:off x="0" y="0"/>
          <a:ext cx="0" cy="0"/>
          <a:chOff x="0" y="0"/>
          <a:chExt cx="0" cy="0"/>
        </a:xfrm>
      </p:grpSpPr>
      <p:sp>
        <p:nvSpPr>
          <p:cNvPr id="144" name="Google Shape;144;g39df33df60f_0_2"/>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45" name="Google Shape;145;g39df33df60f_0_2"/>
          <p:cNvSpPr txBox="1"/>
          <p:nvPr/>
        </p:nvSpPr>
        <p:spPr>
          <a:xfrm>
            <a:off x="384850" y="2150625"/>
            <a:ext cx="11290500" cy="4227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CO" sz="1600" b="1">
                <a:solidFill>
                  <a:schemeClr val="dk1"/>
                </a:solidFill>
                <a:latin typeface="Calibri"/>
                <a:ea typeface="Calibri"/>
                <a:cs typeface="Calibri"/>
                <a:sym typeface="Calibri"/>
              </a:rPr>
              <a:t>14+23: </a:t>
            </a:r>
            <a:endParaRPr sz="1600" b="1">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Examen físico: Cuello posterior, D 2 cm, B 90%, membranas íntegras abombadas, sangrado vaginal moderado.</a:t>
            </a:r>
            <a:endParaRPr sz="16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s-CO" sz="1600">
                <a:solidFill>
                  <a:schemeClr val="dk1"/>
                </a:solidFill>
                <a:latin typeface="Calibri"/>
                <a:ea typeface="Calibri"/>
                <a:cs typeface="Calibri"/>
                <a:sym typeface="Calibri"/>
              </a:rPr>
              <a:t>Paciente de 23 años g1p0 con embarazo de 24.4 semanas por ecografía obstétrica, hospitalizada en contexto de síndrome febril en estudio y dolor pélvico, con reporte de paraclínicos sin evidencia de infección, último pico febril desde hace 12 horas, en quien se realizó cervicometría de ingreso con cuello corto, alto riesgo de parto pretérmino, el día de asintomática, sin embargo refiere posterior sensación de descarga vaginal y sangrado vaginal, se realiza tacto vaginal con evidencia de cambios cervicales descritos, por lo que se considera paciente con amenaza de parto pretérmino extremo y alta sospecha de corioamnionitis, se indica manejo del dolor , neuro protección, maduración pulmonar e inicio de antibiótico, se considera dado peso fetal reciente de más de 500gr feto viable por lo que se indica remisión urgente a mayor nivel de complejidad con disponibilidad de uci neonatal, se explica a paciente y familiar riesgo por prematuridad, refieren entender.</a:t>
            </a:r>
            <a:endParaRPr sz="1600">
              <a:solidFill>
                <a:schemeClr val="dk1"/>
              </a:solidFill>
              <a:latin typeface="Calibri"/>
              <a:ea typeface="Calibri"/>
              <a:cs typeface="Calibri"/>
              <a:sym typeface="Calibri"/>
            </a:endParaRPr>
          </a:p>
          <a:p>
            <a:pPr marL="457200" lvl="0" indent="-330200" algn="just" rtl="0">
              <a:spcBef>
                <a:spcPts val="1200"/>
              </a:spcBef>
              <a:spcAft>
                <a:spcPts val="0"/>
              </a:spcAft>
              <a:buClr>
                <a:schemeClr val="dk1"/>
              </a:buClr>
              <a:buSzPts val="1600"/>
              <a:buFont typeface="Calibri"/>
              <a:buAutoNum type="arabicPeriod"/>
            </a:pPr>
            <a:r>
              <a:rPr lang="es-CO" sz="1600">
                <a:solidFill>
                  <a:schemeClr val="dk1"/>
                </a:solidFill>
                <a:latin typeface="Calibri"/>
                <a:ea typeface="Calibri"/>
                <a:cs typeface="Calibri"/>
                <a:sym typeface="Calibri"/>
              </a:rPr>
              <a:t>Amenaza de PP</a:t>
            </a:r>
            <a:endParaRPr sz="1600">
              <a:solidFill>
                <a:schemeClr val="dk1"/>
              </a:solidFill>
              <a:latin typeface="Calibri"/>
              <a:ea typeface="Calibri"/>
              <a:cs typeface="Calibri"/>
              <a:sym typeface="Calibri"/>
            </a:endParaRPr>
          </a:p>
          <a:p>
            <a:pPr marL="457200" lvl="0" indent="-330200" algn="just" rtl="0">
              <a:spcBef>
                <a:spcPts val="0"/>
              </a:spcBef>
              <a:spcAft>
                <a:spcPts val="0"/>
              </a:spcAft>
              <a:buClr>
                <a:schemeClr val="dk1"/>
              </a:buClr>
              <a:buSzPts val="1600"/>
              <a:buFont typeface="Calibri"/>
              <a:buAutoNum type="arabicPeriod"/>
            </a:pPr>
            <a:r>
              <a:rPr lang="es-CO" sz="1600">
                <a:solidFill>
                  <a:schemeClr val="dk1"/>
                </a:solidFill>
                <a:latin typeface="Calibri"/>
                <a:ea typeface="Calibri"/>
                <a:cs typeface="Calibri"/>
                <a:sym typeface="Calibri"/>
              </a:rPr>
              <a:t>Sospecha corioamnionitis</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None/>
            </a:pPr>
            <a:r>
              <a:rPr lang="es-CO" sz="1600">
                <a:solidFill>
                  <a:schemeClr val="dk1"/>
                </a:solidFill>
                <a:latin typeface="Calibri"/>
                <a:ea typeface="Calibri"/>
                <a:cs typeface="Calibri"/>
                <a:sym typeface="Calibri"/>
              </a:rPr>
              <a:t>Plan → analgesia, sulfato Mg, betametasona, cefazolina  + remisión.</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9"/>
        <p:cNvGrpSpPr/>
        <p:nvPr/>
      </p:nvGrpSpPr>
      <p:grpSpPr>
        <a:xfrm>
          <a:off x="0" y="0"/>
          <a:ext cx="0" cy="0"/>
          <a:chOff x="0" y="0"/>
          <a:chExt cx="0" cy="0"/>
        </a:xfrm>
      </p:grpSpPr>
      <p:sp>
        <p:nvSpPr>
          <p:cNvPr id="150" name="Google Shape;150;g39df33df60f_0_21"/>
          <p:cNvSpPr txBox="1"/>
          <p:nvPr/>
        </p:nvSpPr>
        <p:spPr>
          <a:xfrm>
            <a:off x="2753725" y="906500"/>
            <a:ext cx="8060100" cy="86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CO" sz="4500" b="1">
                <a:solidFill>
                  <a:schemeClr val="accent2"/>
                </a:solidFill>
                <a:latin typeface="Calibri"/>
                <a:ea typeface="Calibri"/>
                <a:cs typeface="Calibri"/>
                <a:sym typeface="Calibri"/>
              </a:rPr>
              <a:t>DESCRIPCIÓN DEL CASO</a:t>
            </a:r>
            <a:endParaRPr sz="4500" b="1">
              <a:solidFill>
                <a:schemeClr val="accent2"/>
              </a:solidFill>
              <a:latin typeface="Calibri"/>
              <a:ea typeface="Calibri"/>
              <a:cs typeface="Calibri"/>
              <a:sym typeface="Calibri"/>
            </a:endParaRPr>
          </a:p>
        </p:txBody>
      </p:sp>
      <p:sp>
        <p:nvSpPr>
          <p:cNvPr id="151" name="Google Shape;151;g39df33df60f_0_21"/>
          <p:cNvSpPr txBox="1"/>
          <p:nvPr/>
        </p:nvSpPr>
        <p:spPr>
          <a:xfrm>
            <a:off x="921225" y="2214475"/>
            <a:ext cx="9987600" cy="1290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CO" sz="1600" b="1">
                <a:solidFill>
                  <a:schemeClr val="dk1"/>
                </a:solidFill>
                <a:latin typeface="Calibri"/>
                <a:ea typeface="Calibri"/>
                <a:cs typeface="Calibri"/>
                <a:sym typeface="Calibri"/>
              </a:rPr>
              <a:t>15+48:  </a:t>
            </a:r>
            <a:r>
              <a:rPr lang="es-CO" sz="1600">
                <a:solidFill>
                  <a:schemeClr val="dk1"/>
                </a:solidFill>
                <a:latin typeface="Calibri"/>
                <a:ea typeface="Calibri"/>
                <a:cs typeface="Calibri"/>
                <a:sym typeface="Calibri"/>
              </a:rPr>
              <a:t>Remisión para Hospital San Rafael de Tunja con salida a las 15+03</a:t>
            </a:r>
            <a:endParaRPr sz="1600">
              <a:solidFill>
                <a:schemeClr val="dk1"/>
              </a:solidFill>
              <a:latin typeface="Calibri"/>
              <a:ea typeface="Calibri"/>
              <a:cs typeface="Calibri"/>
              <a:sym typeface="Calibri"/>
            </a:endParaRPr>
          </a:p>
          <a:p>
            <a:pPr marL="0" lvl="0" indent="0" algn="just" rtl="0">
              <a:spcBef>
                <a:spcPts val="0"/>
              </a:spcBef>
              <a:spcAft>
                <a:spcPts val="0"/>
              </a:spcAft>
              <a:buNone/>
            </a:pPr>
            <a:endParaRPr sz="1600">
              <a:solidFill>
                <a:schemeClr val="dk1"/>
              </a:solidFill>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endParaRPr sz="16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1270</Words>
  <Application>Microsoft Macintosh PowerPoint</Application>
  <PresentationFormat>Panorámica</PresentationFormat>
  <Paragraphs>123</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Karla</vt:lpstr>
      <vt:lpstr>Calibri</vt:lpstr>
      <vt:lpstr>Tema de Office</vt:lpstr>
      <vt:lpstr>ANÁLISIS DE CASO: MORTALIDAD PERINATAL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Sharon Katherine Acuña</cp:lastModifiedBy>
  <cp:revision>1</cp:revision>
  <dcterms:created xsi:type="dcterms:W3CDTF">2024-08-26T14:52:25Z</dcterms:created>
  <dcterms:modified xsi:type="dcterms:W3CDTF">2025-11-03T14:14:40Z</dcterms:modified>
</cp:coreProperties>
</file>