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3" r:id="rId4"/>
    <p:sldId id="262" r:id="rId5"/>
    <p:sldId id="259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115" autoAdjust="0"/>
  </p:normalViewPr>
  <p:slideViewPr>
    <p:cSldViewPr snapToGrid="0">
      <p:cViewPr varScale="1">
        <p:scale>
          <a:sx n="72" d="100"/>
          <a:sy n="72" d="100"/>
        </p:scale>
        <p:origin x="105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leidy\Downloads\Morbilidad%20Cie10%202025%20R2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Dx1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Consulta Externa</c:v>
                </c:pt>
                <c:pt idx="1">
                  <c:v>Hospitalización</c:v>
                </c:pt>
                <c:pt idx="2">
                  <c:v>Urgencias</c:v>
                </c:pt>
                <c:pt idx="3">
                  <c:v>UCI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1684</c:v>
                </c:pt>
                <c:pt idx="1">
                  <c:v>68</c:v>
                </c:pt>
                <c:pt idx="2">
                  <c:v>692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4F-431E-A9EA-14FEC5BB80CD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Dx2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Consulta Externa</c:v>
                </c:pt>
                <c:pt idx="1">
                  <c:v>Hospitalización</c:v>
                </c:pt>
                <c:pt idx="2">
                  <c:v>Urgencias</c:v>
                </c:pt>
                <c:pt idx="3">
                  <c:v>UCI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1360</c:v>
                </c:pt>
                <c:pt idx="1">
                  <c:v>62</c:v>
                </c:pt>
                <c:pt idx="2">
                  <c:v>424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4F-431E-A9EA-14FEC5BB80CD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  <c:pt idx="0">
                  <c:v>Dx3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Hoja1!$A$2:$A$5</c:f>
              <c:strCache>
                <c:ptCount val="4"/>
                <c:pt idx="0">
                  <c:v>Consulta Externa</c:v>
                </c:pt>
                <c:pt idx="1">
                  <c:v>Hospitalización</c:v>
                </c:pt>
                <c:pt idx="2">
                  <c:v>Urgencias</c:v>
                </c:pt>
                <c:pt idx="3">
                  <c:v>UCI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  <c:pt idx="0">
                  <c:v>1684</c:v>
                </c:pt>
                <c:pt idx="1">
                  <c:v>54</c:v>
                </c:pt>
                <c:pt idx="2">
                  <c:v>301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E4F-431E-A9EA-14FEC5BB8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977248495"/>
        <c:axId val="1977244335"/>
      </c:barChart>
      <c:catAx>
        <c:axId val="197724849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977244335"/>
        <c:crosses val="autoZero"/>
        <c:auto val="1"/>
        <c:lblAlgn val="ctr"/>
        <c:lblOffset val="100"/>
        <c:noMultiLvlLbl val="0"/>
      </c:catAx>
      <c:valAx>
        <c:axId val="19772443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977248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1" i="0" u="none" strike="noStrike" kern="1200" spc="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r>
              <a:rPr lang="es-CO" b="1"/>
              <a:t>TOP 10: CONDICIONES PERFIL DE MORBILIDAD GENERAL 2025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1" i="0" u="none" strike="noStrike" kern="1200" spc="0" baseline="0">
              <a:solidFill>
                <a:srgbClr val="002060"/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rgbClr val="002060"/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GENERAL!$G$3:$H$12</c:f>
              <c:multiLvlStrCache>
                <c:ptCount val="10"/>
                <c:lvl>
                  <c:pt idx="0">
                    <c:v>HIPERTENSION ARTERIAL ESENCIAL </c:v>
                  </c:pt>
                  <c:pt idx="1">
                    <c:v>DIABETES MELLITUS </c:v>
                  </c:pt>
                  <c:pt idx="2">
                    <c:v>HIPERPLASIA DE LA PROSTATA</c:v>
                  </c:pt>
                  <c:pt idx="3">
                    <c:v>IRA- VÍA AÉREA SUPERIOR</c:v>
                  </c:pt>
                  <c:pt idx="4">
                    <c:v>LUMBAGO</c:v>
                  </c:pt>
                  <c:pt idx="5">
                    <c:v>GASTROENTERITIS Y COLITIS</c:v>
                  </c:pt>
                  <c:pt idx="6">
                    <c:v>INSUFICIENCIA VENOSA (CRONICA) (PERIFERICA)</c:v>
                  </c:pt>
                  <c:pt idx="7">
                    <c:v>HIPOTIROIDISMO</c:v>
                  </c:pt>
                  <c:pt idx="8">
                    <c:v>CARDIOMIOPATIA ISQUEMICA</c:v>
                  </c:pt>
                  <c:pt idx="9">
                    <c:v>INFECCION DE VIAS URINARIAS, SITIO NO ESPECIFICADO</c:v>
                  </c:pt>
                </c:lvl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</c:lvl>
              </c:multiLvlStrCache>
            </c:multiLvlStrRef>
          </c:cat>
          <c:val>
            <c:numRef>
              <c:f>GENERAL!$I$3:$I$12</c:f>
              <c:numCache>
                <c:formatCode>General</c:formatCode>
                <c:ptCount val="10"/>
                <c:pt idx="0">
                  <c:v>9223</c:v>
                </c:pt>
                <c:pt idx="1">
                  <c:v>3743</c:v>
                </c:pt>
                <c:pt idx="2">
                  <c:v>2805</c:v>
                </c:pt>
                <c:pt idx="3">
                  <c:v>2401</c:v>
                </c:pt>
                <c:pt idx="4">
                  <c:v>2376</c:v>
                </c:pt>
                <c:pt idx="5">
                  <c:v>2175</c:v>
                </c:pt>
                <c:pt idx="6">
                  <c:v>1618</c:v>
                </c:pt>
                <c:pt idx="7">
                  <c:v>1516</c:v>
                </c:pt>
                <c:pt idx="8">
                  <c:v>1034</c:v>
                </c:pt>
                <c:pt idx="9">
                  <c:v>884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FD-48EB-9B67-ABECFFB998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15531136"/>
        <c:axId val="215533632"/>
      </c:barChart>
      <c:catAx>
        <c:axId val="21553113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15533632"/>
        <c:crosses val="autoZero"/>
        <c:auto val="1"/>
        <c:lblAlgn val="ctr"/>
        <c:lblOffset val="100"/>
        <c:noMultiLvlLbl val="0"/>
      </c:catAx>
      <c:valAx>
        <c:axId val="2155336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215531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tx2">
        <a:lumMod val="10000"/>
        <a:lumOff val="90000"/>
        <a:alpha val="81000"/>
      </a:schemeClr>
    </a:solidFill>
    <a:ln w="9525" cap="flat" cmpd="sng" algn="ctr">
      <a:solidFill>
        <a:srgbClr val="002060">
          <a:alpha val="97000"/>
        </a:srgbClr>
      </a:solidFill>
      <a:round/>
    </a:ln>
    <a:effectLst/>
  </c:spPr>
  <c:txPr>
    <a:bodyPr/>
    <a:lstStyle/>
    <a:p>
      <a:pPr>
        <a:defRPr sz="800">
          <a:solidFill>
            <a:srgbClr val="002060"/>
          </a:solidFill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637F3-18A6-431D-9A88-FC5CDC91C8DC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74B21-5C0E-4179-A3FF-5DD18BB6042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6939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74B21-5C0E-4179-A3FF-5DD18BB6042B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006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E74B21-5C0E-4179-A3FF-5DD18BB6042B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899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11/03/2026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4872" y="2479486"/>
            <a:ext cx="6655837" cy="949514"/>
          </a:xfrm>
        </p:spPr>
        <p:txBody>
          <a:bodyPr>
            <a:noAutofit/>
          </a:bodyPr>
          <a:lstStyle/>
          <a:p>
            <a:r>
              <a:rPr lang="es-MX" sz="8000" b="1" dirty="0">
                <a:solidFill>
                  <a:schemeClr val="bg1"/>
                </a:solidFill>
              </a:rPr>
              <a:t>GPC - 2025</a:t>
            </a:r>
            <a:endParaRPr lang="es-CO" sz="8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1B212A71-141C-4D86-B701-B6956DF3A9B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805887"/>
              </p:ext>
            </p:extLst>
          </p:nvPr>
        </p:nvGraphicFramePr>
        <p:xfrm>
          <a:off x="131320" y="1396096"/>
          <a:ext cx="5673855" cy="23252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FED23E9A-2DBA-48FE-98A9-68D38A25682E}"/>
              </a:ext>
            </a:extLst>
          </p:cNvPr>
          <p:cNvSpPr txBox="1"/>
          <p:nvPr/>
        </p:nvSpPr>
        <p:spPr>
          <a:xfrm>
            <a:off x="3174765" y="134892"/>
            <a:ext cx="7003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2060"/>
                </a:solidFill>
              </a:rPr>
              <a:t>ADOPCIÓN E IMPLEMENTACIÓN GPC 2025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B79ABBB-CA5F-4056-98BA-208E69A88ED2}"/>
              </a:ext>
            </a:extLst>
          </p:cNvPr>
          <p:cNvSpPr txBox="1"/>
          <p:nvPr/>
        </p:nvSpPr>
        <p:spPr>
          <a:xfrm>
            <a:off x="194552" y="922895"/>
            <a:ext cx="732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priorizadas según perfil morbilidad 2024 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BCC9AC-0152-41A5-A4B0-6AADB0102DC2}"/>
              </a:ext>
            </a:extLst>
          </p:cNvPr>
          <p:cNvSpPr txBox="1"/>
          <p:nvPr/>
        </p:nvSpPr>
        <p:spPr>
          <a:xfrm>
            <a:off x="6096000" y="922895"/>
            <a:ext cx="522020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implementadas según perfil morbilidad 2024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HTA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IVU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Dolor abdominal ( códigos R)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EPOC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EPOC con exacerbación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Diabetes Mellitus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Insuficiencia Cardiaca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62EF2D7-FD4B-4A8C-8D10-1706AF1CE078}"/>
              </a:ext>
            </a:extLst>
          </p:cNvPr>
          <p:cNvSpPr txBox="1"/>
          <p:nvPr/>
        </p:nvSpPr>
        <p:spPr>
          <a:xfrm>
            <a:off x="6096000" y="4123138"/>
            <a:ext cx="522020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implementadas según resolución 408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HTA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IVU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IAM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Apendicitis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THE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Hemorragia III trimestre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49B922D-24B3-43C1-B202-C6E7F8842919}"/>
              </a:ext>
            </a:extLst>
          </p:cNvPr>
          <p:cNvSpPr txBox="1"/>
          <p:nvPr/>
        </p:nvSpPr>
        <p:spPr>
          <a:xfrm>
            <a:off x="6096000" y="5969797"/>
            <a:ext cx="530210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implementadas por secretaria de salud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IRA: pediatría 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EDA: pediatría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7E479D5-C67B-4136-9789-1A369142D67C}"/>
              </a:ext>
            </a:extLst>
          </p:cNvPr>
          <p:cNvSpPr txBox="1"/>
          <p:nvPr/>
        </p:nvSpPr>
        <p:spPr>
          <a:xfrm>
            <a:off x="6096000" y="3015776"/>
            <a:ext cx="522020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implementadas por variabilidad clínica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Pancreatitis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Gastritis crónica y helicobacter pylori.</a:t>
            </a:r>
          </a:p>
          <a:p>
            <a:pPr marL="285750" indent="-285750">
              <a:buFontTx/>
              <a:buChar char="-"/>
            </a:pPr>
            <a:r>
              <a:rPr lang="es-CO" sz="1600" dirty="0"/>
              <a:t>Sepsis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BC29527-13A1-4D04-B83E-BA543227C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382710"/>
              </p:ext>
            </p:extLst>
          </p:nvPr>
        </p:nvGraphicFramePr>
        <p:xfrm>
          <a:off x="402258" y="3900528"/>
          <a:ext cx="5302101" cy="2228081"/>
        </p:xfrm>
        <a:graphic>
          <a:graphicData uri="http://schemas.openxmlformats.org/drawingml/2006/table">
            <a:tbl>
              <a:tblPr firstRow="1" firstCol="1" bandRow="1">
                <a:tableStyleId>{16D9F66E-5EB9-4882-86FB-DCBF35E3C3E4}</a:tableStyleId>
              </a:tblPr>
              <a:tblGrid>
                <a:gridCol w="433477">
                  <a:extLst>
                    <a:ext uri="{9D8B030D-6E8A-4147-A177-3AD203B41FA5}">
                      <a16:colId xmlns:a16="http://schemas.microsoft.com/office/drawing/2014/main" val="4090783832"/>
                    </a:ext>
                  </a:extLst>
                </a:gridCol>
                <a:gridCol w="1239689">
                  <a:extLst>
                    <a:ext uri="{9D8B030D-6E8A-4147-A177-3AD203B41FA5}">
                      <a16:colId xmlns:a16="http://schemas.microsoft.com/office/drawing/2014/main" val="4215432178"/>
                    </a:ext>
                  </a:extLst>
                </a:gridCol>
                <a:gridCol w="1191149">
                  <a:extLst>
                    <a:ext uri="{9D8B030D-6E8A-4147-A177-3AD203B41FA5}">
                      <a16:colId xmlns:a16="http://schemas.microsoft.com/office/drawing/2014/main" val="3751359058"/>
                    </a:ext>
                  </a:extLst>
                </a:gridCol>
                <a:gridCol w="1292516">
                  <a:extLst>
                    <a:ext uri="{9D8B030D-6E8A-4147-A177-3AD203B41FA5}">
                      <a16:colId xmlns:a16="http://schemas.microsoft.com/office/drawing/2014/main" val="589601000"/>
                    </a:ext>
                  </a:extLst>
                </a:gridCol>
                <a:gridCol w="1145270">
                  <a:extLst>
                    <a:ext uri="{9D8B030D-6E8A-4147-A177-3AD203B41FA5}">
                      <a16:colId xmlns:a16="http://schemas.microsoft.com/office/drawing/2014/main" val="1317927584"/>
                    </a:ext>
                  </a:extLst>
                </a:gridCol>
              </a:tblGrid>
              <a:tr h="13966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>
                          <a:effectLst/>
                        </a:rPr>
                        <a:t> 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Consulta Externa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>
                          <a:effectLst/>
                        </a:rPr>
                        <a:t>Hospitalización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>
                          <a:effectLst/>
                        </a:rPr>
                        <a:t>Urgencias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UCI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2182730"/>
                  </a:ext>
                </a:extLst>
              </a:tr>
              <a:tr h="4826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000" kern="100" dirty="0">
                          <a:effectLst/>
                        </a:rPr>
                        <a:t>Dx1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Hipertensión arterial crónica (I10X)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kern="100" dirty="0">
                          <a:effectLst/>
                        </a:rPr>
                        <a:t>Infección de vías Urinarias (N390)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endParaRPr lang="es-CO" sz="9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  <a:latin typeface="Aptos"/>
                          <a:ea typeface="Aptos"/>
                          <a:cs typeface="Times New Roman" panose="02020603050405020304" pitchFamily="18" charset="0"/>
                        </a:rPr>
                        <a:t>Dolor abdominal (R104) 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Insuficiencia cardiaca congestiva (I500)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06919098"/>
                  </a:ext>
                </a:extLst>
              </a:tr>
              <a:tr h="7741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000" kern="100">
                          <a:effectLst/>
                        </a:rPr>
                        <a:t>Dx2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Diabetes Mellitus (E109)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  <a:latin typeface="Aptos"/>
                          <a:ea typeface="Aptos"/>
                          <a:cs typeface="Times New Roman" panose="02020603050405020304" pitchFamily="18" charset="0"/>
                        </a:rPr>
                        <a:t>Dolor abdominal (R104)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>
                          <a:effectLst/>
                        </a:rPr>
                        <a:t>Infección de vías Urinarias (N390)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Enfermedad pulmonar obstructiva crónica con exacerbación aguda, no especificada (J441)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0831214"/>
                  </a:ext>
                </a:extLst>
              </a:tr>
              <a:tr h="74357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s-CO" sz="1000" kern="100">
                          <a:effectLst/>
                        </a:rPr>
                        <a:t>Dx3</a:t>
                      </a:r>
                      <a:endParaRPr lang="es-CO" sz="1100" kern="10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Enfermedad pulmonar obstructiva crónica, no especificada (J440)</a:t>
                      </a:r>
                      <a:endParaRPr lang="es-CO" sz="9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</a:rPr>
                        <a:t>Infección de vías Urinarias (N390)</a:t>
                      </a:r>
                      <a:endParaRPr lang="es-CO" sz="1100" kern="100" dirty="0">
                        <a:effectLst/>
                        <a:latin typeface="Aptos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900" kern="100" dirty="0">
                          <a:effectLst/>
                          <a:latin typeface="+mn-lt"/>
                        </a:rPr>
                        <a:t>Enfermedad pulmonar obstructiva crónica con exacerbación aguda, no especificada (J441)</a:t>
                      </a:r>
                      <a:endParaRPr lang="es-CO" sz="900" kern="100" dirty="0">
                        <a:effectLst/>
                        <a:latin typeface="+mn-lt"/>
                        <a:ea typeface="Aptos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</a:pPr>
                      <a:r>
                        <a:rPr lang="es-CO" sz="900" kern="100" dirty="0">
                          <a:effectLst/>
                          <a:latin typeface="+mn-lt"/>
                          <a:ea typeface="Aptos"/>
                          <a:cs typeface="Times New Roman" panose="02020603050405020304" pitchFamily="18" charset="0"/>
                        </a:rPr>
                        <a:t>Cardiopatía Isquémica (I25.0)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596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55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3B30C03C-2A43-49AA-8B98-D13854955E56}"/>
              </a:ext>
            </a:extLst>
          </p:cNvPr>
          <p:cNvSpPr txBox="1"/>
          <p:nvPr/>
        </p:nvSpPr>
        <p:spPr>
          <a:xfrm>
            <a:off x="7327981" y="795448"/>
            <a:ext cx="46573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Herramientas de medición en: Software Institucional (desde junio 2025). Previamente en formularios Google Forms</a:t>
            </a:r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endParaRPr lang="es-CO" b="1" dirty="0"/>
          </a:p>
          <a:p>
            <a:r>
              <a:rPr lang="es-CO" b="1" dirty="0"/>
              <a:t>Total de GPC calificadas:</a:t>
            </a:r>
            <a:r>
              <a:rPr lang="es-CO" dirty="0"/>
              <a:t> </a:t>
            </a:r>
            <a:r>
              <a:rPr lang="es-CO" b="1" dirty="0"/>
              <a:t>18</a:t>
            </a:r>
          </a:p>
          <a:p>
            <a:r>
              <a:rPr lang="es-CO" b="1" dirty="0"/>
              <a:t>Total de evaluaciones realizadas: 2764 </a:t>
            </a:r>
          </a:p>
          <a:p>
            <a:r>
              <a:rPr lang="es-CO" b="1" dirty="0"/>
              <a:t>Promedio general institucional:</a:t>
            </a:r>
            <a:r>
              <a:rPr lang="es-CO" dirty="0"/>
              <a:t> </a:t>
            </a:r>
            <a:r>
              <a:rPr lang="es-CO" b="1" dirty="0"/>
              <a:t>4,41</a:t>
            </a:r>
          </a:p>
          <a:p>
            <a:endParaRPr lang="es-CO" b="1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F03F9C2-653D-4E49-BEB4-A932A4107469}"/>
              </a:ext>
            </a:extLst>
          </p:cNvPr>
          <p:cNvSpPr txBox="1"/>
          <p:nvPr/>
        </p:nvSpPr>
        <p:spPr>
          <a:xfrm>
            <a:off x="2937753" y="180612"/>
            <a:ext cx="7908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2060"/>
                </a:solidFill>
              </a:rPr>
              <a:t>RESULTADOS MEDICIÓN ADHERENCIA GPC 2025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26AC51E2-B816-4285-984E-2BD012D87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288" y="1846423"/>
            <a:ext cx="4646088" cy="1343344"/>
          </a:xfrm>
          <a:prstGeom prst="rect">
            <a:avLst/>
          </a:prstGeom>
        </p:spPr>
      </p:pic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7ECF2D6-F23A-4BC1-9C7A-3B7BC83CD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07262"/>
              </p:ext>
            </p:extLst>
          </p:nvPr>
        </p:nvGraphicFramePr>
        <p:xfrm>
          <a:off x="1252291" y="925122"/>
          <a:ext cx="5467131" cy="525814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553810">
                  <a:extLst>
                    <a:ext uri="{9D8B030D-6E8A-4147-A177-3AD203B41FA5}">
                      <a16:colId xmlns:a16="http://schemas.microsoft.com/office/drawing/2014/main" val="3682451784"/>
                    </a:ext>
                  </a:extLst>
                </a:gridCol>
                <a:gridCol w="1517428">
                  <a:extLst>
                    <a:ext uri="{9D8B030D-6E8A-4147-A177-3AD203B41FA5}">
                      <a16:colId xmlns:a16="http://schemas.microsoft.com/office/drawing/2014/main" val="3256189517"/>
                    </a:ext>
                  </a:extLst>
                </a:gridCol>
                <a:gridCol w="1395893">
                  <a:extLst>
                    <a:ext uri="{9D8B030D-6E8A-4147-A177-3AD203B41FA5}">
                      <a16:colId xmlns:a16="http://schemas.microsoft.com/office/drawing/2014/main" val="1425315090"/>
                    </a:ext>
                  </a:extLst>
                </a:gridCol>
              </a:tblGrid>
              <a:tr h="255204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Formulario</a:t>
                      </a:r>
                    </a:p>
                  </a:txBody>
                  <a:tcPr marL="45804" marR="45804" marT="22902" marB="22902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# de evaluaciones</a:t>
                      </a:r>
                    </a:p>
                  </a:txBody>
                  <a:tcPr marL="45804" marR="45804" marT="22902" marB="22902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/>
                        <a:t>Promedio</a:t>
                      </a:r>
                    </a:p>
                  </a:txBody>
                  <a:tcPr marL="45804" marR="45804" marT="22902" marB="22902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688906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 dirty="0"/>
                        <a:t>Apendicitis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83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4.38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943702610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Bronquiolitis - IRA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3.47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452496607"/>
                  </a:ext>
                </a:extLst>
              </a:tr>
              <a:tr h="312659">
                <a:tc>
                  <a:txBody>
                    <a:bodyPr/>
                    <a:lstStyle/>
                    <a:p>
                      <a:r>
                        <a:rPr lang="es-CO" sz="1400"/>
                        <a:t>Diabetes Mellitus tipo 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402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4.32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81752701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Dolor Abdominal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571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3.90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496846878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EDA PEDIATRÍA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32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3.92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802642292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EPOC - CE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88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4.14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029198453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EPOC - URG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21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3.50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106474876"/>
                  </a:ext>
                </a:extLst>
              </a:tr>
              <a:tr h="465304">
                <a:tc>
                  <a:txBody>
                    <a:bodyPr/>
                    <a:lstStyle/>
                    <a:p>
                      <a:r>
                        <a:rPr lang="es-CO" sz="1400"/>
                        <a:t>Gastritis crónica - Helicobacter Pylori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67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4.10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233552431"/>
                  </a:ext>
                </a:extLst>
              </a:tr>
              <a:tr h="352199">
                <a:tc>
                  <a:txBody>
                    <a:bodyPr/>
                    <a:lstStyle/>
                    <a:p>
                      <a:r>
                        <a:rPr lang="es-CO" sz="1400" dirty="0"/>
                        <a:t>Hemorragia Vía Digestiva Alta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16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4.32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2727815473"/>
                  </a:ext>
                </a:extLst>
              </a:tr>
              <a:tr h="465304">
                <a:tc>
                  <a:txBody>
                    <a:bodyPr/>
                    <a:lstStyle/>
                    <a:p>
                      <a:r>
                        <a:rPr lang="es-CO" sz="1400" dirty="0"/>
                        <a:t>Hipertensión Arterial Crónica (HTA)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1198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4.75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4171904795"/>
                  </a:ext>
                </a:extLst>
              </a:tr>
              <a:tr h="352199">
                <a:tc>
                  <a:txBody>
                    <a:bodyPr/>
                    <a:lstStyle/>
                    <a:p>
                      <a:r>
                        <a:rPr lang="es-MX" sz="1400" dirty="0"/>
                        <a:t>IAM CON elevación de ST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4.83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392194103"/>
                  </a:ext>
                </a:extLst>
              </a:tr>
              <a:tr h="352199">
                <a:tc>
                  <a:txBody>
                    <a:bodyPr/>
                    <a:lstStyle/>
                    <a:p>
                      <a:r>
                        <a:rPr lang="es-MX" sz="1400"/>
                        <a:t>IAM SIN elevación de ST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20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3.92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032151371"/>
                  </a:ext>
                </a:extLst>
              </a:tr>
              <a:tr h="352199">
                <a:tc>
                  <a:txBody>
                    <a:bodyPr/>
                    <a:lstStyle/>
                    <a:p>
                      <a:r>
                        <a:rPr lang="es-CO" sz="1400" dirty="0"/>
                        <a:t>Infección de Vías Urinarias (IVU)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159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4.73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106553250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Neumonía-IRA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18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3.92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3290376764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/>
                        <a:t>Pancreatitis Aguda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10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4.21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155502344"/>
                  </a:ext>
                </a:extLst>
              </a:tr>
              <a:tr h="255204">
                <a:tc>
                  <a:txBody>
                    <a:bodyPr/>
                    <a:lstStyle/>
                    <a:p>
                      <a:r>
                        <a:rPr lang="es-CO" sz="1400" dirty="0"/>
                        <a:t>Sepsis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/>
                        <a:t>11</a:t>
                      </a:r>
                    </a:p>
                  </a:txBody>
                  <a:tcPr marL="45804" marR="45804" marT="22902" marB="2290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dirty="0"/>
                        <a:t>4.60</a:t>
                      </a:r>
                    </a:p>
                  </a:txBody>
                  <a:tcPr marL="45804" marR="45804" marT="22902" marB="22902" anchor="ctr"/>
                </a:tc>
                <a:extLst>
                  <a:ext uri="{0D108BD9-81ED-4DB2-BD59-A6C34878D82A}">
                    <a16:rowId xmlns:a16="http://schemas.microsoft.com/office/drawing/2014/main" val="967407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7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C80696E5-1D87-4C9F-A7A9-D9E17643D5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397796"/>
              </p:ext>
            </p:extLst>
          </p:nvPr>
        </p:nvGraphicFramePr>
        <p:xfrm>
          <a:off x="226979" y="1383123"/>
          <a:ext cx="6455923" cy="30499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A1B9030F-AB34-4708-9EEF-F2EBC99D2DD8}"/>
              </a:ext>
            </a:extLst>
          </p:cNvPr>
          <p:cNvSpPr txBox="1"/>
          <p:nvPr/>
        </p:nvSpPr>
        <p:spPr>
          <a:xfrm>
            <a:off x="3174765" y="134892"/>
            <a:ext cx="7003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rgbClr val="002060"/>
                </a:solidFill>
              </a:rPr>
              <a:t>ADOPCIÓN E IMPLEMENTACIÓN GPC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9F1271-4F6B-42A2-9ADB-CAD9FD3C99A2}"/>
              </a:ext>
            </a:extLst>
          </p:cNvPr>
          <p:cNvSpPr txBox="1"/>
          <p:nvPr/>
        </p:nvSpPr>
        <p:spPr>
          <a:xfrm>
            <a:off x="226979" y="949270"/>
            <a:ext cx="732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b="1" dirty="0"/>
              <a:t>GPC priorizadas según perfil morbilidad 2025 </a:t>
            </a:r>
            <a:endParaRPr lang="es-CO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F500805-7DB8-4643-8E0A-5CE51E22D856}"/>
              </a:ext>
            </a:extLst>
          </p:cNvPr>
          <p:cNvSpPr txBox="1"/>
          <p:nvPr/>
        </p:nvSpPr>
        <p:spPr>
          <a:xfrm>
            <a:off x="6943735" y="949270"/>
            <a:ext cx="495319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b="1" dirty="0"/>
              <a:t> Implementación</a:t>
            </a:r>
          </a:p>
          <a:p>
            <a:endParaRPr lang="es-MX" sz="1200" b="1" dirty="0"/>
          </a:p>
          <a:p>
            <a:r>
              <a:rPr lang="es-MX" sz="1600" b="1" dirty="0"/>
              <a:t>Modalidad virtual – Plataforma HRM Educa (tipo Moodle)</a:t>
            </a:r>
          </a:p>
          <a:p>
            <a:endParaRPr lang="es-MX" sz="1600" dirty="0"/>
          </a:p>
          <a:p>
            <a:r>
              <a:rPr lang="es-MX" sz="1600" b="1" dirty="0"/>
              <a:t> Fase 1. Autoestudio (Asincrónica) : Segundo Jueves de cada 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Cápsulas informativas de recomendaciones trazadoras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Algoritmos de manejo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Resumen de la GPC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Video explicativo de la GPC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400" dirty="0"/>
          </a:p>
          <a:p>
            <a:r>
              <a:rPr lang="es-MX" sz="1600" b="1" dirty="0"/>
              <a:t>Fase 2. Sesión Sincrónica: Tercer Jueves de cada 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Encuentro con experto de la GPC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Resolución de dudas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400" dirty="0"/>
              <a:t>Desarrollo de caso clínico aplicado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1E254A0-DBAE-4A2F-B725-5940B44C8EA1}"/>
              </a:ext>
            </a:extLst>
          </p:cNvPr>
          <p:cNvSpPr txBox="1"/>
          <p:nvPr/>
        </p:nvSpPr>
        <p:spPr>
          <a:xfrm>
            <a:off x="120650" y="4704144"/>
            <a:ext cx="7843135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s-MX" b="1" dirty="0"/>
              <a:t> Medición</a:t>
            </a:r>
          </a:p>
          <a:p>
            <a:endParaRPr lang="es-MX" b="1" dirty="0"/>
          </a:p>
          <a:p>
            <a:r>
              <a:rPr lang="es-MX" sz="1400" dirty="0"/>
              <a:t>Mensual, bimensual o trimestral de acuerdo a mayor impacto ( Diagrama de Pareto)</a:t>
            </a:r>
          </a:p>
          <a:p>
            <a:r>
              <a:rPr lang="es-MX" sz="1400" dirty="0"/>
              <a:t>Se mantiene mismo formato: </a:t>
            </a:r>
          </a:p>
          <a:p>
            <a:r>
              <a:rPr lang="es-MX" sz="1400" dirty="0"/>
              <a:t>1: No cumple</a:t>
            </a:r>
          </a:p>
          <a:p>
            <a:r>
              <a:rPr lang="es-MX" sz="1400" dirty="0"/>
              <a:t>5: Si cumple</a:t>
            </a:r>
          </a:p>
          <a:p>
            <a:r>
              <a:rPr lang="es-MX" sz="1400" dirty="0"/>
              <a:t>NA: No aplica</a:t>
            </a:r>
          </a:p>
          <a:p>
            <a:endParaRPr lang="es-MX" sz="1400" dirty="0"/>
          </a:p>
          <a:p>
            <a:endParaRPr lang="es-MX" sz="14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C3A9237-94AE-4B44-969F-9874B0F59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723" y="5239751"/>
            <a:ext cx="4338608" cy="133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88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25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426</Words>
  <Application>Microsoft Office PowerPoint</Application>
  <PresentationFormat>Panorámica</PresentationFormat>
  <Paragraphs>135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Wingdings</vt:lpstr>
      <vt:lpstr>Tema de Office</vt:lpstr>
      <vt:lpstr>GPC - 2025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LEIDY TOLEDO ROJAS</cp:lastModifiedBy>
  <cp:revision>33</cp:revision>
  <dcterms:created xsi:type="dcterms:W3CDTF">2024-08-26T14:52:25Z</dcterms:created>
  <dcterms:modified xsi:type="dcterms:W3CDTF">2026-03-12T00:00:19Z</dcterms:modified>
</cp:coreProperties>
</file>