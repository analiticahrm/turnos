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88" r:id="rId5"/>
    <p:sldId id="289" r:id="rId6"/>
    <p:sldId id="275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1" r:id="rId18"/>
    <p:sldId id="279" r:id="rId19"/>
    <p:sldId id="286" r:id="rId20"/>
    <p:sldId id="259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554" autoAdjust="0"/>
    <p:restoredTop sz="94580"/>
  </p:normalViewPr>
  <p:slideViewPr>
    <p:cSldViewPr snapToGrid="0">
      <p:cViewPr varScale="1">
        <p:scale>
          <a:sx n="95" d="100"/>
          <a:sy n="95" d="100"/>
        </p:scale>
        <p:origin x="184" y="7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0CF5C-9800-43BC-BEB5-5FEBC38FE68B}" type="datetimeFigureOut">
              <a:rPr lang="es-CO" smtClean="0"/>
              <a:t>8/07/26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3711-583D-46E7-AF3B-BBE4F3801F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87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361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Cambio: Hba1c como criterio formal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6255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3711-583D-46E7-AF3B-BBE4F3801F46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7242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8/07/26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758" y="2195374"/>
            <a:ext cx="6655837" cy="949514"/>
          </a:xfrm>
        </p:spPr>
        <p:txBody>
          <a:bodyPr>
            <a:noAutofit/>
          </a:bodyPr>
          <a:lstStyle/>
          <a:p>
            <a:r>
              <a:rPr lang="es-CO" sz="5200" b="1" dirty="0">
                <a:solidFill>
                  <a:schemeClr val="bg1"/>
                </a:solidFill>
              </a:rPr>
              <a:t>GLAUCOMA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09DA62-C18D-93C7-0A8D-7744CF87DED3}"/>
              </a:ext>
            </a:extLst>
          </p:cNvPr>
          <p:cNvSpPr txBox="1"/>
          <p:nvPr/>
        </p:nvSpPr>
        <p:spPr>
          <a:xfrm>
            <a:off x="2537460" y="4834890"/>
            <a:ext cx="4834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400" b="1" dirty="0">
                <a:latin typeface="+mj-lt"/>
              </a:rPr>
              <a:t>JHEAN MARCELLO RIOS FRANCO</a:t>
            </a:r>
          </a:p>
          <a:p>
            <a:r>
              <a:rPr lang="es-US" sz="2400" b="1" dirty="0">
                <a:latin typeface="+mj-lt"/>
              </a:rPr>
              <a:t>OFTALMOLOGO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4"/>
    </mc:Choice>
    <mc:Fallback xmlns="">
      <p:transition spd="slow" advTm="678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E4FFF529-1EBC-2393-5202-639512BF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INTRODUCCION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6735E99-9EAB-D4FD-DF99-423EAAA3F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18455"/>
            <a:ext cx="10515600" cy="3055031"/>
          </a:xfrm>
        </p:spPr>
        <p:txBody>
          <a:bodyPr>
            <a:normAutofit/>
          </a:bodyPr>
          <a:lstStyle/>
          <a:p>
            <a:pPr algn="just"/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El glaucoma constituye una de las principales causas de ceguera irreversible a nivel mundial y representa un importante problema de salud pública debido a su curso crónico, progresivo y frecuentemente asintomático en estadios iniciales. La detección temprana, el diagnóstico oportuno y el manejo adecuado permiten disminuir el riesgo de progresión del daño del nervio óptico y de la pérdida funcional del campo visual, impactando positivamente la calidad de vida de los pacientes y reduciendo la discapacidad visual asociada.</a:t>
            </a:r>
            <a:endParaRPr lang="es-US" sz="2400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4FF3C5-5512-C22D-E38D-2A9B1A8E1D07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291054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2"/>
    </mc:Choice>
    <mc:Fallback xmlns="">
      <p:transition spd="slow" advTm="40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OBJETIVOS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E77C9E-6E16-A931-DB35-25F04850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0595"/>
          </a:xfrm>
        </p:spPr>
        <p:txBody>
          <a:bodyPr>
            <a:normAutofit/>
          </a:bodyPr>
          <a:lstStyle/>
          <a:p>
            <a:pPr algn="just"/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Establecer los lineamientos institucionales para la detección, diagnóstico, seguimiento y manejo integral del paciente con sospecha o diagnóstico confirmado de glaucoma, con el fin de estandarizar la atención clínica, prevenir la progresión del daño del nervio óptico y contribuir al cumplimiento de los estándares de calidad y normatividad vigente en el Sistema de Salud colombiano.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s-US" sz="3600" dirty="0"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11A31D-5B9A-EB4F-7D94-EEBF5009BC67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16205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9"/>
    </mc:Choice>
    <mc:Fallback xmlns="">
      <p:transition spd="slow" advTm="46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ALCANCE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E77C9E-6E16-A931-DB35-25F04850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2318"/>
          </a:xfrm>
        </p:spPr>
        <p:txBody>
          <a:bodyPr>
            <a:normAutofit/>
          </a:bodyPr>
          <a:lstStyle/>
          <a:p>
            <a:pPr marL="0" marR="0" algn="just">
              <a:lnSpc>
                <a:spcPct val="115000"/>
              </a:lnSpc>
            </a:pPr>
            <a:r>
              <a:rPr lang="es-CO" sz="2400" dirty="0">
                <a:latin typeface="+mj-lt"/>
                <a:ea typeface="Times New Roman" panose="02020603050405020304" pitchFamily="18" charset="0"/>
              </a:rPr>
              <a:t>A</a:t>
            </a:r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plica al personal asistencial, involucrados en la atención integral del paciente con sospecha o diagnóstico de glaucoma. </a:t>
            </a:r>
          </a:p>
          <a:p>
            <a:pPr marL="0" marR="0" algn="just">
              <a:lnSpc>
                <a:spcPct val="115000"/>
              </a:lnSpc>
            </a:pPr>
            <a:r>
              <a:rPr lang="es-CO" sz="2400" dirty="0">
                <a:latin typeface="+mj-lt"/>
                <a:ea typeface="Times New Roman" panose="02020603050405020304" pitchFamily="18" charset="0"/>
              </a:rPr>
              <a:t>D</a:t>
            </a:r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irigido a la atención de pacientes adultos con sospecha o diagnóstico confirmado de glaucoma en los diferentes niveles de atención ofertados por la institución, promoviendo una atención segura, continua, basada en evidencia y enfocada en la prevención de la progresión de la enfermedad y del deterioro visual irreversible.</a:t>
            </a:r>
            <a:endParaRPr lang="es-US" sz="24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s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368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4"/>
    </mc:Choice>
    <mc:Fallback xmlns="">
      <p:transition spd="slow" advTm="646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DEFINICION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E77C9E-6E16-A931-DB35-25F04850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8861"/>
          </a:xfrm>
        </p:spPr>
        <p:txBody>
          <a:bodyPr>
            <a:normAutofit/>
          </a:bodyPr>
          <a:lstStyle/>
          <a:p>
            <a:pPr marL="0" marR="0" algn="just">
              <a:lnSpc>
                <a:spcPct val="115000"/>
              </a:lnSpc>
            </a:pPr>
            <a:r>
              <a:rPr lang="es-CO" sz="2400" b="1" u="sng" dirty="0">
                <a:effectLst/>
                <a:latin typeface="+mj-lt"/>
                <a:ea typeface="Times New Roman" panose="02020603050405020304" pitchFamily="18" charset="0"/>
              </a:rPr>
              <a:t>Glaucoma: </a:t>
            </a:r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Grupo de neuropatías ópticas crónicas y progresivas caracterizadas por daño estructural del nervio óptico y de la capa de fibras nerviosas, con pérdida funcional del campo visual, en ausencia de otra causa identificable.</a:t>
            </a:r>
            <a:r>
              <a:rPr lang="es-US" sz="2000" dirty="0">
                <a:effectLst/>
                <a:latin typeface="+mj-lt"/>
              </a:rPr>
              <a:t> </a:t>
            </a:r>
          </a:p>
          <a:p>
            <a:pPr marL="0" algn="just">
              <a:lnSpc>
                <a:spcPct val="115000"/>
              </a:lnSpc>
            </a:pPr>
            <a:r>
              <a:rPr lang="es-CO" sz="2400" b="1" u="sng" dirty="0">
                <a:effectLst/>
                <a:latin typeface="+mj-lt"/>
                <a:ea typeface="Times New Roman" panose="02020603050405020304" pitchFamily="18" charset="0"/>
              </a:rPr>
              <a:t>Sospecha:</a:t>
            </a:r>
            <a:r>
              <a:rPr lang="es-CO" sz="2000" b="1" u="sng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Paciente que presenta uno o más parámetros alterados (presión intraocular, aspecto del nervio óptico, capa de fibras nerviosas, campo visual o ángulo </a:t>
            </a:r>
            <a:r>
              <a:rPr lang="es-CO" sz="2400" dirty="0" err="1">
                <a:effectLst/>
                <a:latin typeface="+mj-lt"/>
                <a:ea typeface="Times New Roman" panose="02020603050405020304" pitchFamily="18" charset="0"/>
              </a:rPr>
              <a:t>camerular</a:t>
            </a:r>
            <a:r>
              <a:rPr lang="es-CO" sz="2400" dirty="0">
                <a:effectLst/>
                <a:latin typeface="+mj-lt"/>
                <a:ea typeface="Times New Roman" panose="02020603050405020304" pitchFamily="18" charset="0"/>
              </a:rPr>
              <a:t>) o antecedentes relevantes, sin criterios definitivos para confirmar o descartar glaucoma.</a:t>
            </a:r>
            <a:r>
              <a:rPr lang="es-US" sz="1400" dirty="0">
                <a:effectLst/>
                <a:latin typeface="+mj-lt"/>
              </a:rPr>
              <a:t> </a:t>
            </a:r>
            <a:endParaRPr lang="es-US" sz="1800" dirty="0">
              <a:effectLst/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3FF635-F791-9039-DFBB-4293461AA0DA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98068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670BD3D-1ABB-FFED-F761-DECC2EC2E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71" y="395513"/>
            <a:ext cx="9209315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7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DETECCION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E77C9E-6E16-A931-DB35-25F04850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9176"/>
          </a:xfrm>
        </p:spPr>
        <p:txBody>
          <a:bodyPr>
            <a:normAutofit fontScale="92500" lnSpcReduction="10000"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4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valuación oftalmológica integral del adulto, incluso en ausencia de síntomas. </a:t>
            </a: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 sospecha de glaucoma de ángulo abierto suele establecerse a partir de alteraciones en la presión intraocular, cabeza del nervio óptico, capa de fibras nerviosas o campos visuales; mientras que la sospecha de cierre angular se relaciona principalmente con hallazgos anatómicos del segmento anterior y del ángulo camerular, evaluados mediante gonioscopía. 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buNone/>
            </a:pPr>
            <a:endParaRPr lang="es-US" sz="2400" dirty="0">
              <a:effectLst/>
              <a:latin typeface="+mj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063705-A136-4038-D3CB-0551EE4D8DF7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131650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DETECCION</a:t>
            </a:r>
          </a:p>
        </p:txBody>
      </p:sp>
      <p:pic>
        <p:nvPicPr>
          <p:cNvPr id="6" name="Image 3">
            <a:extLst>
              <a:ext uri="{FF2B5EF4-FFF2-40B4-BE49-F238E27FC236}">
                <a16:creationId xmlns:a16="http://schemas.microsoft.com/office/drawing/2014/main" id="{DE44D7F2-31A0-74EE-D655-E38979E0778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0343" y="2188028"/>
            <a:ext cx="9339943" cy="214666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AAFF6BB-B7DD-F298-FDFA-4C6170AAABAF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2033247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DIAGNOSTICO</a:t>
            </a:r>
          </a:p>
        </p:txBody>
      </p:sp>
      <p:sp>
        <p:nvSpPr>
          <p:cNvPr id="2" name="Marcador de contenido 3">
            <a:extLst>
              <a:ext uri="{FF2B5EF4-FFF2-40B4-BE49-F238E27FC236}">
                <a16:creationId xmlns:a16="http://schemas.microsoft.com/office/drawing/2014/main" id="{0812BBC8-A17A-1189-66D4-11AF7C7B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37613" cy="4128861"/>
          </a:xfrm>
        </p:spPr>
        <p:txBody>
          <a:bodyPr>
            <a:normAutofit fontScale="92500"/>
          </a:bodyPr>
          <a:lstStyle/>
          <a:p>
            <a:pPr marL="0" marR="0" algn="just">
              <a:lnSpc>
                <a:spcPct val="115000"/>
              </a:lnSpc>
            </a:pPr>
            <a:r>
              <a:rPr lang="es-CO" sz="2400" b="1" u="sng" dirty="0">
                <a:effectLst/>
                <a:latin typeface="+mj-lt"/>
                <a:ea typeface="Times New Roman" panose="02020603050405020304" pitchFamily="18" charset="0"/>
              </a:rPr>
              <a:t>VALORACION OFTALMOLOGICA INTEGRAL: </a:t>
            </a:r>
            <a:endParaRPr lang="en-US" sz="24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lvl="1" algn="just">
              <a:lnSpc>
                <a:spcPct val="115000"/>
              </a:lnSpc>
            </a:pP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 sospecha de glaucoma suele establecerse a partir de alteraciones en la presión intraocular, cabeza del nervio óptico, capa de fibras nerviosas o campos visuales; mientras que la sospecha de cierre angular se relaciona principalmente con hallazgos anatómicos del segmento anterior y del ángulo camerular, evaluados mediante gonioscopía. </a:t>
            </a:r>
            <a:endParaRPr lang="es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s-US" sz="1400" dirty="0">
                <a:effectLst/>
                <a:latin typeface="+mj-lt"/>
              </a:rPr>
              <a:t> </a:t>
            </a:r>
            <a:endParaRPr lang="es-US" sz="1800" dirty="0">
              <a:effectLst/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FEA14E2-5754-C702-F63B-45D0E5455C9A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FA4226-44C4-4B95-BB50-765D9EC35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475" y="1690688"/>
            <a:ext cx="3008787" cy="20027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1FB328-3D02-CFE7-8E55-5F1F944A3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475" y="3916761"/>
            <a:ext cx="3008787" cy="200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0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DIAGNOSTICO</a:t>
            </a:r>
          </a:p>
        </p:txBody>
      </p:sp>
      <p:sp>
        <p:nvSpPr>
          <p:cNvPr id="2" name="Marcador de contenido 3">
            <a:extLst>
              <a:ext uri="{FF2B5EF4-FFF2-40B4-BE49-F238E27FC236}">
                <a16:creationId xmlns:a16="http://schemas.microsoft.com/office/drawing/2014/main" id="{0812BBC8-A17A-1189-66D4-11AF7C7B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330" y="1459864"/>
            <a:ext cx="6225540" cy="4666616"/>
          </a:xfrm>
        </p:spPr>
        <p:txBody>
          <a:bodyPr>
            <a:no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s-CO" sz="1800" b="1" u="sng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El examen físico oftalmológico debe enfocarse en:</a:t>
            </a:r>
            <a:endParaRPr lang="es-US" sz="1800" b="1" u="sng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Evaluación pupilar.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Valoración del segmento anterior.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Medición de la presión intraocular (PIO).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Medición del grosor corneal central mediante </a:t>
            </a:r>
            <a:r>
              <a:rPr lang="es-CO" sz="18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paquimetría</a:t>
            </a: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Gonioscopía</a:t>
            </a: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para evaluación del ángulo </a:t>
            </a:r>
            <a:r>
              <a:rPr lang="es-CO" sz="18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camerular</a:t>
            </a: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Evaluación de la cabeza del nervio óptico y la capa de fibras nerviosas.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Fundoscopia</a:t>
            </a: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CO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Evaluación funcional mediante campo visual.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es-US" sz="1800" dirty="0">
                <a:effectLst/>
                <a:latin typeface="+mj-lt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E5AD51-E60A-68CC-83FC-3D91C21BEE06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DF69AD-8826-A0AB-B61B-177E1D981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755" y="2023197"/>
            <a:ext cx="3959159" cy="263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12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APOYODIAGNOSTICO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6FC58E2-3D17-36D0-C621-61BD779A5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74" y="1605483"/>
            <a:ext cx="8002778" cy="402353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AB08A36-E5AF-EF02-3C11-E1CF8C7AE85C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8C748A-8EB3-B42C-6276-D5922AA99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515" y="2142120"/>
            <a:ext cx="2536882" cy="12104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2CEB4B-992D-CD74-A4AE-69442FDFA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526" y="3746359"/>
            <a:ext cx="3210860" cy="188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1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APOYODIAGNOSTICO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4F7105-EDE7-D398-A010-7C2042CC6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1" y="1985421"/>
            <a:ext cx="8162206" cy="297519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2504F7E-4DCF-85D4-5552-7B4C99A271BB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3E7AC2-50AF-F14D-6E59-951579F1E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817" y="1985421"/>
            <a:ext cx="2405380" cy="18040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630C57-7974-31F8-777D-52D6C7C39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204" y="3961415"/>
            <a:ext cx="2766060" cy="136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61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TRATAMIENTO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11B24A9-6787-1FF2-192D-AF2183A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507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</a:rPr>
              <a:t>En ausencia de daño glaucomatoso estructural o funcional confirmado, no todos los pacientes requieren tratamiento farmacológico inicial y puede optarse por seguimiento.</a:t>
            </a:r>
            <a:endParaRPr lang="es-US" sz="3600" dirty="0"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1DE613-2AAB-2029-3282-9F1E0138678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28504" y="2775091"/>
            <a:ext cx="6334991" cy="29644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4234CAF-3D5F-B6D1-4F63-077354AC7575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1214635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TRATAMIENTO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11B24A9-6787-1FF2-192D-AF2183A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8350" cy="3969533"/>
          </a:xfrm>
        </p:spPr>
        <p:txBody>
          <a:bodyPr>
            <a:normAutofit fontScale="62500" lnSpcReduction="20000"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Cuando se indique tratamiento, se recomienda establecer una meta de presión intraocular y evaluar periódicamente eficacia, seguridad y adherencia: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0"/>
              </a:spcBef>
              <a:buFont typeface="Wingdings" pitchFamily="2" charset="2"/>
              <a:buChar char=""/>
            </a:pP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Los análogos de prostaglandinas constituyen una de las principales alternativas de primera línea, incluyendo </a:t>
            </a:r>
            <a:r>
              <a:rPr lang="es-419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latanoprost, travoprost y bimatoprost. </a:t>
            </a:r>
            <a:endParaRPr lang="es-US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0"/>
              </a:spcBef>
              <a:buFont typeface="Wingdings" pitchFamily="2" charset="2"/>
              <a:buChar char=""/>
            </a:pP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Como alternativa o terapia complementaria pueden emplearse beta bloqueadores tópicos como </a:t>
            </a:r>
            <a:r>
              <a:rPr lang="es-419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timolol.</a:t>
            </a: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0"/>
              </a:spcBef>
              <a:buFont typeface="Wingdings" pitchFamily="2" charset="2"/>
              <a:buChar char=""/>
            </a:pP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 pacientes que requieren reducción adicional de la presión intraocular pueden considerarse agonistas alfa adrenérgicos como </a:t>
            </a:r>
            <a:r>
              <a:rPr lang="es-419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brimonidina</a:t>
            </a: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 inhibidores de la anhidrasa carbónica tópicos como </a:t>
            </a:r>
            <a:r>
              <a:rPr lang="es-419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dorzolamida o brinzolamida.  </a:t>
            </a:r>
            <a:endParaRPr lang="es-US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0"/>
              </a:spcBef>
              <a:buFont typeface="Wingdings" pitchFamily="2" charset="2"/>
              <a:buChar char=""/>
            </a:pP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También existen </a:t>
            </a:r>
            <a:r>
              <a:rPr lang="es-419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formulaciones combinadas </a:t>
            </a:r>
            <a:r>
              <a:rPr lang="es-419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disponibles en Colombia, como latanoprost/timolol, dorzolamida/timolol y combinaciones triples con dorzolamida, timolol y brimonidina.</a:t>
            </a:r>
            <a:endParaRPr lang="es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D26CFD-360F-15BC-4F7B-8BF1991B3EC7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3F87960-7571-086B-77D6-B13DDFB6E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990" y="1532584"/>
            <a:ext cx="977900" cy="1219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2A0838A-005A-930F-3CF1-F7A8AF420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490" y="1329384"/>
            <a:ext cx="1625600" cy="16256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FCDDC18-8B2D-BA0A-3491-EF5968C39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600" y="1423364"/>
            <a:ext cx="1328420" cy="132842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FFDB6D5-FF08-D8B7-1C98-4082CF304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570" y="3301388"/>
            <a:ext cx="1642110" cy="164211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95D096E-E31F-F643-3514-26009A1CEE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007" y="3209755"/>
            <a:ext cx="1493803" cy="209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0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TRATAMIENTO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11B24A9-6787-1FF2-192D-AF2183A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03180" cy="3969533"/>
          </a:xfrm>
        </p:spPr>
        <p:txBody>
          <a:bodyPr>
            <a:normAutofit fontScale="92500" lnSpcReduction="1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Tratamiento en pacientes con glaucoma de ángulo abierto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Paso 1: Clasificar severidad</a:t>
            </a:r>
            <a:endParaRPr lang="es-US" sz="2400" u="sng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CO" sz="2400" b="1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Leve: 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Anormalidades características del nervio óptico consistentes con glaucoma y campo visual normal medido con </a:t>
            </a:r>
            <a:r>
              <a:rPr lang="es-CO" sz="24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perimetría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automatizada standard.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CO" sz="2400" b="1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Moderado: 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Anormalidades características del nervio óptico consistentes con glaucoma y anormalidades del campo visual en un solo </a:t>
            </a:r>
            <a:r>
              <a:rPr lang="es-CO" sz="24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hemicampo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y no dentro de los 5 grados de fijación.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CO" sz="2400" b="1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Severo: 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Anormalidades características del nervio óptico consistentes con glaucoma y anormalidades del campo visual en los dos </a:t>
            </a:r>
            <a:r>
              <a:rPr lang="es-CO" sz="24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hemicampos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y pérdida dentro de los 5 grados de fijación en al menos un </a:t>
            </a:r>
            <a:r>
              <a:rPr lang="es-CO" sz="24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hemicampo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C79AFA-1823-87C0-CB60-57FFE7763662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2915894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TRATAMIENTO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11B24A9-6787-1FF2-192D-AF2183A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624" y="1444233"/>
            <a:ext cx="10515600" cy="3969533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Tratamiento en pacientes con glaucoma de ángulo abierto</a:t>
            </a:r>
            <a:r>
              <a:rPr lang="es-CO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Paso 2: Tratamiento médico óptimo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Los medicamentos tópicos de primera línea para disminuir la presión intraocular (PIO) son los </a:t>
            </a:r>
            <a:r>
              <a:rPr lang="es-419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análogos de prostaglandinas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419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latanoprost, travoprost, bimatoprost, tafluprost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 y los </a:t>
            </a:r>
            <a:r>
              <a:rPr lang="es-419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betabloqueadores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419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timolol, betaxolol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Como alternativas o terapia complementaria pueden utilizarse </a:t>
            </a:r>
            <a:r>
              <a:rPr lang="es-419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agonistas alfa-2 adrenérgicos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419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brimonidina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s-419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inhibidores de la anhidrasa carbónica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tópicos u orales (</a:t>
            </a:r>
            <a:r>
              <a:rPr lang="es-419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dorzolamida, brinzolamida, acetazolamida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 y </a:t>
            </a:r>
            <a:r>
              <a:rPr lang="es-419" sz="1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para simpaticomiméticos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419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pilocarpina</a:t>
            </a: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 efectividad del tratamiento debe evaluarse diferenciando el efecto terapéutico de las fluctuaciones fisiológicas de la PIO, mediante seguimiento clínico y comparación con mediciones basales</a:t>
            </a: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US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6AE880-35F5-77CB-F58F-306CF040510C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4131036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0D0F3FF-8C84-4F5B-5895-7B4AD9C3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TRATAMIENTO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11B24A9-6787-1FF2-192D-AF2183A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3197" cy="3969533"/>
          </a:xfrm>
        </p:spPr>
        <p:txBody>
          <a:bodyPr>
            <a:normAutofit fontScale="85000" lnSpcReduction="2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Tratamiento en pacientes con glaucoma de ángulo abierto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400" u="sng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u="sng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Paso 3: Tratamiento quirúrgico</a:t>
            </a:r>
            <a:endParaRPr lang="es-US" sz="2400" u="sng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Terapia con trabeculoplastia láser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Cirugía Infiltrante 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Cirugía no perforante: Alternativa quirúrgica utilizada en casos seleccionados, incluyendo viscocanalostomía y esclerectomía profunda no perforante. </a:t>
            </a:r>
            <a:r>
              <a:rPr lang="es-CO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"/>
            </a:pPr>
            <a:r>
              <a:rPr lang="es-419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Cirugía ciclo destructiva</a:t>
            </a:r>
            <a:endParaRPr lang="es-US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A3E02D-1A1D-AFB6-BDDD-8B03262084B7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D5F58A-F92E-85AD-6D55-144607471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960" y="1559873"/>
            <a:ext cx="2125023" cy="19712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8ACBB7B-529F-2EAA-C48C-AF3EC50A7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779" y="1464973"/>
            <a:ext cx="2251034" cy="19640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AB0825C-B6E9-F2F9-E8C2-BF2E0B289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34" y="3810391"/>
            <a:ext cx="3711041" cy="20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6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459F8943-EA26-8A83-91DC-E45A2E8EAA1E}"/>
              </a:ext>
            </a:extLst>
          </p:cNvPr>
          <p:cNvSpPr/>
          <p:nvPr/>
        </p:nvSpPr>
        <p:spPr>
          <a:xfrm>
            <a:off x="8754025" y="4841630"/>
            <a:ext cx="2218774" cy="483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C0682D-F675-003D-3F0A-E01240E6DC51}"/>
              </a:ext>
            </a:extLst>
          </p:cNvPr>
          <p:cNvSpPr/>
          <p:nvPr/>
        </p:nvSpPr>
        <p:spPr>
          <a:xfrm>
            <a:off x="8754025" y="1814493"/>
            <a:ext cx="2031206" cy="487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A87F69E8-19C2-71ED-99A8-68B8598B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SEGUIMIENTO</a:t>
            </a:r>
          </a:p>
        </p:txBody>
      </p:sp>
      <p:pic>
        <p:nvPicPr>
          <p:cNvPr id="3" name="Image 11">
            <a:extLst>
              <a:ext uri="{FF2B5EF4-FFF2-40B4-BE49-F238E27FC236}">
                <a16:creationId xmlns:a16="http://schemas.microsoft.com/office/drawing/2014/main" id="{F23F3B6B-8E40-8BC3-F836-A87D2C04BF52}"/>
              </a:ext>
            </a:extLst>
          </p:cNvPr>
          <p:cNvPicPr>
            <a:picLocks/>
          </p:cNvPicPr>
          <p:nvPr/>
        </p:nvPicPr>
        <p:blipFill rotWithShape="1">
          <a:blip r:embed="rId3" cstate="print"/>
          <a:srcRect t="15518" b="-9364"/>
          <a:stretch/>
        </p:blipFill>
        <p:spPr bwMode="auto">
          <a:xfrm>
            <a:off x="2022763" y="1868932"/>
            <a:ext cx="8146473" cy="25399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CBDD572-9CD8-F223-83D9-65BAA6BA6C52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1997131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B00F2AF-24DE-1193-2E0B-A60054B7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b="1" dirty="0"/>
              <a:t>SEGUIMIENTO</a:t>
            </a:r>
            <a:endParaRPr lang="es-US" dirty="0"/>
          </a:p>
        </p:txBody>
      </p:sp>
      <p:pic>
        <p:nvPicPr>
          <p:cNvPr id="2" name="Image 12">
            <a:extLst>
              <a:ext uri="{FF2B5EF4-FFF2-40B4-BE49-F238E27FC236}">
                <a16:creationId xmlns:a16="http://schemas.microsoft.com/office/drawing/2014/main" id="{9EC76B57-0892-7467-6788-3E6C89EABF28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t="-7371"/>
          <a:stretch>
            <a:fillRect/>
          </a:stretch>
        </p:blipFill>
        <p:spPr bwMode="auto">
          <a:xfrm>
            <a:off x="2578824" y="1690688"/>
            <a:ext cx="7034349" cy="20110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 15">
            <a:extLst>
              <a:ext uri="{FF2B5EF4-FFF2-40B4-BE49-F238E27FC236}">
                <a16:creationId xmlns:a16="http://schemas.microsoft.com/office/drawing/2014/main" id="{90BB0DB6-BEE0-276F-D5DD-E92A47AA4A92}"/>
              </a:ext>
            </a:extLst>
          </p:cNvPr>
          <p:cNvPicPr>
            <a:picLocks/>
          </p:cNvPicPr>
          <p:nvPr/>
        </p:nvPicPr>
        <p:blipFill rotWithShape="1">
          <a:blip r:embed="rId5" cstate="print"/>
          <a:srcRect t="-8538"/>
          <a:stretch>
            <a:fillRect/>
          </a:stretch>
        </p:blipFill>
        <p:spPr bwMode="auto">
          <a:xfrm>
            <a:off x="2578825" y="4073003"/>
            <a:ext cx="7034348" cy="16047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9C64680-0538-FCD0-3CC7-76879E4B1D52}"/>
              </a:ext>
            </a:extLst>
          </p:cNvPr>
          <p:cNvSpPr txBox="1"/>
          <p:nvPr/>
        </p:nvSpPr>
        <p:spPr>
          <a:xfrm>
            <a:off x="1828801" y="6246654"/>
            <a:ext cx="79672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Academia Americana de Oftalmología (AAO)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European Glaucoma Society (EGS)</a:t>
            </a:r>
            <a:r>
              <a:rPr lang="es-US" sz="1000" dirty="0">
                <a:effectLst/>
              </a:rPr>
              <a:t> / </a:t>
            </a:r>
            <a:r>
              <a:rPr lang="es-419" sz="1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Ministerio de Salud y Protección Social de Colombia</a:t>
            </a:r>
            <a:r>
              <a:rPr lang="es-US" sz="1000" dirty="0">
                <a:effectLst/>
              </a:rPr>
              <a:t> </a:t>
            </a:r>
            <a:endParaRPr lang="es-US" sz="1000" dirty="0"/>
          </a:p>
        </p:txBody>
      </p:sp>
    </p:spTree>
    <p:extLst>
      <p:ext uri="{BB962C8B-B14F-4D97-AF65-F5344CB8AC3E}">
        <p14:creationId xmlns:p14="http://schemas.microsoft.com/office/powerpoint/2010/main" val="2981944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1268</Words>
  <Application>Microsoft Macintosh PowerPoint</Application>
  <PresentationFormat>Panorámica</PresentationFormat>
  <Paragraphs>90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Wingdings</vt:lpstr>
      <vt:lpstr>Tema de Office</vt:lpstr>
      <vt:lpstr>GLAUCOMA</vt:lpstr>
      <vt:lpstr>INTRODUCCION</vt:lpstr>
      <vt:lpstr>OBJETIVOS</vt:lpstr>
      <vt:lpstr>ALCANCE</vt:lpstr>
      <vt:lpstr>DEFINICION</vt:lpstr>
      <vt:lpstr>Presentación de PowerPoint</vt:lpstr>
      <vt:lpstr>DETECCION</vt:lpstr>
      <vt:lpstr>DETECCION</vt:lpstr>
      <vt:lpstr>DIAGNOSTICO</vt:lpstr>
      <vt:lpstr>DIAGNOSTICO</vt:lpstr>
      <vt:lpstr>APOYODIAGNOSTICO</vt:lpstr>
      <vt:lpstr>APOYODIAGNOSTICO</vt:lpstr>
      <vt:lpstr>TRATAMIENTO</vt:lpstr>
      <vt:lpstr>TRATAMIENTO</vt:lpstr>
      <vt:lpstr>TRATAMIENTO</vt:lpstr>
      <vt:lpstr>TRATAMIENTO</vt:lpstr>
      <vt:lpstr>TRATAMIENTO</vt:lpstr>
      <vt:lpstr>SEGUIMIENTO</vt:lpstr>
      <vt:lpstr>SEGUIMIENTO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Jhean Rios</cp:lastModifiedBy>
  <cp:revision>116</cp:revision>
  <dcterms:created xsi:type="dcterms:W3CDTF">2024-08-26T14:52:25Z</dcterms:created>
  <dcterms:modified xsi:type="dcterms:W3CDTF">2026-07-09T12:53:22Z</dcterms:modified>
</cp:coreProperties>
</file>