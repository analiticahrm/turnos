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8" r:id="rId6"/>
    <p:sldId id="267" r:id="rId7"/>
    <p:sldId id="269" r:id="rId8"/>
    <p:sldId id="271" r:id="rId9"/>
    <p:sldId id="259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103" y="4815138"/>
            <a:ext cx="9144000" cy="846756"/>
          </a:xfrm>
        </p:spPr>
        <p:txBody>
          <a:bodyPr>
            <a:normAutofit/>
          </a:bodyPr>
          <a:lstStyle/>
          <a:p>
            <a:r>
              <a:rPr lang="es-MX" sz="3200" b="1" dirty="0"/>
              <a:t>Salud Pública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F6BB28-5725-45C1-B6DF-43FC76702281}"/>
              </a:ext>
            </a:extLst>
          </p:cNvPr>
          <p:cNvSpPr txBox="1"/>
          <p:nvPr/>
        </p:nvSpPr>
        <p:spPr>
          <a:xfrm>
            <a:off x="4168588" y="2105561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</a:rPr>
              <a:t>Protocolo: Vigilancia Integrada de la Rabia</a:t>
            </a:r>
            <a:endParaRPr lang="es-CO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67A3BBF-989C-4732-8BD4-244FCC3687B3}"/>
              </a:ext>
            </a:extLst>
          </p:cNvPr>
          <p:cNvSpPr txBox="1"/>
          <p:nvPr/>
        </p:nvSpPr>
        <p:spPr>
          <a:xfrm>
            <a:off x="4527176" y="131017"/>
            <a:ext cx="7763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Hospital Regional de Moniquirá E.S.E adopta: </a:t>
            </a:r>
          </a:p>
          <a:p>
            <a:pPr algn="ctr"/>
            <a:r>
              <a:rPr lang="es-MX" b="1" dirty="0">
                <a:solidFill>
                  <a:srgbClr val="002060"/>
                </a:solidFill>
              </a:rPr>
              <a:t>Protocolo: Vigilancia Integrada de la Rabia. Ministerio de Salud y Protección Social de Colombia. 2022</a:t>
            </a:r>
            <a:endParaRPr lang="es-CO" b="1" dirty="0">
              <a:solidFill>
                <a:srgbClr val="00206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D6756E2-2B07-484E-AC9E-79D3D0B38BF3}"/>
              </a:ext>
            </a:extLst>
          </p:cNvPr>
          <p:cNvSpPr txBox="1"/>
          <p:nvPr/>
        </p:nvSpPr>
        <p:spPr>
          <a:xfrm>
            <a:off x="6669742" y="1186934"/>
            <a:ext cx="235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Código: 300- SIVIGILA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29A15A-CF29-4004-8B8E-AD4DE352F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469" y="1844194"/>
            <a:ext cx="3780837" cy="4882789"/>
          </a:xfrm>
          <a:prstGeom prst="rect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054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2532A4-C4BE-46E5-9272-06B493DE8E9D}"/>
              </a:ext>
            </a:extLst>
          </p:cNvPr>
          <p:cNvSpPr txBox="1"/>
          <p:nvPr/>
        </p:nvSpPr>
        <p:spPr>
          <a:xfrm>
            <a:off x="2958354" y="2062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u="sng" dirty="0">
                <a:solidFill>
                  <a:srgbClr val="002060"/>
                </a:solidFill>
                <a:latin typeface="Google Sans"/>
              </a:rPr>
              <a:t>V</a:t>
            </a:r>
            <a:r>
              <a:rPr lang="es-CO" b="1" u="sng" strike="noStrike" dirty="0">
                <a:solidFill>
                  <a:srgbClr val="002060"/>
                </a:solidFill>
                <a:effectLst/>
                <a:latin typeface="Google Sans"/>
              </a:rPr>
              <a:t>irus de la rabia</a:t>
            </a:r>
            <a:r>
              <a:rPr lang="es-CO" u="sng" dirty="0">
                <a:solidFill>
                  <a:srgbClr val="002060"/>
                </a:solidFill>
              </a:rPr>
              <a:t> (género </a:t>
            </a:r>
            <a:r>
              <a:rPr lang="es-CO" b="0" i="1" u="sng" strike="noStrike" dirty="0" err="1">
                <a:solidFill>
                  <a:srgbClr val="002060"/>
                </a:solidFill>
                <a:effectLst/>
                <a:latin typeface="Google Sans"/>
              </a:rPr>
              <a:t>Lyssavirus</a:t>
            </a:r>
            <a:r>
              <a:rPr lang="es-CO" u="sng" dirty="0">
                <a:solidFill>
                  <a:srgbClr val="002060"/>
                </a:solidFill>
              </a:rPr>
              <a:t>, familia </a:t>
            </a:r>
            <a:r>
              <a:rPr lang="es-CO" b="0" i="1" u="sng" strike="noStrike" dirty="0" err="1">
                <a:solidFill>
                  <a:srgbClr val="002060"/>
                </a:solidFill>
                <a:effectLst/>
                <a:latin typeface="Google Sans"/>
              </a:rPr>
              <a:t>Rhabdoviridae</a:t>
            </a:r>
            <a:r>
              <a:rPr lang="es-CO" u="sng" dirty="0">
                <a:solidFill>
                  <a:srgbClr val="002060"/>
                </a:solidFill>
              </a:rPr>
              <a:t>)</a:t>
            </a:r>
          </a:p>
        </p:txBody>
      </p:sp>
      <p:pic>
        <p:nvPicPr>
          <p:cNvPr id="1034" name="Picture 10" descr="Virología: Rabia (familia Rhabdoviridae)">
            <a:extLst>
              <a:ext uri="{FF2B5EF4-FFF2-40B4-BE49-F238E27FC236}">
                <a16:creationId xmlns:a16="http://schemas.microsoft.com/office/drawing/2014/main" id="{6DD64F72-7EAE-43E7-8821-EF1694EAD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61" y="973774"/>
            <a:ext cx="10094257" cy="567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squema del virus rábico | Download Scientific Diagram">
            <a:extLst>
              <a:ext uri="{FF2B5EF4-FFF2-40B4-BE49-F238E27FC236}">
                <a16:creationId xmlns:a16="http://schemas.microsoft.com/office/drawing/2014/main" id="{94D441DA-9BFA-47FD-90EA-55DD45014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778" y="0"/>
            <a:ext cx="3245222" cy="218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794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B4E3CB3-3A10-4B74-8AB5-1600ED587DFF}"/>
              </a:ext>
            </a:extLst>
          </p:cNvPr>
          <p:cNvSpPr txBox="1"/>
          <p:nvPr/>
        </p:nvSpPr>
        <p:spPr>
          <a:xfrm>
            <a:off x="1712259" y="206206"/>
            <a:ext cx="9170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u="sng" dirty="0">
                <a:solidFill>
                  <a:srgbClr val="002060"/>
                </a:solidFill>
                <a:latin typeface="Google Sans"/>
              </a:rPr>
              <a:t>V</a:t>
            </a:r>
            <a:r>
              <a:rPr lang="es-CO" b="1" u="sng" strike="noStrike" dirty="0">
                <a:solidFill>
                  <a:srgbClr val="002060"/>
                </a:solidFill>
                <a:effectLst/>
                <a:latin typeface="Google Sans"/>
              </a:rPr>
              <a:t>irus de la rabia</a:t>
            </a:r>
            <a:r>
              <a:rPr lang="es-CO" u="sng" dirty="0">
                <a:solidFill>
                  <a:srgbClr val="002060"/>
                </a:solidFill>
              </a:rPr>
              <a:t> (género </a:t>
            </a:r>
            <a:r>
              <a:rPr lang="es-CO" b="0" i="1" u="sng" strike="noStrike" dirty="0" err="1">
                <a:solidFill>
                  <a:srgbClr val="002060"/>
                </a:solidFill>
                <a:effectLst/>
                <a:latin typeface="Google Sans"/>
              </a:rPr>
              <a:t>Lyssavirus</a:t>
            </a:r>
            <a:r>
              <a:rPr lang="es-CO" u="sng" dirty="0">
                <a:solidFill>
                  <a:srgbClr val="002060"/>
                </a:solidFill>
              </a:rPr>
              <a:t>, familia </a:t>
            </a:r>
            <a:r>
              <a:rPr lang="es-CO" b="0" i="1" u="sng" strike="noStrike" dirty="0" err="1">
                <a:solidFill>
                  <a:srgbClr val="002060"/>
                </a:solidFill>
                <a:effectLst/>
                <a:latin typeface="Google Sans"/>
              </a:rPr>
              <a:t>Rhabdoviridae</a:t>
            </a:r>
            <a:r>
              <a:rPr lang="es-CO" u="sng" dirty="0">
                <a:solidFill>
                  <a:srgbClr val="002060"/>
                </a:solidFill>
              </a:rPr>
              <a:t>)</a:t>
            </a:r>
          </a:p>
        </p:txBody>
      </p:sp>
      <p:pic>
        <p:nvPicPr>
          <p:cNvPr id="5" name="Picture 2" descr="Esquema del virus rábico | Download Scientific Diagram">
            <a:extLst>
              <a:ext uri="{FF2B5EF4-FFF2-40B4-BE49-F238E27FC236}">
                <a16:creationId xmlns:a16="http://schemas.microsoft.com/office/drawing/2014/main" id="{88A6EF15-9CA9-40A5-97F8-3B9CC2E33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3977" y="0"/>
            <a:ext cx="2519082" cy="169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F7A3BF9-1796-47C1-BABA-5734345DB0CC}"/>
              </a:ext>
            </a:extLst>
          </p:cNvPr>
          <p:cNvSpPr txBox="1"/>
          <p:nvPr/>
        </p:nvSpPr>
        <p:spPr>
          <a:xfrm>
            <a:off x="528918" y="2333562"/>
            <a:ext cx="102376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Fase 1: asintomática y corresponde al período de incubación, tiene una duración variable promedio de 10 a 60 días, pudiendo ser de uno o más años.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Fase 2: corresponde a la prodrómica, en ella aparecen los primeros síntomas y son de carácter inespecífico, puede durar entre 2 y 10 días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Fase 3: neurológica, en la que se presentan los síntomas neurológicos y puede durar de 2 y 7 días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Fase 4: dura de 1 y 10 días es la de coma, en ésta el paciente entra en coma y finalmente fallece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AAB258-F80F-40F9-B9FD-69A9D3997569}"/>
              </a:ext>
            </a:extLst>
          </p:cNvPr>
          <p:cNvSpPr txBox="1"/>
          <p:nvPr/>
        </p:nvSpPr>
        <p:spPr>
          <a:xfrm>
            <a:off x="2689412" y="652098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/>
              <a:t>Protocolo: Vigilancia Integrada de la Rabia. Ministerio de Salud y Protección Social de Colombia. 2022</a:t>
            </a:r>
            <a:endParaRPr lang="es-CO" sz="11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316EE31-65E1-4EC5-83B4-661D79A50EB7}"/>
              </a:ext>
            </a:extLst>
          </p:cNvPr>
          <p:cNvSpPr txBox="1"/>
          <p:nvPr/>
        </p:nvSpPr>
        <p:spPr>
          <a:xfrm>
            <a:off x="1021975" y="5504493"/>
            <a:ext cx="90543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dirty="0">
                <a:solidFill>
                  <a:srgbClr val="C00000"/>
                </a:solidFill>
              </a:rPr>
              <a:t>En la 1ª fase la enfermedad es completamente prevenible por la aplicación de vacuna o vacuna y suero con la aplicación de profilaxis según el tipo de exposición, pero a partir de la 2ª fase es mortal entre el 99,9 y 100% de los casos</a:t>
            </a:r>
            <a:endParaRPr lang="es-CO" sz="11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86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B4E3CB3-3A10-4B74-8AB5-1600ED587DFF}"/>
              </a:ext>
            </a:extLst>
          </p:cNvPr>
          <p:cNvSpPr txBox="1"/>
          <p:nvPr/>
        </p:nvSpPr>
        <p:spPr>
          <a:xfrm>
            <a:off x="1712259" y="206206"/>
            <a:ext cx="9170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u="sng" dirty="0">
                <a:solidFill>
                  <a:srgbClr val="002060"/>
                </a:solidFill>
                <a:latin typeface="Google Sans"/>
              </a:rPr>
              <a:t>V</a:t>
            </a:r>
            <a:r>
              <a:rPr lang="es-CO" b="1" u="sng" strike="noStrike" dirty="0">
                <a:solidFill>
                  <a:srgbClr val="002060"/>
                </a:solidFill>
                <a:effectLst/>
                <a:latin typeface="Google Sans"/>
              </a:rPr>
              <a:t>irus de la rabia</a:t>
            </a:r>
            <a:r>
              <a:rPr lang="es-CO" u="sng" dirty="0">
                <a:solidFill>
                  <a:srgbClr val="002060"/>
                </a:solidFill>
              </a:rPr>
              <a:t> (género </a:t>
            </a:r>
            <a:r>
              <a:rPr lang="es-CO" b="0" i="1" u="sng" strike="noStrike" dirty="0" err="1">
                <a:solidFill>
                  <a:srgbClr val="002060"/>
                </a:solidFill>
                <a:effectLst/>
                <a:latin typeface="Google Sans"/>
              </a:rPr>
              <a:t>Lyssavirus</a:t>
            </a:r>
            <a:r>
              <a:rPr lang="es-CO" u="sng" dirty="0">
                <a:solidFill>
                  <a:srgbClr val="002060"/>
                </a:solidFill>
              </a:rPr>
              <a:t>, familia </a:t>
            </a:r>
            <a:r>
              <a:rPr lang="es-CO" b="0" i="1" u="sng" strike="noStrike" dirty="0" err="1">
                <a:solidFill>
                  <a:srgbClr val="002060"/>
                </a:solidFill>
                <a:effectLst/>
                <a:latin typeface="Google Sans"/>
              </a:rPr>
              <a:t>Rhabdoviridae</a:t>
            </a:r>
            <a:r>
              <a:rPr lang="es-CO" u="sng" dirty="0">
                <a:solidFill>
                  <a:srgbClr val="002060"/>
                </a:solidFill>
              </a:rPr>
              <a:t>)</a:t>
            </a:r>
          </a:p>
        </p:txBody>
      </p:sp>
      <p:pic>
        <p:nvPicPr>
          <p:cNvPr id="5" name="Picture 2" descr="Esquema del virus rábico | Download Scientific Diagram">
            <a:extLst>
              <a:ext uri="{FF2B5EF4-FFF2-40B4-BE49-F238E27FC236}">
                <a16:creationId xmlns:a16="http://schemas.microsoft.com/office/drawing/2014/main" id="{88A6EF15-9CA9-40A5-97F8-3B9CC2E33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3977" y="0"/>
            <a:ext cx="2519082" cy="169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4AAB258-F80F-40F9-B9FD-69A9D3997569}"/>
              </a:ext>
            </a:extLst>
          </p:cNvPr>
          <p:cNvSpPr txBox="1"/>
          <p:nvPr/>
        </p:nvSpPr>
        <p:spPr>
          <a:xfrm>
            <a:off x="2689412" y="652098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/>
              <a:t>Protocolo: Vigilancia Integrada de la Rabia. Ministerio de Salud y Protección Social de Colombia. 2022</a:t>
            </a:r>
            <a:endParaRPr lang="es-CO" sz="11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697AAEC-50E6-4ACF-851B-87D35B62B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219" y="2028252"/>
            <a:ext cx="8686299" cy="344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8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B4E3CB3-3A10-4B74-8AB5-1600ED587DFF}"/>
              </a:ext>
            </a:extLst>
          </p:cNvPr>
          <p:cNvSpPr txBox="1"/>
          <p:nvPr/>
        </p:nvSpPr>
        <p:spPr>
          <a:xfrm>
            <a:off x="1510553" y="188277"/>
            <a:ext cx="9170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u="sng" dirty="0">
                <a:solidFill>
                  <a:srgbClr val="002060"/>
                </a:solidFill>
                <a:latin typeface="Google Sans"/>
              </a:rPr>
              <a:t>SIVIGILA: CÓDIGO 300: NO EXPOSICIÓN</a:t>
            </a:r>
            <a:endParaRPr lang="es-CO" u="sng" dirty="0">
              <a:solidFill>
                <a:srgbClr val="00206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AAB258-F80F-40F9-B9FD-69A9D3997569}"/>
              </a:ext>
            </a:extLst>
          </p:cNvPr>
          <p:cNvSpPr txBox="1"/>
          <p:nvPr/>
        </p:nvSpPr>
        <p:spPr>
          <a:xfrm>
            <a:off x="2689412" y="652098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/>
              <a:t>Protocolo: Vigilancia Integrada de la Rabia. Ministerio de Salud y Protección Social de Colombia. 2022</a:t>
            </a:r>
            <a:endParaRPr lang="es-CO" sz="11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9C0B96-4679-4668-B4B7-E8316F73F3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149"/>
          <a:stretch/>
        </p:blipFill>
        <p:spPr>
          <a:xfrm>
            <a:off x="224118" y="1317257"/>
            <a:ext cx="7060881" cy="357190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9B37B01-702B-4319-854F-4E18DF609E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75"/>
          <a:stretch/>
        </p:blipFill>
        <p:spPr>
          <a:xfrm>
            <a:off x="7424346" y="1398493"/>
            <a:ext cx="3584314" cy="3490665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4240028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B4E3CB3-3A10-4B74-8AB5-1600ED587DFF}"/>
              </a:ext>
            </a:extLst>
          </p:cNvPr>
          <p:cNvSpPr txBox="1"/>
          <p:nvPr/>
        </p:nvSpPr>
        <p:spPr>
          <a:xfrm>
            <a:off x="1510553" y="188277"/>
            <a:ext cx="9170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u="sng" dirty="0">
                <a:solidFill>
                  <a:srgbClr val="002060"/>
                </a:solidFill>
                <a:latin typeface="Google Sans"/>
              </a:rPr>
              <a:t>SIVIGILA: CÓDIGO 300- EXPOSICIÓN LEVE</a:t>
            </a:r>
            <a:endParaRPr lang="es-CO" u="sng" dirty="0">
              <a:solidFill>
                <a:srgbClr val="00206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AAB258-F80F-40F9-B9FD-69A9D3997569}"/>
              </a:ext>
            </a:extLst>
          </p:cNvPr>
          <p:cNvSpPr txBox="1"/>
          <p:nvPr/>
        </p:nvSpPr>
        <p:spPr>
          <a:xfrm>
            <a:off x="2689412" y="652098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/>
              <a:t>Protocolo: Vigilancia Integrada de la Rabia. Ministerio de Salud y Protección Social de Colombia. 2022</a:t>
            </a:r>
            <a:endParaRPr lang="es-CO" sz="11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902848-6A8E-465A-AD69-D6311E53C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790" y="1795999"/>
            <a:ext cx="9041244" cy="204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6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B4E3CB3-3A10-4B74-8AB5-1600ED587DFF}"/>
              </a:ext>
            </a:extLst>
          </p:cNvPr>
          <p:cNvSpPr txBox="1"/>
          <p:nvPr/>
        </p:nvSpPr>
        <p:spPr>
          <a:xfrm>
            <a:off x="1510553" y="188277"/>
            <a:ext cx="9170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u="sng" dirty="0">
                <a:solidFill>
                  <a:srgbClr val="002060"/>
                </a:solidFill>
                <a:latin typeface="Google Sans"/>
              </a:rPr>
              <a:t>SIVIGILA: CÓDIGO 300</a:t>
            </a:r>
            <a:endParaRPr lang="es-CO" u="sng" dirty="0">
              <a:solidFill>
                <a:srgbClr val="00206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AAB258-F80F-40F9-B9FD-69A9D3997569}"/>
              </a:ext>
            </a:extLst>
          </p:cNvPr>
          <p:cNvSpPr txBox="1"/>
          <p:nvPr/>
        </p:nvSpPr>
        <p:spPr>
          <a:xfrm>
            <a:off x="926120" y="6538918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/>
              <a:t>Protocolo: Vigilancia Integrada de la Rabia. Ministerio de Salud y Protección Social de Colombia. 2022</a:t>
            </a:r>
            <a:endParaRPr lang="es-CO" sz="11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B28FD3-97BF-429F-84E7-B4B752ED4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77" y="1089256"/>
            <a:ext cx="6729043" cy="490008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5C4C2E1-818D-4E77-A497-D1517C35E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377" y="94760"/>
            <a:ext cx="3734124" cy="34445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B66E544-1DA7-460D-8BA6-323A3F861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695" y="4062516"/>
            <a:ext cx="3449488" cy="260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59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5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332</Words>
  <Application>Microsoft Office PowerPoint</Application>
  <PresentationFormat>Panorámica</PresentationFormat>
  <Paragraphs>24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LEIDY TOLEDO ROJAS</cp:lastModifiedBy>
  <cp:revision>34</cp:revision>
  <dcterms:created xsi:type="dcterms:W3CDTF">2024-08-26T14:52:25Z</dcterms:created>
  <dcterms:modified xsi:type="dcterms:W3CDTF">2026-06-08T15:33:31Z</dcterms:modified>
</cp:coreProperties>
</file>