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29"/>
  </p:notesMasterIdLst>
  <p:sldIdLst>
    <p:sldId id="256" r:id="rId4"/>
    <p:sldId id="316" r:id="rId5"/>
    <p:sldId id="323" r:id="rId6"/>
    <p:sldId id="330" r:id="rId7"/>
    <p:sldId id="272" r:id="rId8"/>
    <p:sldId id="262" r:id="rId9"/>
    <p:sldId id="265" r:id="rId10"/>
    <p:sldId id="266" r:id="rId11"/>
    <p:sldId id="270" r:id="rId12"/>
    <p:sldId id="271" r:id="rId13"/>
    <p:sldId id="269" r:id="rId14"/>
    <p:sldId id="263" r:id="rId15"/>
    <p:sldId id="264" r:id="rId16"/>
    <p:sldId id="331" r:id="rId17"/>
    <p:sldId id="275" r:id="rId18"/>
    <p:sldId id="332" r:id="rId19"/>
    <p:sldId id="257" r:id="rId20"/>
    <p:sldId id="258" r:id="rId21"/>
    <p:sldId id="261" r:id="rId22"/>
    <p:sldId id="333" r:id="rId23"/>
    <p:sldId id="334" r:id="rId24"/>
    <p:sldId id="335" r:id="rId25"/>
    <p:sldId id="336" r:id="rId26"/>
    <p:sldId id="276" r:id="rId27"/>
    <p:sldId id="277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3" autoAdjust="0"/>
    <p:restoredTop sz="94660"/>
  </p:normalViewPr>
  <p:slideViewPr>
    <p:cSldViewPr snapToGrid="0">
      <p:cViewPr varScale="1">
        <p:scale>
          <a:sx n="47" d="100"/>
          <a:sy n="47" d="100"/>
        </p:scale>
        <p:origin x="232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z%20Marina\Desktop\PARA%20REALIZAR%20LOS%20INDICADOR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OPORTUNIDAD</a:t>
            </a:r>
            <a:r>
              <a:rPr lang="es-CO" baseline="0"/>
              <a:t> DE PLANIFICACION FAMILIAR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FEBRERO!$A$30:$A$34</c:f>
              <c:strCache>
                <c:ptCount val="5"/>
                <c:pt idx="0">
                  <c:v>TOTAL DE PARTOS Y CESAREAS</c:v>
                </c:pt>
                <c:pt idx="1">
                  <c:v>INYECCION TRIMESTRAL </c:v>
                </c:pt>
                <c:pt idx="2">
                  <c:v>IMPLANTE SUBDERMICO</c:v>
                </c:pt>
                <c:pt idx="3">
                  <c:v>POMEROY</c:v>
                </c:pt>
                <c:pt idx="4">
                  <c:v>NO DESEAN </c:v>
                </c:pt>
              </c:strCache>
            </c:strRef>
          </c:cat>
          <c:val>
            <c:numRef>
              <c:f>FEBRERO!$B$30:$B$34</c:f>
              <c:numCache>
                <c:formatCode>General</c:formatCode>
                <c:ptCount val="5"/>
                <c:pt idx="0">
                  <c:v>52</c:v>
                </c:pt>
                <c:pt idx="1">
                  <c:v>24</c:v>
                </c:pt>
                <c:pt idx="2">
                  <c:v>13</c:v>
                </c:pt>
                <c:pt idx="3">
                  <c:v>18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2A-4297-A5B2-7C13C01A4F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83829839"/>
        <c:axId val="683810639"/>
      </c:barChart>
      <c:catAx>
        <c:axId val="683829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83810639"/>
        <c:crosses val="autoZero"/>
        <c:auto val="1"/>
        <c:lblAlgn val="ctr"/>
        <c:lblOffset val="100"/>
        <c:noMultiLvlLbl val="0"/>
      </c:catAx>
      <c:valAx>
        <c:axId val="683810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8382983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2F6B-34BE-EE45-84F4-C70EBABA3775}" type="datetimeFigureOut">
              <a:rPr lang="es-CO" smtClean="0"/>
              <a:t>8/02/26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8438-2734-FA4D-8334-607960EEFC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68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709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83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352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24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891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82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397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7796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801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5518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4320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821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161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0176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00171A-D88C-4346-B9E0-6F3ED7383368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2492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29B98F-C5CB-4446-B026-91F5DBDC6378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94238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951271-379C-4080-A1D4-73E4B8B7E5DF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8092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E6F4E7-4766-441D-A40D-5C7AC39D171E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87751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195E96-D1EC-4CB5-B074-FBDE316A0637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67284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92CCBA-B09E-420F-98C8-ABAE44F165B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31293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DCD76D-55B2-4B11-A14E-C6306421CAC6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02551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456A59-13F8-4DB7-A854-7379E83F096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22337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2AB9692-D904-41D5-B224-9F7586B334C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93139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AF6939-70C7-4027-AD62-D45D080BA898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5801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3CA4B21-D4A2-44D2-B53D-ABAEC0124804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5276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041EE1-7AD6-4FAF-BFAA-056BBEC7986F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561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8/02/26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517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strike="noStrike" spc="-1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lang="es-CO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2AC864-7BD0-452A-ADAA-F8EFCA6B4140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</p:spTree>
    <p:extLst>
      <p:ext uri="{BB962C8B-B14F-4D97-AF65-F5344CB8AC3E}">
        <p14:creationId xmlns:p14="http://schemas.microsoft.com/office/powerpoint/2010/main" val="406650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PRIMARIO GINECOLOGIA MES DE FEBRERO  CON DATOS DE ENERO    2026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306" y="4233409"/>
            <a:ext cx="9144000" cy="1655762"/>
          </a:xfrm>
        </p:spPr>
        <p:txBody>
          <a:bodyPr>
            <a:normAutofit/>
          </a:bodyPr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</a:t>
            </a:r>
          </a:p>
          <a:p>
            <a:endParaRPr lang="es-MX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SHARON KATHERINE ACUÑA RUBIANO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33AD-3155-FE04-DF94-1166C78B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9491EE5A-5398-8109-7601-8E7134EBBA55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063C87-DEFE-7FFC-8703-02DC2CF773C0}"/>
              </a:ext>
            </a:extLst>
          </p:cNvPr>
          <p:cNvSpPr txBox="1"/>
          <p:nvPr/>
        </p:nvSpPr>
        <p:spPr>
          <a:xfrm>
            <a:off x="2373923" y="1708322"/>
            <a:ext cx="7923628" cy="439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 Quorum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Revisión de Compromisos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Aprobación del acta mes de ENERO de 2026 (disponible en ALMERA)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indicadores ginecología fecha de corte mes ENERO  2026 ( médicos/ enfermería 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VIA CLINICA  TRANSTORNOS HIPERTENSIVOS DEL EMBARAZO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 internos ginecología )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  Rol de </a:t>
            </a:r>
            <a:r>
              <a:rPr lang="es-CO" sz="18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Enfermeria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en EMERGENCIAS OBSTETRICAS  asociadas a los </a:t>
            </a:r>
            <a:r>
              <a:rPr lang="es-CO" sz="18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transtornos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hipertensivos del embarazo 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-jefe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luisa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karen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alexandra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gandur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auxilliares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enfermeria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ACTIVIDADES DURANTE EL MES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SIMULACRO  TRANSTORNOS HIPERTENSIVOS DEL EMBARAZO 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FEBRERO VISITA SECRETARIA ISABEL FEBRERO 2026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8E563-9385-DD41-C798-53686B08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29992983-8331-5973-ED63-91E5ACED7B5C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A7A5C8-BF73-0207-6E4A-BCDCA7C7A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36" y="1368856"/>
            <a:ext cx="8361708" cy="48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B8A01-7C30-FAB1-2EF2-388DDD1F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1E9C26D7-97AB-E1A0-4F89-A33F8C7DF636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04CEB3-431D-CB5D-5A44-912597DF5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362" y="1368857"/>
            <a:ext cx="8700656" cy="513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2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94F97-463B-721D-714B-0910873888D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COMPLICACIONES OBSTETRICAS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71C5F601-8DC6-31FC-224E-EFCA02059FD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503AFC-EE31-140C-CD58-E9889A8DA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56" y="2083982"/>
            <a:ext cx="8782493" cy="387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6AA0DA-0824-D3D7-01CA-4173EC92397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ENDOMETRITIS POS PARTO  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D50408F-79E6-B4CD-6A0F-3FEB4D042EF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091094-968A-DA57-C912-2B951F78E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9" y="1927655"/>
            <a:ext cx="8590005" cy="356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3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7E0D9-373D-00EF-46CA-DC5F0BEE775A}"/>
              </a:ext>
            </a:extLst>
          </p:cNvPr>
          <p:cNvSpPr txBox="1">
            <a:spLocks/>
          </p:cNvSpPr>
          <p:nvPr/>
        </p:nvSpPr>
        <p:spPr>
          <a:xfrm>
            <a:off x="3058473" y="707775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 ESTANCIA 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95F75325-14E7-7AC2-7AA3-085AAC0FDE44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61E804-F48A-AF03-7CE9-694495337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831" y="2302700"/>
            <a:ext cx="5181599" cy="383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4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1A2D7-31D8-6B0F-41CA-BA51991C16B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FB92862-CF61-1F74-EB9F-FB7D0E100469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19E007-F35A-CA7C-74F9-F74AB88C7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1" y="2155372"/>
            <a:ext cx="9274629" cy="37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858-B2B8-2B2E-AEFF-644B98858813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MORTALIDAD ANTES DE LAS 24 HORAS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B60DD31-EB8A-D65F-560F-9A87925A710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0499D1-1DD5-1E67-822D-C481B2695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731" y="3219607"/>
            <a:ext cx="7772400" cy="23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50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E18DAE4-8748-CE2B-228F-408F93E7A259}"/>
              </a:ext>
            </a:extLst>
          </p:cNvPr>
          <p:cNvSpPr txBox="1">
            <a:spLocks/>
          </p:cNvSpPr>
          <p:nvPr/>
        </p:nvSpPr>
        <p:spPr>
          <a:xfrm>
            <a:off x="2421500" y="37673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NACIMIENTOS    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AD9D1197-5B25-CA95-AA38-6079A557C58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9F433AC-C9CE-29C2-6B1E-85799B664729}"/>
              </a:ext>
            </a:extLst>
          </p:cNvPr>
          <p:cNvSpPr/>
          <p:nvPr/>
        </p:nvSpPr>
        <p:spPr>
          <a:xfrm>
            <a:off x="9421815" y="2016034"/>
            <a:ext cx="2550549" cy="14129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46 ( 70  % VAGINALES 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7FDD0A-D517-4E74-16B3-CE4FCDEAB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15" y="2722517"/>
            <a:ext cx="7772400" cy="258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03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266C1-B31B-8AA6-F9E5-0691111CC113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CESÁREAS     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8DDBE5F-2CE9-CE98-96A5-51523A1DEDDB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4AB235-5F9C-7A53-5895-F2A16D405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59" y="2100649"/>
            <a:ext cx="7772400" cy="31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65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2447A-42DF-C103-2A07-DAACB2F8A107}"/>
              </a:ext>
            </a:extLst>
          </p:cNvPr>
          <p:cNvSpPr txBox="1">
            <a:spLocks/>
          </p:cNvSpPr>
          <p:nvPr/>
        </p:nvSpPr>
        <p:spPr>
          <a:xfrm>
            <a:off x="1309877" y="556032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PORCENTAJE OCUPACIONAL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E1F6F71-A34F-09B7-4203-13B0CF407E1C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41CF95-18D6-B19A-9490-4E406E8EB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370" y="2118458"/>
            <a:ext cx="8557846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8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9A5B8-96DE-2522-E340-CDF331D06D98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PROMEDIO DIAS DE ESTANCIA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E448DFC6-A936-389A-2AE5-33731812DA58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42F4DFC-FB91-33E8-3FEF-282D089DC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720" y="2063261"/>
            <a:ext cx="8447727" cy="341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10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9466C-15C4-69A6-013C-AE25649C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C7C10-89AE-C58B-0423-8BDFDFF125B6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TRIAGE OBSTETRICO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A96ACADD-3C5B-F9E7-D488-5C000B2EFA7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ED1A79-D7D4-1D18-6814-432A31637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9" y="1828800"/>
            <a:ext cx="8802863" cy="410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65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8BEDEF60-0255-3003-914B-809CD882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382352"/>
              </p:ext>
            </p:extLst>
          </p:nvPr>
        </p:nvGraphicFramePr>
        <p:xfrm>
          <a:off x="2545977" y="1399738"/>
          <a:ext cx="8199445" cy="44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692">
                  <a:extLst>
                    <a:ext uri="{9D8B030D-6E8A-4147-A177-3AD203B41FA5}">
                      <a16:colId xmlns:a16="http://schemas.microsoft.com/office/drawing/2014/main" val="2792121155"/>
                    </a:ext>
                  </a:extLst>
                </a:gridCol>
                <a:gridCol w="4007753">
                  <a:extLst>
                    <a:ext uri="{9D8B030D-6E8A-4147-A177-3AD203B41FA5}">
                      <a16:colId xmlns:a16="http://schemas.microsoft.com/office/drawing/2014/main" val="2500448351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INDICADOR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  ENERO 2026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8716"/>
                  </a:ext>
                </a:extLst>
              </a:tr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REINGRESO / REINTERVENCIONES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171369"/>
                  </a:ext>
                </a:extLst>
              </a:tr>
              <a:tr h="726081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MORBILIDADMATERNA EXTREMA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3 ( PREECLAMPSIA 2 CODIGO ROJO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654984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MORTALIDAD MATERNA / MORTALIDAD NEONATAL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2 OBITOS 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262556"/>
                  </a:ext>
                </a:extLst>
              </a:tr>
              <a:tr h="488492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DE SEGURIDAD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5226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ESTANCIA PROLONGADA </a:t>
                      </a:r>
                      <a:r>
                        <a:rPr lang="es-CO" sz="1600"/>
                        <a:t>&gt; 5 </a:t>
                      </a:r>
                      <a:r>
                        <a:rPr lang="es-CO" sz="1600" dirty="0"/>
                        <a:t>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46018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PARA ANALISIS EN COMITÉ DE INFECCIONES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542131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ENDOMETRITIS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0/62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1147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HISTERECTOMIAS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 / 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12547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28E60AC6-0190-4A56-985F-48003D3521D5}"/>
              </a:ext>
            </a:extLst>
          </p:cNvPr>
          <p:cNvSpPr txBox="1">
            <a:spLocks/>
          </p:cNvSpPr>
          <p:nvPr/>
        </p:nvSpPr>
        <p:spPr>
          <a:xfrm>
            <a:off x="2079607" y="0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OTROS INDICADORES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35DCF-D279-59EA-AB13-C95E386E451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32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040280" y="1707480"/>
            <a:ext cx="6655320" cy="155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MX" sz="2800" b="0" strike="noStrike" spc="-1" dirty="0">
                <a:solidFill>
                  <a:schemeClr val="dk1"/>
                </a:solidFill>
                <a:latin typeface="Arial"/>
              </a:rPr>
              <a:t>INDICADORES MES </a:t>
            </a:r>
            <a:r>
              <a:rPr lang="es-MX" sz="2800" spc="-1" dirty="0">
                <a:solidFill>
                  <a:schemeClr val="dk1"/>
                </a:solidFill>
                <a:latin typeface="Arial"/>
              </a:rPr>
              <a:t>DICIEMBRE</a:t>
            </a:r>
            <a:r>
              <a:rPr lang="es-MX" sz="2800" b="0" strike="noStrike" spc="-1" dirty="0">
                <a:solidFill>
                  <a:schemeClr val="dk1"/>
                </a:solidFill>
                <a:latin typeface="Arial"/>
              </a:rPr>
              <a:t> 2025 SERVICIO GINECOLOGIA/NEONATOS 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311040" y="471240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400" spc="-1" dirty="0">
                <a:solidFill>
                  <a:schemeClr val="dk1"/>
                </a:solidFill>
                <a:latin typeface="Calibri"/>
              </a:rPr>
              <a:t>LUISA FERNANDA PARDO</a:t>
            </a:r>
            <a:endParaRPr lang="es-CO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400" b="0" strike="noStrike" spc="-1" dirty="0">
                <a:solidFill>
                  <a:schemeClr val="dk1"/>
                </a:solidFill>
                <a:latin typeface="Calibri"/>
              </a:rPr>
              <a:t>COORDINACION DE ENFERMERIA</a:t>
            </a:r>
            <a:endParaRPr lang="es-CO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adroTexto 3"/>
          <p:cNvSpPr/>
          <p:nvPr/>
        </p:nvSpPr>
        <p:spPr>
          <a:xfrm>
            <a:off x="3630960" y="1046880"/>
            <a:ext cx="594972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i="0" u="none" strike="noStrike" kern="1200" cap="none" spc="-1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NUMERO DE PARTOS Y CESAREAS  </a:t>
            </a:r>
            <a:endParaRPr kumimoji="0" lang="es-CO" sz="2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838080" y="2186640"/>
            <a:ext cx="10515240" cy="398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000" b="0" strike="noStrike" spc="-1" dirty="0">
                <a:solidFill>
                  <a:schemeClr val="dk1"/>
                </a:solidFill>
                <a:latin typeface="Arial"/>
              </a:rPr>
              <a:t>PARTOS: 33</a:t>
            </a:r>
            <a:endParaRPr lang="es-CO" sz="20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000" b="0" strike="noStrike" spc="-1" dirty="0">
                <a:solidFill>
                  <a:schemeClr val="dk1"/>
                </a:solidFill>
                <a:latin typeface="Arial"/>
              </a:rPr>
              <a:t>CESAREAS: 19</a:t>
            </a:r>
            <a:endParaRPr lang="es-CO" sz="2000" spc="-1" dirty="0">
              <a:solidFill>
                <a:schemeClr val="dk1"/>
              </a:solidFill>
              <a:latin typeface="Arial"/>
            </a:endParaRPr>
          </a:p>
          <a:p>
            <a:pPr marL="0" indent="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Arial"/>
            </a:endParaRPr>
          </a:p>
          <a:p>
            <a:pPr marL="0" indent="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Imagen 13"/>
          <p:cNvPicPr/>
          <p:nvPr/>
        </p:nvPicPr>
        <p:blipFill>
          <a:blip r:embed="rId3"/>
          <a:stretch/>
        </p:blipFill>
        <p:spPr>
          <a:xfrm>
            <a:off x="1298880" y="3670920"/>
            <a:ext cx="1695960" cy="1629720"/>
          </a:xfrm>
          <a:prstGeom prst="rect">
            <a:avLst/>
          </a:prstGeom>
          <a:ln w="0"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E0D82A5-1238-257A-9882-5E15239654E4}"/>
              </a:ext>
            </a:extLst>
          </p:cNvPr>
          <p:cNvSpPr txBox="1"/>
          <p:nvPr/>
        </p:nvSpPr>
        <p:spPr>
          <a:xfrm>
            <a:off x="10028420" y="1319134"/>
            <a:ext cx="1648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TOTAL: 52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BA69F42-C8FC-84F7-21A2-6D70657C4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641" y="2051184"/>
            <a:ext cx="6572780" cy="33930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NUMERO NEONATOS HOSPITALIZADOS VS NEONATOS CON ANTIBIOTICO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690200"/>
            <a:ext cx="10515240" cy="44863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NUMERO DE NEONATOS HX: 15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NEONATOS CON ORDEN DE ANTIBIOTICO:4</a:t>
            </a:r>
          </a:p>
        </p:txBody>
      </p:sp>
      <p:pic>
        <p:nvPicPr>
          <p:cNvPr id="90" name="Imagen 7"/>
          <p:cNvPicPr/>
          <p:nvPr/>
        </p:nvPicPr>
        <p:blipFill>
          <a:blip r:embed="rId3"/>
          <a:srcRect l="23081" t="2406" r="23956" b="3194"/>
          <a:stretch/>
        </p:blipFill>
        <p:spPr>
          <a:xfrm>
            <a:off x="2856018" y="2813538"/>
            <a:ext cx="1245240" cy="1841760"/>
          </a:xfrm>
          <a:prstGeom prst="rect">
            <a:avLst/>
          </a:prstGeom>
          <a:ln w="0">
            <a:noFill/>
          </a:ln>
        </p:spPr>
      </p:pic>
      <p:sp>
        <p:nvSpPr>
          <p:cNvPr id="92" name="CuadroTexto 6"/>
          <p:cNvSpPr/>
          <p:nvPr/>
        </p:nvSpPr>
        <p:spPr>
          <a:xfrm>
            <a:off x="8905320" y="1690560"/>
            <a:ext cx="2265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7AF26C-49CB-2E4D-53E6-B901FBBE228E}"/>
              </a:ext>
            </a:extLst>
          </p:cNvPr>
          <p:cNvSpPr txBox="1"/>
          <p:nvPr/>
        </p:nvSpPr>
        <p:spPr>
          <a:xfrm>
            <a:off x="1362240" y="5106572"/>
            <a:ext cx="4485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Durante el mes de Diciembre de inicio antibiótico a 4 pacientes ( ampicilina/ gentamicina)tiempo antes  de 60 minutos.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EF665E-E60A-1FCD-4C2B-3A2D5AED8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473" y="2813537"/>
            <a:ext cx="5323688" cy="33629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rgbClr val="4472C4"/>
                </a:solidFill>
                <a:latin typeface="Arial"/>
              </a:rPr>
              <a:t>OPORTUNIDAD DE INCICIO DE SULFATO DE MG</a:t>
            </a:r>
            <a:br>
              <a:rPr sz="2400"/>
            </a:b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dirty="0"/>
              <a:t>TOTAL DE PACIENTES CON INICIO DE SULFATO MG: 1 paciente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Conector 5"/>
          <p:cNvSpPr/>
          <p:nvPr/>
        </p:nvSpPr>
        <p:spPr>
          <a:xfrm>
            <a:off x="9263160" y="4605480"/>
            <a:ext cx="1616400" cy="1706040"/>
          </a:xfrm>
          <a:prstGeom prst="flowChartConnector">
            <a:avLst/>
          </a:prstGeom>
          <a:blipFill rotWithShape="0">
            <a:blip r:embed="rId4"/>
            <a:srcRect/>
            <a:stretch/>
          </a:blipFill>
          <a:ln>
            <a:solidFill>
              <a:srgbClr val="325490"/>
            </a:solidFill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Rectángulo redondeado 12"/>
          <p:cNvSpPr/>
          <p:nvPr/>
        </p:nvSpPr>
        <p:spPr>
          <a:xfrm flipH="1">
            <a:off x="9528480" y="4605480"/>
            <a:ext cx="1103040" cy="27108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</a:t>
            </a:r>
            <a:endParaRPr kumimoji="0" lang="es-CO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1B9BC6E-5B08-6C79-A1D0-5C5951292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049" y="2504049"/>
            <a:ext cx="5922499" cy="33481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OPORTUNIDAD DE EGRESO DE GINECOLOGIA 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CuadroTexto 4"/>
          <p:cNvSpPr/>
          <p:nvPr/>
        </p:nvSpPr>
        <p:spPr>
          <a:xfrm>
            <a:off x="6267156" y="5392278"/>
            <a:ext cx="1477108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Tiempo Noviembre: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75,9 min 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CuadroTexto 6"/>
          <p:cNvSpPr/>
          <p:nvPr/>
        </p:nvSpPr>
        <p:spPr>
          <a:xfrm>
            <a:off x="8679765" y="5392278"/>
            <a:ext cx="1589649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Tiempo Diciembre: 105,9 min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D60F332-F0CF-18A1-EEDE-3EC0F8FB17EB}"/>
              </a:ext>
            </a:extLst>
          </p:cNvPr>
          <p:cNvCxnSpPr>
            <a:cxnSpLocks/>
          </p:cNvCxnSpPr>
          <p:nvPr/>
        </p:nvCxnSpPr>
        <p:spPr>
          <a:xfrm>
            <a:off x="2264898" y="3426522"/>
            <a:ext cx="7891976" cy="24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DAC6F728-7154-4C0A-1EC8-26169CA358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38" t="45947" r="2731" b="7946"/>
          <a:stretch>
            <a:fillRect/>
          </a:stretch>
        </p:blipFill>
        <p:spPr>
          <a:xfrm>
            <a:off x="1631853" y="1846265"/>
            <a:ext cx="9340948" cy="32810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EGRESOS VS ASIGNACION DE CITAS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8" name="Imagen 4"/>
          <p:cNvPicPr/>
          <p:nvPr/>
        </p:nvPicPr>
        <p:blipFill>
          <a:blip r:embed="rId3"/>
          <a:stretch/>
        </p:blipFill>
        <p:spPr>
          <a:xfrm>
            <a:off x="810000" y="3835080"/>
            <a:ext cx="1361880" cy="1810080"/>
          </a:xfrm>
          <a:prstGeom prst="rect">
            <a:avLst/>
          </a:prstGeom>
          <a:ln w="0">
            <a:noFill/>
          </a:ln>
        </p:spPr>
      </p:pic>
      <p:sp>
        <p:nvSpPr>
          <p:cNvPr id="119" name="CuadroTexto 8"/>
          <p:cNvSpPr/>
          <p:nvPr/>
        </p:nvSpPr>
        <p:spPr>
          <a:xfrm>
            <a:off x="3305880" y="5359680"/>
            <a:ext cx="66675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Ginecología:</a:t>
            </a: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Se asegura cita de control a diagnósticos de post parto/ pop de cesárea.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 se asignan a pacientes que su centro de atención primario es otro municipio.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Algunos de los egresos se dan fuera del horario establecido pero se asignan posteriormente.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A7F43E7-E002-3571-132A-6252CEB62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881" y="1690200"/>
            <a:ext cx="5781848" cy="31166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INDICADORES DE PLANIFICACION FAMILIAR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Imagen 13"/>
          <p:cNvPicPr/>
          <p:nvPr/>
        </p:nvPicPr>
        <p:blipFill>
          <a:blip r:embed="rId4"/>
          <a:stretch/>
        </p:blipFill>
        <p:spPr>
          <a:xfrm>
            <a:off x="401400" y="2855880"/>
            <a:ext cx="2200680" cy="1919160"/>
          </a:xfrm>
          <a:prstGeom prst="rect">
            <a:avLst/>
          </a:prstGeom>
          <a:ln w="0"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CBB3814-AC3C-D0B4-0033-4FF7C185E6FC}"/>
              </a:ext>
            </a:extLst>
          </p:cNvPr>
          <p:cNvSpPr txBox="1"/>
          <p:nvPr/>
        </p:nvSpPr>
        <p:spPr>
          <a:xfrm>
            <a:off x="9833317" y="1463040"/>
            <a:ext cx="18710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DE PARTOS Y CESAREAS: 52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PACIENTES QUE RECIBIERON LA TOTALIDAD DE ASESORIA SOBRE METODOS DE PLANIFICACION</a:t>
            </a:r>
            <a:endParaRPr kumimoji="0" lang="es-CO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BB02831-338A-1FD9-8FC1-49CE7DE4EBF9}"/>
              </a:ext>
            </a:extLst>
          </p:cNvPr>
          <p:cNvGraphicFramePr>
            <a:graphicFrameLocks/>
          </p:cNvGraphicFramePr>
          <p:nvPr/>
        </p:nvGraphicFramePr>
        <p:xfrm>
          <a:off x="2883877" y="1690200"/>
          <a:ext cx="5964701" cy="3725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Arial"/>
              </a:rPr>
              <a:t>INFECCIONES DEL SITIO OPERATORIO</a:t>
            </a:r>
            <a:endParaRPr lang="es-CO" sz="2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No se presenta ISO en el mes de </a:t>
            </a:r>
            <a:r>
              <a:rPr lang="es-CO" spc="-1" dirty="0">
                <a:solidFill>
                  <a:schemeClr val="dk1"/>
                </a:solidFill>
                <a:latin typeface="Calibri"/>
              </a:rPr>
              <a:t>Diciembre.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alibri"/>
              </a:rPr>
              <a:t>MASTITIS NO PUERPERAL 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pc="-1" dirty="0">
                <a:solidFill>
                  <a:schemeClr val="dk1"/>
                </a:solidFill>
                <a:latin typeface="Calibri"/>
              </a:rPr>
              <a:t>Se presento 1 pacientes con mastitis en el mes de Diciembre.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alibri"/>
              </a:rPr>
              <a:t>ENDOMETRITIS</a:t>
            </a: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No se presento durante el mes de Diciembre .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Arial"/>
              </a:rPr>
              <a:t>ADHERENCIA PRACTICA SEGURA:GARANTIZAR LA ATENCION SEGURA DE LA GESTANTE Y EL RECIEN NACIDO</a:t>
            </a:r>
            <a:endParaRPr lang="es-CO" sz="2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  </a:t>
            </a:r>
          </a:p>
        </p:txBody>
      </p:sp>
      <p:sp>
        <p:nvSpPr>
          <p:cNvPr id="161" name="CuadroTexto 4"/>
          <p:cNvSpPr/>
          <p:nvPr/>
        </p:nvSpPr>
        <p:spPr>
          <a:xfrm>
            <a:off x="6095880" y="2597400"/>
            <a:ext cx="4863240" cy="36918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LISTA DE CHEQUEO: 17 PREGUNTAS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2 MOMENTOS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1 MOMENTO: 6 PREGUNTA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2  MOMENTO: 11 PREGUNTAS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840" marR="0" lvl="0" indent="-285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s-E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Diligenciamiento por parte de medicina, partograma oportunamente según la indicación. </a:t>
            </a:r>
          </a:p>
          <a:p>
            <a:pPr marL="285840" marR="0" lvl="0" indent="-285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s-E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uso de los campos estériles en el momento de la atención del parto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3EA9EE3-3360-5AC2-B4D9-10F1D6FA0A79}"/>
              </a:ext>
            </a:extLst>
          </p:cNvPr>
          <p:cNvSpPr txBox="1"/>
          <p:nvPr/>
        </p:nvSpPr>
        <p:spPr>
          <a:xfrm>
            <a:off x="5598942" y="2405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3AD1784-51C0-9DA9-5849-C989B5A09E4E}"/>
              </a:ext>
            </a:extLst>
          </p:cNvPr>
          <p:cNvSpPr txBox="1"/>
          <p:nvPr/>
        </p:nvSpPr>
        <p:spPr>
          <a:xfrm>
            <a:off x="9762978" y="1505534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MUESTRA: 4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A92A2868-B715-B8F5-3CBD-C5765C8D7E75}"/>
              </a:ext>
            </a:extLst>
          </p:cNvPr>
          <p:cNvSpPr/>
          <p:nvPr/>
        </p:nvSpPr>
        <p:spPr>
          <a:xfrm>
            <a:off x="8201465" y="3066757"/>
            <a:ext cx="379827" cy="154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F01964C7-AE7D-DBA5-F05F-CA2DC35E9133}"/>
              </a:ext>
            </a:extLst>
          </p:cNvPr>
          <p:cNvSpPr/>
          <p:nvPr/>
        </p:nvSpPr>
        <p:spPr>
          <a:xfrm>
            <a:off x="8201465" y="3636499"/>
            <a:ext cx="379827" cy="154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EE2909C-46E3-8448-0602-CB9700C0C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04" y="2159937"/>
            <a:ext cx="5139276" cy="36918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8290</TotalTime>
  <Words>604</Words>
  <Application>Microsoft Macintosh PowerPoint</Application>
  <PresentationFormat>Panorámica</PresentationFormat>
  <Paragraphs>106</Paragraphs>
  <Slides>25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25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Helvetica</vt:lpstr>
      <vt:lpstr>Symbol</vt:lpstr>
      <vt:lpstr>Tahoma</vt:lpstr>
      <vt:lpstr>Times New Roman</vt:lpstr>
      <vt:lpstr>Wingdings</vt:lpstr>
      <vt:lpstr>Tema de Office</vt:lpstr>
      <vt:lpstr>1_Tema de Office</vt:lpstr>
      <vt:lpstr>2_Tema de Office</vt:lpstr>
      <vt:lpstr>                  EQUIPO PRIMARIO GINECOLOGIA MES DE FEBRERO  CON DATOS DE ENERO    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INDICADORES MES DICIEMBRE 2025 SERVICIO GINECOLOGIA/NEONATOS </vt:lpstr>
      <vt:lpstr>Presentación de PowerPoint</vt:lpstr>
      <vt:lpstr>NUMERO NEONATOS HOSPITALIZADOS VS NEONATOS CON ANTIBIOTICO</vt:lpstr>
      <vt:lpstr>OPORTUNIDAD DE INCICIO DE SULFATO DE MG </vt:lpstr>
      <vt:lpstr>OPORTUNIDAD DE EGRESO DE GINECOLOGIA </vt:lpstr>
      <vt:lpstr>EGRESOS VS ASIGNACION DE CITAS</vt:lpstr>
      <vt:lpstr>INDICADORES DE PLANIFICACION FAMILIAR</vt:lpstr>
      <vt:lpstr>INFECCIONES DEL SITIO OPERATORIO</vt:lpstr>
      <vt:lpstr>ADHERENCIA PRACTICA SEGURA:GARANTIZAR LA ATENCION SEGURA DE LA GESTANTE Y EL RECIEN NACIDO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127</cp:revision>
  <dcterms:created xsi:type="dcterms:W3CDTF">2024-08-26T14:52:25Z</dcterms:created>
  <dcterms:modified xsi:type="dcterms:W3CDTF">2026-02-09T03:42:21Z</dcterms:modified>
</cp:coreProperties>
</file>