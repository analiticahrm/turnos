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91" r:id="rId4"/>
    <p:sldId id="293" r:id="rId5"/>
    <p:sldId id="301" r:id="rId6"/>
    <p:sldId id="372" r:id="rId7"/>
    <p:sldId id="341" r:id="rId8"/>
    <p:sldId id="369" r:id="rId9"/>
    <p:sldId id="370" r:id="rId10"/>
    <p:sldId id="371" r:id="rId11"/>
    <p:sldId id="373" r:id="rId12"/>
    <p:sldId id="374" r:id="rId13"/>
    <p:sldId id="375" r:id="rId14"/>
    <p:sldId id="376" r:id="rId15"/>
    <p:sldId id="360" r:id="rId16"/>
    <p:sldId id="363" r:id="rId17"/>
    <p:sldId id="259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000" autoAdjust="0"/>
    <p:restoredTop sz="91753" autoAdjust="0"/>
  </p:normalViewPr>
  <p:slideViewPr>
    <p:cSldViewPr snapToGrid="0">
      <p:cViewPr varScale="1">
        <p:scale>
          <a:sx n="78" d="100"/>
          <a:sy n="78" d="100"/>
        </p:scale>
        <p:origin x="134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12829-F6B4-433E-A0AC-E1E0757E0B14}" type="datetimeFigureOut">
              <a:rPr lang="es-419" smtClean="0"/>
              <a:t>24/11/2025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F7FA9-FA71-49BA-B377-1EF8F4A0B0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968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12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91471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13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458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24/11/2025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88" y="2181642"/>
            <a:ext cx="6655837" cy="1559864"/>
          </a:xfrm>
        </p:spPr>
        <p:txBody>
          <a:bodyPr>
            <a:noAutofit/>
          </a:bodyPr>
          <a:lstStyle/>
          <a:p>
            <a:r>
              <a:rPr lang="es-CO" sz="4400" dirty="0">
                <a:latin typeface="Arial" panose="020B0604020202020204" pitchFamily="34" charset="0"/>
                <a:cs typeface="Arial" panose="020B0604020202020204" pitchFamily="34" charset="0"/>
              </a:rPr>
              <a:t>COMITÉ DE HISTORIAS CLÍNICAS 5 - 2025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268" y="365125"/>
            <a:ext cx="9991531" cy="1325563"/>
          </a:xfrm>
        </p:spPr>
        <p:txBody>
          <a:bodyPr/>
          <a:lstStyle/>
          <a:p>
            <a:pPr algn="ctr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ORDEN DEL DÍA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7559F5-0BE3-46D7-9CCE-7216A049AD23}"/>
              </a:ext>
            </a:extLst>
          </p:cNvPr>
          <p:cNvSpPr txBox="1"/>
          <p:nvPr/>
        </p:nvSpPr>
        <p:spPr>
          <a:xfrm>
            <a:off x="1612491" y="2094731"/>
            <a:ext cx="701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Verificación de quorum 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Aprobación orden del día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Indicadores Resolución 408 del 2018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Revisión de compromisos adquiridos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Proposiciones y varios.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7111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234" y="2350043"/>
            <a:ext cx="9991531" cy="1325563"/>
          </a:xfrm>
          <a:ln w="28575">
            <a:solidFill>
              <a:schemeClr val="accent2"/>
            </a:solidFill>
          </a:ln>
        </p:spPr>
        <p:txBody>
          <a:bodyPr/>
          <a:lstStyle/>
          <a:p>
            <a:pPr algn="ctr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1. VERIFICACIÓN DE QUORUM</a:t>
            </a:r>
          </a:p>
        </p:txBody>
      </p:sp>
    </p:spTree>
    <p:extLst>
      <p:ext uri="{BB962C8B-B14F-4D97-AF65-F5344CB8AC3E}">
        <p14:creationId xmlns:p14="http://schemas.microsoft.com/office/powerpoint/2010/main" val="28989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329299"/>
            <a:ext cx="9991531" cy="1325563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2. APROBACIÓN ORDEN DEL DÍA</a:t>
            </a:r>
          </a:p>
        </p:txBody>
      </p:sp>
    </p:spTree>
    <p:extLst>
      <p:ext uri="{BB962C8B-B14F-4D97-AF65-F5344CB8AC3E}">
        <p14:creationId xmlns:p14="http://schemas.microsoft.com/office/powerpoint/2010/main" val="91731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057400"/>
            <a:ext cx="9991531" cy="1236406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 3. INDICADORES RESOLUCIÓN 408 DE 2018</a:t>
            </a:r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3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170812" y="2143432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4617A0-A0A4-4EE2-A38E-65F9FD1F4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040" y="4228275"/>
            <a:ext cx="5873609" cy="169826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E98070-1D4E-482E-88B9-B10579D10416}"/>
              </a:ext>
            </a:extLst>
          </p:cNvPr>
          <p:cNvSpPr txBox="1"/>
          <p:nvPr/>
        </p:nvSpPr>
        <p:spPr>
          <a:xfrm>
            <a:off x="1083289" y="1171315"/>
            <a:ext cx="10601291" cy="2701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s-419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La institución establece que, para determinar los criterios de calidad superior en la adherencia a las GPC y protocolos clínicos en el proceso de acreditación, se considerará una adherencia estricta con un puntaje promedio igual o superior a 4.5.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s-CO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La clasificación de cumplimiento se define de la siguiente manera:</a:t>
            </a: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SzPts val="11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s-CO" sz="1600" dirty="0">
              <a:effectLst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600" b="1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Adherencia EXCELENTE:</a:t>
            </a:r>
            <a:r>
              <a:rPr lang="es-CO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 entre el 90 % y el 100 % de cumplimiento.</a:t>
            </a:r>
          </a:p>
          <a:p>
            <a:pPr marL="7429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600" b="1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Adherencia SATISFACTORIA: </a:t>
            </a:r>
            <a:r>
              <a:rPr lang="es-CO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entre el 80 % y el 89 % de cumplimiento.</a:t>
            </a:r>
          </a:p>
          <a:p>
            <a:pPr marL="7429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600" b="1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NO adherencia:</a:t>
            </a:r>
            <a:r>
              <a:rPr lang="es-CO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 &lt; 80%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E042AA-BF33-4A5B-94FE-92F34884DC50}"/>
              </a:ext>
            </a:extLst>
          </p:cNvPr>
          <p:cNvSpPr txBox="1"/>
          <p:nvPr/>
        </p:nvSpPr>
        <p:spPr>
          <a:xfrm>
            <a:off x="4501058" y="3540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2060"/>
                </a:solidFill>
              </a:rPr>
              <a:t>Criterios de adherencia a GPC </a:t>
            </a:r>
            <a:endParaRPr lang="es-CO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2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210141" y="2340077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C19D8EE-4D0E-41B7-B075-96620B5A692B}"/>
              </a:ext>
            </a:extLst>
          </p:cNvPr>
          <p:cNvSpPr txBox="1"/>
          <p:nvPr/>
        </p:nvSpPr>
        <p:spPr>
          <a:xfrm>
            <a:off x="3136491" y="331766"/>
            <a:ext cx="7128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002060"/>
                </a:solidFill>
              </a:rPr>
              <a:t>Oportunidad en la realización de apendicectomía</a:t>
            </a:r>
            <a:r>
              <a:rPr lang="es-MX" sz="2400" dirty="0">
                <a:solidFill>
                  <a:srgbClr val="002060"/>
                </a:solidFill>
              </a:rPr>
              <a:t> </a:t>
            </a:r>
            <a:endParaRPr lang="es-CO" sz="2400" dirty="0">
              <a:solidFill>
                <a:srgbClr val="00206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77C2D3C-3365-487D-9EA7-9C52C559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921" y="1358371"/>
            <a:ext cx="10927156" cy="10772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Numerador: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Número de pacientes con diagnóstico de apendicitis al egreso a quienes se les realizó la apendicectomía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dentro de las 6 horas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desde la confirmación del diagnóstico, durante el periodo de reporte.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Denominador: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Total de pacientes con diagnóstico de apendicitis al egreso durante el mismo periodo.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5BA3522-DEC5-4F0E-9C3A-73F43DD5F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25" y="3180680"/>
            <a:ext cx="1110765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600" b="1" dirty="0"/>
              <a:t>Denominador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todas los egresos en el periodo 1 de enero 2025 a 31 de octubre del 2025 con diagnóstico de </a:t>
            </a:r>
            <a:r>
              <a:rPr kumimoji="0" lang="es-CO" altLang="es-CO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apendicitis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 egreso.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 cada paciente se extrae: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Fecha y hora de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confirmación del diagnóstico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1600" dirty="0"/>
              <a:t>       - 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egistro por cirugía general CIE-10 – Que es el mismo momento en que solicita la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cx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 confirmar el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dx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sz="1600" dirty="0"/>
              <a:t>       - También entre la solicitud de IC por medicina general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Fecha y hora de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</a:t>
            </a:r>
            <a:r>
              <a:rPr lang="es-CO" altLang="es-CO" sz="1600" b="1" dirty="0"/>
              <a:t>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cirugía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(hora </a:t>
            </a:r>
            <a:r>
              <a:rPr lang="es-CO" altLang="es-CO" sz="1600" dirty="0"/>
              <a:t>en 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informe quirúrgico de inicio de cirugía)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 calcula el tiempo transcurrido: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tiempo horas = (fecha/hora intervención – fecha</a:t>
            </a:r>
            <a:r>
              <a:rPr lang="es-CO" altLang="es-CO" sz="1600" dirty="0"/>
              <a:t>/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hora confirmación) en horas.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6252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93DC04A-55AE-4227-9F17-1755F6F4C8B9}"/>
              </a:ext>
            </a:extLst>
          </p:cNvPr>
          <p:cNvSpPr txBox="1"/>
          <p:nvPr/>
        </p:nvSpPr>
        <p:spPr>
          <a:xfrm>
            <a:off x="3215146" y="147484"/>
            <a:ext cx="767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002060"/>
                </a:solidFill>
              </a:rPr>
              <a:t>Denominador: 160 egresos con apendicectomía del 01/01/25 a 31/10/25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36FAC6-5096-4C66-BF9F-180FFD03EC93}"/>
              </a:ext>
            </a:extLst>
          </p:cNvPr>
          <p:cNvSpPr txBox="1"/>
          <p:nvPr/>
        </p:nvSpPr>
        <p:spPr>
          <a:xfrm>
            <a:off x="1096295" y="855606"/>
            <a:ext cx="103779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Denominador: </a:t>
            </a:r>
            <a:r>
              <a:rPr lang="es-MX" dirty="0"/>
              <a:t>160 casos con diagnóstico de apendicitis al egreso.</a:t>
            </a:r>
          </a:p>
          <a:p>
            <a:r>
              <a:rPr lang="es-MX" b="1" dirty="0"/>
              <a:t>Numerador: </a:t>
            </a:r>
            <a:r>
              <a:rPr lang="es-MX" dirty="0"/>
              <a:t>148 casos intervenidos dentro de las ≤ 6 horas entre la confirmación del diagnóstico por </a:t>
            </a:r>
            <a:r>
              <a:rPr lang="es-MX" u="sng" dirty="0"/>
              <a:t>cirugía general y el inicio de la cirugía</a:t>
            </a:r>
            <a:r>
              <a:rPr lang="es-MX" dirty="0"/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59243C-FF7D-4DC6-A809-4A10F4213AF3}"/>
              </a:ext>
            </a:extLst>
          </p:cNvPr>
          <p:cNvSpPr txBox="1"/>
          <p:nvPr/>
        </p:nvSpPr>
        <p:spPr>
          <a:xfrm>
            <a:off x="1194618" y="1977132"/>
            <a:ext cx="2861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 Indicador=0.925=92.5%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F1D3B5-DF0F-4822-BCC5-7EA9B247470F}"/>
              </a:ext>
            </a:extLst>
          </p:cNvPr>
          <p:cNvSpPr txBox="1"/>
          <p:nvPr/>
        </p:nvSpPr>
        <p:spPr>
          <a:xfrm>
            <a:off x="1096295" y="2787752"/>
            <a:ext cx="103779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Denominador: </a:t>
            </a:r>
            <a:r>
              <a:rPr lang="es-MX" dirty="0"/>
              <a:t>160 casos con diagnóstico de apendicitis al egreso.</a:t>
            </a:r>
          </a:p>
          <a:p>
            <a:r>
              <a:rPr lang="es-MX" b="1" dirty="0"/>
              <a:t>Numerador: </a:t>
            </a:r>
            <a:r>
              <a:rPr lang="es-MX" dirty="0"/>
              <a:t>70 casos intervenidos dentro de las ≤ 6 horas entre la confirmación del diagnóstico por </a:t>
            </a:r>
            <a:r>
              <a:rPr lang="es-MX" u="sng" dirty="0"/>
              <a:t>medicina general y el inicio de la cirugía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EEB3F8-6796-490F-82BB-99844C03A01B}"/>
              </a:ext>
            </a:extLst>
          </p:cNvPr>
          <p:cNvSpPr txBox="1"/>
          <p:nvPr/>
        </p:nvSpPr>
        <p:spPr>
          <a:xfrm>
            <a:off x="1194617" y="4028513"/>
            <a:ext cx="2861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 Indicador=0.4375= 43,75%</a:t>
            </a:r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0C006F2-4E19-4A34-9FDF-DD22D011EB0C}"/>
              </a:ext>
            </a:extLst>
          </p:cNvPr>
          <p:cNvSpPr txBox="1"/>
          <p:nvPr/>
        </p:nvSpPr>
        <p:spPr>
          <a:xfrm>
            <a:off x="1096294" y="5079065"/>
            <a:ext cx="103779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 los 160 casos, a 67 se les solicitó imagenología tipo Tomografía de Abdomen con contraste. El 41,8 %</a:t>
            </a:r>
          </a:p>
          <a:p>
            <a:endParaRPr lang="es-MX" b="1" dirty="0"/>
          </a:p>
          <a:p>
            <a:r>
              <a:rPr lang="es-MX" dirty="0"/>
              <a:t>Entre los 67 casos que se les solicitó imagenología:</a:t>
            </a:r>
          </a:p>
          <a:p>
            <a:r>
              <a:rPr lang="es-MX" dirty="0"/>
              <a:t> - Tiempo mínimo entre solicitud e inicio de </a:t>
            </a:r>
            <a:r>
              <a:rPr lang="es-MX" dirty="0" err="1"/>
              <a:t>cx</a:t>
            </a:r>
            <a:r>
              <a:rPr lang="es-MX" dirty="0"/>
              <a:t>: 3:08 horas</a:t>
            </a:r>
          </a:p>
          <a:p>
            <a:r>
              <a:rPr lang="es-MX" dirty="0"/>
              <a:t> - Tiempo máximo entre solicitud e inicio de </a:t>
            </a:r>
            <a:r>
              <a:rPr lang="es-MX" dirty="0" err="1"/>
              <a:t>cx</a:t>
            </a:r>
            <a:r>
              <a:rPr lang="es-MX" dirty="0"/>
              <a:t>:  23 horas</a:t>
            </a:r>
          </a:p>
        </p:txBody>
      </p:sp>
    </p:spTree>
    <p:extLst>
      <p:ext uri="{BB962C8B-B14F-4D97-AF65-F5344CB8AC3E}">
        <p14:creationId xmlns:p14="http://schemas.microsoft.com/office/powerpoint/2010/main" val="2771475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259302" y="45228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de Guía de manejo específica: HTA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4EF4D5-CDBB-4E25-89BF-A03D7CB3AB28}"/>
              </a:ext>
            </a:extLst>
          </p:cNvPr>
          <p:cNvSpPr txBox="1"/>
          <p:nvPr/>
        </p:nvSpPr>
        <p:spPr>
          <a:xfrm>
            <a:off x="1484670" y="1078610"/>
            <a:ext cx="9505677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Numerador</a:t>
            </a:r>
            <a:r>
              <a:rPr lang="es-CO" dirty="0"/>
              <a:t>=Número de historias clínicas auditadas con aplicación estricta de la guía </a:t>
            </a:r>
            <a:r>
              <a:rPr lang="es-CO" b="1" dirty="0"/>
              <a:t>Denominado</a:t>
            </a:r>
            <a:r>
              <a:rPr lang="es-CO" dirty="0"/>
              <a:t>r=Total de historias clínicas auditadas de pacientes hipertensos de la muestra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C085ED-D63A-4E3C-812F-2452E26905D0}"/>
              </a:ext>
            </a:extLst>
          </p:cNvPr>
          <p:cNvSpPr txBox="1"/>
          <p:nvPr/>
        </p:nvSpPr>
        <p:spPr>
          <a:xfrm>
            <a:off x="294967" y="1935313"/>
            <a:ext cx="682358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Para el cálculo de la muestra se tomó como base la cantidad de atenciones por diagnóstico de hipertensión arterial registradas el mes anterior. A partir de este dato, se aplicó la fórmula estadística de estimación de proporciones con un nivel de confianza del </a:t>
            </a:r>
            <a:r>
              <a:rPr lang="es-MX" b="1" dirty="0"/>
              <a:t>95%</a:t>
            </a:r>
            <a:r>
              <a:rPr lang="es-MX" dirty="0"/>
              <a:t>, donde:</a:t>
            </a:r>
          </a:p>
          <a:p>
            <a:pPr algn="just"/>
            <a:endParaRPr lang="es-MX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Z (alfa medios)</a:t>
            </a:r>
            <a:r>
              <a:rPr lang="es-MX" dirty="0"/>
              <a:t> corresponde al valor estadístico que garantiza el nivel de confianza; para 95% equivale a </a:t>
            </a:r>
            <a:r>
              <a:rPr lang="es-MX" b="1" dirty="0"/>
              <a:t>1.96</a:t>
            </a:r>
            <a:r>
              <a:rPr lang="es-MX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p</a:t>
            </a:r>
            <a:r>
              <a:rPr lang="es-MX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q</a:t>
            </a:r>
            <a:r>
              <a:rPr lang="es-MX" dirty="0"/>
              <a:t> es el complemento de p (</a:t>
            </a:r>
            <a:r>
              <a:rPr lang="es-MX" b="1" dirty="0"/>
              <a:t>1–p</a:t>
            </a:r>
            <a:r>
              <a:rPr lang="es-MX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e</a:t>
            </a:r>
            <a:r>
              <a:rPr lang="es-MX" dirty="0"/>
              <a:t> corresponde al margen de error aceptado para el cálculo (usado </a:t>
            </a:r>
            <a:r>
              <a:rPr lang="es-MX" b="1" dirty="0"/>
              <a:t>5%</a:t>
            </a:r>
            <a:r>
              <a:rPr lang="es-MX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/>
          </a:p>
          <a:p>
            <a:pPr algn="just"/>
            <a:r>
              <a:rPr lang="es-MX" dirty="0"/>
              <a:t>Con estos parámetros se estimó el tamaño de muestra requerido para la auditoría, garantizando que el resultado fuera representativo y estadísticamente válido para evaluar la adherencia del programa de hipertensión arterial.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4A4B7C8-602D-45B5-80EE-A0A2DB7F0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323" y="3018539"/>
            <a:ext cx="3894978" cy="144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3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354823" y="2003966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F375AF-BF35-4F56-8792-2B89B9E6B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87" y="837338"/>
            <a:ext cx="5782402" cy="194280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0A6E195-37BA-4823-9285-37C55A18C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5824" y="1062215"/>
            <a:ext cx="48596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689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264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0,383=38,3%</a:t>
            </a: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29C9BF-80D4-48FA-96EB-114FABF94B3D}"/>
              </a:ext>
            </a:extLst>
          </p:cNvPr>
          <p:cNvSpPr txBox="1"/>
          <p:nvPr/>
        </p:nvSpPr>
        <p:spPr>
          <a:xfrm>
            <a:off x="1307690" y="255036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Desde software: 01/07/2025- 31/10/25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D6DB0B0-49E7-4959-ADB4-CBB748BFC3CC}"/>
              </a:ext>
            </a:extLst>
          </p:cNvPr>
          <p:cNvSpPr txBox="1"/>
          <p:nvPr/>
        </p:nvSpPr>
        <p:spPr>
          <a:xfrm>
            <a:off x="1307689" y="3122697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Antes software: 01/01/2025- 30/06/25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7357901-B5FC-4BA2-B54F-FC3142013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0749" y="4263500"/>
            <a:ext cx="480125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342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115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0,336=33,6%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dirty="0"/>
              <a:t>Evaluaciones con (&gt;4.0): 216- 63,15%</a:t>
            </a: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E9E3F28-43CD-477A-B824-D50C98F33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69" y="3673582"/>
            <a:ext cx="5824357" cy="268788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3AA9535-F858-4BA4-AE16-10C17CB866EC}"/>
              </a:ext>
            </a:extLst>
          </p:cNvPr>
          <p:cNvSpPr txBox="1"/>
          <p:nvPr/>
        </p:nvSpPr>
        <p:spPr>
          <a:xfrm>
            <a:off x="5641321" y="6543024"/>
            <a:ext cx="403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Adherencia total: 379/1031: 0,36</a:t>
            </a:r>
          </a:p>
        </p:txBody>
      </p:sp>
    </p:spTree>
    <p:extLst>
      <p:ext uri="{BB962C8B-B14F-4D97-AF65-F5344CB8AC3E}">
        <p14:creationId xmlns:p14="http://schemas.microsoft.com/office/powerpoint/2010/main" val="3216495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170812" y="2143432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5CD314-20C1-4AC4-BE43-B143069FB229}"/>
              </a:ext>
            </a:extLst>
          </p:cNvPr>
          <p:cNvSpPr txBox="1"/>
          <p:nvPr/>
        </p:nvSpPr>
        <p:spPr>
          <a:xfrm>
            <a:off x="1733277" y="204044"/>
            <a:ext cx="90920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de guía de manejo de la primera causa de egreso hospitalario o de morbilidad atendida: Dolor abdominal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61724C-544C-4A1D-9C52-9C1F9022D071}"/>
              </a:ext>
            </a:extLst>
          </p:cNvPr>
          <p:cNvSpPr txBox="1"/>
          <p:nvPr/>
        </p:nvSpPr>
        <p:spPr>
          <a:xfrm>
            <a:off x="776748" y="1190715"/>
            <a:ext cx="10638503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Numerador</a:t>
            </a:r>
            <a:r>
              <a:rPr lang="es-MX" dirty="0"/>
              <a:t>=Número de historias clínicas auditadas (muestra) con aplicación estricta de la guía de manejo para   la primera causa de egreso u morbilidad</a:t>
            </a:r>
          </a:p>
          <a:p>
            <a:r>
              <a:rPr lang="es-MX" b="1" dirty="0"/>
              <a:t>Denominador</a:t>
            </a:r>
            <a:r>
              <a:rPr lang="es-MX" dirty="0"/>
              <a:t>=Total de historias clínicas auditadas (muestra) con diagnóstico de la primera causa de egreso u     morbilidad en esa vigencia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885E948-CB5E-4AAE-902E-9FD47EDF365C}"/>
              </a:ext>
            </a:extLst>
          </p:cNvPr>
          <p:cNvSpPr txBox="1"/>
          <p:nvPr/>
        </p:nvSpPr>
        <p:spPr>
          <a:xfrm>
            <a:off x="639095" y="2830048"/>
            <a:ext cx="1050085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Para el cálculo de la muestra se tomó como base la cantidad de atenciones por diagnóstico de hipertensión arterial registradas el mes anterior. A partir de este dato, se aplicó la fórmula estadística de estimación de proporciones con un nivel de confianza del </a:t>
            </a:r>
            <a:r>
              <a:rPr lang="es-MX" b="1" dirty="0"/>
              <a:t>95%</a:t>
            </a:r>
            <a:r>
              <a:rPr lang="es-MX" dirty="0"/>
              <a:t>, donde:</a:t>
            </a:r>
          </a:p>
          <a:p>
            <a:pPr algn="just"/>
            <a:endParaRPr lang="es-MX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Z (alfa medios)</a:t>
            </a:r>
            <a:r>
              <a:rPr lang="es-MX" dirty="0"/>
              <a:t> corresponde al valor estadístico que garantiza el nivel de confianza; para 95% equivale a </a:t>
            </a:r>
            <a:r>
              <a:rPr lang="es-MX" b="1" dirty="0"/>
              <a:t>1.96</a:t>
            </a:r>
            <a:r>
              <a:rPr lang="es-MX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p</a:t>
            </a:r>
            <a:r>
              <a:rPr lang="es-MX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q</a:t>
            </a:r>
            <a:r>
              <a:rPr lang="es-MX" dirty="0"/>
              <a:t> es el complemento de p (</a:t>
            </a:r>
            <a:r>
              <a:rPr lang="es-MX" b="1" dirty="0"/>
              <a:t>1–p</a:t>
            </a:r>
            <a:r>
              <a:rPr lang="es-MX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b="1" dirty="0"/>
              <a:t>e</a:t>
            </a:r>
            <a:r>
              <a:rPr lang="es-MX" dirty="0"/>
              <a:t> corresponde al margen de error aceptado para el cálculo (usado </a:t>
            </a:r>
            <a:r>
              <a:rPr lang="es-MX" b="1" dirty="0"/>
              <a:t>5%</a:t>
            </a:r>
            <a:r>
              <a:rPr lang="es-MX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dirty="0"/>
          </a:p>
          <a:p>
            <a:pPr algn="just"/>
            <a:r>
              <a:rPr lang="es-MX" dirty="0"/>
              <a:t>Con estos parámetros se estimó el tamaño de muestra requerido para la auditoría, garantizando que el resultado fuera representativo y estadísticamente válido para evaluar la adherencia del programa de hipertensión arterial.</a:t>
            </a:r>
          </a:p>
        </p:txBody>
      </p:sp>
    </p:spTree>
    <p:extLst>
      <p:ext uri="{BB962C8B-B14F-4D97-AF65-F5344CB8AC3E}">
        <p14:creationId xmlns:p14="http://schemas.microsoft.com/office/powerpoint/2010/main" val="3926097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59E84C-3475-4D12-B9D4-2F97BB5DF6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3382"/>
          <a:stretch/>
        </p:blipFill>
        <p:spPr>
          <a:xfrm>
            <a:off x="1307689" y="781728"/>
            <a:ext cx="5495683" cy="169930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D2F8019-3BFD-4C08-A769-6EE16D48C8DC}"/>
              </a:ext>
            </a:extLst>
          </p:cNvPr>
          <p:cNvSpPr txBox="1"/>
          <p:nvPr/>
        </p:nvSpPr>
        <p:spPr>
          <a:xfrm>
            <a:off x="1307690" y="255036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Desde software: 01/07/2025- 31/10/25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4C46510-2DC3-4484-AC35-CDA7DC1E5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372" y="1032719"/>
            <a:ext cx="480125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391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135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0,34=34,52%</a:t>
            </a: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8F188D-024A-45BC-B781-B5392B173502}"/>
              </a:ext>
            </a:extLst>
          </p:cNvPr>
          <p:cNvSpPr txBox="1"/>
          <p:nvPr/>
        </p:nvSpPr>
        <p:spPr>
          <a:xfrm>
            <a:off x="1219198" y="2886722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Antes software: 01/01/2025- 30/06/25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873D036-AB80-43DC-B3A3-6B9E72FFD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098" y="3716395"/>
            <a:ext cx="5702864" cy="190278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131D430-168B-4742-BE2D-AAA92D0B6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667" y="3864849"/>
            <a:ext cx="468423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de evaluaciones: 223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Evaluaciones que cumplen el criterio (&gt;4.5): 94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b="1" dirty="0">
                <a:highlight>
                  <a:srgbClr val="FFFF00"/>
                </a:highlight>
              </a:rPr>
              <a:t>Indicador adherencia estricta: 0,421= 42,1 %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/>
              <a:t>Evaluaciones con &gt;4.0: 139: 62,3%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76A955-917C-4AE7-B306-DD18330CF21D}"/>
              </a:ext>
            </a:extLst>
          </p:cNvPr>
          <p:cNvSpPr txBox="1"/>
          <p:nvPr/>
        </p:nvSpPr>
        <p:spPr>
          <a:xfrm>
            <a:off x="4392625" y="6530056"/>
            <a:ext cx="403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Adherencia total: 229/614: 0,37</a:t>
            </a:r>
          </a:p>
        </p:txBody>
      </p:sp>
    </p:spTree>
    <p:extLst>
      <p:ext uri="{BB962C8B-B14F-4D97-AF65-F5344CB8AC3E}">
        <p14:creationId xmlns:p14="http://schemas.microsoft.com/office/powerpoint/2010/main" val="336784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83998" y="78658"/>
            <a:ext cx="8929807" cy="1229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solidFill>
                  <a:srgbClr val="002060"/>
                </a:solidFill>
              </a:rPr>
              <a:t>Evaluación de Aplicación de guía de manejo específica: hemorragias del III trimestre y trastornos hipertensivos en la gestación</a:t>
            </a:r>
            <a:endParaRPr lang="es-CO" sz="2000" dirty="0">
              <a:solidFill>
                <a:srgbClr val="00206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42C77-7399-4114-93C7-DDA6B52EE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75" y="1455820"/>
            <a:ext cx="10919050" cy="13234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Estándar/meta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≥ 0,80 (80 %)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Numerador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Número de historias clínicas auditadas (muestra) con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aplicación estricta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guía de manejo para esas complicaciones (hemorragia del III trimestre y los trastornos hipertensivos).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Denominador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Total de historias clínicas auditadas (muestra) de pacientes gestantes que tuvieron diagnóstico de hemorragia del III trimestre o trastorno hipertensivo en la gestación.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DD71E8-C0CE-4B7F-AC0F-E49F6602E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3706096"/>
            <a:ext cx="5015318" cy="213623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9DCA79D-A58B-45EB-BB18-87DA65F5B974}"/>
              </a:ext>
            </a:extLst>
          </p:cNvPr>
          <p:cNvSpPr txBox="1"/>
          <p:nvPr/>
        </p:nvSpPr>
        <p:spPr>
          <a:xfrm>
            <a:off x="114305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Hemorragia del III trimestre: 0% 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9E62AE-2E7B-4A27-9151-1818C8D39F7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348"/>
          <a:stretch/>
        </p:blipFill>
        <p:spPr>
          <a:xfrm>
            <a:off x="5555227" y="3706096"/>
            <a:ext cx="5260258" cy="213623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53F6537-B798-43A2-8F69-94A2B222A3AC}"/>
              </a:ext>
            </a:extLst>
          </p:cNvPr>
          <p:cNvSpPr txBox="1"/>
          <p:nvPr/>
        </p:nvSpPr>
        <p:spPr>
          <a:xfrm>
            <a:off x="5459525" y="32686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THE: 0,55 – 55%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9504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136058"/>
            <a:ext cx="9991531" cy="1069258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418011"/>
            <a:ext cx="999153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  <a:t>4. REVISIÓN DE COMPROMISOS ADQUIRIDOS</a:t>
            </a:r>
          </a:p>
          <a:p>
            <a:pPr algn="ctr"/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77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599042"/>
            <a:ext cx="99915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0" i="0" dirty="0">
                <a:solidFill>
                  <a:srgbClr val="333333"/>
                </a:solidFill>
                <a:effectLst/>
              </a:rPr>
              <a:t>Dra. Acuña, líder de servicio de ginecoobstetricia propone realización  de historia clínica de colposcopia, para control prenatal, folio de egreso seguro (estrategia ISABEL) y folio para lactancia materna (esto en consideración de estrategia IAMII)</a:t>
            </a:r>
            <a:endParaRPr lang="es-CO" sz="32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543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720150" y="2670585"/>
            <a:ext cx="8751691" cy="996847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798640"/>
            <a:ext cx="99915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5. PROPOSICIONES Y VARIOS</a:t>
            </a:r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8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13501</TotalTime>
  <Words>1140</Words>
  <Application>Microsoft Office PowerPoint</Application>
  <PresentationFormat>Panorámica</PresentationFormat>
  <Paragraphs>94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Tema de Office</vt:lpstr>
      <vt:lpstr>COMITÉ DE HISTORIAS CLÍNICAS 5 - 2025</vt:lpstr>
      <vt:lpstr>ORDEN DEL DÍA</vt:lpstr>
      <vt:lpstr>1. VERIFICACIÓN DE QUORUM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LEIDY TOLEDO ROJAS</cp:lastModifiedBy>
  <cp:revision>91</cp:revision>
  <dcterms:created xsi:type="dcterms:W3CDTF">2024-08-26T14:52:25Z</dcterms:created>
  <dcterms:modified xsi:type="dcterms:W3CDTF">2025-11-24T12:33:13Z</dcterms:modified>
</cp:coreProperties>
</file>