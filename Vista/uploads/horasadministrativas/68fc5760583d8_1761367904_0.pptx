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  <p:embeddedFontLst>
    <p:embeddedFont>
      <p:font typeface="Arial Black" panose="020B060402020202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EjzZQeO/2z1MjOajYJ0eFh8R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AC9CD9-C05F-4CF7-A4D1-CF5081DAF626}">
  <a:tblStyle styleId="{DBAC9CD9-C05F-4CF7-A4D1-CF5081DAF6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>
      <p:cViewPr varScale="1">
        <p:scale>
          <a:sx n="89" d="100"/>
          <a:sy n="89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8d4930983_0_2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68d493098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8d4930983_0_4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68d493098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determinado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 txBox="1">
            <a:spLocks noGrp="1"/>
          </p:cNvSpPr>
          <p:nvPr>
            <p:ph type="title"/>
          </p:nvPr>
        </p:nvSpPr>
        <p:spPr>
          <a:xfrm>
            <a:off x="4144680" y="2810520"/>
            <a:ext cx="6654960" cy="94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</a:pPr>
            <a:r>
              <a:rPr lang="es-MX" sz="4800" b="1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PROTOCOLO </a:t>
            </a:r>
            <a:r>
              <a:rPr lang="es-MX" sz="48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IDENTIFICACION CORRECTA DE PACIENTES</a:t>
            </a:r>
            <a:endParaRPr sz="4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>
            <a:spLocks noGrp="1"/>
          </p:cNvSpPr>
          <p:nvPr>
            <p:ph type="subTitle" idx="4294967295"/>
          </p:nvPr>
        </p:nvSpPr>
        <p:spPr>
          <a:xfrm>
            <a:off x="2196720" y="4554000"/>
            <a:ext cx="9143280" cy="13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JEFE: JENNIFER SARMIENTO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AUX: JOHANA GAMBOA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AUX: KAREN GOMEZ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1729795" y="861020"/>
            <a:ext cx="9143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OBJETIVOS</a:t>
            </a:r>
            <a:r>
              <a:rPr lang="es-MX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62480" y="3420000"/>
            <a:ext cx="8423280" cy="71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80360" y="4238280"/>
            <a:ext cx="8279640" cy="188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85680" y="1504800"/>
            <a:ext cx="858168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4">
            <a:alphaModFix/>
          </a:blip>
          <a:srcRect l="3215" r="6702" b="7166"/>
          <a:stretch/>
        </p:blipFill>
        <p:spPr>
          <a:xfrm>
            <a:off x="942250" y="1972800"/>
            <a:ext cx="7806800" cy="47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8600" y="2038040"/>
            <a:ext cx="3163175" cy="25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1227380" y="822600"/>
            <a:ext cx="914340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916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TÉRMINOS</a:t>
            </a:r>
            <a:endParaRPr sz="39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3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1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31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506300" y="1668600"/>
            <a:ext cx="7782600" cy="4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1. Identificación correcta del usuario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2. Manilla de identificación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3. Tarjeta o Tablero de Identificación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4. Tablero de Identificación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5. Riesgo 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6. Verificación Cruzada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900"/>
              <a:t>7. Paciente Homónimo (</a:t>
            </a:r>
            <a:r>
              <a:rPr lang="es-MX" sz="2900" b="1"/>
              <a:t> PARCIAL </a:t>
            </a:r>
            <a:r>
              <a:rPr lang="es-MX" sz="2900"/>
              <a:t>“ mismos nombres y 1er apellido” / </a:t>
            </a:r>
            <a:r>
              <a:rPr lang="es-MX" sz="2900" b="1"/>
              <a:t>TOTAL</a:t>
            </a:r>
            <a:r>
              <a:rPr lang="es-MX" sz="2900"/>
              <a:t> “ mismos nombres y apellidos, se diferencian por la edad y el número de documento”)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3500" y="1818375"/>
            <a:ext cx="4373325" cy="264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1476720" y="234000"/>
            <a:ext cx="9143280" cy="846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16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CONDICIONES DEL PROTOCOLO </a:t>
            </a:r>
            <a:r>
              <a:rPr lang="es-MX" sz="2416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3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1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31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613" y="742475"/>
            <a:ext cx="8259124" cy="55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5">
            <a:alphaModFix/>
          </a:blip>
          <a:srcRect l="18029" t="7147" r="13232" b="9352"/>
          <a:stretch/>
        </p:blipFill>
        <p:spPr>
          <a:xfrm>
            <a:off x="8089325" y="3214550"/>
            <a:ext cx="2684900" cy="32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1476720" y="234000"/>
            <a:ext cx="9143280" cy="846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16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CONDICIONES DEL PROTOCOLO</a:t>
            </a:r>
            <a:r>
              <a:rPr lang="es-MX" sz="2416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3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1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31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975" y="726100"/>
            <a:ext cx="7338601" cy="6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 rotWithShape="1">
          <a:blip r:embed="rId5">
            <a:alphaModFix/>
          </a:blip>
          <a:srcRect l="60363" t="38886" r="5808"/>
          <a:stretch/>
        </p:blipFill>
        <p:spPr>
          <a:xfrm>
            <a:off x="8580300" y="2611075"/>
            <a:ext cx="2454775" cy="33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1464840"/>
            <a:ext cx="9143280" cy="8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42480" y="3001680"/>
            <a:ext cx="8711640" cy="341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476720" y="234000"/>
            <a:ext cx="9143280" cy="846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16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CONDICIONES DEL PROTOCOLO</a:t>
            </a:r>
            <a:endParaRPr sz="2416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319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19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319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475" y="800579"/>
            <a:ext cx="8711651" cy="416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475" y="4962525"/>
            <a:ext cx="8711651" cy="1783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45175" y="1080000"/>
            <a:ext cx="2092025" cy="20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1524363" y="206765"/>
            <a:ext cx="9143400" cy="846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/>
              <a:t> </a:t>
            </a:r>
            <a:r>
              <a:rPr lang="es-MX" sz="2400" b="1"/>
              <a:t>CONDICIONES DEL PROTOCOLO</a:t>
            </a:r>
            <a:endParaRPr sz="2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</p:txBody>
      </p:sp>
      <p:sp>
        <p:nvSpPr>
          <p:cNvPr id="79" name="Google Shape;79;p7"/>
          <p:cNvSpPr/>
          <p:nvPr/>
        </p:nvSpPr>
        <p:spPr>
          <a:xfrm>
            <a:off x="1019180" y="2970980"/>
            <a:ext cx="8711700" cy="3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4184" y="698893"/>
            <a:ext cx="6214775" cy="597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9969" y="2240219"/>
            <a:ext cx="4226825" cy="23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/>
          <p:nvPr/>
        </p:nvSpPr>
        <p:spPr>
          <a:xfrm>
            <a:off x="1440000" y="54000"/>
            <a:ext cx="9143280" cy="846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8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18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CONDICIONES DEL PROTOCOLO</a:t>
            </a:r>
            <a:endParaRPr sz="218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93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745640" y="2707560"/>
            <a:ext cx="81738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285840" marR="0" lvl="0" indent="-1715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975" y="1013497"/>
            <a:ext cx="8676319" cy="15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8975" y="2582100"/>
            <a:ext cx="8676326" cy="42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8"/>
          <p:cNvPicPr preferRelativeResize="0"/>
          <p:nvPr/>
        </p:nvPicPr>
        <p:blipFill rotWithShape="1">
          <a:blip r:embed="rId6">
            <a:alphaModFix/>
          </a:blip>
          <a:srcRect l="-4320" t="11517" r="4320" b="15398"/>
          <a:stretch/>
        </p:blipFill>
        <p:spPr>
          <a:xfrm rot="5400000">
            <a:off x="8663700" y="2269275"/>
            <a:ext cx="4260550" cy="174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8d4930983_0_24"/>
          <p:cNvSpPr/>
          <p:nvPr/>
        </p:nvSpPr>
        <p:spPr>
          <a:xfrm>
            <a:off x="1440000" y="54000"/>
            <a:ext cx="9143400" cy="552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180" b="1"/>
              <a:t>DESCRIPCIÓN DE ACTIVIDADES</a:t>
            </a:r>
            <a:endParaRPr sz="2180" b="1" strike="noStrik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93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68d4930983_0_24"/>
          <p:cNvSpPr/>
          <p:nvPr/>
        </p:nvSpPr>
        <p:spPr>
          <a:xfrm>
            <a:off x="1745640" y="2707560"/>
            <a:ext cx="81738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g368d4930983_0_24"/>
          <p:cNvGraphicFramePr/>
          <p:nvPr/>
        </p:nvGraphicFramePr>
        <p:xfrm>
          <a:off x="1167250" y="6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{DBAC9CD9-C05F-4CF7-A4D1-CF5081DAF626}</a:tableStyleId>
              </a:tblPr>
              <a:tblGrid>
                <a:gridCol w="49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b="1"/>
                        <a:t>ACTIVIDAD</a:t>
                      </a:r>
                      <a:endParaRPr sz="17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b="1"/>
                        <a:t>RESPONSABLE</a:t>
                      </a:r>
                      <a:endParaRPr sz="17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1.Realice la identificación desde la admisión del paciente el ingreso a Urgencias, Hospitalizacion y Cirugia Ambulatoria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Ciclo Económico Interno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2.Verificar en voz alta con el paciente y familiar que los datos sean correctos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Jefe de Enfermería / Auxiliar de Enfermeria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3.Indague  al paciente y verifique antecedentes sobre alergias a medicamentos o alimentos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Jefe de Enfermería / Auxiliar de Enfermeria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4. aplicar las escalas para la valoración y definir los riesgos de caída o de lesiones de piel, segun su clasificacion: </a:t>
                      </a:r>
                      <a:r>
                        <a:rPr lang="es-MX" b="1"/>
                        <a:t>ROJO</a:t>
                      </a:r>
                      <a:r>
                        <a:rPr lang="es-MX"/>
                        <a:t> riesgo alto de caida, </a:t>
                      </a:r>
                      <a:r>
                        <a:rPr lang="es-MX" b="1"/>
                        <a:t>VERDE</a:t>
                      </a:r>
                      <a:r>
                        <a:rPr lang="es-MX"/>
                        <a:t> riesgo bajo de caída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Jefe de Enfermería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5. Diligenciar la manilla y tablero de identificación ( nombres y apellidos completos, edad, fecha de ingreso,n° de identificación)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Jefe de Enfermería / Auxiliar de Enfermeria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6. Informar al paciente y al familiar, los beneficios de la manilla, ( recordar la importancia de confirmar su identificación al momento de realizar cualquier procedimiento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Jefe de Enfermería / Auxiliar de Enfermeria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7. Ubicar en el miembro contrario al del acceso vascular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Jefe de Enfermería / Auxiliar de Enfermeria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8.  Ajustar según el tamaño de la extremidad, para que no genere lesiones de piel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Jefe de Enfermería / Auxiliar de Enfermeria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8" name="Google Shape;98;g368d4930983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4575" y="2547175"/>
            <a:ext cx="2435650" cy="13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8d4930983_0_43"/>
          <p:cNvSpPr/>
          <p:nvPr/>
        </p:nvSpPr>
        <p:spPr>
          <a:xfrm>
            <a:off x="1440000" y="54000"/>
            <a:ext cx="9143400" cy="552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s-MX" sz="2180" b="1"/>
              <a:t>DESCRIPCIÓN DE ACTIVIDADES</a:t>
            </a:r>
            <a:endParaRPr sz="2180" b="1" strike="noStrik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93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68d4930983_0_43"/>
          <p:cNvSpPr/>
          <p:nvPr/>
        </p:nvSpPr>
        <p:spPr>
          <a:xfrm>
            <a:off x="1745640" y="2707560"/>
            <a:ext cx="81738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5" name="Google Shape;105;g368d4930983_0_43"/>
          <p:cNvGraphicFramePr/>
          <p:nvPr/>
        </p:nvGraphicFramePr>
        <p:xfrm>
          <a:off x="1167250" y="6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{DBAC9CD9-C05F-4CF7-A4D1-CF5081DAF626}</a:tableStyleId>
              </a:tblPr>
              <a:tblGrid>
                <a:gridCol w="49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b="1"/>
                        <a:t>ACTIVIDAD</a:t>
                      </a:r>
                      <a:endParaRPr sz="17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b="1"/>
                        <a:t>RESPONSABLE</a:t>
                      </a:r>
                      <a:endParaRPr sz="17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9. Realice el rotulado de pertenencias en presencia del paciente con verificación cruzada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10. </a:t>
                      </a:r>
                      <a:r>
                        <a:rPr lang="es-MX" b="1"/>
                        <a:t>Para el servicio ambulatorio</a:t>
                      </a:r>
                      <a:r>
                        <a:rPr lang="es-MX"/>
                        <a:t> ( consulta externa, laboratorio clínico, apoyo diagnóstico y terapéutico)  se realiza la identificación desde la admisión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Auditor de ciclo económico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11. Verificar en voz alta con el paciente y familiar que los datos sean correctos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Enfermeria/ laboratorio clinico y apoyo diagnóstico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12..Indague al paciente y verifique antecedentes sobre alergias a medicamentos o alimentos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Enfermeria/ laboratorio clinico y apoyo diagnóstico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13. verifican los criterios de riesgo de caída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Enfermeria/ laboratorio clinico y apoyo diagnóstico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14. Diligenciar un stickers de identificación con letra legible 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Enfermeria/ laboratorio clinico y apoyo diagnóstico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7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15. Informar al paciente y al familiar, la importancia de disponer del stickers de forma visible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Enfermeria/ laboratorio clinico y apoyo diagnóstico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16. verificación cruzada / laboratorio se realiza el etiquetado en presencia del paciente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>
                          <a:solidFill>
                            <a:schemeClr val="dk1"/>
                          </a:solidFill>
                        </a:rPr>
                        <a:t>Auxiliar de Enfermeria/ laboratorio clinico y apoyo diagnóstico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6" name="Google Shape;106;g368d4930983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8800" y="451300"/>
            <a:ext cx="2346675" cy="23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Macintosh PowerPoint</Application>
  <PresentationFormat>Panorámica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 Black</vt:lpstr>
      <vt:lpstr>Arial</vt:lpstr>
      <vt:lpstr>Times New Roman</vt:lpstr>
      <vt:lpstr>Calibri</vt:lpstr>
      <vt:lpstr>Tema de Office</vt:lpstr>
      <vt:lpstr>Tema de Office</vt:lpstr>
      <vt:lpstr>PROTOCOLO IDENTIFICACION CORRECTA DE PACIENTES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Sharon Katherine Acuña</cp:lastModifiedBy>
  <cp:revision>1</cp:revision>
  <dcterms:created xsi:type="dcterms:W3CDTF">2024-08-26T14:52:25Z</dcterms:created>
  <dcterms:modified xsi:type="dcterms:W3CDTF">2025-10-14T04:09:32Z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Panorámica</vt:lpwstr>
  </property>
  <property fmtid="{D5CDD505-2E9C-101B-9397-08002B2CF9AE}" pid="4" name="Slides">
    <vt:i4>16</vt:i4>
  </property>
</Properties>
</file>