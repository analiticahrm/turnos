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3"/>
  </p:notesMasterIdLst>
  <p:sldIdLst>
    <p:sldId id="256" r:id="rId3"/>
    <p:sldId id="316" r:id="rId4"/>
    <p:sldId id="286" r:id="rId5"/>
    <p:sldId id="323" r:id="rId6"/>
    <p:sldId id="272" r:id="rId7"/>
    <p:sldId id="262" r:id="rId8"/>
    <p:sldId id="265" r:id="rId9"/>
    <p:sldId id="266" r:id="rId10"/>
    <p:sldId id="268" r:id="rId11"/>
    <p:sldId id="270" r:id="rId12"/>
    <p:sldId id="271" r:id="rId13"/>
    <p:sldId id="269" r:id="rId14"/>
    <p:sldId id="267" r:id="rId15"/>
    <p:sldId id="263" r:id="rId16"/>
    <p:sldId id="264" r:id="rId17"/>
    <p:sldId id="275" r:id="rId18"/>
    <p:sldId id="257" r:id="rId19"/>
    <p:sldId id="258" r:id="rId20"/>
    <p:sldId id="259" r:id="rId21"/>
    <p:sldId id="260" r:id="rId22"/>
    <p:sldId id="261" r:id="rId23"/>
    <p:sldId id="324" r:id="rId24"/>
    <p:sldId id="325" r:id="rId25"/>
    <p:sldId id="326" r:id="rId26"/>
    <p:sldId id="278" r:id="rId27"/>
    <p:sldId id="327" r:id="rId28"/>
    <p:sldId id="273" r:id="rId29"/>
    <p:sldId id="328" r:id="rId30"/>
    <p:sldId id="276" r:id="rId31"/>
    <p:sldId id="277" r:id="rId3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14" autoAdjust="0"/>
    <p:restoredTop sz="94660"/>
  </p:normalViewPr>
  <p:slideViewPr>
    <p:cSldViewPr snapToGrid="0">
      <p:cViewPr varScale="1">
        <p:scale>
          <a:sx n="47" d="100"/>
          <a:sy n="47" d="100"/>
        </p:scale>
        <p:origin x="232" y="1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z%20Marina\Desktop\PARA%20REALIZAR%20LOS%20INDICADORE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z%20Marina\Desktop\PARA%20REALIZAR%20LOS%20INDICADORE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z%20Marina\Desktop\PARA%20REALIZAR%20LOS%20INDICADORE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TOTAL</a:t>
            </a:r>
            <a:r>
              <a:rPr lang="es-CO" baseline="0"/>
              <a:t> NEONATOS INICIO DE ANTIBIOTICO</a:t>
            </a:r>
            <a:endParaRPr lang="es-CO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FEBRERO!$A$9:$A$10</c:f>
              <c:strCache>
                <c:ptCount val="2"/>
                <c:pt idx="0">
                  <c:v>NUMERO DE NEONATOS HOSPITALIZADOS </c:v>
                </c:pt>
                <c:pt idx="1">
                  <c:v>NEONATOS CON ORDEN DE ANTIBIOTICO</c:v>
                </c:pt>
              </c:strCache>
            </c:strRef>
          </c:cat>
          <c:val>
            <c:numRef>
              <c:f>FEBRERO!$B$9:$B$10</c:f>
              <c:numCache>
                <c:formatCode>General</c:formatCode>
                <c:ptCount val="2"/>
                <c:pt idx="0">
                  <c:v>11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8C-4AC7-9EA1-EB0CBE5167E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47204688"/>
        <c:axId val="447202288"/>
      </c:barChart>
      <c:catAx>
        <c:axId val="447204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447202288"/>
        <c:crosses val="autoZero"/>
        <c:auto val="1"/>
        <c:lblAlgn val="ctr"/>
        <c:lblOffset val="100"/>
        <c:noMultiLvlLbl val="0"/>
      </c:catAx>
      <c:valAx>
        <c:axId val="4472022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447204688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OPORTUNIDAD</a:t>
            </a:r>
            <a:r>
              <a:rPr lang="es-CO" baseline="0"/>
              <a:t> DE INICIO DE ANTIBIOTICO </a:t>
            </a:r>
            <a:endParaRPr lang="es-CO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  <a:tileRect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FEBRERO!$H$4:$H$7</c:f>
              <c:strCache>
                <c:ptCount val="4"/>
                <c:pt idx="0">
                  <c:v>AMPICILINA</c:v>
                </c:pt>
                <c:pt idx="1">
                  <c:v>AMIKACINA</c:v>
                </c:pt>
                <c:pt idx="2">
                  <c:v>AMPICILINA</c:v>
                </c:pt>
                <c:pt idx="3">
                  <c:v>GENTAMICINA</c:v>
                </c:pt>
              </c:strCache>
            </c:strRef>
          </c:cat>
          <c:val>
            <c:numRef>
              <c:f>FEBRERO!$I$4:$I$7</c:f>
              <c:numCache>
                <c:formatCode>General</c:formatCode>
                <c:ptCount val="4"/>
                <c:pt idx="0">
                  <c:v>30</c:v>
                </c:pt>
                <c:pt idx="1">
                  <c:v>60</c:v>
                </c:pt>
                <c:pt idx="2">
                  <c:v>120</c:v>
                </c:pt>
                <c:pt idx="3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D0-4D02-A9AB-3F67C92E08E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343641296"/>
        <c:axId val="343641776"/>
      </c:barChart>
      <c:catAx>
        <c:axId val="343641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343641776"/>
        <c:crosses val="autoZero"/>
        <c:auto val="1"/>
        <c:lblAlgn val="ctr"/>
        <c:lblOffset val="100"/>
        <c:noMultiLvlLbl val="0"/>
      </c:catAx>
      <c:valAx>
        <c:axId val="343641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343641296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tx1">
                <a:lumMod val="15000"/>
                <a:lumOff val="85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INICIO</a:t>
            </a:r>
            <a:r>
              <a:rPr lang="es-CO" baseline="0"/>
              <a:t> OPORTUNO DE SULFATO Mg</a:t>
            </a:r>
            <a:endParaRPr lang="es-CO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  <a:tileRect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FEBRERO!$A$41:$A$43</c:f>
              <c:strCache>
                <c:ptCount val="3"/>
                <c:pt idx="0">
                  <c:v>TOTAL DE PACIENTES CON SULFATO DE Mg</c:v>
                </c:pt>
                <c:pt idx="1">
                  <c:v>ADMINISTRACION MENOR A 15 MIN</c:v>
                </c:pt>
                <c:pt idx="2">
                  <c:v>ADMINISTRACION MENOR A 20 MIN</c:v>
                </c:pt>
              </c:strCache>
            </c:strRef>
          </c:cat>
          <c:val>
            <c:numRef>
              <c:f>FEBRERO!$B$41:$B$43</c:f>
              <c:numCache>
                <c:formatCode>General</c:formatCode>
                <c:ptCount val="3"/>
                <c:pt idx="0">
                  <c:v>3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7A-4B05-B2CC-6F7B9B0C30E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373526160"/>
        <c:axId val="373519440"/>
      </c:barChart>
      <c:catAx>
        <c:axId val="3735261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373519440"/>
        <c:crosses val="autoZero"/>
        <c:auto val="1"/>
        <c:lblAlgn val="ctr"/>
        <c:lblOffset val="100"/>
        <c:noMultiLvlLbl val="0"/>
      </c:catAx>
      <c:valAx>
        <c:axId val="3735194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373526160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tx2">
                <a:lumMod val="15000"/>
                <a:lumOff val="85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c:style val="2"/>
  <c:chart>
    <c:title>
      <c:tx>
        <c:rich>
          <a:bodyPr rot="0"/>
          <a:lstStyle/>
          <a:p>
            <a:pPr>
              <a:defRPr lang="es-CO" sz="1862" b="1" strike="noStrike" spc="-1">
                <a:solidFill>
                  <a:srgbClr val="595959"/>
                </a:solidFill>
                <a:latin typeface="Calibri"/>
              </a:defRPr>
            </a:pPr>
            <a:r>
              <a:rPr lang="es-CO" sz="1862" b="1" strike="noStrike" spc="-1" dirty="0">
                <a:solidFill>
                  <a:srgbClr val="595959"/>
                </a:solidFill>
                <a:latin typeface="Calibri"/>
              </a:rPr>
              <a:t>ADHERENCIA DEL PERSONAL DE ENFERMERIA A CAPACITACIONES/ GINECOLOGIA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Hoja1!$A$1</c:f>
              <c:strCache>
                <c:ptCount val="1"/>
                <c:pt idx="0">
                  <c:v>PROTOCOLO DE TOMA DE SIGNOS VIALES </c:v>
                </c:pt>
              </c:strCache>
            </c:strRef>
          </c:tx>
          <c:spPr>
            <a:solidFill>
              <a:srgbClr val="4472C4"/>
            </a:solidFill>
            <a:ln w="0">
              <a:noFill/>
            </a:ln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200" b="1" strike="noStrike" spc="-1">
                    <a:solidFill>
                      <a:srgbClr val="404040"/>
                    </a:solidFill>
                    <a:latin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val>
            <c:numRef>
              <c:f>Hoja1!$A$2</c:f>
              <c:numCache>
                <c:formatCode>General</c:formatCode>
                <c:ptCount val="1"/>
                <c:pt idx="0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0C-44A8-B204-5277BB9D7ECF}"/>
            </c:ext>
          </c:extLst>
        </c:ser>
        <c:ser>
          <c:idx val="1"/>
          <c:order val="1"/>
          <c:tx>
            <c:strRef>
              <c:f>Hoja1!$B$1</c:f>
              <c:strCache>
                <c:ptCount val="1"/>
                <c:pt idx="0">
                  <c:v>PROTOCOLO DE MANEJO DE CODIGO AZUL</c:v>
                </c:pt>
              </c:strCache>
            </c:strRef>
          </c:tx>
          <c:spPr>
            <a:solidFill>
              <a:srgbClr val="ED7D31"/>
            </a:solidFill>
            <a:ln w="0">
              <a:noFill/>
            </a:ln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200" b="1" strike="noStrike" spc="-1">
                    <a:solidFill>
                      <a:srgbClr val="404040"/>
                    </a:solidFill>
                    <a:latin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val>
            <c:numRef>
              <c:f>Hoja1!$B$2</c:f>
              <c:numCache>
                <c:formatCode>General</c:formatCode>
                <c:ptCount val="1"/>
                <c:pt idx="0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0C-44A8-B204-5277BB9D7ECF}"/>
            </c:ext>
          </c:extLst>
        </c:ser>
        <c:ser>
          <c:idx val="2"/>
          <c:order val="2"/>
          <c:tx>
            <c:strRef>
              <c:f>Hoja1!$C$1</c:f>
              <c:strCache>
                <c:ptCount val="1"/>
                <c:pt idx="0">
                  <c:v>PROTOCOLO DE SUJECION MECANICA DE PACIENTE</c:v>
                </c:pt>
              </c:strCache>
            </c:strRef>
          </c:tx>
          <c:spPr>
            <a:solidFill>
              <a:srgbClr val="A5A5A5"/>
            </a:solidFill>
            <a:ln w="0">
              <a:noFill/>
            </a:ln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200" b="1" strike="noStrike" spc="-1">
                    <a:solidFill>
                      <a:srgbClr val="404040"/>
                    </a:solidFill>
                    <a:latin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val>
            <c:numRef>
              <c:f>Hoja1!$C$2</c:f>
              <c:numCache>
                <c:formatCode>General</c:formatCode>
                <c:ptCount val="1"/>
                <c:pt idx="0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0C-44A8-B204-5277BB9D7ECF}"/>
            </c:ext>
          </c:extLst>
        </c:ser>
        <c:ser>
          <c:idx val="3"/>
          <c:order val="3"/>
          <c:tx>
            <c:strRef>
              <c:f>Hoja1!$D$1</c:f>
              <c:strCache>
                <c:ptCount val="1"/>
                <c:pt idx="0">
                  <c:v>PROTOCOLO DE  ATENCION DE CODIGO ROJO</c:v>
                </c:pt>
              </c:strCache>
            </c:strRef>
          </c:tx>
          <c:spPr>
            <a:solidFill>
              <a:srgbClr val="FFC000"/>
            </a:solidFill>
            <a:ln w="0">
              <a:noFill/>
            </a:ln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200" b="1" strike="noStrike" spc="-1">
                    <a:solidFill>
                      <a:srgbClr val="404040"/>
                    </a:solidFill>
                    <a:latin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val>
            <c:numRef>
              <c:f>Hoja1!$D$2</c:f>
              <c:numCache>
                <c:formatCode>General</c:formatCode>
                <c:ptCount val="1"/>
                <c:pt idx="0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D0C-44A8-B204-5277BB9D7ECF}"/>
            </c:ext>
          </c:extLst>
        </c:ser>
        <c:ser>
          <c:idx val="4"/>
          <c:order val="4"/>
          <c:tx>
            <c:strRef>
              <c:f>Hoja1!$E$1</c:f>
              <c:strCache>
                <c:ptCount val="1"/>
                <c:pt idx="0">
                  <c:v>PROTOCOLO DE AISLAMIENTO DE PACIENTE</c:v>
                </c:pt>
              </c:strCache>
            </c:strRef>
          </c:tx>
          <c:spPr>
            <a:solidFill>
              <a:srgbClr val="5B9BD5"/>
            </a:solidFill>
            <a:ln w="0">
              <a:noFill/>
            </a:ln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200" b="1" strike="noStrike" spc="-1">
                    <a:solidFill>
                      <a:srgbClr val="404040"/>
                    </a:solidFill>
                    <a:latin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val>
            <c:numRef>
              <c:f>Hoja1!$E$2</c:f>
              <c:numCache>
                <c:formatCode>General</c:formatCode>
                <c:ptCount val="1"/>
                <c:pt idx="0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D0C-44A8-B204-5277BB9D7ECF}"/>
            </c:ext>
          </c:extLst>
        </c:ser>
        <c:ser>
          <c:idx val="5"/>
          <c:order val="5"/>
          <c:tx>
            <c:strRef>
              <c:f>Hoja1!$F$1</c:f>
              <c:strCache>
                <c:ptCount val="1"/>
              </c:strCache>
            </c:strRef>
          </c:tx>
          <c:spPr>
            <a:solidFill>
              <a:srgbClr val="70AD47"/>
            </a:solidFill>
            <a:ln w="0">
              <a:noFill/>
            </a:ln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197" b="0" strike="noStrike" spc="-1">
                    <a:solidFill>
                      <a:srgbClr val="404040"/>
                    </a:solidFill>
                    <a:latin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val>
            <c:numRef>
              <c:f>Hoja1!$F$2</c:f>
            </c:numRef>
          </c:val>
          <c:extLst>
            <c:ext xmlns:c16="http://schemas.microsoft.com/office/drawing/2014/chart" uri="{C3380CC4-5D6E-409C-BE32-E72D297353CC}">
              <c16:uniqueId val="{00000005-6D0C-44A8-B204-5277BB9D7E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5164444"/>
        <c:axId val="62137374"/>
      </c:barChart>
      <c:catAx>
        <c:axId val="2516444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sz="1197" b="0" strike="noStrike" spc="-1">
                <a:solidFill>
                  <a:srgbClr val="595959"/>
                </a:solidFill>
                <a:latin typeface="Calibri"/>
              </a:defRPr>
            </a:pPr>
            <a:endParaRPr lang="es-CO"/>
          </a:p>
        </c:txPr>
        <c:crossAx val="62137374"/>
        <c:crosses val="autoZero"/>
        <c:auto val="1"/>
        <c:lblAlgn val="ctr"/>
        <c:lblOffset val="100"/>
        <c:noMultiLvlLbl val="0"/>
      </c:catAx>
      <c:valAx>
        <c:axId val="62137374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sz="1197" b="0" strike="noStrike" spc="-1">
                <a:solidFill>
                  <a:srgbClr val="595959"/>
                </a:solidFill>
                <a:latin typeface="Calibri"/>
              </a:defRPr>
            </a:pPr>
            <a:endParaRPr lang="es-CO"/>
          </a:p>
        </c:txPr>
        <c:crossAx val="25164444"/>
        <c:crosses val="autoZero"/>
        <c:crossBetween val="between"/>
      </c:valAx>
      <c:spPr>
        <a:noFill/>
        <a:ln w="0">
          <a:noFill/>
        </a:ln>
      </c:spPr>
    </c:plotArea>
    <c:legend>
      <c:legendPos val="b"/>
      <c:legendEntry>
        <c:idx val="4"/>
        <c:delete val="1"/>
      </c:legendEntry>
      <c:overlay val="0"/>
      <c:spPr>
        <a:noFill/>
        <a:ln w="0">
          <a:noFill/>
        </a:ln>
      </c:spPr>
      <c:txPr>
        <a:bodyPr/>
        <a:lstStyle/>
        <a:p>
          <a:pPr>
            <a:defRPr sz="1197" b="0" strike="noStrike" spc="-1">
              <a:solidFill>
                <a:srgbClr val="595959"/>
              </a:solidFill>
              <a:latin typeface="Calibri"/>
            </a:defRPr>
          </a:pPr>
          <a:endParaRPr lang="es-CO"/>
        </a:p>
      </c:txPr>
    </c:legend>
    <c:plotVisOnly val="1"/>
    <c:dispBlanksAs val="gap"/>
    <c:showDLblsOverMax val="1"/>
  </c:chart>
  <c:spPr>
    <a:noFill/>
    <a:ln w="0">
      <a:noFill/>
    </a:ln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c:style val="2"/>
  <c:chart>
    <c:title>
      <c:tx>
        <c:rich>
          <a:bodyPr rot="0"/>
          <a:lstStyle/>
          <a:p>
            <a:pPr>
              <a:defRPr lang="es-CO" sz="1862" b="1" strike="noStrike" spc="-1">
                <a:solidFill>
                  <a:srgbClr val="595959"/>
                </a:solidFill>
                <a:latin typeface="Calibri"/>
              </a:defRPr>
            </a:pPr>
            <a:r>
              <a:rPr lang="es-CO" sz="1862" b="1" strike="noStrike" spc="-1">
                <a:solidFill>
                  <a:srgbClr val="595959"/>
                </a:solidFill>
                <a:latin typeface="Calibri"/>
              </a:rPr>
              <a:t>PORCENTAJE DE ADHERENCIA A LA  HISTORIA CLINICA DE GINECOLOGIA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Hoja1!$A$1</c:f>
              <c:strCache>
                <c:ptCount val="1"/>
                <c:pt idx="0">
                  <c:v>AGOSTO</c:v>
                </c:pt>
              </c:strCache>
            </c:strRef>
          </c:tx>
          <c:spPr>
            <a:solidFill>
              <a:srgbClr val="4472C4"/>
            </a:solidFill>
            <a:ln w="0">
              <a:noFill/>
            </a:ln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600" b="1" strike="noStrike" spc="-1">
                    <a:solidFill>
                      <a:srgbClr val="404040"/>
                    </a:solidFill>
                    <a:latin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errBars>
            <c:errBarType val="both"/>
            <c:errValType val="stdErr"/>
            <c:noEndCap val="0"/>
            <c:spPr>
              <a:ln w="9360">
                <a:solidFill>
                  <a:srgbClr val="595959"/>
                </a:solidFill>
                <a:round/>
              </a:ln>
            </c:spPr>
          </c:errBars>
          <c:val>
            <c:numRef>
              <c:f>Hoja1!$A$2</c:f>
              <c:numCache>
                <c:formatCode>General</c:formatCode>
                <c:ptCount val="1"/>
                <c:pt idx="0">
                  <c:v>0.96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D9-4867-9BE3-2E61A586FAF6}"/>
            </c:ext>
          </c:extLst>
        </c:ser>
        <c:ser>
          <c:idx val="1"/>
          <c:order val="1"/>
          <c:tx>
            <c:strRef>
              <c:f>Hoja1!$B$1</c:f>
              <c:strCache>
                <c:ptCount val="1"/>
                <c:pt idx="0">
                  <c:v>SEPTIEMBRE</c:v>
                </c:pt>
              </c:strCache>
            </c:strRef>
          </c:tx>
          <c:spPr>
            <a:solidFill>
              <a:srgbClr val="ED7D31"/>
            </a:solidFill>
            <a:ln w="0">
              <a:noFill/>
            </a:ln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600" b="1" strike="noStrike" spc="-1">
                    <a:solidFill>
                      <a:srgbClr val="404040"/>
                    </a:solidFill>
                    <a:latin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errBars>
            <c:errBarType val="both"/>
            <c:errValType val="stdErr"/>
            <c:noEndCap val="0"/>
            <c:spPr>
              <a:ln w="9360">
                <a:solidFill>
                  <a:srgbClr val="595959"/>
                </a:solidFill>
                <a:round/>
              </a:ln>
            </c:spPr>
          </c:errBars>
          <c:val>
            <c:numRef>
              <c:f>Hoja1!$B$2</c:f>
              <c:numCache>
                <c:formatCode>0%</c:formatCode>
                <c:ptCount val="1"/>
                <c:pt idx="0">
                  <c:v>0.96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FD9-4867-9BE3-2E61A586FAF6}"/>
            </c:ext>
          </c:extLst>
        </c:ser>
        <c:ser>
          <c:idx val="2"/>
          <c:order val="2"/>
          <c:tx>
            <c:strRef>
              <c:f>Hoja1!$C$1</c:f>
              <c:strCache>
                <c:ptCount val="1"/>
              </c:strCache>
            </c:strRef>
          </c:tx>
          <c:invertIfNegative val="0"/>
          <c:val>
            <c:numRef>
              <c:f>Hoja1!$C$2</c:f>
              <c:numCache>
                <c:formatCode>General</c:formatCode>
                <c:ptCount val="1"/>
              </c:numCache>
            </c:numRef>
          </c:val>
          <c:extLst>
            <c:ext xmlns:c16="http://schemas.microsoft.com/office/drawing/2014/chart" uri="{C3380CC4-5D6E-409C-BE32-E72D297353CC}">
              <c16:uniqueId val="{00000001-53F1-43E0-9A7A-E921CD9670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4510741"/>
        <c:axId val="13429708"/>
      </c:barChart>
      <c:catAx>
        <c:axId val="6451074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sz="1197" b="0" strike="noStrike" spc="-1">
                <a:solidFill>
                  <a:srgbClr val="595959"/>
                </a:solidFill>
                <a:latin typeface="Calibri"/>
              </a:defRPr>
            </a:pPr>
            <a:endParaRPr lang="es-CO"/>
          </a:p>
        </c:txPr>
        <c:crossAx val="13429708"/>
        <c:crosses val="autoZero"/>
        <c:auto val="1"/>
        <c:lblAlgn val="ctr"/>
        <c:lblOffset val="100"/>
        <c:noMultiLvlLbl val="0"/>
      </c:catAx>
      <c:valAx>
        <c:axId val="13429708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0%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sz="1197" b="0" strike="noStrike" spc="-1">
                <a:solidFill>
                  <a:srgbClr val="595959"/>
                </a:solidFill>
                <a:latin typeface="Calibri"/>
              </a:defRPr>
            </a:pPr>
            <a:endParaRPr lang="es-CO"/>
          </a:p>
        </c:txPr>
        <c:crossAx val="64510741"/>
        <c:crosses val="autoZero"/>
        <c:crossBetween val="between"/>
      </c:valAx>
      <c:spPr>
        <a:noFill/>
        <a:ln w="0">
          <a:noFill/>
        </a:ln>
      </c:spPr>
    </c:plotArea>
    <c:legend>
      <c:legendPos val="b"/>
      <c:layout>
        <c:manualLayout>
          <c:xMode val="edge"/>
          <c:yMode val="edge"/>
          <c:x val="0.38916292833298699"/>
          <c:y val="0.93797515145330002"/>
          <c:w val="0.25302039425469247"/>
          <c:h val="4.7965066920618048E-2"/>
        </c:manualLayout>
      </c:layout>
      <c:overlay val="0"/>
      <c:spPr>
        <a:noFill/>
        <a:ln w="0">
          <a:noFill/>
        </a:ln>
      </c:spPr>
      <c:txPr>
        <a:bodyPr/>
        <a:lstStyle/>
        <a:p>
          <a:pPr>
            <a:defRPr sz="1197" b="0" strike="noStrike" spc="-1">
              <a:solidFill>
                <a:srgbClr val="595959"/>
              </a:solidFill>
              <a:latin typeface="Calibri"/>
            </a:defRPr>
          </a:pPr>
          <a:endParaRPr lang="es-CO"/>
        </a:p>
      </c:txPr>
    </c:legend>
    <c:plotVisOnly val="1"/>
    <c:dispBlanksAs val="gap"/>
    <c:showDLblsOverMax val="1"/>
  </c:chart>
  <c:spPr>
    <a:noFill/>
    <a:ln w="0">
      <a:noFill/>
    </a:ln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c:style val="2"/>
  <c:chart>
    <c:title>
      <c:tx>
        <c:rich>
          <a:bodyPr rot="0"/>
          <a:lstStyle/>
          <a:p>
            <a:pPr>
              <a:defRPr lang="es-CO" sz="1862" b="1" strike="noStrike" spc="-1">
                <a:solidFill>
                  <a:srgbClr val="595959"/>
                </a:solidFill>
                <a:latin typeface="Calibri"/>
              </a:defRPr>
            </a:pPr>
            <a:r>
              <a:rPr lang="es-CO" sz="1862" b="1" strike="noStrike" spc="-1">
                <a:solidFill>
                  <a:srgbClr val="595959"/>
                </a:solidFill>
                <a:latin typeface="Calibri"/>
              </a:rPr>
              <a:t>PORCENTAJE DE ADHERENCIA A LA  HISTORIA CLINICA DE NEONATOS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Hoja1!$A$1</c:f>
              <c:strCache>
                <c:ptCount val="1"/>
                <c:pt idx="0">
                  <c:v>AGOSTO</c:v>
                </c:pt>
              </c:strCache>
            </c:strRef>
          </c:tx>
          <c:spPr>
            <a:solidFill>
              <a:srgbClr val="4472C4"/>
            </a:solidFill>
            <a:ln w="0">
              <a:noFill/>
            </a:ln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600" b="1" strike="noStrike" spc="-1">
                    <a:solidFill>
                      <a:srgbClr val="404040"/>
                    </a:solidFill>
                    <a:latin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errBars>
            <c:errBarType val="both"/>
            <c:errValType val="stdErr"/>
            <c:noEndCap val="0"/>
            <c:spPr>
              <a:ln w="9360">
                <a:solidFill>
                  <a:srgbClr val="595959"/>
                </a:solidFill>
                <a:round/>
              </a:ln>
            </c:spPr>
          </c:errBars>
          <c:val>
            <c:numRef>
              <c:f>Hoja1!$A$2</c:f>
              <c:numCache>
                <c:formatCode>0%</c:formatCode>
                <c:ptCount val="1"/>
                <c:pt idx="0">
                  <c:v>0.95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2E-4E3C-B7B1-D9EF307FF900}"/>
            </c:ext>
          </c:extLst>
        </c:ser>
        <c:ser>
          <c:idx val="1"/>
          <c:order val="1"/>
          <c:tx>
            <c:strRef>
              <c:f>Hoja1!$B$1</c:f>
              <c:strCache>
                <c:ptCount val="1"/>
                <c:pt idx="0">
                  <c:v>SEPTIEMBRE</c:v>
                </c:pt>
              </c:strCache>
            </c:strRef>
          </c:tx>
          <c:spPr>
            <a:solidFill>
              <a:srgbClr val="ED7D31"/>
            </a:solidFill>
            <a:ln w="0">
              <a:noFill/>
            </a:ln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600" b="1" strike="noStrike" spc="-1">
                    <a:solidFill>
                      <a:srgbClr val="404040"/>
                    </a:solidFill>
                    <a:latin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errBars>
            <c:errBarType val="both"/>
            <c:errValType val="stdErr"/>
            <c:noEndCap val="0"/>
            <c:spPr>
              <a:ln w="9360">
                <a:solidFill>
                  <a:srgbClr val="595959"/>
                </a:solidFill>
                <a:round/>
              </a:ln>
            </c:spPr>
          </c:errBars>
          <c:val>
            <c:numRef>
              <c:f>Hoja1!$B$2</c:f>
              <c:numCache>
                <c:formatCode>0%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32E-4E3C-B7B1-D9EF307FF900}"/>
            </c:ext>
          </c:extLst>
        </c:ser>
        <c:ser>
          <c:idx val="2"/>
          <c:order val="2"/>
          <c:tx>
            <c:strRef>
              <c:f>Hoja1!$C$1</c:f>
              <c:strCache>
                <c:ptCount val="1"/>
              </c:strCache>
            </c:strRef>
          </c:tx>
          <c:spPr>
            <a:solidFill>
              <a:srgbClr val="A5A5A5"/>
            </a:solidFill>
            <a:ln w="0">
              <a:noFill/>
            </a:ln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600" b="1" strike="noStrike" spc="-1">
                    <a:solidFill>
                      <a:srgbClr val="404040"/>
                    </a:solidFill>
                    <a:latin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val>
            <c:numRef>
              <c:f>Hoja1!$C$2</c:f>
            </c:numRef>
          </c:val>
          <c:extLst>
            <c:ext xmlns:c16="http://schemas.microsoft.com/office/drawing/2014/chart" uri="{C3380CC4-5D6E-409C-BE32-E72D297353CC}">
              <c16:uniqueId val="{00000002-632E-4E3C-B7B1-D9EF307FF900}"/>
            </c:ext>
          </c:extLst>
        </c:ser>
        <c:ser>
          <c:idx val="3"/>
          <c:order val="3"/>
          <c:tx>
            <c:strRef>
              <c:f>Hoja1!$D$1</c:f>
              <c:strCache>
                <c:ptCount val="1"/>
                <c:pt idx="0">
                  <c:v>ABRIL</c:v>
                </c:pt>
              </c:strCache>
            </c:strRef>
          </c:tx>
          <c:spPr>
            <a:solidFill>
              <a:srgbClr val="FFC000"/>
            </a:solidFill>
            <a:ln w="0">
              <a:noFill/>
            </a:ln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600" b="1" strike="noStrike" spc="-1">
                    <a:solidFill>
                      <a:srgbClr val="404040"/>
                    </a:solidFill>
                    <a:latin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val>
            <c:numRef>
              <c:f>Hoja1!$D$2</c:f>
            </c:numRef>
          </c:val>
          <c:extLst>
            <c:ext xmlns:c16="http://schemas.microsoft.com/office/drawing/2014/chart" uri="{C3380CC4-5D6E-409C-BE32-E72D297353CC}">
              <c16:uniqueId val="{00000003-632E-4E3C-B7B1-D9EF307FF900}"/>
            </c:ext>
          </c:extLst>
        </c:ser>
        <c:ser>
          <c:idx val="4"/>
          <c:order val="4"/>
          <c:tx>
            <c:strRef>
              <c:f>Hoja1!$E$1</c:f>
              <c:strCache>
                <c:ptCount val="1"/>
                <c:pt idx="0">
                  <c:v>MAYO</c:v>
                </c:pt>
              </c:strCache>
            </c:strRef>
          </c:tx>
          <c:spPr>
            <a:solidFill>
              <a:srgbClr val="5B9BD5"/>
            </a:solidFill>
            <a:ln w="0">
              <a:noFill/>
            </a:ln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197" b="0" strike="noStrike" spc="-1">
                    <a:solidFill>
                      <a:srgbClr val="404040"/>
                    </a:solidFill>
                    <a:latin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val>
            <c:numRef>
              <c:f>Hoja1!$E$2</c:f>
            </c:numRef>
          </c:val>
          <c:extLst>
            <c:ext xmlns:c16="http://schemas.microsoft.com/office/drawing/2014/chart" uri="{C3380CC4-5D6E-409C-BE32-E72D297353CC}">
              <c16:uniqueId val="{00000004-632E-4E3C-B7B1-D9EF307FF900}"/>
            </c:ext>
          </c:extLst>
        </c:ser>
        <c:ser>
          <c:idx val="5"/>
          <c:order val="5"/>
          <c:tx>
            <c:strRef>
              <c:f>Hoja1!$F$1</c:f>
              <c:strCache>
                <c:ptCount val="1"/>
                <c:pt idx="0">
                  <c:v>JUNIO</c:v>
                </c:pt>
              </c:strCache>
            </c:strRef>
          </c:tx>
          <c:spPr>
            <a:solidFill>
              <a:srgbClr val="70AD47"/>
            </a:solidFill>
            <a:ln w="0">
              <a:noFill/>
            </a:ln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197" b="0" strike="noStrike" spc="-1">
                    <a:solidFill>
                      <a:srgbClr val="404040"/>
                    </a:solidFill>
                    <a:latin typeface="Calibri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val>
            <c:numRef>
              <c:f>Hoja1!$F$2</c:f>
            </c:numRef>
          </c:val>
          <c:extLst>
            <c:ext xmlns:c16="http://schemas.microsoft.com/office/drawing/2014/chart" uri="{C3380CC4-5D6E-409C-BE32-E72D297353CC}">
              <c16:uniqueId val="{00000005-632E-4E3C-B7B1-D9EF307FF900}"/>
            </c:ext>
          </c:extLst>
        </c:ser>
        <c:ser>
          <c:idx val="6"/>
          <c:order val="6"/>
          <c:tx>
            <c:strRef>
              <c:f>Hoja1!$G$1</c:f>
              <c:strCache>
                <c:ptCount val="1"/>
                <c:pt idx="0">
                  <c:v>JULIO</c:v>
                </c:pt>
              </c:strCache>
            </c:strRef>
          </c:tx>
          <c:invertIfNegative val="0"/>
          <c:val>
            <c:numRef>
              <c:f>Hoja1!$G$2</c:f>
            </c:numRef>
          </c:val>
          <c:extLst>
            <c:ext xmlns:c16="http://schemas.microsoft.com/office/drawing/2014/chart" uri="{C3380CC4-5D6E-409C-BE32-E72D297353CC}">
              <c16:uniqueId val="{00000000-23FB-4885-98D5-1090064CC3A8}"/>
            </c:ext>
          </c:extLst>
        </c:ser>
        <c:ser>
          <c:idx val="7"/>
          <c:order val="7"/>
          <c:tx>
            <c:strRef>
              <c:f>Hoja1!$H$1</c:f>
              <c:strCache>
                <c:ptCount val="1"/>
                <c:pt idx="0">
                  <c:v>AGOSTO</c:v>
                </c:pt>
              </c:strCache>
            </c:strRef>
          </c:tx>
          <c:invertIfNegative val="0"/>
          <c:val>
            <c:numRef>
              <c:f>Hoja1!$H$2</c:f>
            </c:numRef>
          </c:val>
          <c:extLst>
            <c:ext xmlns:c16="http://schemas.microsoft.com/office/drawing/2014/chart" uri="{C3380CC4-5D6E-409C-BE32-E72D297353CC}">
              <c16:uniqueId val="{00000001-23FB-4885-98D5-1090064CC3A8}"/>
            </c:ext>
          </c:extLst>
        </c:ser>
        <c:ser>
          <c:idx val="8"/>
          <c:order val="8"/>
          <c:tx>
            <c:strRef>
              <c:f>Hoja1!$I$1</c:f>
              <c:strCache>
                <c:ptCount val="1"/>
              </c:strCache>
            </c:strRef>
          </c:tx>
          <c:invertIfNegative val="0"/>
          <c:val>
            <c:numRef>
              <c:f>Hoja1!$I$2</c:f>
            </c:numRef>
          </c:val>
          <c:extLst>
            <c:ext xmlns:c16="http://schemas.microsoft.com/office/drawing/2014/chart" uri="{C3380CC4-5D6E-409C-BE32-E72D297353CC}">
              <c16:uniqueId val="{00000002-23FB-4885-98D5-1090064CC3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4120389"/>
        <c:axId val="58158549"/>
      </c:barChart>
      <c:catAx>
        <c:axId val="74120389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sz="1197" b="0" strike="noStrike" spc="-1">
                <a:solidFill>
                  <a:srgbClr val="595959"/>
                </a:solidFill>
                <a:latin typeface="Calibri"/>
              </a:defRPr>
            </a:pPr>
            <a:endParaRPr lang="es-CO"/>
          </a:p>
        </c:txPr>
        <c:crossAx val="58158549"/>
        <c:crosses val="autoZero"/>
        <c:auto val="1"/>
        <c:lblAlgn val="ctr"/>
        <c:lblOffset val="100"/>
        <c:noMultiLvlLbl val="0"/>
      </c:catAx>
      <c:valAx>
        <c:axId val="58158549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0%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sz="1197" b="0" strike="noStrike" spc="-1">
                <a:solidFill>
                  <a:srgbClr val="595959"/>
                </a:solidFill>
                <a:latin typeface="Calibri"/>
              </a:defRPr>
            </a:pPr>
            <a:endParaRPr lang="es-CO"/>
          </a:p>
        </c:txPr>
        <c:crossAx val="74120389"/>
        <c:crosses val="autoZero"/>
        <c:crossBetween val="between"/>
      </c:valAx>
      <c:spPr>
        <a:noFill/>
        <a:ln w="0">
          <a:noFill/>
        </a:ln>
      </c:spPr>
    </c:plotArea>
    <c:legend>
      <c:legendPos val="b"/>
      <c:layout>
        <c:manualLayout>
          <c:xMode val="edge"/>
          <c:yMode val="edge"/>
          <c:x val="0.38916292833298699"/>
          <c:y val="0.93797515145330002"/>
          <c:w val="0.22962605087127205"/>
          <c:h val="4.7965066920618048E-2"/>
        </c:manualLayout>
      </c:layout>
      <c:overlay val="0"/>
      <c:spPr>
        <a:noFill/>
        <a:ln w="0">
          <a:noFill/>
        </a:ln>
      </c:spPr>
      <c:txPr>
        <a:bodyPr/>
        <a:lstStyle/>
        <a:p>
          <a:pPr>
            <a:defRPr sz="1197" b="0" strike="noStrike" spc="-1">
              <a:solidFill>
                <a:srgbClr val="595959"/>
              </a:solidFill>
              <a:latin typeface="Calibri"/>
            </a:defRPr>
          </a:pPr>
          <a:endParaRPr lang="es-CO"/>
        </a:p>
      </c:txPr>
    </c:legend>
    <c:plotVisOnly val="1"/>
    <c:dispBlanksAs val="gap"/>
    <c:showDLblsOverMax val="1"/>
  </c:chart>
  <c:spPr>
    <a:noFill/>
    <a:ln w="0">
      <a:noFill/>
    </a:ln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20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932F6B-34BE-EE45-84F4-C70EBABA3775}" type="datetimeFigureOut">
              <a:rPr lang="es-CO" smtClean="0"/>
              <a:t>13/10/25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708438-2734-FA4D-8334-607960EEFC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0688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B9115D-8887-4ED7-9483-3B3B9EA74CBD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8709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2F5F97-1020-4EE6-ACA1-E90897E1D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759910-1034-49E7-BC79-A28022929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8F966D-C1C7-40B0-8162-73CDD1D80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13/10/25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DB57A8-5238-40C4-9A88-85BF392CF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7885B3-B239-4D90-B0FD-A877E874E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3594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E4AE1A-77EF-484F-A804-44EA302E9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646D03-5F22-4FA5-9817-2E410DFDD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E9FB61-F9C1-4AA1-99BC-7FC860015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13/10/25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68517D-FDB7-4C54-926C-6304547E3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F863A7-71BC-40F8-A158-5A9A60572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7401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7C4E17-CB96-4580-8A84-23CF451DA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E743F1-DEAC-4FEA-91AE-57CBDF598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BEDFEA-2651-4C28-9F34-60EF56193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13/10/25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8A936E-A542-4128-89FE-25910D878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454940-65B8-43B5-805A-62F15723B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9430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86DA25-4C0D-463D-8289-FD732DC76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7EFF1D-D0BE-43A4-A41B-9A5351DE9D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B3B7E19-8BC9-476E-B506-BDD3FD610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BF8CF4-5E72-4DEB-B453-063D3A0C3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13/10/25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299471-A835-445F-85B7-0393FD2D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22F38A-CD7A-4C0A-841F-3C02134E5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3086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D640F6-05C2-4688-955A-7296D0579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DF0F71-EDCE-454E-AC7A-677AE7014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21545F-6E58-42EF-8380-F7D3C73B9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2EE216B-093A-470C-8716-5CD593F78D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4D12FC-F7E9-471F-9845-0726EC8919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1A4E2CE-8782-4667-83A9-AD4D03229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13/10/25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742954F-5699-49D0-B195-CC6190678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428E020-0DE7-4ADC-B298-3E3348C41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2537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71C42E-3A84-4A7D-A0D7-DFDBEEDAE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607FEBB-E137-4290-A7C2-BB81D055C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13/10/25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BB4A668-FBFF-444A-9606-25D30B879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EAD0BAB-85DB-4994-8FE2-8B134970A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55657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0EAEA6E-C7E2-400D-9F2C-7655A3A7F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13/10/25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EAF9C2-66E4-4F6C-B5A9-DCE7CBD54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54F549-00DE-4C3D-92E9-C11D0660D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75723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AC0ED-9A90-49B3-8F84-4CCBDA10A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2F82F6-A48C-4802-95FC-4E44B56B9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DCDABEF-7742-4D1B-98F0-BDC980609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4EEF5A-EECA-4654-BFBC-C3224B67C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13/10/25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26A55B-4ECE-4555-81F3-7B01EFF52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BC4BBE-5C8F-406F-A5F6-D7DC51E74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91315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485C43-08EF-4BD9-A218-38CAD2668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4B6F318-8444-4900-BC88-875353FA60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3D25216-3601-4132-A466-A43F91446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07827F-E9CB-426E-88E8-51BB70238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13/10/25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5746CE-82F9-4FA8-9A0E-E8F8DA709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1589BA-AA34-440C-96EE-5096F4D80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4697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951E2B-923F-4458-9B56-B6694F6C3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3F8E8BD-05AE-42F6-A28F-DE6821AC6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F1BADB-96DB-4328-9A9B-39ECD0645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13/10/25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F361CB-E120-4FCE-BC69-B351C1064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0C5800-7D4C-473A-A846-3DA77B77F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5846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39A63E9-572F-4E70-900E-8289A8BA08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F3A2B5C-5897-4F84-B25A-DEA36E31F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819DD3-DEDB-4FDA-B961-E728E57A9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13/10/25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EFDFE9-8BB3-47D4-8027-F3E67B3CA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ABD4CB-278D-4FCC-99DC-7BC9FE90A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35469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E946494-D10C-4A4E-8DE4-23BF64D8BCE0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403529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CO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1748E6F-9E86-4E2F-A74C-8195ADE15869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02414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6FD045D-9E1F-4A78-98F6-FDA4AC012317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489128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07367FF-C927-403D-9742-67613AED7AF5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68269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21B933A-E852-4FE6-8FF7-24003DA81C8C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73977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CO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9601922-5F5F-40C7-A5CD-87A5F72C7D84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77967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EDEAD30-1DD9-4D27-85DB-1CF7600EABFB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180164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208C806-2CE3-42DD-843B-62864ED66D9C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855186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3566755-ED49-42BB-B2DA-04AAA8DCA67E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43201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5757295-4C62-4DC4-8EC7-7A8C059B03AB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58217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463AAD2-3058-4004-94D1-0344704C22D9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81615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64387A2-5E16-4155-9354-CBDD9E20773B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5017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BBD8030-76DF-446F-8225-156CADC5D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1A0A47-AAFE-4984-8867-B71DC703F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E5AFFB-23A1-4118-A1AD-F7A3420B9E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D464F-AE49-4530-AB8F-BF5C16571F6A}" type="datetimeFigureOut">
              <a:rPr lang="es-CO" smtClean="0"/>
              <a:t>13/10/25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7482B8-2E51-4D91-8D5A-2BE6ED75B6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2081BF-C090-4E4F-855F-FB857FCD28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1825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s-ES" sz="4400" b="0" strike="noStrike" spc="-1">
                <a:solidFill>
                  <a:schemeClr val="dk1"/>
                </a:solidFill>
                <a:latin typeface="Calibri Light"/>
              </a:rPr>
              <a:t>Haga clic para modificar el estilo de título del patrón</a:t>
            </a:r>
            <a:endParaRPr lang="es-CO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strike="noStrike" spc="-1">
                <a:solidFill>
                  <a:schemeClr val="dk1"/>
                </a:solidFill>
                <a:latin typeface="Calibri"/>
              </a:rPr>
              <a:t>Haga clic para modificar los estilos de texto del patrón</a:t>
            </a: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strike="noStrike" spc="-1">
                <a:solidFill>
                  <a:schemeClr val="dk1"/>
                </a:solidFill>
                <a:latin typeface="Calibri"/>
              </a:rPr>
              <a:t>Segundo nivel</a:t>
            </a:r>
            <a:endParaRPr lang="es-CO" sz="2400" b="0" strike="noStrike" spc="-1">
              <a:solidFill>
                <a:schemeClr val="dk1"/>
              </a:solidFill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strike="noStrike" spc="-1">
                <a:solidFill>
                  <a:schemeClr val="dk1"/>
                </a:solidFill>
                <a:latin typeface="Calibri"/>
              </a:rPr>
              <a:t>Tercer nivel</a:t>
            </a:r>
            <a:endParaRPr lang="es-CO" sz="2000" b="0" strike="noStrike" spc="-1">
              <a:solidFill>
                <a:schemeClr val="dk1"/>
              </a:solidFill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Cuarto nivel</a:t>
            </a: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Quinto nivel</a:t>
            </a: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lang="es-CO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O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CO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44EBB1-3477-49E6-85AB-80FB40787958}" type="slidenum">
              <a: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‹Nº›</a:t>
            </a:fld>
            <a:endParaRPr lang="es-CO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55179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3.xml"/><Relationship Id="rId4" Type="http://schemas.openxmlformats.org/officeDocument/2006/relationships/image" Target="../media/image24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B69533-1871-4A5A-9BE1-C29688C85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2575" y="1491670"/>
            <a:ext cx="7824690" cy="1937330"/>
          </a:xfrm>
        </p:spPr>
        <p:txBody>
          <a:bodyPr>
            <a:noAutofit/>
          </a:bodyPr>
          <a:lstStyle/>
          <a:p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EQUIPO PRIMARIO GINECOLOGIA MES DE SEPTIEMBRE     CON DATOS DE AGOSTO  2025</a:t>
            </a:r>
            <a:endParaRPr lang="es-CO" sz="32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CD6ED36-3E6F-4691-BDA3-31B08010D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4306" y="4233409"/>
            <a:ext cx="9144000" cy="1655762"/>
          </a:xfrm>
        </p:spPr>
        <p:txBody>
          <a:bodyPr>
            <a:normAutofit fontScale="77500" lnSpcReduction="20000"/>
          </a:bodyPr>
          <a:lstStyle/>
          <a:p>
            <a:r>
              <a:rPr lang="es-MX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PRESENTA</a:t>
            </a:r>
          </a:p>
          <a:p>
            <a:endParaRPr lang="es-MX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s-MX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SHARON KATHERINE ACUÑA RUBIANO</a:t>
            </a:r>
          </a:p>
          <a:p>
            <a:r>
              <a:rPr lang="es-MX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LUZ MARINA CALDERON </a:t>
            </a:r>
          </a:p>
          <a:p>
            <a:r>
              <a:rPr lang="es-MX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LIDERES  UNIDAD FUNCIONALIDAD GINECOLOGIA 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795083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D533AD-3155-FE04-DF94-1166C78BB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9491EE5A-5398-8109-7601-8E7134EBBA55}"/>
              </a:ext>
            </a:extLst>
          </p:cNvPr>
          <p:cNvSpPr txBox="1">
            <a:spLocks/>
          </p:cNvSpPr>
          <p:nvPr/>
        </p:nvSpPr>
        <p:spPr>
          <a:xfrm>
            <a:off x="2272144" y="755725"/>
            <a:ext cx="8850227" cy="613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ORDEN DEL DIA </a:t>
            </a:r>
            <a:endParaRPr lang="es-C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DDB413F-93ED-E8B9-7FAF-0B4F36BCEAA5}"/>
              </a:ext>
            </a:extLst>
          </p:cNvPr>
          <p:cNvSpPr txBox="1"/>
          <p:nvPr/>
        </p:nvSpPr>
        <p:spPr>
          <a:xfrm>
            <a:off x="914400" y="1845859"/>
            <a:ext cx="12225866" cy="5012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s-CO" sz="14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Verificación de Quorum</a:t>
            </a:r>
            <a:endParaRPr lang="es-CO" sz="16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Revisión de Compromisos</a:t>
            </a:r>
            <a:endParaRPr lang="es-CO" sz="16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Aprobación del acta mes de SEPTIEMBRE de 2025 (disponible en ALMERA)</a:t>
            </a:r>
            <a:endParaRPr lang="es-CO" sz="16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Presentación indicadores ginecología fecha de corte mes SEPTIEMBRE    2025 ( médicos/ enfermería )</a:t>
            </a:r>
            <a:endParaRPr lang="es-CO" sz="16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6 Clasificación de riesgos en ginecología ( internos ginecología) </a:t>
            </a:r>
            <a:endParaRPr lang="es-CO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7 protocolo de identificación segura de pacientes ( jefe Jenifer sarmiento/ Karen Gómez / yermis Camacho ) </a:t>
            </a:r>
            <a:endParaRPr lang="es-CO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 taller ESCALA DE ALERTA TEMPRANA ( servicio ginecología ) </a:t>
            </a:r>
            <a:endParaRPr lang="es-CO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9 VARIOS </a:t>
            </a:r>
            <a:endParaRPr lang="es-CO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ACTIVIDADES DURANTE EL MES</a:t>
            </a:r>
            <a:endParaRPr lang="es-CO" sz="16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s-CO" sz="16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Symbol" pitchFamily="2" charset="2"/>
              <a:buChar char=""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VIA CLINICA  TRANSTORNOS HIPERTENSIVOS DEL EMBARAZO ( Residentes medicina familiar interna Ana Sofia )  </a:t>
            </a:r>
            <a:endParaRPr lang="es-CO" sz="16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Symbol" pitchFamily="2" charset="2"/>
              <a:buChar char=""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VIA CLINICA HEMORRAGIAS DEL TERCER TRIMESTRE ( Residentes medicina familiar –  interna Sheila ) </a:t>
            </a:r>
            <a:endParaRPr lang="es-CO" sz="16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Symbol" pitchFamily="2" charset="2"/>
              <a:buChar char=""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SIMULACRO de sepsis obstétrica  - eventos tromboembólicos </a:t>
            </a:r>
            <a:endParaRPr lang="es-CO" sz="16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Symbol" pitchFamily="2" charset="2"/>
              <a:buChar char=""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SOCIALIZACION  hemorragia uterina anormal vía clínica </a:t>
            </a:r>
            <a:endParaRPr lang="es-CO" sz="16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s-CO" sz="16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371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739B8C77-8440-FCC1-1BB5-80D78A2D083D}"/>
              </a:ext>
            </a:extLst>
          </p:cNvPr>
          <p:cNvSpPr txBox="1">
            <a:spLocks/>
          </p:cNvSpPr>
          <p:nvPr/>
        </p:nvSpPr>
        <p:spPr>
          <a:xfrm>
            <a:off x="2272144" y="755725"/>
            <a:ext cx="8850227" cy="613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COMPROMISOS  </a:t>
            </a:r>
            <a:endParaRPr lang="es-C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0F15455-A5D2-FBB4-207F-CFAB7FB9F9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2144" y="1910443"/>
            <a:ext cx="8850227" cy="476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401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68E563-9385-DD41-C798-53686B088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29992983-8331-5973-ED63-91E5ACED7B5C}"/>
              </a:ext>
            </a:extLst>
          </p:cNvPr>
          <p:cNvSpPr txBox="1">
            <a:spLocks/>
          </p:cNvSpPr>
          <p:nvPr/>
        </p:nvSpPr>
        <p:spPr>
          <a:xfrm>
            <a:off x="2272144" y="755725"/>
            <a:ext cx="8850227" cy="613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COMPROMISOS  </a:t>
            </a:r>
            <a:endParaRPr lang="es-C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69C4805-1915-2B36-1ECC-9518BD738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7378" y="1992086"/>
            <a:ext cx="8850227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34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694F97-463B-721D-714B-0910873888DD}"/>
              </a:ext>
            </a:extLst>
          </p:cNvPr>
          <p:cNvSpPr txBox="1">
            <a:spLocks/>
          </p:cNvSpPr>
          <p:nvPr/>
        </p:nvSpPr>
        <p:spPr>
          <a:xfrm>
            <a:off x="3058473" y="387350"/>
            <a:ext cx="6379853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COMPLICACIONES OBSTETRICAS    </a:t>
            </a:r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71C5F601-8DC6-31FC-224E-EFCA02059FD5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BF02791-63F7-8629-58D8-FF83B5007D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128" y="2270964"/>
            <a:ext cx="8158843" cy="3494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39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A36AA0DA-0824-D3D7-01CA-4173EC92397F}"/>
              </a:ext>
            </a:extLst>
          </p:cNvPr>
          <p:cNvSpPr txBox="1">
            <a:spLocks/>
          </p:cNvSpPr>
          <p:nvPr/>
        </p:nvSpPr>
        <p:spPr>
          <a:xfrm>
            <a:off x="3058473" y="387350"/>
            <a:ext cx="6379853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ENDOMETRITIS POS PARTO      </a:t>
            </a:r>
          </a:p>
        </p:txBody>
      </p:sp>
      <p:sp>
        <p:nvSpPr>
          <p:cNvPr id="14" name="CuadroTexto 3">
            <a:extLst>
              <a:ext uri="{FF2B5EF4-FFF2-40B4-BE49-F238E27FC236}">
                <a16:creationId xmlns:a16="http://schemas.microsoft.com/office/drawing/2014/main" id="{2D50408F-79E6-B4CD-6A0F-3FEB4D042EF0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AB31072-D29E-F47F-D2C2-D93F2B5A63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771" y="1975756"/>
            <a:ext cx="8980715" cy="3788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834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7E0D9-373D-00EF-46CA-DC5F0BEE775A}"/>
              </a:ext>
            </a:extLst>
          </p:cNvPr>
          <p:cNvSpPr txBox="1">
            <a:spLocks/>
          </p:cNvSpPr>
          <p:nvPr/>
        </p:nvSpPr>
        <p:spPr>
          <a:xfrm>
            <a:off x="3058473" y="707775"/>
            <a:ext cx="6379853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DIAS ESTANCIA EGRESOS OBSTETRICOS      </a:t>
            </a:r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95F75325-14E7-7AC2-7AA3-085AAC0FDE44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C1CDBCA-F433-E7DD-2FFF-25425B550E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814" y="2334986"/>
            <a:ext cx="9144000" cy="3345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146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A1A2D7-31D8-6B0F-41CA-BA51991C16BD}"/>
              </a:ext>
            </a:extLst>
          </p:cNvPr>
          <p:cNvSpPr txBox="1">
            <a:spLocks/>
          </p:cNvSpPr>
          <p:nvPr/>
        </p:nvSpPr>
        <p:spPr>
          <a:xfrm>
            <a:off x="3058473" y="387350"/>
            <a:ext cx="6379853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EGRESOS OBSTETRICOS      </a:t>
            </a:r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1FB92862-CF61-1F74-EB9F-FB7D0E100469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52083EC-35BF-D683-33D5-4C2B74C848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057" y="2082539"/>
            <a:ext cx="8915400" cy="4174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5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9B0F67-9AEB-2598-EF11-4AC9A955EC75}"/>
              </a:ext>
            </a:extLst>
          </p:cNvPr>
          <p:cNvSpPr txBox="1">
            <a:spLocks/>
          </p:cNvSpPr>
          <p:nvPr/>
        </p:nvSpPr>
        <p:spPr>
          <a:xfrm>
            <a:off x="3058473" y="387350"/>
            <a:ext cx="6379853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GIRO CAMA  </a:t>
            </a:r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19A11068-9215-7C12-0106-0D56B490BAE1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9D7DEB5-E9FA-4926-A924-FB8641339C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614" y="2188029"/>
            <a:ext cx="9154886" cy="349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6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E11858-B2B8-2B2E-AEFF-644B98858813}"/>
              </a:ext>
            </a:extLst>
          </p:cNvPr>
          <p:cNvSpPr txBox="1">
            <a:spLocks/>
          </p:cNvSpPr>
          <p:nvPr/>
        </p:nvSpPr>
        <p:spPr>
          <a:xfrm>
            <a:off x="2482068" y="552843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MORTALIDAD ANTES DE LAS 24 HORAS   </a:t>
            </a:r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8B60DD31-EB8A-D65F-560F-9A87925A7105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77D6B2E-85A5-864E-1F79-972259D446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68" y="2241229"/>
            <a:ext cx="7772400" cy="2638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650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E18DAE4-8748-CE2B-228F-408F93E7A259}"/>
              </a:ext>
            </a:extLst>
          </p:cNvPr>
          <p:cNvSpPr txBox="1">
            <a:spLocks/>
          </p:cNvSpPr>
          <p:nvPr/>
        </p:nvSpPr>
        <p:spPr>
          <a:xfrm>
            <a:off x="2421500" y="376738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PRODUCCIÓN   NACIMIENTOS     </a:t>
            </a:r>
          </a:p>
        </p:txBody>
      </p:sp>
      <p:sp>
        <p:nvSpPr>
          <p:cNvPr id="6" name="CuadroTexto 3">
            <a:extLst>
              <a:ext uri="{FF2B5EF4-FFF2-40B4-BE49-F238E27FC236}">
                <a16:creationId xmlns:a16="http://schemas.microsoft.com/office/drawing/2014/main" id="{AD9D1197-5B25-CA95-AA38-6079A557C580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ECCCCD4-015B-1FB4-18C5-1CD84272DF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543" y="2155371"/>
            <a:ext cx="9301683" cy="3641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003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E266C1-B31B-8AA6-F9E5-0691111CC113}"/>
              </a:ext>
            </a:extLst>
          </p:cNvPr>
          <p:cNvSpPr txBox="1">
            <a:spLocks/>
          </p:cNvSpPr>
          <p:nvPr/>
        </p:nvSpPr>
        <p:spPr>
          <a:xfrm>
            <a:off x="2286907" y="505928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PRODUCCIÓN   CESÁREAS     </a:t>
            </a:r>
          </a:p>
        </p:txBody>
      </p:sp>
      <p:sp>
        <p:nvSpPr>
          <p:cNvPr id="7" name="CuadroTexto 3">
            <a:extLst>
              <a:ext uri="{FF2B5EF4-FFF2-40B4-BE49-F238E27FC236}">
                <a16:creationId xmlns:a16="http://schemas.microsoft.com/office/drawing/2014/main" id="{58DDBE5F-2CE9-CE98-96A5-51523A1DEDDB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17939AE9-6DB6-0024-A649-9A35EAB68E4D}"/>
              </a:ext>
            </a:extLst>
          </p:cNvPr>
          <p:cNvSpPr/>
          <p:nvPr/>
        </p:nvSpPr>
        <p:spPr>
          <a:xfrm>
            <a:off x="9989794" y="1272138"/>
            <a:ext cx="1458731" cy="6764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27.4  % 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B4AAAC7-8B9F-C937-B845-02E97A42EF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194764"/>
            <a:ext cx="9095014" cy="377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765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590D8F-9985-2C38-541E-E2D0E3BC2664}"/>
              </a:ext>
            </a:extLst>
          </p:cNvPr>
          <p:cNvSpPr txBox="1">
            <a:spLocks/>
          </p:cNvSpPr>
          <p:nvPr/>
        </p:nvSpPr>
        <p:spPr>
          <a:xfrm>
            <a:off x="2170489" y="650494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PRODUCCIÓN  PARTOS VAGINALES      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8A49927C-C003-6C1C-F806-59ABC17AEAB9}"/>
              </a:ext>
            </a:extLst>
          </p:cNvPr>
          <p:cNvSpPr/>
          <p:nvPr/>
        </p:nvSpPr>
        <p:spPr>
          <a:xfrm>
            <a:off x="9989794" y="1272138"/>
            <a:ext cx="1458731" cy="6764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72.5    % </a:t>
            </a:r>
          </a:p>
        </p:txBody>
      </p:sp>
      <p:sp>
        <p:nvSpPr>
          <p:cNvPr id="6" name="CuadroTexto 3">
            <a:extLst>
              <a:ext uri="{FF2B5EF4-FFF2-40B4-BE49-F238E27FC236}">
                <a16:creationId xmlns:a16="http://schemas.microsoft.com/office/drawing/2014/main" id="{01F52A66-60EE-102F-1EE9-881AE3677E7E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2059F2B-1B05-3ACA-1154-3DB51A141B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56" y="2171700"/>
            <a:ext cx="10091057" cy="3340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785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32447A-42DF-C103-2A07-DAACB2F8A107}"/>
              </a:ext>
            </a:extLst>
          </p:cNvPr>
          <p:cNvSpPr txBox="1">
            <a:spLocks/>
          </p:cNvSpPr>
          <p:nvPr/>
        </p:nvSpPr>
        <p:spPr>
          <a:xfrm>
            <a:off x="1309877" y="556032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PORCENTAJE OCUPACIONAL    </a:t>
            </a:r>
          </a:p>
        </p:txBody>
      </p:sp>
      <p:sp>
        <p:nvSpPr>
          <p:cNvPr id="14" name="CuadroTexto 3">
            <a:extLst>
              <a:ext uri="{FF2B5EF4-FFF2-40B4-BE49-F238E27FC236}">
                <a16:creationId xmlns:a16="http://schemas.microsoft.com/office/drawing/2014/main" id="{2E1F6F71-A34F-09B7-4203-13B0CF407E1C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670096A-7E34-4CF6-BF79-791439B077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273" y="2155371"/>
            <a:ext cx="8447727" cy="3520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138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09A5B8-96DE-2522-E340-CDF331D06D98}"/>
              </a:ext>
            </a:extLst>
          </p:cNvPr>
          <p:cNvSpPr txBox="1">
            <a:spLocks/>
          </p:cNvSpPr>
          <p:nvPr/>
        </p:nvSpPr>
        <p:spPr>
          <a:xfrm>
            <a:off x="2564936" y="358808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PROMEDIO DIAS DE ESTANCIA </a:t>
            </a:r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E448DFC6-A936-389A-2AE5-33731812DA58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45B719B-8577-04B7-DD37-657738EF98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2008413"/>
            <a:ext cx="8447726" cy="3804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3105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3">
            <a:extLst>
              <a:ext uri="{FF2B5EF4-FFF2-40B4-BE49-F238E27FC236}">
                <a16:creationId xmlns:a16="http://schemas.microsoft.com/office/drawing/2014/main" id="{8BEDEF60-0255-3003-914B-809CD8822F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26471"/>
              </p:ext>
            </p:extLst>
          </p:nvPr>
        </p:nvGraphicFramePr>
        <p:xfrm>
          <a:off x="2545977" y="1399738"/>
          <a:ext cx="8199445" cy="44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692">
                  <a:extLst>
                    <a:ext uri="{9D8B030D-6E8A-4147-A177-3AD203B41FA5}">
                      <a16:colId xmlns:a16="http://schemas.microsoft.com/office/drawing/2014/main" val="2792121155"/>
                    </a:ext>
                  </a:extLst>
                </a:gridCol>
                <a:gridCol w="4007753">
                  <a:extLst>
                    <a:ext uri="{9D8B030D-6E8A-4147-A177-3AD203B41FA5}">
                      <a16:colId xmlns:a16="http://schemas.microsoft.com/office/drawing/2014/main" val="2500448351"/>
                    </a:ext>
                  </a:extLst>
                </a:gridCol>
              </a:tblGrid>
              <a:tr h="362493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INDICADOR</a:t>
                      </a:r>
                      <a:endParaRPr lang="es-CO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  SEPTIEMBRE  2025</a:t>
                      </a:r>
                      <a:endParaRPr lang="es-CO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6198716"/>
                  </a:ext>
                </a:extLst>
              </a:tr>
              <a:tr h="362493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REINGRESO / REINTERVENCIONES </a:t>
                      </a:r>
                      <a:endParaRPr lang="es-CO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0</a:t>
                      </a:r>
                      <a:endParaRPr lang="es-CO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171369"/>
                  </a:ext>
                </a:extLst>
              </a:tr>
              <a:tr h="726081"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MORBILIDADMATERNA EXTREMA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5 ( PREECLAMPSIA SEVERA 2  / ECLAMPSIA / IVU /  MORTALIDAD 1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654984"/>
                  </a:ext>
                </a:extLst>
              </a:tr>
              <a:tr h="510946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MORTALIDAD MATERNA / MORTALIDAD NEONATAL </a:t>
                      </a:r>
                      <a:endParaRPr lang="es-CO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1 </a:t>
                      </a:r>
                      <a:endParaRPr lang="es-CO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6262556"/>
                  </a:ext>
                </a:extLst>
              </a:tr>
              <a:tr h="488492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EVENTOS DE SEGURIDAD </a:t>
                      </a:r>
                      <a:endParaRPr lang="es-CO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0</a:t>
                      </a:r>
                      <a:endParaRPr lang="es-CO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852260"/>
                  </a:ext>
                </a:extLst>
              </a:tr>
              <a:tr h="440880"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ESTANCIA PROLONGADA </a:t>
                      </a:r>
                      <a:r>
                        <a:rPr lang="es-CO" sz="1600"/>
                        <a:t>&gt; 5 </a:t>
                      </a:r>
                      <a:r>
                        <a:rPr lang="es-CO" sz="1600" dirty="0"/>
                        <a:t>DIAS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246018"/>
                  </a:ext>
                </a:extLst>
              </a:tr>
              <a:tr h="510946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EVENTOS PARA ANALISIS EN COMITÉ DE INFECCIONES </a:t>
                      </a:r>
                      <a:endParaRPr lang="es-CO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542131"/>
                  </a:ext>
                </a:extLst>
              </a:tr>
              <a:tr h="440880"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ENDOMETRITIS POS PARTO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0/51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011470"/>
                  </a:ext>
                </a:extLst>
              </a:tr>
              <a:tr h="440880"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HISTERECTOMIAS POS PARTO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0 / 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3125472"/>
                  </a:ext>
                </a:extLst>
              </a:tr>
            </a:tbl>
          </a:graphicData>
        </a:graphic>
      </p:graphicFrame>
      <p:sp>
        <p:nvSpPr>
          <p:cNvPr id="3" name="Título 1">
            <a:extLst>
              <a:ext uri="{FF2B5EF4-FFF2-40B4-BE49-F238E27FC236}">
                <a16:creationId xmlns:a16="http://schemas.microsoft.com/office/drawing/2014/main" id="{28E60AC6-0190-4A56-985F-48003D3521D5}"/>
              </a:ext>
            </a:extLst>
          </p:cNvPr>
          <p:cNvSpPr txBox="1">
            <a:spLocks/>
          </p:cNvSpPr>
          <p:nvPr/>
        </p:nvSpPr>
        <p:spPr>
          <a:xfrm>
            <a:off x="2079607" y="0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OTROS INDICADORES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335DCF-D279-59EA-AB13-C95E386E4511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73322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adroTexto 3"/>
          <p:cNvSpPr/>
          <p:nvPr/>
        </p:nvSpPr>
        <p:spPr>
          <a:xfrm>
            <a:off x="3630960" y="1046880"/>
            <a:ext cx="594972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400" b="1" i="0" u="none" strike="noStrike" kern="1200" cap="none" spc="-1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NUMERO DE PARTOS Y CESAREAS  </a:t>
            </a:r>
            <a:endParaRPr kumimoji="0" lang="es-CO" sz="24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5" name="PlaceHolder 1"/>
          <p:cNvSpPr>
            <a:spLocks noGrp="1"/>
          </p:cNvSpPr>
          <p:nvPr>
            <p:ph/>
          </p:nvPr>
        </p:nvSpPr>
        <p:spPr>
          <a:xfrm>
            <a:off x="838080" y="2186640"/>
            <a:ext cx="10515240" cy="398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000" b="0" strike="noStrike" spc="-1" dirty="0">
                <a:solidFill>
                  <a:schemeClr val="dk1"/>
                </a:solidFill>
                <a:latin typeface="Arial"/>
              </a:rPr>
              <a:t>PARTOS: </a:t>
            </a:r>
            <a:r>
              <a:rPr lang="es-CO" sz="2000" spc="-1" dirty="0">
                <a:solidFill>
                  <a:schemeClr val="dk1"/>
                </a:solidFill>
                <a:latin typeface="Arial"/>
              </a:rPr>
              <a:t>37</a:t>
            </a:r>
            <a:endParaRPr lang="es-CO" sz="2000" b="0" strike="noStrike" spc="-1" dirty="0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000" b="0" strike="noStrike" spc="-1" dirty="0">
                <a:solidFill>
                  <a:schemeClr val="dk1"/>
                </a:solidFill>
                <a:latin typeface="Arial"/>
              </a:rPr>
              <a:t>CESAREAS: </a:t>
            </a:r>
            <a:r>
              <a:rPr lang="es-CO" sz="2000" spc="-1" dirty="0">
                <a:solidFill>
                  <a:schemeClr val="dk1"/>
                </a:solidFill>
                <a:latin typeface="Arial"/>
              </a:rPr>
              <a:t>14</a:t>
            </a:r>
          </a:p>
          <a:p>
            <a:pPr marL="0" indent="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None/>
            </a:pPr>
            <a:endParaRPr lang="es-CO" sz="2000" b="0" strike="noStrike" spc="-1" dirty="0">
              <a:solidFill>
                <a:schemeClr val="dk1"/>
              </a:solidFill>
              <a:latin typeface="Arial"/>
            </a:endParaRPr>
          </a:p>
          <a:p>
            <a:pPr marL="0" indent="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None/>
            </a:pPr>
            <a:endParaRPr lang="es-CO" sz="2000" b="0" strike="noStrike" spc="-1" dirty="0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6" name="Imagen 13"/>
          <p:cNvPicPr/>
          <p:nvPr/>
        </p:nvPicPr>
        <p:blipFill>
          <a:blip r:embed="rId3"/>
          <a:stretch/>
        </p:blipFill>
        <p:spPr>
          <a:xfrm>
            <a:off x="1298880" y="3670920"/>
            <a:ext cx="1695960" cy="1629720"/>
          </a:xfrm>
          <a:prstGeom prst="rect">
            <a:avLst/>
          </a:prstGeom>
          <a:ln w="0">
            <a:noFill/>
          </a:ln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E0D82A5-1238-257A-9882-5E15239654E4}"/>
              </a:ext>
            </a:extLst>
          </p:cNvPr>
          <p:cNvSpPr txBox="1"/>
          <p:nvPr/>
        </p:nvSpPr>
        <p:spPr>
          <a:xfrm>
            <a:off x="10028420" y="1319134"/>
            <a:ext cx="1648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TOTAL: 51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951FBE0-F493-B123-7641-3E33BC2A44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7953" y="2293034"/>
            <a:ext cx="5500467" cy="351808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362240" y="365040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400" b="1" strike="noStrike" spc="-1">
                <a:solidFill>
                  <a:schemeClr val="accent1"/>
                </a:solidFill>
                <a:latin typeface="Arial"/>
              </a:rPr>
              <a:t>NUMERO NEONATOS HOSPITALIZADOS VS NEONATOS CON ANTIBIOTICO</a:t>
            </a:r>
            <a:endParaRPr lang="es-CO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838080" y="1690200"/>
            <a:ext cx="10515240" cy="448631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strike="noStrike" spc="-1" dirty="0">
                <a:solidFill>
                  <a:schemeClr val="dk1"/>
                </a:solidFill>
                <a:latin typeface="Calibri"/>
              </a:rPr>
              <a:t>NUMERO DE NEONATOS HX: 11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strike="noStrike" spc="-1" dirty="0">
                <a:solidFill>
                  <a:schemeClr val="dk1"/>
                </a:solidFill>
                <a:latin typeface="Calibri"/>
              </a:rPr>
              <a:t>NEONATOS CON ORDEN DE ANTIBIOTICO:2</a:t>
            </a:r>
          </a:p>
        </p:txBody>
      </p:sp>
      <p:pic>
        <p:nvPicPr>
          <p:cNvPr id="90" name="Imagen 7"/>
          <p:cNvPicPr/>
          <p:nvPr/>
        </p:nvPicPr>
        <p:blipFill>
          <a:blip r:embed="rId3"/>
          <a:srcRect l="23081" t="2406" r="23956" b="3194"/>
          <a:stretch/>
        </p:blipFill>
        <p:spPr>
          <a:xfrm>
            <a:off x="2054160" y="3657600"/>
            <a:ext cx="1245240" cy="1841760"/>
          </a:xfrm>
          <a:prstGeom prst="rect">
            <a:avLst/>
          </a:prstGeom>
          <a:ln w="0">
            <a:noFill/>
          </a:ln>
        </p:spPr>
      </p:pic>
      <p:sp>
        <p:nvSpPr>
          <p:cNvPr id="92" name="CuadroTexto 6"/>
          <p:cNvSpPr/>
          <p:nvPr/>
        </p:nvSpPr>
        <p:spPr>
          <a:xfrm>
            <a:off x="8905320" y="1690560"/>
            <a:ext cx="22658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1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PORCENTAJE: 18,1%</a:t>
            </a:r>
            <a:endParaRPr kumimoji="0" lang="es-CO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107E290A-5BFE-B2A5-2775-0875E3215695}"/>
              </a:ext>
            </a:extLst>
          </p:cNvPr>
          <p:cNvGraphicFramePr>
            <a:graphicFrameLocks/>
          </p:cNvGraphicFramePr>
          <p:nvPr/>
        </p:nvGraphicFramePr>
        <p:xfrm>
          <a:off x="5287616" y="2809461"/>
          <a:ext cx="5214731" cy="35118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362240" y="365040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400" b="1" strike="noStrike" spc="-1">
                <a:solidFill>
                  <a:schemeClr val="accent1"/>
                </a:solidFill>
                <a:latin typeface="AMGDT_IV25"/>
              </a:rPr>
              <a:t>TIEMPO OPORTUNO ADMINISTRACION ANTIBIOTICO EN NEONATOS</a:t>
            </a:r>
            <a:endParaRPr lang="es-CO" sz="24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4" name="Imagen 4"/>
          <p:cNvPicPr/>
          <p:nvPr/>
        </p:nvPicPr>
        <p:blipFill>
          <a:blip r:embed="rId3"/>
          <a:stretch/>
        </p:blipFill>
        <p:spPr>
          <a:xfrm>
            <a:off x="10057320" y="4995360"/>
            <a:ext cx="1150560" cy="1620000"/>
          </a:xfrm>
          <a:prstGeom prst="rect">
            <a:avLst/>
          </a:prstGeom>
          <a:ln w="0">
            <a:noFill/>
          </a:ln>
        </p:spPr>
      </p:pic>
      <p:pic>
        <p:nvPicPr>
          <p:cNvPr id="95" name="Imagen 11"/>
          <p:cNvPicPr/>
          <p:nvPr/>
        </p:nvPicPr>
        <p:blipFill>
          <a:blip r:embed="rId4"/>
          <a:stretch/>
        </p:blipFill>
        <p:spPr>
          <a:xfrm>
            <a:off x="972360" y="2649240"/>
            <a:ext cx="1243440" cy="1840680"/>
          </a:xfrm>
          <a:prstGeom prst="rect">
            <a:avLst/>
          </a:prstGeom>
          <a:ln w="0">
            <a:noFill/>
          </a:ln>
        </p:spPr>
      </p:pic>
      <p:pic>
        <p:nvPicPr>
          <p:cNvPr id="97" name="Imagen 16"/>
          <p:cNvPicPr/>
          <p:nvPr/>
        </p:nvPicPr>
        <p:blipFill>
          <a:blip r:embed="rId5"/>
          <a:stretch/>
        </p:blipFill>
        <p:spPr>
          <a:xfrm>
            <a:off x="3762720" y="6029640"/>
            <a:ext cx="1962720" cy="300600"/>
          </a:xfrm>
          <a:prstGeom prst="rect">
            <a:avLst/>
          </a:prstGeom>
          <a:ln w="0">
            <a:noFill/>
          </a:ln>
        </p:spPr>
      </p:pic>
      <p:sp>
        <p:nvSpPr>
          <p:cNvPr id="98" name="CuadroTexto 17"/>
          <p:cNvSpPr/>
          <p:nvPr/>
        </p:nvSpPr>
        <p:spPr>
          <a:xfrm>
            <a:off x="4267080" y="5844960"/>
            <a:ext cx="523440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                                                                   </a:t>
            </a:r>
            <a:endParaRPr kumimoji="0" lang="es-CO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9" name="Flecha: hacia abajo 21"/>
          <p:cNvSpPr/>
          <p:nvPr/>
        </p:nvSpPr>
        <p:spPr>
          <a:xfrm>
            <a:off x="5725440" y="5278943"/>
            <a:ext cx="277920" cy="369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470E31CD-18AA-EF53-7183-C3BEA74A4069}"/>
              </a:ext>
            </a:extLst>
          </p:cNvPr>
          <p:cNvCxnSpPr/>
          <p:nvPr/>
        </p:nvCxnSpPr>
        <p:spPr>
          <a:xfrm>
            <a:off x="4023360" y="3569580"/>
            <a:ext cx="55848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92D5D047-0134-FC34-1509-0605D288DC64}"/>
              </a:ext>
            </a:extLst>
          </p:cNvPr>
          <p:cNvCxnSpPr>
            <a:cxnSpLocks/>
          </p:cNvCxnSpPr>
          <p:nvPr/>
        </p:nvCxnSpPr>
        <p:spPr>
          <a:xfrm>
            <a:off x="4037428" y="3484571"/>
            <a:ext cx="574197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EDAFEF83-A49D-6436-A761-8463FF3C2CDA}"/>
              </a:ext>
            </a:extLst>
          </p:cNvPr>
          <p:cNvCxnSpPr>
            <a:cxnSpLocks/>
          </p:cNvCxnSpPr>
          <p:nvPr/>
        </p:nvCxnSpPr>
        <p:spPr>
          <a:xfrm flipH="1">
            <a:off x="4744080" y="3429000"/>
            <a:ext cx="4864154" cy="140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43F6131D-DB09-8A08-DA9F-B85D4E6117BA}"/>
              </a:ext>
            </a:extLst>
          </p:cNvPr>
          <p:cNvGraphicFramePr>
            <a:graphicFrameLocks/>
          </p:cNvGraphicFramePr>
          <p:nvPr/>
        </p:nvGraphicFramePr>
        <p:xfrm>
          <a:off x="3810000" y="1365121"/>
          <a:ext cx="6367670" cy="37436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082492AD-BFB6-68EC-137F-CF68C42BA4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0604" y="5305816"/>
            <a:ext cx="317019" cy="38408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9243AD1F-08E5-C8D3-E8FD-8B13136BD78D}"/>
              </a:ext>
            </a:extLst>
          </p:cNvPr>
          <p:cNvSpPr txBox="1"/>
          <p:nvPr/>
        </p:nvSpPr>
        <p:spPr>
          <a:xfrm>
            <a:off x="4545000" y="5844960"/>
            <a:ext cx="5512320" cy="367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PACIENTE 1                                        PACIENTE 2 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1AD25D49-F7E0-5962-58F6-3EAC86406372}"/>
              </a:ext>
            </a:extLst>
          </p:cNvPr>
          <p:cNvCxnSpPr/>
          <p:nvPr/>
        </p:nvCxnSpPr>
        <p:spPr>
          <a:xfrm>
            <a:off x="4545000" y="3484571"/>
            <a:ext cx="5752551" cy="0"/>
          </a:xfrm>
          <a:prstGeom prst="straightConnector1">
            <a:avLst/>
          </a:prstGeom>
          <a:ln w="3810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1362240" y="365040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400" b="1" strike="noStrike" spc="-1">
                <a:solidFill>
                  <a:schemeClr val="accent1"/>
                </a:solidFill>
                <a:latin typeface="AMGDT_IV25"/>
              </a:rPr>
              <a:t>TIEMPO OPORTUNO ADMINISTRACION ANTIBIOTICO EN NEONATOS</a:t>
            </a:r>
            <a:endParaRPr lang="es-CO" sz="24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3" name="Imagen 4"/>
          <p:cNvPicPr/>
          <p:nvPr/>
        </p:nvPicPr>
        <p:blipFill>
          <a:blip r:embed="rId3"/>
          <a:stretch/>
        </p:blipFill>
        <p:spPr>
          <a:xfrm>
            <a:off x="10057320" y="4995360"/>
            <a:ext cx="1150560" cy="1620000"/>
          </a:xfrm>
          <a:prstGeom prst="rect">
            <a:avLst/>
          </a:prstGeom>
          <a:ln w="0">
            <a:noFill/>
          </a:ln>
        </p:spPr>
      </p:pic>
      <p:pic>
        <p:nvPicPr>
          <p:cNvPr id="104" name="Imagen 16"/>
          <p:cNvPicPr/>
          <p:nvPr/>
        </p:nvPicPr>
        <p:blipFill>
          <a:blip r:embed="rId4"/>
          <a:stretch/>
        </p:blipFill>
        <p:spPr>
          <a:xfrm>
            <a:off x="3762720" y="6029640"/>
            <a:ext cx="1962720" cy="300600"/>
          </a:xfrm>
          <a:prstGeom prst="rect">
            <a:avLst/>
          </a:prstGeom>
          <a:ln w="0">
            <a:noFill/>
          </a:ln>
        </p:spPr>
      </p:pic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1362240" y="1991880"/>
            <a:ext cx="9991080" cy="450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just">
              <a:spcBef>
                <a:spcPts val="1001"/>
              </a:spcBef>
              <a:buClr>
                <a:srgbClr val="000000"/>
              </a:buClr>
            </a:pPr>
            <a:r>
              <a:rPr lang="es-CO" spc="-1" dirty="0">
                <a:solidFill>
                  <a:schemeClr val="dk1"/>
                </a:solidFill>
                <a:latin typeface="Calibri"/>
              </a:rPr>
              <a:t>Profesional de  enfermería encargado de inicio de antibiótico, se encontraba en atención del parto prolongado.</a:t>
            </a:r>
          </a:p>
          <a:p>
            <a:pPr algn="just">
              <a:spcBef>
                <a:spcPts val="1001"/>
              </a:spcBef>
              <a:buClr>
                <a:srgbClr val="000000"/>
              </a:buClr>
            </a:pPr>
            <a:r>
              <a:rPr lang="es-CO" spc="-1" dirty="0">
                <a:solidFill>
                  <a:schemeClr val="dk1"/>
                </a:solidFill>
                <a:latin typeface="Calibri"/>
              </a:rPr>
              <a:t>Difícil acceso venoso </a:t>
            </a:r>
            <a:endParaRPr lang="es-CO" sz="2800" b="0" strike="noStrike" spc="-1" dirty="0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362240" y="365040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400" b="1" strike="noStrike" spc="-1">
                <a:solidFill>
                  <a:srgbClr val="4472C4"/>
                </a:solidFill>
                <a:latin typeface="Arial"/>
              </a:rPr>
              <a:t>OPORTUNIDAD DE INCICIO DE SULFATO DE MG</a:t>
            </a:r>
            <a:br>
              <a:rPr sz="2400"/>
            </a:br>
            <a:endParaRPr lang="es-CO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dirty="0"/>
              <a:t>TOTAL DE PACIENTES CON INICIO DE SULFATO MG: 3 pacientes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lang="es-CO" sz="2800" b="0" strike="noStrike" spc="-1" dirty="0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s-CO" sz="2800" b="0" strike="noStrike" spc="-1" dirty="0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s-CO" sz="28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8" name="Conector 5"/>
          <p:cNvSpPr/>
          <p:nvPr/>
        </p:nvSpPr>
        <p:spPr>
          <a:xfrm>
            <a:off x="9263160" y="4605480"/>
            <a:ext cx="1616400" cy="1706040"/>
          </a:xfrm>
          <a:prstGeom prst="flowChartConnector">
            <a:avLst/>
          </a:prstGeom>
          <a:blipFill rotWithShape="0">
            <a:blip r:embed="rId4"/>
            <a:srcRect/>
            <a:stretch/>
          </a:blipFill>
          <a:ln>
            <a:solidFill>
              <a:srgbClr val="325490"/>
            </a:solidFill>
          </a:ln>
          <a:effectLst>
            <a:outerShdw blurRad="50760" dist="3816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9" name="Rectángulo redondeado 12"/>
          <p:cNvSpPr/>
          <p:nvPr/>
        </p:nvSpPr>
        <p:spPr>
          <a:xfrm flipH="1">
            <a:off x="9528480" y="4605480"/>
            <a:ext cx="1103040" cy="27108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00" b="1" i="0" u="none" strike="noStrike" kern="1200" cap="none" spc="-1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MIN</a:t>
            </a:r>
            <a:endParaRPr kumimoji="0" lang="es-CO" sz="12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6B0111F1-94AA-A6FF-5AD0-D453EB6D5923}"/>
              </a:ext>
            </a:extLst>
          </p:cNvPr>
          <p:cNvGraphicFramePr>
            <a:graphicFrameLocks/>
          </p:cNvGraphicFramePr>
          <p:nvPr/>
        </p:nvGraphicFramePr>
        <p:xfrm>
          <a:off x="2658794" y="2307101"/>
          <a:ext cx="6130606" cy="3671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362240" y="365040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400" b="1" strike="noStrike" spc="-1">
                <a:solidFill>
                  <a:schemeClr val="accent1"/>
                </a:solidFill>
                <a:latin typeface="Arial"/>
              </a:rPr>
              <a:t>OPORTUNIDAD DE EGRESO DE GINECOLOGIA </a:t>
            </a:r>
            <a:endParaRPr lang="es-CO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2" name="CuadroTexto 4"/>
          <p:cNvSpPr/>
          <p:nvPr/>
        </p:nvSpPr>
        <p:spPr>
          <a:xfrm>
            <a:off x="2799470" y="5349639"/>
            <a:ext cx="2082019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Tiempo Agosto:</a:t>
            </a:r>
            <a:endParaRPr kumimoji="0" lang="es-CO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113,7 min </a:t>
            </a:r>
            <a:endParaRPr kumimoji="0" lang="es-CO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3" name="CuadroTexto 6"/>
          <p:cNvSpPr/>
          <p:nvPr/>
        </p:nvSpPr>
        <p:spPr>
          <a:xfrm>
            <a:off x="7019777" y="5392278"/>
            <a:ext cx="2082019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Tiempo Septiembre:</a:t>
            </a:r>
            <a:endParaRPr kumimoji="0" lang="es-CO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81,0</a:t>
            </a:r>
            <a:endParaRPr kumimoji="0" lang="es-CO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F1D7387-4F4C-3D87-2A16-7A56A6448C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7231" t="62980" r="1462" b="11581"/>
          <a:stretch>
            <a:fillRect/>
          </a:stretch>
        </p:blipFill>
        <p:spPr>
          <a:xfrm>
            <a:off x="2475913" y="1575582"/>
            <a:ext cx="6836899" cy="354505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362240" y="365040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400" b="1" strike="noStrike" spc="-1">
                <a:solidFill>
                  <a:schemeClr val="accent1"/>
                </a:solidFill>
                <a:latin typeface="Arial"/>
              </a:rPr>
              <a:t>EGRESOS VS ASIGNACION DE CITAS</a:t>
            </a:r>
            <a:endParaRPr lang="es-CO" sz="24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8" name="Imagen 4"/>
          <p:cNvPicPr/>
          <p:nvPr/>
        </p:nvPicPr>
        <p:blipFill>
          <a:blip r:embed="rId3"/>
          <a:stretch/>
        </p:blipFill>
        <p:spPr>
          <a:xfrm>
            <a:off x="810000" y="3835080"/>
            <a:ext cx="1361880" cy="1810080"/>
          </a:xfrm>
          <a:prstGeom prst="rect">
            <a:avLst/>
          </a:prstGeom>
          <a:ln w="0">
            <a:noFill/>
          </a:ln>
        </p:spPr>
      </p:pic>
      <p:sp>
        <p:nvSpPr>
          <p:cNvPr id="119" name="CuadroTexto 8"/>
          <p:cNvSpPr/>
          <p:nvPr/>
        </p:nvSpPr>
        <p:spPr>
          <a:xfrm>
            <a:off x="3305880" y="5359680"/>
            <a:ext cx="6667560" cy="10757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600" b="1" i="0" u="sng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Ginecología:</a:t>
            </a:r>
            <a:r>
              <a:rPr kumimoji="0" lang="es-CO" sz="16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Se asegura cita de control a diagnósticos de post parto/ pop de cesárea/ pop de diagnósticos ginecológicos  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6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 se asignan a pacientes que su centro de atención primario es otro municipio.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FC466E4-751D-E6C1-15EF-2BA2B1202A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0486" y="1690200"/>
            <a:ext cx="6091311" cy="337416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1362240" y="365040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400" b="1" strike="noStrike" spc="-1">
                <a:solidFill>
                  <a:schemeClr val="accent1"/>
                </a:solidFill>
                <a:latin typeface="Arial"/>
              </a:rPr>
              <a:t>INDICADORES DE PLANIFICACION FAMILIAR</a:t>
            </a:r>
            <a:endParaRPr lang="es-CO" sz="24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22" name="Imagen 13"/>
          <p:cNvPicPr/>
          <p:nvPr/>
        </p:nvPicPr>
        <p:blipFill>
          <a:blip r:embed="rId3"/>
          <a:stretch/>
        </p:blipFill>
        <p:spPr>
          <a:xfrm>
            <a:off x="401400" y="2855880"/>
            <a:ext cx="2200680" cy="1919160"/>
          </a:xfrm>
          <a:prstGeom prst="rect">
            <a:avLst/>
          </a:prstGeom>
          <a:ln w="0">
            <a:noFill/>
          </a:ln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CCBB3814-AC3C-D0B4-0033-4FF7C185E6FC}"/>
              </a:ext>
            </a:extLst>
          </p:cNvPr>
          <p:cNvSpPr txBox="1"/>
          <p:nvPr/>
        </p:nvSpPr>
        <p:spPr>
          <a:xfrm>
            <a:off x="9833317" y="1463040"/>
            <a:ext cx="1871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TOTAL: 49 PACIENTES 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AA648F3-A353-01FC-6F68-EA3DA00BCC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2081" y="1828800"/>
            <a:ext cx="6809206" cy="362946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6F33E7-CFC7-A659-E219-B3397A00B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4" name="Gráfico 5">
            <a:extLst>
              <a:ext uri="{FF2B5EF4-FFF2-40B4-BE49-F238E27FC236}">
                <a16:creationId xmlns:a16="http://schemas.microsoft.com/office/drawing/2014/main" id="{99C15229-C3DF-32C9-10F9-841ECCDA2800}"/>
              </a:ext>
            </a:extLst>
          </p:cNvPr>
          <p:cNvGraphicFramePr/>
          <p:nvPr/>
        </p:nvGraphicFramePr>
        <p:xfrm>
          <a:off x="1917720" y="1019880"/>
          <a:ext cx="8569080" cy="5418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5" name="CuadroTexto 9">
            <a:extLst>
              <a:ext uri="{FF2B5EF4-FFF2-40B4-BE49-F238E27FC236}">
                <a16:creationId xmlns:a16="http://schemas.microsoft.com/office/drawing/2014/main" id="{C8BB8CC9-3C68-28C1-70C4-B71CD76EA96B}"/>
              </a:ext>
            </a:extLst>
          </p:cNvPr>
          <p:cNvSpPr/>
          <p:nvPr/>
        </p:nvSpPr>
        <p:spPr>
          <a:xfrm>
            <a:off x="9515520" y="314280"/>
            <a:ext cx="16711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1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MUESTRA:17 </a:t>
            </a:r>
            <a:endParaRPr kumimoji="0" lang="es-CO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46" name="Imagen 10">
            <a:extLst>
              <a:ext uri="{FF2B5EF4-FFF2-40B4-BE49-F238E27FC236}">
                <a16:creationId xmlns:a16="http://schemas.microsoft.com/office/drawing/2014/main" id="{5A3BF805-7446-F37D-37BE-0509F7FFDDBA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1320120" y="2566440"/>
            <a:ext cx="493560" cy="172512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4341425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7" name="Gráfico 5"/>
          <p:cNvGraphicFramePr/>
          <p:nvPr/>
        </p:nvGraphicFramePr>
        <p:xfrm>
          <a:off x="1917720" y="991744"/>
          <a:ext cx="8569080" cy="5418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8" name="CuadroTexto 9"/>
          <p:cNvSpPr/>
          <p:nvPr/>
        </p:nvSpPr>
        <p:spPr>
          <a:xfrm>
            <a:off x="9755280" y="650520"/>
            <a:ext cx="16711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1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MUESTRA: 43</a:t>
            </a:r>
            <a:endParaRPr kumimoji="0" lang="es-CO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49" name="Imagen 10"/>
          <p:cNvPicPr/>
          <p:nvPr/>
        </p:nvPicPr>
        <p:blipFill>
          <a:blip r:embed="rId4"/>
          <a:stretch/>
        </p:blipFill>
        <p:spPr>
          <a:xfrm>
            <a:off x="1320120" y="2566440"/>
            <a:ext cx="493560" cy="17251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0" name="Gráfico 5"/>
          <p:cNvGraphicFramePr/>
          <p:nvPr/>
        </p:nvGraphicFramePr>
        <p:xfrm>
          <a:off x="1917720" y="1019880"/>
          <a:ext cx="8569080" cy="5418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1" name="CuadroTexto 9"/>
          <p:cNvSpPr/>
          <p:nvPr/>
        </p:nvSpPr>
        <p:spPr>
          <a:xfrm>
            <a:off x="9755280" y="650520"/>
            <a:ext cx="16711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1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MUESTRA: 27</a:t>
            </a:r>
            <a:endParaRPr kumimoji="0" lang="es-CO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52" name="Imagen 10"/>
          <p:cNvPicPr/>
          <p:nvPr/>
        </p:nvPicPr>
        <p:blipFill>
          <a:blip r:embed="rId4"/>
          <a:stretch/>
        </p:blipFill>
        <p:spPr>
          <a:xfrm>
            <a:off x="1320120" y="2566440"/>
            <a:ext cx="493560" cy="17251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1362240" y="365040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400" b="1" strike="noStrike" spc="-1" dirty="0">
                <a:solidFill>
                  <a:schemeClr val="accent1"/>
                </a:solidFill>
                <a:latin typeface="Arial"/>
              </a:rPr>
              <a:t>INFECCIONES DEL SITIO OPERATORIO</a:t>
            </a:r>
            <a:endParaRPr lang="es-CO" sz="24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026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strike="noStrike" spc="-1" dirty="0">
                <a:solidFill>
                  <a:schemeClr val="dk1"/>
                </a:solidFill>
                <a:latin typeface="Calibri"/>
              </a:rPr>
              <a:t>No se presenta ISO en el mes de Septiembre</a:t>
            </a:r>
            <a:r>
              <a:rPr lang="es-CO" spc="-1" dirty="0">
                <a:solidFill>
                  <a:schemeClr val="dk1"/>
                </a:solidFill>
                <a:latin typeface="Calibri"/>
              </a:rPr>
              <a:t>.</a:t>
            </a:r>
            <a:endParaRPr lang="es-CO" sz="2800" b="0" strike="noStrike" spc="-1" dirty="0">
              <a:solidFill>
                <a:schemeClr val="dk1"/>
              </a:solidFill>
              <a:latin typeface="Calibri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s-CO" sz="2800" b="0" strike="noStrike" spc="-1" dirty="0">
              <a:solidFill>
                <a:schemeClr val="dk1"/>
              </a:solidFill>
              <a:latin typeface="Calibri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001"/>
              </a:spcBef>
              <a:buClr>
                <a:srgbClr val="4472C4"/>
              </a:buClr>
              <a:buFont typeface="Arial"/>
              <a:buChar char="•"/>
            </a:pPr>
            <a:r>
              <a:rPr lang="es-CO" sz="2800" b="1" strike="noStrike" spc="-1" dirty="0">
                <a:solidFill>
                  <a:schemeClr val="accent1"/>
                </a:solidFill>
                <a:latin typeface="Calibri"/>
              </a:rPr>
              <a:t>MASTITIS PUERPERAL </a:t>
            </a:r>
            <a:endParaRPr lang="es-CO" sz="2800" b="0" strike="noStrike" spc="-1" dirty="0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pc="-1" dirty="0">
                <a:solidFill>
                  <a:schemeClr val="dk1"/>
                </a:solidFill>
                <a:latin typeface="Calibri"/>
              </a:rPr>
              <a:t>Se presento 2 pacientes con mastitis en el mes de Septiembre.</a:t>
            </a:r>
            <a:endParaRPr lang="es-CO" sz="2800" b="0" strike="noStrike" spc="-1" dirty="0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s-CO" sz="2800" b="0" strike="noStrike" spc="-1" dirty="0">
              <a:solidFill>
                <a:schemeClr val="dk1"/>
              </a:solidFill>
              <a:latin typeface="Calibri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001"/>
              </a:spcBef>
              <a:buClr>
                <a:srgbClr val="4472C4"/>
              </a:buClr>
              <a:buFont typeface="Arial"/>
              <a:buChar char="•"/>
            </a:pPr>
            <a:r>
              <a:rPr lang="es-CO" sz="2800" b="1" strike="noStrike" spc="-1" dirty="0">
                <a:solidFill>
                  <a:schemeClr val="accent1"/>
                </a:solidFill>
                <a:latin typeface="Calibri"/>
              </a:rPr>
              <a:t>ENDOMETRITIS</a:t>
            </a:r>
            <a:r>
              <a:rPr lang="es-CO" sz="2800" b="0" strike="noStrike" spc="-1" dirty="0">
                <a:solidFill>
                  <a:schemeClr val="dk1"/>
                </a:solidFill>
                <a:latin typeface="Calibri"/>
              </a:rPr>
              <a:t> 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strike="noStrike" spc="-1" dirty="0">
                <a:solidFill>
                  <a:schemeClr val="dk1"/>
                </a:solidFill>
                <a:latin typeface="Calibri"/>
              </a:rPr>
              <a:t>No se presento durante el mes de </a:t>
            </a:r>
            <a:r>
              <a:rPr lang="es-CO" spc="-1" dirty="0">
                <a:solidFill>
                  <a:schemeClr val="dk1"/>
                </a:solidFill>
                <a:latin typeface="Calibri"/>
              </a:rPr>
              <a:t>Septiembre</a:t>
            </a:r>
            <a:r>
              <a:rPr lang="es-CO" sz="2800" b="0" strike="noStrike" spc="-1" dirty="0">
                <a:solidFill>
                  <a:schemeClr val="dk1"/>
                </a:solidFill>
                <a:latin typeface="Calibri"/>
              </a:rPr>
              <a:t>. 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1362240" y="365040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400" b="1" strike="noStrike" spc="-1" dirty="0">
                <a:solidFill>
                  <a:schemeClr val="accent1"/>
                </a:solidFill>
                <a:latin typeface="Arial"/>
              </a:rPr>
              <a:t>ADHERENCIA PRACTICA SEGURA:GARANTIZAR LA ATENCION SEGURA DE LA GESTANTE Y EL RECIEN NACIDO</a:t>
            </a:r>
            <a:endParaRPr lang="es-CO" sz="24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026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CO" sz="2800" b="0" strike="noStrike" spc="-1" dirty="0">
                <a:solidFill>
                  <a:schemeClr val="dk1"/>
                </a:solidFill>
                <a:latin typeface="Calibri"/>
              </a:rPr>
              <a:t>  </a:t>
            </a:r>
          </a:p>
        </p:txBody>
      </p:sp>
      <p:sp>
        <p:nvSpPr>
          <p:cNvPr id="161" name="CuadroTexto 4"/>
          <p:cNvSpPr/>
          <p:nvPr/>
        </p:nvSpPr>
        <p:spPr>
          <a:xfrm>
            <a:off x="6095880" y="2597400"/>
            <a:ext cx="4863240" cy="31378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s-CO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LISTA DE CHEQUEO: 17 PREGUNTAS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s-CO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                       2 MOMENTOS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s-CO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  1 MOMENTO: 6 PREGUNTA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s-CO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  2  MOMENTO: 11 PREGUNTAS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840" marR="0" lvl="0" indent="-2858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s-ES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Diligenciamiento por parte de medicina, partograma oportunamente según la indicación. </a:t>
            </a:r>
            <a:endParaRPr kumimoji="0" lang="es-CO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3EA9EE3-3360-5AC2-B4D9-10F1D6FA0A79}"/>
              </a:ext>
            </a:extLst>
          </p:cNvPr>
          <p:cNvSpPr txBox="1"/>
          <p:nvPr/>
        </p:nvSpPr>
        <p:spPr>
          <a:xfrm>
            <a:off x="5598942" y="24055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3AD1784-51C0-9DA9-5849-C989B5A09E4E}"/>
              </a:ext>
            </a:extLst>
          </p:cNvPr>
          <p:cNvSpPr txBox="1"/>
          <p:nvPr/>
        </p:nvSpPr>
        <p:spPr>
          <a:xfrm>
            <a:off x="9762978" y="1505534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MUESTRA: 14</a:t>
            </a:r>
          </a:p>
        </p:txBody>
      </p:sp>
      <p:sp>
        <p:nvSpPr>
          <p:cNvPr id="7" name="Flecha: hacia abajo 6">
            <a:extLst>
              <a:ext uri="{FF2B5EF4-FFF2-40B4-BE49-F238E27FC236}">
                <a16:creationId xmlns:a16="http://schemas.microsoft.com/office/drawing/2014/main" id="{A92A2868-B715-B8F5-3CBD-C5765C8D7E75}"/>
              </a:ext>
            </a:extLst>
          </p:cNvPr>
          <p:cNvSpPr/>
          <p:nvPr/>
        </p:nvSpPr>
        <p:spPr>
          <a:xfrm>
            <a:off x="8201465" y="3066757"/>
            <a:ext cx="379827" cy="15474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lecha: hacia abajo 7">
            <a:extLst>
              <a:ext uri="{FF2B5EF4-FFF2-40B4-BE49-F238E27FC236}">
                <a16:creationId xmlns:a16="http://schemas.microsoft.com/office/drawing/2014/main" id="{F01964C7-AE7D-DBA5-F05F-CA2DC35E9133}"/>
              </a:ext>
            </a:extLst>
          </p:cNvPr>
          <p:cNvSpPr/>
          <p:nvPr/>
        </p:nvSpPr>
        <p:spPr>
          <a:xfrm>
            <a:off x="8201465" y="3636499"/>
            <a:ext cx="379827" cy="15474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A1E3BB1-6BEB-FDB3-3005-60CC16CA7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45" y="2258683"/>
            <a:ext cx="5081527" cy="332619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7821</TotalTime>
  <Words>671</Words>
  <Application>Microsoft Macintosh PowerPoint</Application>
  <PresentationFormat>Panorámica</PresentationFormat>
  <Paragraphs>126</Paragraphs>
  <Slides>30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30</vt:i4>
      </vt:variant>
    </vt:vector>
  </HeadingPairs>
  <TitlesOfParts>
    <vt:vector size="41" baseType="lpstr">
      <vt:lpstr>AMGDT_IV25</vt:lpstr>
      <vt:lpstr>Aptos</vt:lpstr>
      <vt:lpstr>Arial</vt:lpstr>
      <vt:lpstr>Calibri</vt:lpstr>
      <vt:lpstr>Calibri Light</vt:lpstr>
      <vt:lpstr>Helvetica</vt:lpstr>
      <vt:lpstr>Symbol</vt:lpstr>
      <vt:lpstr>Tahoma</vt:lpstr>
      <vt:lpstr>Times New Roman</vt:lpstr>
      <vt:lpstr>Tema de Office</vt:lpstr>
      <vt:lpstr>1_Tema de Office</vt:lpstr>
      <vt:lpstr>                  EQUIPO PRIMARIO GINECOLOGIA MES DE SEPTIEMBRE     CON DATOS DE AGOSTO  2025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NUMERO NEONATOS HOSPITALIZADOS VS NEONATOS CON ANTIBIOTICO</vt:lpstr>
      <vt:lpstr>TIEMPO OPORTUNO ADMINISTRACION ANTIBIOTICO EN NEONATOS</vt:lpstr>
      <vt:lpstr>TIEMPO OPORTUNO ADMINISTRACION ANTIBIOTICO EN NEONATOS</vt:lpstr>
      <vt:lpstr>OPORTUNIDAD DE INCICIO DE SULFATO DE MG </vt:lpstr>
      <vt:lpstr>OPORTUNIDAD DE EGRESO DE GINECOLOGIA </vt:lpstr>
      <vt:lpstr>EGRESOS VS ASIGNACION DE CITAS</vt:lpstr>
      <vt:lpstr>INDICADORES DE PLANIFICACION FAMILIAR</vt:lpstr>
      <vt:lpstr>Presentación de PowerPoint</vt:lpstr>
      <vt:lpstr>Presentación de PowerPoint</vt:lpstr>
      <vt:lpstr>Presentación de PowerPoint</vt:lpstr>
      <vt:lpstr>INFECCIONES DEL SITIO OPERATORIO</vt:lpstr>
      <vt:lpstr>ADHERENCIA PRACTICA SEGURA:GARANTIZAR LA ATENCION SEGURA DE LA GESTANTE Y EL RECIEN NACIDO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TITULO PRESENTACIÓN</dc:title>
  <dc:creator>user</dc:creator>
  <cp:lastModifiedBy>Sharon Katherine Acuña</cp:lastModifiedBy>
  <cp:revision>107</cp:revision>
  <dcterms:created xsi:type="dcterms:W3CDTF">2024-08-26T14:52:25Z</dcterms:created>
  <dcterms:modified xsi:type="dcterms:W3CDTF">2025-10-14T03:48:32Z</dcterms:modified>
</cp:coreProperties>
</file>