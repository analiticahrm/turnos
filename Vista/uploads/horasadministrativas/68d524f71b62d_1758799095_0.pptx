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257" r:id="rId3"/>
    <p:sldId id="261" r:id="rId4"/>
    <p:sldId id="263" r:id="rId5"/>
    <p:sldId id="262" r:id="rId6"/>
    <p:sldId id="264" r:id="rId7"/>
    <p:sldId id="266" r:id="rId8"/>
    <p:sldId id="270" r:id="rId9"/>
    <p:sldId id="318" r:id="rId10"/>
    <p:sldId id="272" r:id="rId11"/>
    <p:sldId id="279" r:id="rId12"/>
    <p:sldId id="278" r:id="rId13"/>
    <p:sldId id="275" r:id="rId14"/>
    <p:sldId id="286" r:id="rId15"/>
    <p:sldId id="273" r:id="rId16"/>
    <p:sldId id="281" r:id="rId17"/>
    <p:sldId id="284" r:id="rId18"/>
    <p:sldId id="290" r:id="rId19"/>
    <p:sldId id="288" r:id="rId20"/>
    <p:sldId id="316" r:id="rId21"/>
    <p:sldId id="289" r:id="rId22"/>
    <p:sldId id="274" r:id="rId23"/>
    <p:sldId id="319" r:id="rId24"/>
    <p:sldId id="307" r:id="rId25"/>
    <p:sldId id="308" r:id="rId26"/>
    <p:sldId id="282" r:id="rId27"/>
    <p:sldId id="320" r:id="rId28"/>
    <p:sldId id="309" r:id="rId29"/>
    <p:sldId id="310" r:id="rId30"/>
    <p:sldId id="283" r:id="rId31"/>
    <p:sldId id="292" r:id="rId32"/>
    <p:sldId id="291" r:id="rId33"/>
    <p:sldId id="293" r:id="rId34"/>
    <p:sldId id="303" r:id="rId35"/>
    <p:sldId id="295" r:id="rId36"/>
    <p:sldId id="271" r:id="rId37"/>
    <p:sldId id="287" r:id="rId38"/>
    <p:sldId id="277" r:id="rId39"/>
    <p:sldId id="280" r:id="rId40"/>
    <p:sldId id="276" r:id="rId41"/>
    <p:sldId id="265" r:id="rId42"/>
    <p:sldId id="268" r:id="rId43"/>
    <p:sldId id="267" r:id="rId44"/>
    <p:sldId id="269" r:id="rId45"/>
    <p:sldId id="302" r:id="rId46"/>
    <p:sldId id="294" r:id="rId47"/>
    <p:sldId id="297" r:id="rId48"/>
    <p:sldId id="299" r:id="rId49"/>
    <p:sldId id="321" r:id="rId50"/>
    <p:sldId id="311" r:id="rId51"/>
    <p:sldId id="312" r:id="rId52"/>
    <p:sldId id="313" r:id="rId53"/>
    <p:sldId id="314" r:id="rId54"/>
    <p:sldId id="315" r:id="rId55"/>
    <p:sldId id="317" r:id="rId56"/>
    <p:sldId id="259" r:id="rId5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26" autoAdjust="0"/>
    <p:restoredTop sz="94660"/>
  </p:normalViewPr>
  <p:slideViewPr>
    <p:cSldViewPr snapToGrid="0">
      <p:cViewPr varScale="1">
        <p:scale>
          <a:sx n="85" d="100"/>
          <a:sy n="85" d="100"/>
        </p:scale>
        <p:origin x="55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EDA741-AA84-4154-BFF5-52017547F500}" type="doc">
      <dgm:prSet loTypeId="urn:microsoft.com/office/officeart/2005/8/layout/vList2" loCatId="list" qsTypeId="urn:microsoft.com/office/officeart/2005/8/quickstyle/simple3" qsCatId="simple" csTypeId="urn:microsoft.com/office/officeart/2005/8/colors/accent1_3" csCatId="accent1"/>
      <dgm:spPr/>
      <dgm:t>
        <a:bodyPr/>
        <a:lstStyle/>
        <a:p>
          <a:endParaRPr lang="es-CO"/>
        </a:p>
      </dgm:t>
    </dgm:pt>
    <dgm:pt modelId="{4541AF34-DE51-4E6A-B7BF-AD960E3E7E74}">
      <dgm:prSet/>
      <dgm:spPr/>
      <dgm:t>
        <a:bodyPr/>
        <a:lstStyle/>
        <a:p>
          <a:r>
            <a:rPr lang="en-US"/>
            <a:t>Edad mediana: 69 años; hombres: 57,6%.</a:t>
          </a:r>
          <a:endParaRPr lang="es-CO"/>
        </a:p>
      </dgm:t>
    </dgm:pt>
    <dgm:pt modelId="{43C1F861-F1AF-4EA4-9A05-ECEA2AB35600}" type="parTrans" cxnId="{81692174-B1A0-4197-AD84-F8E0C00A1E08}">
      <dgm:prSet/>
      <dgm:spPr/>
      <dgm:t>
        <a:bodyPr/>
        <a:lstStyle/>
        <a:p>
          <a:endParaRPr lang="es-CO"/>
        </a:p>
      </dgm:t>
    </dgm:pt>
    <dgm:pt modelId="{3662F0AA-4CB8-48DF-8600-DF7095BC7870}" type="sibTrans" cxnId="{81692174-B1A0-4197-AD84-F8E0C00A1E08}">
      <dgm:prSet/>
      <dgm:spPr/>
      <dgm:t>
        <a:bodyPr/>
        <a:lstStyle/>
        <a:p>
          <a:endParaRPr lang="es-CO"/>
        </a:p>
      </dgm:t>
    </dgm:pt>
    <dgm:pt modelId="{F0EC8650-8ECE-4361-9D57-D70722D59939}">
      <dgm:prSet/>
      <dgm:spPr/>
      <dgm:t>
        <a:bodyPr/>
        <a:lstStyle/>
        <a:p>
          <a:r>
            <a:rPr lang="en-US"/>
            <a:t>Comorbilidades: HTA (72%), coronaria (28%), DM2 (25%), FA (22%), EPOC (18%).</a:t>
          </a:r>
          <a:endParaRPr lang="es-CO"/>
        </a:p>
      </dgm:t>
    </dgm:pt>
    <dgm:pt modelId="{582D1884-7F39-4844-9AD5-9F46BE16EE11}" type="parTrans" cxnId="{FDBC285B-1BC7-4583-9A78-992CAFAC9FD2}">
      <dgm:prSet/>
      <dgm:spPr/>
      <dgm:t>
        <a:bodyPr/>
        <a:lstStyle/>
        <a:p>
          <a:endParaRPr lang="es-CO"/>
        </a:p>
      </dgm:t>
    </dgm:pt>
    <dgm:pt modelId="{AEC5C133-13EC-43C3-B694-33B2F91A4AF0}" type="sibTrans" cxnId="{FDBC285B-1BC7-4583-9A78-992CAFAC9FD2}">
      <dgm:prSet/>
      <dgm:spPr/>
      <dgm:t>
        <a:bodyPr/>
        <a:lstStyle/>
        <a:p>
          <a:endParaRPr lang="es-CO"/>
        </a:p>
      </dgm:t>
    </dgm:pt>
    <dgm:pt modelId="{7629E18D-54CB-4053-B78E-0B2E7B5EBE67}">
      <dgm:prSet/>
      <dgm:spPr/>
      <dgm:t>
        <a:bodyPr/>
        <a:lstStyle/>
        <a:p>
          <a:r>
            <a:rPr lang="en-US"/>
            <a:t>Etiología: isquémica (44%), hipertensiva (32%), valvular (13%), chagásica (3,5%).</a:t>
          </a:r>
          <a:endParaRPr lang="es-CO"/>
        </a:p>
      </dgm:t>
    </dgm:pt>
    <dgm:pt modelId="{7FCDE648-A2B4-418E-960E-DF221363EFA7}" type="parTrans" cxnId="{525A89DB-44D6-4559-92E0-A6E387081B23}">
      <dgm:prSet/>
      <dgm:spPr/>
      <dgm:t>
        <a:bodyPr/>
        <a:lstStyle/>
        <a:p>
          <a:endParaRPr lang="es-CO"/>
        </a:p>
      </dgm:t>
    </dgm:pt>
    <dgm:pt modelId="{C83B41EA-313A-49BE-BF42-0FC81EAD3DE2}" type="sibTrans" cxnId="{525A89DB-44D6-4559-92E0-A6E387081B23}">
      <dgm:prSet/>
      <dgm:spPr/>
      <dgm:t>
        <a:bodyPr/>
        <a:lstStyle/>
        <a:p>
          <a:endParaRPr lang="es-CO"/>
        </a:p>
      </dgm:t>
    </dgm:pt>
    <dgm:pt modelId="{DB31C36D-987F-4DBB-A9CE-C08F6F9691E5}">
      <dgm:prSet/>
      <dgm:spPr/>
      <dgm:t>
        <a:bodyPr/>
        <a:lstStyle/>
        <a:p>
          <a:r>
            <a:rPr lang="en-US"/>
            <a:t>Clase funcional: II (54%), III (30%).</a:t>
          </a:r>
          <a:endParaRPr lang="es-CO"/>
        </a:p>
      </dgm:t>
    </dgm:pt>
    <dgm:pt modelId="{35DE8C74-D94F-430D-9D21-4F38F6A68692}" type="parTrans" cxnId="{41E48FE3-3CC9-4834-9777-327B3189CEF5}">
      <dgm:prSet/>
      <dgm:spPr/>
      <dgm:t>
        <a:bodyPr/>
        <a:lstStyle/>
        <a:p>
          <a:endParaRPr lang="es-CO"/>
        </a:p>
      </dgm:t>
    </dgm:pt>
    <dgm:pt modelId="{3D9C7F0C-1C0B-4A67-ACC6-53F3845D3168}" type="sibTrans" cxnId="{41E48FE3-3CC9-4834-9777-327B3189CEF5}">
      <dgm:prSet/>
      <dgm:spPr/>
      <dgm:t>
        <a:bodyPr/>
        <a:lstStyle/>
        <a:p>
          <a:endParaRPr lang="es-CO"/>
        </a:p>
      </dgm:t>
    </dgm:pt>
    <dgm:pt modelId="{81AD87D2-DD50-4FFC-9AA8-BA0E928C8E00}">
      <dgm:prSet/>
      <dgm:spPr/>
      <dgm:t>
        <a:bodyPr/>
        <a:lstStyle/>
        <a:p>
          <a:r>
            <a:rPr lang="en-US"/>
            <a:t>FEVI reducida: 74%; preservada: 16%.</a:t>
          </a:r>
          <a:endParaRPr lang="es-CO"/>
        </a:p>
      </dgm:t>
    </dgm:pt>
    <dgm:pt modelId="{E2803CC9-E604-4CD0-AAA9-141CD8A13F71}" type="parTrans" cxnId="{6D50C091-846B-4F02-A8E6-306EB811EB8A}">
      <dgm:prSet/>
      <dgm:spPr/>
      <dgm:t>
        <a:bodyPr/>
        <a:lstStyle/>
        <a:p>
          <a:endParaRPr lang="es-CO"/>
        </a:p>
      </dgm:t>
    </dgm:pt>
    <dgm:pt modelId="{12DEF890-3359-478D-A794-49627D216A70}" type="sibTrans" cxnId="{6D50C091-846B-4F02-A8E6-306EB811EB8A}">
      <dgm:prSet/>
      <dgm:spPr/>
      <dgm:t>
        <a:bodyPr/>
        <a:lstStyle/>
        <a:p>
          <a:endParaRPr lang="es-CO"/>
        </a:p>
      </dgm:t>
    </dgm:pt>
    <dgm:pt modelId="{5468F4CC-6608-402D-88A3-CC45361BB3B6}">
      <dgm:prSet/>
      <dgm:spPr/>
      <dgm:t>
        <a:bodyPr/>
        <a:lstStyle/>
        <a:p>
          <a:r>
            <a:rPr lang="en-US"/>
            <a:t>Menor acceso a dispositivos y terapias avanzadas  /Uso limitado de ARNI (10%)</a:t>
          </a:r>
          <a:endParaRPr lang="es-CO"/>
        </a:p>
      </dgm:t>
    </dgm:pt>
    <dgm:pt modelId="{C3FCE5C5-3A2B-48EC-AB57-A62A825B6324}" type="parTrans" cxnId="{9A846FD4-6E43-4913-8E38-A425DC8189EA}">
      <dgm:prSet/>
      <dgm:spPr/>
      <dgm:t>
        <a:bodyPr/>
        <a:lstStyle/>
        <a:p>
          <a:endParaRPr lang="es-CO"/>
        </a:p>
      </dgm:t>
    </dgm:pt>
    <dgm:pt modelId="{0AD131E5-28F0-43B5-AA39-8EECAB1747D0}" type="sibTrans" cxnId="{9A846FD4-6E43-4913-8E38-A425DC8189EA}">
      <dgm:prSet/>
      <dgm:spPr/>
      <dgm:t>
        <a:bodyPr/>
        <a:lstStyle/>
        <a:p>
          <a:endParaRPr lang="es-CO"/>
        </a:p>
      </dgm:t>
    </dgm:pt>
    <dgm:pt modelId="{84F9E538-9CA6-4096-A233-7A825FE0EBFE}">
      <dgm:prSet/>
      <dgm:spPr/>
      <dgm:t>
        <a:bodyPr/>
        <a:lstStyle/>
        <a:p>
          <a:r>
            <a:rPr lang="en-US"/>
            <a:t>Hospitalización universal en el último año; 25% ≥2 ingresos.</a:t>
          </a:r>
          <a:endParaRPr lang="es-CO"/>
        </a:p>
      </dgm:t>
    </dgm:pt>
    <dgm:pt modelId="{6D401FB9-B6B6-4241-BC7F-5FA67404BEE5}" type="parTrans" cxnId="{48779A3F-D2D9-485C-9AB1-DC2BA75482A1}">
      <dgm:prSet/>
      <dgm:spPr/>
      <dgm:t>
        <a:bodyPr/>
        <a:lstStyle/>
        <a:p>
          <a:endParaRPr lang="es-CO"/>
        </a:p>
      </dgm:t>
    </dgm:pt>
    <dgm:pt modelId="{AD50D18A-3201-4B44-ADA0-4FA53F974441}" type="sibTrans" cxnId="{48779A3F-D2D9-485C-9AB1-DC2BA75482A1}">
      <dgm:prSet/>
      <dgm:spPr/>
      <dgm:t>
        <a:bodyPr/>
        <a:lstStyle/>
        <a:p>
          <a:endParaRPr lang="es-CO"/>
        </a:p>
      </dgm:t>
    </dgm:pt>
    <dgm:pt modelId="{552F321C-A22D-445F-B5CC-4CFCD9DA08ED}">
      <dgm:prSet/>
      <dgm:spPr/>
      <dgm:t>
        <a:bodyPr/>
        <a:lstStyle/>
        <a:p>
          <a:r>
            <a:rPr lang="en-US"/>
            <a:t>Desencadenantes: progresión enfermedad (35%), tratamiento insuficiente (19%).</a:t>
          </a:r>
          <a:endParaRPr lang="es-CO"/>
        </a:p>
      </dgm:t>
    </dgm:pt>
    <dgm:pt modelId="{AA8CC19F-C000-422E-920D-155F70FD46E4}" type="parTrans" cxnId="{22555316-74B4-44AC-8F17-78C38C9336C4}">
      <dgm:prSet/>
      <dgm:spPr/>
      <dgm:t>
        <a:bodyPr/>
        <a:lstStyle/>
        <a:p>
          <a:endParaRPr lang="es-CO"/>
        </a:p>
      </dgm:t>
    </dgm:pt>
    <dgm:pt modelId="{859EB465-CACD-4D7F-A706-543EF6DF19C1}" type="sibTrans" cxnId="{22555316-74B4-44AC-8F17-78C38C9336C4}">
      <dgm:prSet/>
      <dgm:spPr/>
      <dgm:t>
        <a:bodyPr/>
        <a:lstStyle/>
        <a:p>
          <a:endParaRPr lang="es-CO"/>
        </a:p>
      </dgm:t>
    </dgm:pt>
    <dgm:pt modelId="{F28A6760-1228-4EE5-B7E6-24B24D228413}" type="pres">
      <dgm:prSet presAssocID="{C5EDA741-AA84-4154-BFF5-52017547F500}" presName="linear" presStyleCnt="0">
        <dgm:presLayoutVars>
          <dgm:animLvl val="lvl"/>
          <dgm:resizeHandles val="exact"/>
        </dgm:presLayoutVars>
      </dgm:prSet>
      <dgm:spPr/>
    </dgm:pt>
    <dgm:pt modelId="{DEFDC8DF-E204-4239-B465-4235BB1EA513}" type="pres">
      <dgm:prSet presAssocID="{4541AF34-DE51-4E6A-B7BF-AD960E3E7E74}" presName="parentText" presStyleLbl="node1" presStyleIdx="0" presStyleCnt="7">
        <dgm:presLayoutVars>
          <dgm:chMax val="0"/>
          <dgm:bulletEnabled val="1"/>
        </dgm:presLayoutVars>
      </dgm:prSet>
      <dgm:spPr/>
    </dgm:pt>
    <dgm:pt modelId="{FB0BC8AE-3967-49F8-868E-C89E1211647C}" type="pres">
      <dgm:prSet presAssocID="{3662F0AA-4CB8-48DF-8600-DF7095BC7870}" presName="spacer" presStyleCnt="0"/>
      <dgm:spPr/>
    </dgm:pt>
    <dgm:pt modelId="{18F1DF2F-8432-4B1C-B4BA-94473E62F12B}" type="pres">
      <dgm:prSet presAssocID="{F0EC8650-8ECE-4361-9D57-D70722D59939}" presName="parentText" presStyleLbl="node1" presStyleIdx="1" presStyleCnt="7">
        <dgm:presLayoutVars>
          <dgm:chMax val="0"/>
          <dgm:bulletEnabled val="1"/>
        </dgm:presLayoutVars>
      </dgm:prSet>
      <dgm:spPr/>
    </dgm:pt>
    <dgm:pt modelId="{EAB4E17B-1FC9-46BE-BDDD-D6DBD8524CF2}" type="pres">
      <dgm:prSet presAssocID="{AEC5C133-13EC-43C3-B694-33B2F91A4AF0}" presName="spacer" presStyleCnt="0"/>
      <dgm:spPr/>
    </dgm:pt>
    <dgm:pt modelId="{6116ADA5-A234-4DE9-BBC0-8250CB7CE164}" type="pres">
      <dgm:prSet presAssocID="{7629E18D-54CB-4053-B78E-0B2E7B5EBE67}" presName="parentText" presStyleLbl="node1" presStyleIdx="2" presStyleCnt="7">
        <dgm:presLayoutVars>
          <dgm:chMax val="0"/>
          <dgm:bulletEnabled val="1"/>
        </dgm:presLayoutVars>
      </dgm:prSet>
      <dgm:spPr/>
    </dgm:pt>
    <dgm:pt modelId="{DA9AC8C8-08CA-49B4-9C1D-EBC25DDA1457}" type="pres">
      <dgm:prSet presAssocID="{C83B41EA-313A-49BE-BF42-0FC81EAD3DE2}" presName="spacer" presStyleCnt="0"/>
      <dgm:spPr/>
    </dgm:pt>
    <dgm:pt modelId="{CB2481E2-BF39-4942-96DA-715FDD177FE3}" type="pres">
      <dgm:prSet presAssocID="{DB31C36D-987F-4DBB-A9CE-C08F6F9691E5}" presName="parentText" presStyleLbl="node1" presStyleIdx="3" presStyleCnt="7">
        <dgm:presLayoutVars>
          <dgm:chMax val="0"/>
          <dgm:bulletEnabled val="1"/>
        </dgm:presLayoutVars>
      </dgm:prSet>
      <dgm:spPr/>
    </dgm:pt>
    <dgm:pt modelId="{2C69296B-BFF2-43F9-9C85-02DBA019E3FC}" type="pres">
      <dgm:prSet presAssocID="{3D9C7F0C-1C0B-4A67-ACC6-53F3845D3168}" presName="spacer" presStyleCnt="0"/>
      <dgm:spPr/>
    </dgm:pt>
    <dgm:pt modelId="{7CEB618A-94C7-4F49-A3A5-B17DEC005399}" type="pres">
      <dgm:prSet presAssocID="{81AD87D2-DD50-4FFC-9AA8-BA0E928C8E00}" presName="parentText" presStyleLbl="node1" presStyleIdx="4" presStyleCnt="7">
        <dgm:presLayoutVars>
          <dgm:chMax val="0"/>
          <dgm:bulletEnabled val="1"/>
        </dgm:presLayoutVars>
      </dgm:prSet>
      <dgm:spPr/>
    </dgm:pt>
    <dgm:pt modelId="{D08BEB48-4D49-47A9-B5C1-02747D82A877}" type="pres">
      <dgm:prSet presAssocID="{81AD87D2-DD50-4FFC-9AA8-BA0E928C8E00}" presName="childText" presStyleLbl="revTx" presStyleIdx="0" presStyleCnt="1">
        <dgm:presLayoutVars>
          <dgm:bulletEnabled val="1"/>
        </dgm:presLayoutVars>
      </dgm:prSet>
      <dgm:spPr/>
    </dgm:pt>
    <dgm:pt modelId="{0DDDC8A7-A583-41C4-828F-B2F6EC9239FD}" type="pres">
      <dgm:prSet presAssocID="{84F9E538-9CA6-4096-A233-7A825FE0EBFE}" presName="parentText" presStyleLbl="node1" presStyleIdx="5" presStyleCnt="7">
        <dgm:presLayoutVars>
          <dgm:chMax val="0"/>
          <dgm:bulletEnabled val="1"/>
        </dgm:presLayoutVars>
      </dgm:prSet>
      <dgm:spPr/>
    </dgm:pt>
    <dgm:pt modelId="{665C2A8F-F78C-4F0A-8915-B76DECB1EC01}" type="pres">
      <dgm:prSet presAssocID="{AD50D18A-3201-4B44-ADA0-4FA53F974441}" presName="spacer" presStyleCnt="0"/>
      <dgm:spPr/>
    </dgm:pt>
    <dgm:pt modelId="{0527F2C1-95BD-4B6F-81FE-2208D82217F3}" type="pres">
      <dgm:prSet presAssocID="{552F321C-A22D-445F-B5CC-4CFCD9DA08ED}" presName="parentText" presStyleLbl="node1" presStyleIdx="6" presStyleCnt="7">
        <dgm:presLayoutVars>
          <dgm:chMax val="0"/>
          <dgm:bulletEnabled val="1"/>
        </dgm:presLayoutVars>
      </dgm:prSet>
      <dgm:spPr/>
    </dgm:pt>
  </dgm:ptLst>
  <dgm:cxnLst>
    <dgm:cxn modelId="{22555316-74B4-44AC-8F17-78C38C9336C4}" srcId="{C5EDA741-AA84-4154-BFF5-52017547F500}" destId="{552F321C-A22D-445F-B5CC-4CFCD9DA08ED}" srcOrd="6" destOrd="0" parTransId="{AA8CC19F-C000-422E-920D-155F70FD46E4}" sibTransId="{859EB465-CACD-4D7F-A706-543EF6DF19C1}"/>
    <dgm:cxn modelId="{E6369E16-5A79-489B-B916-03CC8C005B5A}" type="presOf" srcId="{552F321C-A22D-445F-B5CC-4CFCD9DA08ED}" destId="{0527F2C1-95BD-4B6F-81FE-2208D82217F3}" srcOrd="0" destOrd="0" presId="urn:microsoft.com/office/officeart/2005/8/layout/vList2"/>
    <dgm:cxn modelId="{BE8E6535-7CB1-49B9-91E5-FC4DFD1EA0C3}" type="presOf" srcId="{4541AF34-DE51-4E6A-B7BF-AD960E3E7E74}" destId="{DEFDC8DF-E204-4239-B465-4235BB1EA513}" srcOrd="0" destOrd="0" presId="urn:microsoft.com/office/officeart/2005/8/layout/vList2"/>
    <dgm:cxn modelId="{48779A3F-D2D9-485C-9AB1-DC2BA75482A1}" srcId="{C5EDA741-AA84-4154-BFF5-52017547F500}" destId="{84F9E538-9CA6-4096-A233-7A825FE0EBFE}" srcOrd="5" destOrd="0" parTransId="{6D401FB9-B6B6-4241-BC7F-5FA67404BEE5}" sibTransId="{AD50D18A-3201-4B44-ADA0-4FA53F974441}"/>
    <dgm:cxn modelId="{FDBC285B-1BC7-4583-9A78-992CAFAC9FD2}" srcId="{C5EDA741-AA84-4154-BFF5-52017547F500}" destId="{F0EC8650-8ECE-4361-9D57-D70722D59939}" srcOrd="1" destOrd="0" parTransId="{582D1884-7F39-4844-9AD5-9F46BE16EE11}" sibTransId="{AEC5C133-13EC-43C3-B694-33B2F91A4AF0}"/>
    <dgm:cxn modelId="{712E3641-4650-490C-A3BF-5AAA4E574F72}" type="presOf" srcId="{7629E18D-54CB-4053-B78E-0B2E7B5EBE67}" destId="{6116ADA5-A234-4DE9-BBC0-8250CB7CE164}" srcOrd="0" destOrd="0" presId="urn:microsoft.com/office/officeart/2005/8/layout/vList2"/>
    <dgm:cxn modelId="{FC2F036C-E9A9-4210-B15D-BBC5BE7AEB9C}" type="presOf" srcId="{F0EC8650-8ECE-4361-9D57-D70722D59939}" destId="{18F1DF2F-8432-4B1C-B4BA-94473E62F12B}" srcOrd="0" destOrd="0" presId="urn:microsoft.com/office/officeart/2005/8/layout/vList2"/>
    <dgm:cxn modelId="{3DBA7071-A0E1-4404-ABFC-B9258E6607F5}" type="presOf" srcId="{C5EDA741-AA84-4154-BFF5-52017547F500}" destId="{F28A6760-1228-4EE5-B7E6-24B24D228413}" srcOrd="0" destOrd="0" presId="urn:microsoft.com/office/officeart/2005/8/layout/vList2"/>
    <dgm:cxn modelId="{81692174-B1A0-4197-AD84-F8E0C00A1E08}" srcId="{C5EDA741-AA84-4154-BFF5-52017547F500}" destId="{4541AF34-DE51-4E6A-B7BF-AD960E3E7E74}" srcOrd="0" destOrd="0" parTransId="{43C1F861-F1AF-4EA4-9A05-ECEA2AB35600}" sibTransId="{3662F0AA-4CB8-48DF-8600-DF7095BC7870}"/>
    <dgm:cxn modelId="{370A4755-71D0-40E2-8ABF-A38EED649B48}" type="presOf" srcId="{DB31C36D-987F-4DBB-A9CE-C08F6F9691E5}" destId="{CB2481E2-BF39-4942-96DA-715FDD177FE3}" srcOrd="0" destOrd="0" presId="urn:microsoft.com/office/officeart/2005/8/layout/vList2"/>
    <dgm:cxn modelId="{74EBE982-2E47-4832-8C9B-571B4B46691E}" type="presOf" srcId="{5468F4CC-6608-402D-88A3-CC45361BB3B6}" destId="{D08BEB48-4D49-47A9-B5C1-02747D82A877}" srcOrd="0" destOrd="0" presId="urn:microsoft.com/office/officeart/2005/8/layout/vList2"/>
    <dgm:cxn modelId="{6D50C091-846B-4F02-A8E6-306EB811EB8A}" srcId="{C5EDA741-AA84-4154-BFF5-52017547F500}" destId="{81AD87D2-DD50-4FFC-9AA8-BA0E928C8E00}" srcOrd="4" destOrd="0" parTransId="{E2803CC9-E604-4CD0-AAA9-141CD8A13F71}" sibTransId="{12DEF890-3359-478D-A794-49627D216A70}"/>
    <dgm:cxn modelId="{218E5992-14B7-49D8-8DD9-3D10D27956CE}" type="presOf" srcId="{81AD87D2-DD50-4FFC-9AA8-BA0E928C8E00}" destId="{7CEB618A-94C7-4F49-A3A5-B17DEC005399}" srcOrd="0" destOrd="0" presId="urn:microsoft.com/office/officeart/2005/8/layout/vList2"/>
    <dgm:cxn modelId="{B3A820C7-76B5-4B75-92E9-AA066A3619E4}" type="presOf" srcId="{84F9E538-9CA6-4096-A233-7A825FE0EBFE}" destId="{0DDDC8A7-A583-41C4-828F-B2F6EC9239FD}" srcOrd="0" destOrd="0" presId="urn:microsoft.com/office/officeart/2005/8/layout/vList2"/>
    <dgm:cxn modelId="{9A846FD4-6E43-4913-8E38-A425DC8189EA}" srcId="{81AD87D2-DD50-4FFC-9AA8-BA0E928C8E00}" destId="{5468F4CC-6608-402D-88A3-CC45361BB3B6}" srcOrd="0" destOrd="0" parTransId="{C3FCE5C5-3A2B-48EC-AB57-A62A825B6324}" sibTransId="{0AD131E5-28F0-43B5-AA39-8EECAB1747D0}"/>
    <dgm:cxn modelId="{525A89DB-44D6-4559-92E0-A6E387081B23}" srcId="{C5EDA741-AA84-4154-BFF5-52017547F500}" destId="{7629E18D-54CB-4053-B78E-0B2E7B5EBE67}" srcOrd="2" destOrd="0" parTransId="{7FCDE648-A2B4-418E-960E-DF221363EFA7}" sibTransId="{C83B41EA-313A-49BE-BF42-0FC81EAD3DE2}"/>
    <dgm:cxn modelId="{41E48FE3-3CC9-4834-9777-327B3189CEF5}" srcId="{C5EDA741-AA84-4154-BFF5-52017547F500}" destId="{DB31C36D-987F-4DBB-A9CE-C08F6F9691E5}" srcOrd="3" destOrd="0" parTransId="{35DE8C74-D94F-430D-9D21-4F38F6A68692}" sibTransId="{3D9C7F0C-1C0B-4A67-ACC6-53F3845D3168}"/>
    <dgm:cxn modelId="{8DEA3722-2837-4663-8FA0-25B75DC99A14}" type="presParOf" srcId="{F28A6760-1228-4EE5-B7E6-24B24D228413}" destId="{DEFDC8DF-E204-4239-B465-4235BB1EA513}" srcOrd="0" destOrd="0" presId="urn:microsoft.com/office/officeart/2005/8/layout/vList2"/>
    <dgm:cxn modelId="{074E358E-1517-47E7-AE95-CE0934935EBF}" type="presParOf" srcId="{F28A6760-1228-4EE5-B7E6-24B24D228413}" destId="{FB0BC8AE-3967-49F8-868E-C89E1211647C}" srcOrd="1" destOrd="0" presId="urn:microsoft.com/office/officeart/2005/8/layout/vList2"/>
    <dgm:cxn modelId="{C3F8966B-5BAC-4936-9F03-B4E5EE4EBA9C}" type="presParOf" srcId="{F28A6760-1228-4EE5-B7E6-24B24D228413}" destId="{18F1DF2F-8432-4B1C-B4BA-94473E62F12B}" srcOrd="2" destOrd="0" presId="urn:microsoft.com/office/officeart/2005/8/layout/vList2"/>
    <dgm:cxn modelId="{8785BF4C-D9EB-419E-9F64-C58DCCA54CE6}" type="presParOf" srcId="{F28A6760-1228-4EE5-B7E6-24B24D228413}" destId="{EAB4E17B-1FC9-46BE-BDDD-D6DBD8524CF2}" srcOrd="3" destOrd="0" presId="urn:microsoft.com/office/officeart/2005/8/layout/vList2"/>
    <dgm:cxn modelId="{AD9725E4-5484-4CFF-B766-DF802DF395B7}" type="presParOf" srcId="{F28A6760-1228-4EE5-B7E6-24B24D228413}" destId="{6116ADA5-A234-4DE9-BBC0-8250CB7CE164}" srcOrd="4" destOrd="0" presId="urn:microsoft.com/office/officeart/2005/8/layout/vList2"/>
    <dgm:cxn modelId="{AC184EC5-8419-42EF-9DB7-6908269212D6}" type="presParOf" srcId="{F28A6760-1228-4EE5-B7E6-24B24D228413}" destId="{DA9AC8C8-08CA-49B4-9C1D-EBC25DDA1457}" srcOrd="5" destOrd="0" presId="urn:microsoft.com/office/officeart/2005/8/layout/vList2"/>
    <dgm:cxn modelId="{88EE48C3-E9BA-4562-B371-29946E0B9FFC}" type="presParOf" srcId="{F28A6760-1228-4EE5-B7E6-24B24D228413}" destId="{CB2481E2-BF39-4942-96DA-715FDD177FE3}" srcOrd="6" destOrd="0" presId="urn:microsoft.com/office/officeart/2005/8/layout/vList2"/>
    <dgm:cxn modelId="{E2DF68C0-4088-4428-A98C-19856E963DA3}" type="presParOf" srcId="{F28A6760-1228-4EE5-B7E6-24B24D228413}" destId="{2C69296B-BFF2-43F9-9C85-02DBA019E3FC}" srcOrd="7" destOrd="0" presId="urn:microsoft.com/office/officeart/2005/8/layout/vList2"/>
    <dgm:cxn modelId="{D6074BE6-0CA9-4E02-9401-0191591FE708}" type="presParOf" srcId="{F28A6760-1228-4EE5-B7E6-24B24D228413}" destId="{7CEB618A-94C7-4F49-A3A5-B17DEC005399}" srcOrd="8" destOrd="0" presId="urn:microsoft.com/office/officeart/2005/8/layout/vList2"/>
    <dgm:cxn modelId="{1720E1EA-7DF7-4885-9330-918063FF993F}" type="presParOf" srcId="{F28A6760-1228-4EE5-B7E6-24B24D228413}" destId="{D08BEB48-4D49-47A9-B5C1-02747D82A877}" srcOrd="9" destOrd="0" presId="urn:microsoft.com/office/officeart/2005/8/layout/vList2"/>
    <dgm:cxn modelId="{07C7F101-A9DD-4689-8759-33D8C02B7640}" type="presParOf" srcId="{F28A6760-1228-4EE5-B7E6-24B24D228413}" destId="{0DDDC8A7-A583-41C4-828F-B2F6EC9239FD}" srcOrd="10" destOrd="0" presId="urn:microsoft.com/office/officeart/2005/8/layout/vList2"/>
    <dgm:cxn modelId="{AFED8DE0-2F17-4996-B10B-415652CE86AC}" type="presParOf" srcId="{F28A6760-1228-4EE5-B7E6-24B24D228413}" destId="{665C2A8F-F78C-4F0A-8915-B76DECB1EC01}" srcOrd="11" destOrd="0" presId="urn:microsoft.com/office/officeart/2005/8/layout/vList2"/>
    <dgm:cxn modelId="{02CADF94-EDA7-4DD2-B2A2-7B6E1377CCCF}" type="presParOf" srcId="{F28A6760-1228-4EE5-B7E6-24B24D228413}" destId="{0527F2C1-95BD-4B6F-81FE-2208D82217F3}" srcOrd="1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7B35AB99-73DC-4EC4-A09F-FA4902A08530}" type="doc">
      <dgm:prSet loTypeId="urn:microsoft.com/office/officeart/2005/8/layout/vList3" loCatId="list" qsTypeId="urn:microsoft.com/office/officeart/2005/8/quickstyle/3d1" qsCatId="3D" csTypeId="urn:microsoft.com/office/officeart/2005/8/colors/colorful2" csCatId="colorful"/>
      <dgm:spPr/>
      <dgm:t>
        <a:bodyPr/>
        <a:lstStyle/>
        <a:p>
          <a:endParaRPr lang="es-CO"/>
        </a:p>
      </dgm:t>
    </dgm:pt>
    <dgm:pt modelId="{5233B256-C402-4044-AFB8-18FB60A63A19}">
      <dgm:prSet/>
      <dgm:spPr/>
      <dgm:t>
        <a:bodyPr/>
        <a:lstStyle/>
        <a:p>
          <a:r>
            <a:rPr lang="en-US" b="1" dirty="0"/>
            <a:t>DESCOMPENSACIÓN AGUDA DE LA INSUFICIENCIA CARDIACA: </a:t>
          </a:r>
          <a:r>
            <a:rPr lang="en-US" dirty="0" err="1"/>
            <a:t>Presentación</a:t>
          </a:r>
          <a:r>
            <a:rPr lang="en-US" dirty="0"/>
            <a:t> gradual (días), </a:t>
          </a:r>
          <a:r>
            <a:rPr lang="en-US" dirty="0" err="1"/>
            <a:t>paciente</a:t>
          </a:r>
          <a:r>
            <a:rPr lang="en-US" dirty="0"/>
            <a:t> “</a:t>
          </a:r>
          <a:r>
            <a:rPr lang="en-US" dirty="0" err="1"/>
            <a:t>Húmedo</a:t>
          </a:r>
          <a:r>
            <a:rPr lang="en-US" dirty="0"/>
            <a:t> y caliente” o “Seco y </a:t>
          </a:r>
          <a:r>
            <a:rPr lang="en-US" dirty="0" err="1"/>
            <a:t>Frío</a:t>
          </a:r>
          <a:r>
            <a:rPr lang="en-US" dirty="0"/>
            <a:t>” </a:t>
          </a:r>
          <a:r>
            <a:rPr lang="en-US" b="1" dirty="0"/>
            <a:t> </a:t>
          </a:r>
          <a:endParaRPr lang="es-CO" dirty="0"/>
        </a:p>
      </dgm:t>
    </dgm:pt>
    <dgm:pt modelId="{BD6861E6-88C5-4DC1-8B03-C69EF678B204}" type="parTrans" cxnId="{C9EB7BC3-546C-4188-BE9A-E2120C146AB0}">
      <dgm:prSet/>
      <dgm:spPr/>
      <dgm:t>
        <a:bodyPr/>
        <a:lstStyle/>
        <a:p>
          <a:endParaRPr lang="es-CO"/>
        </a:p>
      </dgm:t>
    </dgm:pt>
    <dgm:pt modelId="{438FBF1E-894C-493D-AA51-FBD06902A679}" type="sibTrans" cxnId="{C9EB7BC3-546C-4188-BE9A-E2120C146AB0}">
      <dgm:prSet/>
      <dgm:spPr/>
      <dgm:t>
        <a:bodyPr/>
        <a:lstStyle/>
        <a:p>
          <a:endParaRPr lang="es-CO"/>
        </a:p>
      </dgm:t>
    </dgm:pt>
    <dgm:pt modelId="{BBE6917D-9BF6-4F09-B3A9-3C0E6198047A}">
      <dgm:prSet/>
      <dgm:spPr/>
      <dgm:t>
        <a:bodyPr/>
        <a:lstStyle/>
        <a:p>
          <a:r>
            <a:rPr lang="en-US" b="1"/>
            <a:t>2. EDEMA PULMONAR AGUDO: </a:t>
          </a:r>
          <a:r>
            <a:rPr lang="en-US"/>
            <a:t>Presentación rápida (horas), paciente “Húmedo y caliente”</a:t>
          </a:r>
          <a:endParaRPr lang="es-CO"/>
        </a:p>
      </dgm:t>
    </dgm:pt>
    <dgm:pt modelId="{EE07CE2B-1711-4AA7-829C-615482070C43}" type="parTrans" cxnId="{E396D257-1275-482C-9053-6EFD083033A8}">
      <dgm:prSet/>
      <dgm:spPr/>
      <dgm:t>
        <a:bodyPr/>
        <a:lstStyle/>
        <a:p>
          <a:endParaRPr lang="es-CO"/>
        </a:p>
      </dgm:t>
    </dgm:pt>
    <dgm:pt modelId="{13F9CDEE-2672-43DC-ACD8-0E8399BB2FFD}" type="sibTrans" cxnId="{E396D257-1275-482C-9053-6EFD083033A8}">
      <dgm:prSet/>
      <dgm:spPr/>
      <dgm:t>
        <a:bodyPr/>
        <a:lstStyle/>
        <a:p>
          <a:endParaRPr lang="es-CO"/>
        </a:p>
      </dgm:t>
    </dgm:pt>
    <dgm:pt modelId="{6C84809E-7B68-41FE-99C6-447BD5880EBE}">
      <dgm:prSet/>
      <dgm:spPr/>
      <dgm:t>
        <a:bodyPr/>
        <a:lstStyle/>
        <a:p>
          <a:r>
            <a:rPr lang="en-US" b="1" dirty="0"/>
            <a:t>3. INSUFICIENCIA VENTRICULAR DERECHA AISLADA: </a:t>
          </a:r>
          <a:r>
            <a:rPr lang="en-US" dirty="0" err="1"/>
            <a:t>Presentación</a:t>
          </a:r>
          <a:r>
            <a:rPr lang="en-US" dirty="0"/>
            <a:t> gradual o </a:t>
          </a:r>
          <a:r>
            <a:rPr lang="en-US" dirty="0" err="1"/>
            <a:t>rápida</a:t>
          </a:r>
          <a:r>
            <a:rPr lang="en-US" dirty="0"/>
            <a:t>, </a:t>
          </a:r>
          <a:r>
            <a:rPr lang="en-US" dirty="0" err="1"/>
            <a:t>paciente</a:t>
          </a:r>
          <a:r>
            <a:rPr lang="en-US" dirty="0"/>
            <a:t> “Seco y </a:t>
          </a:r>
          <a:r>
            <a:rPr lang="en-US" dirty="0" err="1"/>
            <a:t>frío</a:t>
          </a:r>
          <a:r>
            <a:rPr lang="en-US" dirty="0"/>
            <a:t>” o “ </a:t>
          </a:r>
          <a:r>
            <a:rPr lang="en-US" dirty="0" err="1"/>
            <a:t>Húmedo</a:t>
          </a:r>
          <a:r>
            <a:rPr lang="en-US" dirty="0"/>
            <a:t> y </a:t>
          </a:r>
          <a:r>
            <a:rPr lang="en-US" dirty="0" err="1"/>
            <a:t>frío</a:t>
          </a:r>
          <a:r>
            <a:rPr lang="en-US" dirty="0"/>
            <a:t>”</a:t>
          </a:r>
          <a:endParaRPr lang="es-CO" dirty="0"/>
        </a:p>
      </dgm:t>
    </dgm:pt>
    <dgm:pt modelId="{27F6E33C-4297-47B3-BB5F-88ADFADA6076}" type="parTrans" cxnId="{BA456E31-F8C8-4C06-B28D-C75C81771AE9}">
      <dgm:prSet/>
      <dgm:spPr/>
      <dgm:t>
        <a:bodyPr/>
        <a:lstStyle/>
        <a:p>
          <a:endParaRPr lang="es-CO"/>
        </a:p>
      </dgm:t>
    </dgm:pt>
    <dgm:pt modelId="{387CAC71-3FFB-4AE3-BCC4-2073D2C5CC39}" type="sibTrans" cxnId="{BA456E31-F8C8-4C06-B28D-C75C81771AE9}">
      <dgm:prSet/>
      <dgm:spPr/>
      <dgm:t>
        <a:bodyPr/>
        <a:lstStyle/>
        <a:p>
          <a:endParaRPr lang="es-CO"/>
        </a:p>
      </dgm:t>
    </dgm:pt>
    <dgm:pt modelId="{8A41775B-CA5B-4216-8BCF-F97D02524120}">
      <dgm:prSet/>
      <dgm:spPr/>
      <dgm:t>
        <a:bodyPr/>
        <a:lstStyle/>
        <a:p>
          <a:r>
            <a:rPr lang="en-US" b="1"/>
            <a:t>4. SHOCK CARDIOGÉNICO: </a:t>
          </a:r>
          <a:r>
            <a:rPr lang="en-US"/>
            <a:t>Presentación Gradual o rápida, paciente “Húmedo y frío”</a:t>
          </a:r>
          <a:endParaRPr lang="es-CO"/>
        </a:p>
      </dgm:t>
    </dgm:pt>
    <dgm:pt modelId="{8D87DF3A-BB64-4780-8EE9-7A5CCF3B1464}" type="parTrans" cxnId="{6CA49FE8-D500-49E2-AE39-1D12EFA9BD3A}">
      <dgm:prSet/>
      <dgm:spPr/>
      <dgm:t>
        <a:bodyPr/>
        <a:lstStyle/>
        <a:p>
          <a:endParaRPr lang="es-CO"/>
        </a:p>
      </dgm:t>
    </dgm:pt>
    <dgm:pt modelId="{96981808-1E52-4105-A54A-61E1EF59E476}" type="sibTrans" cxnId="{6CA49FE8-D500-49E2-AE39-1D12EFA9BD3A}">
      <dgm:prSet/>
      <dgm:spPr/>
      <dgm:t>
        <a:bodyPr/>
        <a:lstStyle/>
        <a:p>
          <a:endParaRPr lang="es-CO"/>
        </a:p>
      </dgm:t>
    </dgm:pt>
    <dgm:pt modelId="{E2187DD1-6974-4C1B-9D87-01A32E46F83F}" type="pres">
      <dgm:prSet presAssocID="{7B35AB99-73DC-4EC4-A09F-FA4902A08530}" presName="linearFlow" presStyleCnt="0">
        <dgm:presLayoutVars>
          <dgm:dir/>
          <dgm:resizeHandles val="exact"/>
        </dgm:presLayoutVars>
      </dgm:prSet>
      <dgm:spPr/>
    </dgm:pt>
    <dgm:pt modelId="{2D0DAAB2-1393-43C8-9B80-A894AB38B34C}" type="pres">
      <dgm:prSet presAssocID="{5233B256-C402-4044-AFB8-18FB60A63A19}" presName="composite" presStyleCnt="0"/>
      <dgm:spPr/>
    </dgm:pt>
    <dgm:pt modelId="{8F5D8C72-AD08-402D-B2D6-0B90D51C2B29}" type="pres">
      <dgm:prSet presAssocID="{5233B256-C402-4044-AFB8-18FB60A63A19}" presName="imgShp" presStyleLbl="fgImgPlace1" presStyleIdx="0" presStyleCnt="4"/>
      <dgm:spPr/>
    </dgm:pt>
    <dgm:pt modelId="{E08BEC91-12F0-4DC8-80BE-A5FD3408623A}" type="pres">
      <dgm:prSet presAssocID="{5233B256-C402-4044-AFB8-18FB60A63A19}" presName="txShp" presStyleLbl="node1" presStyleIdx="0" presStyleCnt="4">
        <dgm:presLayoutVars>
          <dgm:bulletEnabled val="1"/>
        </dgm:presLayoutVars>
      </dgm:prSet>
      <dgm:spPr/>
    </dgm:pt>
    <dgm:pt modelId="{4C7445C0-D60C-4EBA-B993-D8A8B951B652}" type="pres">
      <dgm:prSet presAssocID="{438FBF1E-894C-493D-AA51-FBD06902A679}" presName="spacing" presStyleCnt="0"/>
      <dgm:spPr/>
    </dgm:pt>
    <dgm:pt modelId="{96BF57EB-1781-43DB-AE25-DCCFBB14DD88}" type="pres">
      <dgm:prSet presAssocID="{BBE6917D-9BF6-4F09-B3A9-3C0E6198047A}" presName="composite" presStyleCnt="0"/>
      <dgm:spPr/>
    </dgm:pt>
    <dgm:pt modelId="{B5F76764-219B-4AF0-8DE0-3920EDC15EC9}" type="pres">
      <dgm:prSet presAssocID="{BBE6917D-9BF6-4F09-B3A9-3C0E6198047A}" presName="imgShp" presStyleLbl="fgImgPlace1" presStyleIdx="1" presStyleCnt="4"/>
      <dgm:spPr/>
    </dgm:pt>
    <dgm:pt modelId="{6CE7E68C-ED3D-43F9-A788-B03C97ADAD9F}" type="pres">
      <dgm:prSet presAssocID="{BBE6917D-9BF6-4F09-B3A9-3C0E6198047A}" presName="txShp" presStyleLbl="node1" presStyleIdx="1" presStyleCnt="4">
        <dgm:presLayoutVars>
          <dgm:bulletEnabled val="1"/>
        </dgm:presLayoutVars>
      </dgm:prSet>
      <dgm:spPr/>
    </dgm:pt>
    <dgm:pt modelId="{6F13FF58-1E42-4FD8-A708-C520C23E509F}" type="pres">
      <dgm:prSet presAssocID="{13F9CDEE-2672-43DC-ACD8-0E8399BB2FFD}" presName="spacing" presStyleCnt="0"/>
      <dgm:spPr/>
    </dgm:pt>
    <dgm:pt modelId="{F346968A-BA1F-4430-A301-C0C80E62F4B5}" type="pres">
      <dgm:prSet presAssocID="{6C84809E-7B68-41FE-99C6-447BD5880EBE}" presName="composite" presStyleCnt="0"/>
      <dgm:spPr/>
    </dgm:pt>
    <dgm:pt modelId="{511158D8-F417-4A98-8FB3-DB8B18556519}" type="pres">
      <dgm:prSet presAssocID="{6C84809E-7B68-41FE-99C6-447BD5880EBE}" presName="imgShp" presStyleLbl="fgImgPlace1" presStyleIdx="2" presStyleCnt="4"/>
      <dgm:spPr/>
    </dgm:pt>
    <dgm:pt modelId="{0DDCD9E4-5A89-45D4-BD0F-40C4EFF7E796}" type="pres">
      <dgm:prSet presAssocID="{6C84809E-7B68-41FE-99C6-447BD5880EBE}" presName="txShp" presStyleLbl="node1" presStyleIdx="2" presStyleCnt="4">
        <dgm:presLayoutVars>
          <dgm:bulletEnabled val="1"/>
        </dgm:presLayoutVars>
      </dgm:prSet>
      <dgm:spPr/>
    </dgm:pt>
    <dgm:pt modelId="{DED61B21-DA28-41A5-9929-6F5BE11F6E94}" type="pres">
      <dgm:prSet presAssocID="{387CAC71-3FFB-4AE3-BCC4-2073D2C5CC39}" presName="spacing" presStyleCnt="0"/>
      <dgm:spPr/>
    </dgm:pt>
    <dgm:pt modelId="{6A176326-8014-4CCF-A40F-987E651B3690}" type="pres">
      <dgm:prSet presAssocID="{8A41775B-CA5B-4216-8BCF-F97D02524120}" presName="composite" presStyleCnt="0"/>
      <dgm:spPr/>
    </dgm:pt>
    <dgm:pt modelId="{86525DDB-56E0-4A8C-BC14-0897BF9662A3}" type="pres">
      <dgm:prSet presAssocID="{8A41775B-CA5B-4216-8BCF-F97D02524120}" presName="imgShp" presStyleLbl="fgImgPlace1" presStyleIdx="3" presStyleCnt="4"/>
      <dgm:spPr/>
    </dgm:pt>
    <dgm:pt modelId="{8335CDEC-8C76-4848-912F-B99BACDC5D77}" type="pres">
      <dgm:prSet presAssocID="{8A41775B-CA5B-4216-8BCF-F97D02524120}" presName="txShp" presStyleLbl="node1" presStyleIdx="3" presStyleCnt="4">
        <dgm:presLayoutVars>
          <dgm:bulletEnabled val="1"/>
        </dgm:presLayoutVars>
      </dgm:prSet>
      <dgm:spPr/>
    </dgm:pt>
  </dgm:ptLst>
  <dgm:cxnLst>
    <dgm:cxn modelId="{5CF4BD08-AF1A-408F-BB99-002074CF46DD}" type="presOf" srcId="{BBE6917D-9BF6-4F09-B3A9-3C0E6198047A}" destId="{6CE7E68C-ED3D-43F9-A788-B03C97ADAD9F}" srcOrd="0" destOrd="0" presId="urn:microsoft.com/office/officeart/2005/8/layout/vList3"/>
    <dgm:cxn modelId="{5B862931-E36B-4D3D-9C74-D34A40B43A16}" type="presOf" srcId="{7B35AB99-73DC-4EC4-A09F-FA4902A08530}" destId="{E2187DD1-6974-4C1B-9D87-01A32E46F83F}" srcOrd="0" destOrd="0" presId="urn:microsoft.com/office/officeart/2005/8/layout/vList3"/>
    <dgm:cxn modelId="{BA456E31-F8C8-4C06-B28D-C75C81771AE9}" srcId="{7B35AB99-73DC-4EC4-A09F-FA4902A08530}" destId="{6C84809E-7B68-41FE-99C6-447BD5880EBE}" srcOrd="2" destOrd="0" parTransId="{27F6E33C-4297-47B3-BB5F-88ADFADA6076}" sibTransId="{387CAC71-3FFB-4AE3-BCC4-2073D2C5CC39}"/>
    <dgm:cxn modelId="{E396D257-1275-482C-9053-6EFD083033A8}" srcId="{7B35AB99-73DC-4EC4-A09F-FA4902A08530}" destId="{BBE6917D-9BF6-4F09-B3A9-3C0E6198047A}" srcOrd="1" destOrd="0" parTransId="{EE07CE2B-1711-4AA7-829C-615482070C43}" sibTransId="{13F9CDEE-2672-43DC-ACD8-0E8399BB2FFD}"/>
    <dgm:cxn modelId="{22F6367E-ECC4-4C87-925F-73B8267BAECA}" type="presOf" srcId="{5233B256-C402-4044-AFB8-18FB60A63A19}" destId="{E08BEC91-12F0-4DC8-80BE-A5FD3408623A}" srcOrd="0" destOrd="0" presId="urn:microsoft.com/office/officeart/2005/8/layout/vList3"/>
    <dgm:cxn modelId="{C9EB7BC3-546C-4188-BE9A-E2120C146AB0}" srcId="{7B35AB99-73DC-4EC4-A09F-FA4902A08530}" destId="{5233B256-C402-4044-AFB8-18FB60A63A19}" srcOrd="0" destOrd="0" parTransId="{BD6861E6-88C5-4DC1-8B03-C69EF678B204}" sibTransId="{438FBF1E-894C-493D-AA51-FBD06902A679}"/>
    <dgm:cxn modelId="{9D0D24D6-319A-4B5C-807C-167C4CB342CE}" type="presOf" srcId="{8A41775B-CA5B-4216-8BCF-F97D02524120}" destId="{8335CDEC-8C76-4848-912F-B99BACDC5D77}" srcOrd="0" destOrd="0" presId="urn:microsoft.com/office/officeart/2005/8/layout/vList3"/>
    <dgm:cxn modelId="{6CA49FE8-D500-49E2-AE39-1D12EFA9BD3A}" srcId="{7B35AB99-73DC-4EC4-A09F-FA4902A08530}" destId="{8A41775B-CA5B-4216-8BCF-F97D02524120}" srcOrd="3" destOrd="0" parTransId="{8D87DF3A-BB64-4780-8EE9-7A5CCF3B1464}" sibTransId="{96981808-1E52-4105-A54A-61E1EF59E476}"/>
    <dgm:cxn modelId="{3B450FF6-8041-45C1-9173-8B2BEC81E8CC}" type="presOf" srcId="{6C84809E-7B68-41FE-99C6-447BD5880EBE}" destId="{0DDCD9E4-5A89-45D4-BD0F-40C4EFF7E796}" srcOrd="0" destOrd="0" presId="urn:microsoft.com/office/officeart/2005/8/layout/vList3"/>
    <dgm:cxn modelId="{00F14C4E-7276-4D7B-90DC-A208B9804842}" type="presParOf" srcId="{E2187DD1-6974-4C1B-9D87-01A32E46F83F}" destId="{2D0DAAB2-1393-43C8-9B80-A894AB38B34C}" srcOrd="0" destOrd="0" presId="urn:microsoft.com/office/officeart/2005/8/layout/vList3"/>
    <dgm:cxn modelId="{51EF964B-E341-4FCA-8B1D-245FFDC3A5D9}" type="presParOf" srcId="{2D0DAAB2-1393-43C8-9B80-A894AB38B34C}" destId="{8F5D8C72-AD08-402D-B2D6-0B90D51C2B29}" srcOrd="0" destOrd="0" presId="urn:microsoft.com/office/officeart/2005/8/layout/vList3"/>
    <dgm:cxn modelId="{780E464B-A8C4-4D23-B54C-33412F0D7CB9}" type="presParOf" srcId="{2D0DAAB2-1393-43C8-9B80-A894AB38B34C}" destId="{E08BEC91-12F0-4DC8-80BE-A5FD3408623A}" srcOrd="1" destOrd="0" presId="urn:microsoft.com/office/officeart/2005/8/layout/vList3"/>
    <dgm:cxn modelId="{3C1A043F-D01A-444E-8B5B-B54DC6DD0C91}" type="presParOf" srcId="{E2187DD1-6974-4C1B-9D87-01A32E46F83F}" destId="{4C7445C0-D60C-4EBA-B993-D8A8B951B652}" srcOrd="1" destOrd="0" presId="urn:microsoft.com/office/officeart/2005/8/layout/vList3"/>
    <dgm:cxn modelId="{A4C9498E-DEC9-4066-AE8E-45600B624352}" type="presParOf" srcId="{E2187DD1-6974-4C1B-9D87-01A32E46F83F}" destId="{96BF57EB-1781-43DB-AE25-DCCFBB14DD88}" srcOrd="2" destOrd="0" presId="urn:microsoft.com/office/officeart/2005/8/layout/vList3"/>
    <dgm:cxn modelId="{A5B8495B-6752-4CE3-88FA-5226FC4EA15F}" type="presParOf" srcId="{96BF57EB-1781-43DB-AE25-DCCFBB14DD88}" destId="{B5F76764-219B-4AF0-8DE0-3920EDC15EC9}" srcOrd="0" destOrd="0" presId="urn:microsoft.com/office/officeart/2005/8/layout/vList3"/>
    <dgm:cxn modelId="{CB1BFF26-4C0F-4686-9FE9-33E048077AEE}" type="presParOf" srcId="{96BF57EB-1781-43DB-AE25-DCCFBB14DD88}" destId="{6CE7E68C-ED3D-43F9-A788-B03C97ADAD9F}" srcOrd="1" destOrd="0" presId="urn:microsoft.com/office/officeart/2005/8/layout/vList3"/>
    <dgm:cxn modelId="{D54BDA81-3672-4765-8BC4-5D1CC0296B5A}" type="presParOf" srcId="{E2187DD1-6974-4C1B-9D87-01A32E46F83F}" destId="{6F13FF58-1E42-4FD8-A708-C520C23E509F}" srcOrd="3" destOrd="0" presId="urn:microsoft.com/office/officeart/2005/8/layout/vList3"/>
    <dgm:cxn modelId="{72C9FA31-4384-42B1-B84A-5C1FE7968CC2}" type="presParOf" srcId="{E2187DD1-6974-4C1B-9D87-01A32E46F83F}" destId="{F346968A-BA1F-4430-A301-C0C80E62F4B5}" srcOrd="4" destOrd="0" presId="urn:microsoft.com/office/officeart/2005/8/layout/vList3"/>
    <dgm:cxn modelId="{4911A238-3CEE-45CA-86D0-5FC8762E5D78}" type="presParOf" srcId="{F346968A-BA1F-4430-A301-C0C80E62F4B5}" destId="{511158D8-F417-4A98-8FB3-DB8B18556519}" srcOrd="0" destOrd="0" presId="urn:microsoft.com/office/officeart/2005/8/layout/vList3"/>
    <dgm:cxn modelId="{B9545689-EC4D-4276-BFA5-98C456677BB1}" type="presParOf" srcId="{F346968A-BA1F-4430-A301-C0C80E62F4B5}" destId="{0DDCD9E4-5A89-45D4-BD0F-40C4EFF7E796}" srcOrd="1" destOrd="0" presId="urn:microsoft.com/office/officeart/2005/8/layout/vList3"/>
    <dgm:cxn modelId="{17AB230A-C4EF-48EA-B9F3-D4A7EE21F51D}" type="presParOf" srcId="{E2187DD1-6974-4C1B-9D87-01A32E46F83F}" destId="{DED61B21-DA28-41A5-9929-6F5BE11F6E94}" srcOrd="5" destOrd="0" presId="urn:microsoft.com/office/officeart/2005/8/layout/vList3"/>
    <dgm:cxn modelId="{67ACF566-53EF-43D5-B12A-ACD9869F5EA8}" type="presParOf" srcId="{E2187DD1-6974-4C1B-9D87-01A32E46F83F}" destId="{6A176326-8014-4CCF-A40F-987E651B3690}" srcOrd="6" destOrd="0" presId="urn:microsoft.com/office/officeart/2005/8/layout/vList3"/>
    <dgm:cxn modelId="{00C2E275-8092-438C-B41F-B77BB8D6FD16}" type="presParOf" srcId="{6A176326-8014-4CCF-A40F-987E651B3690}" destId="{86525DDB-56E0-4A8C-BC14-0897BF9662A3}" srcOrd="0" destOrd="0" presId="urn:microsoft.com/office/officeart/2005/8/layout/vList3"/>
    <dgm:cxn modelId="{985CEEED-0F88-4263-90A7-C67E35854F6C}" type="presParOf" srcId="{6A176326-8014-4CCF-A40F-987E651B3690}" destId="{8335CDEC-8C76-4848-912F-B99BACDC5D77}"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FDC8DF-E204-4239-B465-4235BB1EA513}">
      <dsp:nvSpPr>
        <dsp:cNvPr id="0" name=""/>
        <dsp:cNvSpPr/>
      </dsp:nvSpPr>
      <dsp:spPr>
        <a:xfrm>
          <a:off x="0" y="142039"/>
          <a:ext cx="9112936" cy="503685"/>
        </a:xfrm>
        <a:prstGeom prst="roundRect">
          <a:avLst/>
        </a:prstGeom>
        <a:gradFill rotWithShape="0">
          <a:gsLst>
            <a:gs pos="0">
              <a:schemeClr val="accent1">
                <a:shade val="80000"/>
                <a:hueOff val="0"/>
                <a:satOff val="0"/>
                <a:lumOff val="0"/>
                <a:alphaOff val="0"/>
                <a:lumMod val="110000"/>
                <a:satMod val="105000"/>
                <a:tint val="67000"/>
              </a:schemeClr>
            </a:gs>
            <a:gs pos="50000">
              <a:schemeClr val="accent1">
                <a:shade val="80000"/>
                <a:hueOff val="0"/>
                <a:satOff val="0"/>
                <a:lumOff val="0"/>
                <a:alphaOff val="0"/>
                <a:lumMod val="105000"/>
                <a:satMod val="103000"/>
                <a:tint val="73000"/>
              </a:schemeClr>
            </a:gs>
            <a:gs pos="100000">
              <a:schemeClr val="accent1">
                <a:shade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Edad mediana: 69 años; hombres: 57,6%.</a:t>
          </a:r>
          <a:endParaRPr lang="es-CO" sz="2100" kern="1200"/>
        </a:p>
      </dsp:txBody>
      <dsp:txXfrm>
        <a:off x="24588" y="166627"/>
        <a:ext cx="9063760" cy="454509"/>
      </dsp:txXfrm>
    </dsp:sp>
    <dsp:sp modelId="{18F1DF2F-8432-4B1C-B4BA-94473E62F12B}">
      <dsp:nvSpPr>
        <dsp:cNvPr id="0" name=""/>
        <dsp:cNvSpPr/>
      </dsp:nvSpPr>
      <dsp:spPr>
        <a:xfrm>
          <a:off x="0" y="706204"/>
          <a:ext cx="9112936" cy="503685"/>
        </a:xfrm>
        <a:prstGeom prst="roundRect">
          <a:avLst/>
        </a:prstGeom>
        <a:gradFill rotWithShape="0">
          <a:gsLst>
            <a:gs pos="0">
              <a:schemeClr val="accent1">
                <a:shade val="80000"/>
                <a:hueOff val="58214"/>
                <a:satOff val="-1043"/>
                <a:lumOff val="4431"/>
                <a:alphaOff val="0"/>
                <a:lumMod val="110000"/>
                <a:satMod val="105000"/>
                <a:tint val="67000"/>
              </a:schemeClr>
            </a:gs>
            <a:gs pos="50000">
              <a:schemeClr val="accent1">
                <a:shade val="80000"/>
                <a:hueOff val="58214"/>
                <a:satOff val="-1043"/>
                <a:lumOff val="4431"/>
                <a:alphaOff val="0"/>
                <a:lumMod val="105000"/>
                <a:satMod val="103000"/>
                <a:tint val="73000"/>
              </a:schemeClr>
            </a:gs>
            <a:gs pos="100000">
              <a:schemeClr val="accent1">
                <a:shade val="80000"/>
                <a:hueOff val="58214"/>
                <a:satOff val="-1043"/>
                <a:lumOff val="443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Comorbilidades: HTA (72%), coronaria (28%), DM2 (25%), FA (22%), EPOC (18%).</a:t>
          </a:r>
          <a:endParaRPr lang="es-CO" sz="2100" kern="1200"/>
        </a:p>
      </dsp:txBody>
      <dsp:txXfrm>
        <a:off x="24588" y="730792"/>
        <a:ext cx="9063760" cy="454509"/>
      </dsp:txXfrm>
    </dsp:sp>
    <dsp:sp modelId="{6116ADA5-A234-4DE9-BBC0-8250CB7CE164}">
      <dsp:nvSpPr>
        <dsp:cNvPr id="0" name=""/>
        <dsp:cNvSpPr/>
      </dsp:nvSpPr>
      <dsp:spPr>
        <a:xfrm>
          <a:off x="0" y="1270369"/>
          <a:ext cx="9112936" cy="503685"/>
        </a:xfrm>
        <a:prstGeom prst="roundRect">
          <a:avLst/>
        </a:prstGeom>
        <a:gradFill rotWithShape="0">
          <a:gsLst>
            <a:gs pos="0">
              <a:schemeClr val="accent1">
                <a:shade val="80000"/>
                <a:hueOff val="116428"/>
                <a:satOff val="-2085"/>
                <a:lumOff val="8862"/>
                <a:alphaOff val="0"/>
                <a:lumMod val="110000"/>
                <a:satMod val="105000"/>
                <a:tint val="67000"/>
              </a:schemeClr>
            </a:gs>
            <a:gs pos="50000">
              <a:schemeClr val="accent1">
                <a:shade val="80000"/>
                <a:hueOff val="116428"/>
                <a:satOff val="-2085"/>
                <a:lumOff val="8862"/>
                <a:alphaOff val="0"/>
                <a:lumMod val="105000"/>
                <a:satMod val="103000"/>
                <a:tint val="73000"/>
              </a:schemeClr>
            </a:gs>
            <a:gs pos="100000">
              <a:schemeClr val="accent1">
                <a:shade val="80000"/>
                <a:hueOff val="116428"/>
                <a:satOff val="-2085"/>
                <a:lumOff val="886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Etiología: isquémica (44%), hipertensiva (32%), valvular (13%), chagásica (3,5%).</a:t>
          </a:r>
          <a:endParaRPr lang="es-CO" sz="2100" kern="1200"/>
        </a:p>
      </dsp:txBody>
      <dsp:txXfrm>
        <a:off x="24588" y="1294957"/>
        <a:ext cx="9063760" cy="454509"/>
      </dsp:txXfrm>
    </dsp:sp>
    <dsp:sp modelId="{CB2481E2-BF39-4942-96DA-715FDD177FE3}">
      <dsp:nvSpPr>
        <dsp:cNvPr id="0" name=""/>
        <dsp:cNvSpPr/>
      </dsp:nvSpPr>
      <dsp:spPr>
        <a:xfrm>
          <a:off x="0" y="1834534"/>
          <a:ext cx="9112936" cy="503685"/>
        </a:xfrm>
        <a:prstGeom prst="roundRect">
          <a:avLst/>
        </a:prstGeom>
        <a:gradFill rotWithShape="0">
          <a:gsLst>
            <a:gs pos="0">
              <a:schemeClr val="accent1">
                <a:shade val="80000"/>
                <a:hueOff val="174641"/>
                <a:satOff val="-3128"/>
                <a:lumOff val="13293"/>
                <a:alphaOff val="0"/>
                <a:lumMod val="110000"/>
                <a:satMod val="105000"/>
                <a:tint val="67000"/>
              </a:schemeClr>
            </a:gs>
            <a:gs pos="50000">
              <a:schemeClr val="accent1">
                <a:shade val="80000"/>
                <a:hueOff val="174641"/>
                <a:satOff val="-3128"/>
                <a:lumOff val="13293"/>
                <a:alphaOff val="0"/>
                <a:lumMod val="105000"/>
                <a:satMod val="103000"/>
                <a:tint val="73000"/>
              </a:schemeClr>
            </a:gs>
            <a:gs pos="100000">
              <a:schemeClr val="accent1">
                <a:shade val="80000"/>
                <a:hueOff val="174641"/>
                <a:satOff val="-3128"/>
                <a:lumOff val="1329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Clase funcional: II (54%), III (30%).</a:t>
          </a:r>
          <a:endParaRPr lang="es-CO" sz="2100" kern="1200"/>
        </a:p>
      </dsp:txBody>
      <dsp:txXfrm>
        <a:off x="24588" y="1859122"/>
        <a:ext cx="9063760" cy="454509"/>
      </dsp:txXfrm>
    </dsp:sp>
    <dsp:sp modelId="{7CEB618A-94C7-4F49-A3A5-B17DEC005399}">
      <dsp:nvSpPr>
        <dsp:cNvPr id="0" name=""/>
        <dsp:cNvSpPr/>
      </dsp:nvSpPr>
      <dsp:spPr>
        <a:xfrm>
          <a:off x="0" y="2398699"/>
          <a:ext cx="9112936" cy="503685"/>
        </a:xfrm>
        <a:prstGeom prst="roundRect">
          <a:avLst/>
        </a:prstGeom>
        <a:gradFill rotWithShape="0">
          <a:gsLst>
            <a:gs pos="0">
              <a:schemeClr val="accent1">
                <a:shade val="80000"/>
                <a:hueOff val="232855"/>
                <a:satOff val="-4171"/>
                <a:lumOff val="17723"/>
                <a:alphaOff val="0"/>
                <a:lumMod val="110000"/>
                <a:satMod val="105000"/>
                <a:tint val="67000"/>
              </a:schemeClr>
            </a:gs>
            <a:gs pos="50000">
              <a:schemeClr val="accent1">
                <a:shade val="80000"/>
                <a:hueOff val="232855"/>
                <a:satOff val="-4171"/>
                <a:lumOff val="17723"/>
                <a:alphaOff val="0"/>
                <a:lumMod val="105000"/>
                <a:satMod val="103000"/>
                <a:tint val="73000"/>
              </a:schemeClr>
            </a:gs>
            <a:gs pos="100000">
              <a:schemeClr val="accent1">
                <a:shade val="80000"/>
                <a:hueOff val="232855"/>
                <a:satOff val="-4171"/>
                <a:lumOff val="1772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FEVI reducida: 74%; preservada: 16%.</a:t>
          </a:r>
          <a:endParaRPr lang="es-CO" sz="2100" kern="1200"/>
        </a:p>
      </dsp:txBody>
      <dsp:txXfrm>
        <a:off x="24588" y="2423287"/>
        <a:ext cx="9063760" cy="454509"/>
      </dsp:txXfrm>
    </dsp:sp>
    <dsp:sp modelId="{D08BEB48-4D49-47A9-B5C1-02747D82A877}">
      <dsp:nvSpPr>
        <dsp:cNvPr id="0" name=""/>
        <dsp:cNvSpPr/>
      </dsp:nvSpPr>
      <dsp:spPr>
        <a:xfrm>
          <a:off x="0" y="2902384"/>
          <a:ext cx="9112936"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9336"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Menor acceso a dispositivos y terapias avanzadas  /Uso limitado de ARNI (10%)</a:t>
          </a:r>
          <a:endParaRPr lang="es-CO" sz="1600" kern="1200"/>
        </a:p>
      </dsp:txBody>
      <dsp:txXfrm>
        <a:off x="0" y="2902384"/>
        <a:ext cx="9112936" cy="347760"/>
      </dsp:txXfrm>
    </dsp:sp>
    <dsp:sp modelId="{0DDDC8A7-A583-41C4-828F-B2F6EC9239FD}">
      <dsp:nvSpPr>
        <dsp:cNvPr id="0" name=""/>
        <dsp:cNvSpPr/>
      </dsp:nvSpPr>
      <dsp:spPr>
        <a:xfrm>
          <a:off x="0" y="3250144"/>
          <a:ext cx="9112936" cy="503685"/>
        </a:xfrm>
        <a:prstGeom prst="roundRect">
          <a:avLst/>
        </a:prstGeom>
        <a:gradFill rotWithShape="0">
          <a:gsLst>
            <a:gs pos="0">
              <a:schemeClr val="accent1">
                <a:shade val="80000"/>
                <a:hueOff val="291069"/>
                <a:satOff val="-5213"/>
                <a:lumOff val="22154"/>
                <a:alphaOff val="0"/>
                <a:lumMod val="110000"/>
                <a:satMod val="105000"/>
                <a:tint val="67000"/>
              </a:schemeClr>
            </a:gs>
            <a:gs pos="50000">
              <a:schemeClr val="accent1">
                <a:shade val="80000"/>
                <a:hueOff val="291069"/>
                <a:satOff val="-5213"/>
                <a:lumOff val="22154"/>
                <a:alphaOff val="0"/>
                <a:lumMod val="105000"/>
                <a:satMod val="103000"/>
                <a:tint val="73000"/>
              </a:schemeClr>
            </a:gs>
            <a:gs pos="100000">
              <a:schemeClr val="accent1">
                <a:shade val="80000"/>
                <a:hueOff val="291069"/>
                <a:satOff val="-5213"/>
                <a:lumOff val="2215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Hospitalización universal en el último año; 25% ≥2 ingresos.</a:t>
          </a:r>
          <a:endParaRPr lang="es-CO" sz="2100" kern="1200"/>
        </a:p>
      </dsp:txBody>
      <dsp:txXfrm>
        <a:off x="24588" y="3274732"/>
        <a:ext cx="9063760" cy="454509"/>
      </dsp:txXfrm>
    </dsp:sp>
    <dsp:sp modelId="{0527F2C1-95BD-4B6F-81FE-2208D82217F3}">
      <dsp:nvSpPr>
        <dsp:cNvPr id="0" name=""/>
        <dsp:cNvSpPr/>
      </dsp:nvSpPr>
      <dsp:spPr>
        <a:xfrm>
          <a:off x="0" y="3814309"/>
          <a:ext cx="9112936" cy="503685"/>
        </a:xfrm>
        <a:prstGeom prst="roundRect">
          <a:avLst/>
        </a:prstGeom>
        <a:gradFill rotWithShape="0">
          <a:gsLst>
            <a:gs pos="0">
              <a:schemeClr val="accent1">
                <a:shade val="80000"/>
                <a:hueOff val="349283"/>
                <a:satOff val="-6256"/>
                <a:lumOff val="26585"/>
                <a:alphaOff val="0"/>
                <a:lumMod val="110000"/>
                <a:satMod val="105000"/>
                <a:tint val="67000"/>
              </a:schemeClr>
            </a:gs>
            <a:gs pos="50000">
              <a:schemeClr val="accent1">
                <a:shade val="80000"/>
                <a:hueOff val="349283"/>
                <a:satOff val="-6256"/>
                <a:lumOff val="26585"/>
                <a:alphaOff val="0"/>
                <a:lumMod val="105000"/>
                <a:satMod val="103000"/>
                <a:tint val="73000"/>
              </a:schemeClr>
            </a:gs>
            <a:gs pos="100000">
              <a:schemeClr val="accent1">
                <a:shade val="80000"/>
                <a:hueOff val="349283"/>
                <a:satOff val="-6256"/>
                <a:lumOff val="2658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Desencadenantes: progresión enfermedad (35%), tratamiento insuficiente (19%).</a:t>
          </a:r>
          <a:endParaRPr lang="es-CO" sz="2100" kern="1200"/>
        </a:p>
      </dsp:txBody>
      <dsp:txXfrm>
        <a:off x="24588" y="3838897"/>
        <a:ext cx="9063760" cy="4545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BEC91-12F0-4DC8-80BE-A5FD3408623A}">
      <dsp:nvSpPr>
        <dsp:cNvPr id="0" name=""/>
        <dsp:cNvSpPr/>
      </dsp:nvSpPr>
      <dsp:spPr>
        <a:xfrm rot="10800000">
          <a:off x="1504394" y="2542"/>
          <a:ext cx="5073426" cy="90600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99524"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DESCOMPENSACIÓN AGUDA DE LA INSUFICIENCIA CARDIACA: </a:t>
          </a:r>
          <a:r>
            <a:rPr lang="en-US" sz="1600" kern="1200" dirty="0" err="1"/>
            <a:t>Presentación</a:t>
          </a:r>
          <a:r>
            <a:rPr lang="en-US" sz="1600" kern="1200" dirty="0"/>
            <a:t> gradual (días), </a:t>
          </a:r>
          <a:r>
            <a:rPr lang="en-US" sz="1600" kern="1200" dirty="0" err="1"/>
            <a:t>paciente</a:t>
          </a:r>
          <a:r>
            <a:rPr lang="en-US" sz="1600" kern="1200" dirty="0"/>
            <a:t> “</a:t>
          </a:r>
          <a:r>
            <a:rPr lang="en-US" sz="1600" kern="1200" dirty="0" err="1"/>
            <a:t>Húmedo</a:t>
          </a:r>
          <a:r>
            <a:rPr lang="en-US" sz="1600" kern="1200" dirty="0"/>
            <a:t> y caliente” o “Seco y </a:t>
          </a:r>
          <a:r>
            <a:rPr lang="en-US" sz="1600" kern="1200" dirty="0" err="1"/>
            <a:t>Frío</a:t>
          </a:r>
          <a:r>
            <a:rPr lang="en-US" sz="1600" kern="1200" dirty="0"/>
            <a:t>” </a:t>
          </a:r>
          <a:r>
            <a:rPr lang="en-US" sz="1600" b="1" kern="1200" dirty="0"/>
            <a:t> </a:t>
          </a:r>
          <a:endParaRPr lang="es-CO" sz="1600" kern="1200" dirty="0"/>
        </a:p>
      </dsp:txBody>
      <dsp:txXfrm rot="10800000">
        <a:off x="1730895" y="2542"/>
        <a:ext cx="4846925" cy="906006"/>
      </dsp:txXfrm>
    </dsp:sp>
    <dsp:sp modelId="{8F5D8C72-AD08-402D-B2D6-0B90D51C2B29}">
      <dsp:nvSpPr>
        <dsp:cNvPr id="0" name=""/>
        <dsp:cNvSpPr/>
      </dsp:nvSpPr>
      <dsp:spPr>
        <a:xfrm>
          <a:off x="1051391" y="2542"/>
          <a:ext cx="906006" cy="906006"/>
        </a:xfrm>
        <a:prstGeom prst="ellipse">
          <a:avLst/>
        </a:prstGeom>
        <a:gradFill rotWithShape="0">
          <a:gsLst>
            <a:gs pos="0">
              <a:schemeClr val="accent2">
                <a:tint val="50000"/>
                <a:hueOff val="0"/>
                <a:satOff val="0"/>
                <a:lumOff val="0"/>
                <a:alphaOff val="0"/>
                <a:satMod val="103000"/>
                <a:lumMod val="102000"/>
                <a:tint val="94000"/>
              </a:schemeClr>
            </a:gs>
            <a:gs pos="50000">
              <a:schemeClr val="accent2">
                <a:tint val="50000"/>
                <a:hueOff val="0"/>
                <a:satOff val="0"/>
                <a:lumOff val="0"/>
                <a:alphaOff val="0"/>
                <a:satMod val="110000"/>
                <a:lumMod val="100000"/>
                <a:shade val="100000"/>
              </a:schemeClr>
            </a:gs>
            <a:gs pos="100000">
              <a:schemeClr val="accent2">
                <a:tint val="50000"/>
                <a:hueOff val="0"/>
                <a:satOff val="0"/>
                <a:lumOff val="0"/>
                <a:alphaOff val="0"/>
                <a:lumMod val="99000"/>
                <a:satMod val="120000"/>
                <a:shade val="78000"/>
              </a:schemeClr>
            </a:gs>
          </a:gsLst>
          <a:lin ang="5400000" scaled="0"/>
        </a:gradFill>
        <a:ln>
          <a:noFill/>
        </a:ln>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6CE7E68C-ED3D-43F9-A788-B03C97ADAD9F}">
      <dsp:nvSpPr>
        <dsp:cNvPr id="0" name=""/>
        <dsp:cNvSpPr/>
      </dsp:nvSpPr>
      <dsp:spPr>
        <a:xfrm rot="10800000">
          <a:off x="1504394" y="1178998"/>
          <a:ext cx="5073426" cy="906006"/>
        </a:xfrm>
        <a:prstGeom prst="homePlate">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99524"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b="1" kern="1200"/>
            <a:t>2. EDEMA PULMONAR AGUDO: </a:t>
          </a:r>
          <a:r>
            <a:rPr lang="en-US" sz="1600" kern="1200"/>
            <a:t>Presentación rápida (horas), paciente “Húmedo y caliente”</a:t>
          </a:r>
          <a:endParaRPr lang="es-CO" sz="1600" kern="1200"/>
        </a:p>
      </dsp:txBody>
      <dsp:txXfrm rot="10800000">
        <a:off x="1730895" y="1178998"/>
        <a:ext cx="4846925" cy="906006"/>
      </dsp:txXfrm>
    </dsp:sp>
    <dsp:sp modelId="{B5F76764-219B-4AF0-8DE0-3920EDC15EC9}">
      <dsp:nvSpPr>
        <dsp:cNvPr id="0" name=""/>
        <dsp:cNvSpPr/>
      </dsp:nvSpPr>
      <dsp:spPr>
        <a:xfrm>
          <a:off x="1051391" y="1178998"/>
          <a:ext cx="906006" cy="906006"/>
        </a:xfrm>
        <a:prstGeom prst="ellipse">
          <a:avLst/>
        </a:prstGeom>
        <a:gradFill rotWithShape="0">
          <a:gsLst>
            <a:gs pos="0">
              <a:schemeClr val="accent2">
                <a:tint val="50000"/>
                <a:hueOff val="-293554"/>
                <a:satOff val="-25390"/>
                <a:lumOff val="-254"/>
                <a:alphaOff val="0"/>
                <a:satMod val="103000"/>
                <a:lumMod val="102000"/>
                <a:tint val="94000"/>
              </a:schemeClr>
            </a:gs>
            <a:gs pos="50000">
              <a:schemeClr val="accent2">
                <a:tint val="50000"/>
                <a:hueOff val="-293554"/>
                <a:satOff val="-25390"/>
                <a:lumOff val="-254"/>
                <a:alphaOff val="0"/>
                <a:satMod val="110000"/>
                <a:lumMod val="100000"/>
                <a:shade val="100000"/>
              </a:schemeClr>
            </a:gs>
            <a:gs pos="100000">
              <a:schemeClr val="accent2">
                <a:tint val="50000"/>
                <a:hueOff val="-293554"/>
                <a:satOff val="-25390"/>
                <a:lumOff val="-254"/>
                <a:alphaOff val="0"/>
                <a:lumMod val="99000"/>
                <a:satMod val="120000"/>
                <a:shade val="78000"/>
              </a:schemeClr>
            </a:gs>
          </a:gsLst>
          <a:lin ang="5400000" scaled="0"/>
        </a:gradFill>
        <a:ln>
          <a:noFill/>
        </a:ln>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0DDCD9E4-5A89-45D4-BD0F-40C4EFF7E796}">
      <dsp:nvSpPr>
        <dsp:cNvPr id="0" name=""/>
        <dsp:cNvSpPr/>
      </dsp:nvSpPr>
      <dsp:spPr>
        <a:xfrm rot="10800000">
          <a:off x="1504394" y="2355454"/>
          <a:ext cx="5073426" cy="906006"/>
        </a:xfrm>
        <a:prstGeom prst="homePlate">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99524"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3. INSUFICIENCIA VENTRICULAR DERECHA AISLADA: </a:t>
          </a:r>
          <a:r>
            <a:rPr lang="en-US" sz="1600" kern="1200" dirty="0" err="1"/>
            <a:t>Presentación</a:t>
          </a:r>
          <a:r>
            <a:rPr lang="en-US" sz="1600" kern="1200" dirty="0"/>
            <a:t> gradual o </a:t>
          </a:r>
          <a:r>
            <a:rPr lang="en-US" sz="1600" kern="1200" dirty="0" err="1"/>
            <a:t>rápida</a:t>
          </a:r>
          <a:r>
            <a:rPr lang="en-US" sz="1600" kern="1200" dirty="0"/>
            <a:t>, </a:t>
          </a:r>
          <a:r>
            <a:rPr lang="en-US" sz="1600" kern="1200" dirty="0" err="1"/>
            <a:t>paciente</a:t>
          </a:r>
          <a:r>
            <a:rPr lang="en-US" sz="1600" kern="1200" dirty="0"/>
            <a:t> “Seco y </a:t>
          </a:r>
          <a:r>
            <a:rPr lang="en-US" sz="1600" kern="1200" dirty="0" err="1"/>
            <a:t>frío</a:t>
          </a:r>
          <a:r>
            <a:rPr lang="en-US" sz="1600" kern="1200" dirty="0"/>
            <a:t>” o “ </a:t>
          </a:r>
          <a:r>
            <a:rPr lang="en-US" sz="1600" kern="1200" dirty="0" err="1"/>
            <a:t>Húmedo</a:t>
          </a:r>
          <a:r>
            <a:rPr lang="en-US" sz="1600" kern="1200" dirty="0"/>
            <a:t> y </a:t>
          </a:r>
          <a:r>
            <a:rPr lang="en-US" sz="1600" kern="1200" dirty="0" err="1"/>
            <a:t>frío</a:t>
          </a:r>
          <a:r>
            <a:rPr lang="en-US" sz="1600" kern="1200" dirty="0"/>
            <a:t>”</a:t>
          </a:r>
          <a:endParaRPr lang="es-CO" sz="1600" kern="1200" dirty="0"/>
        </a:p>
      </dsp:txBody>
      <dsp:txXfrm rot="10800000">
        <a:off x="1730895" y="2355454"/>
        <a:ext cx="4846925" cy="906006"/>
      </dsp:txXfrm>
    </dsp:sp>
    <dsp:sp modelId="{511158D8-F417-4A98-8FB3-DB8B18556519}">
      <dsp:nvSpPr>
        <dsp:cNvPr id="0" name=""/>
        <dsp:cNvSpPr/>
      </dsp:nvSpPr>
      <dsp:spPr>
        <a:xfrm>
          <a:off x="1051391" y="2355454"/>
          <a:ext cx="906006" cy="906006"/>
        </a:xfrm>
        <a:prstGeom prst="ellipse">
          <a:avLst/>
        </a:prstGeom>
        <a:gradFill rotWithShape="0">
          <a:gsLst>
            <a:gs pos="0">
              <a:schemeClr val="accent2">
                <a:tint val="50000"/>
                <a:hueOff val="-587108"/>
                <a:satOff val="-50780"/>
                <a:lumOff val="-508"/>
                <a:alphaOff val="0"/>
                <a:satMod val="103000"/>
                <a:lumMod val="102000"/>
                <a:tint val="94000"/>
              </a:schemeClr>
            </a:gs>
            <a:gs pos="50000">
              <a:schemeClr val="accent2">
                <a:tint val="50000"/>
                <a:hueOff val="-587108"/>
                <a:satOff val="-50780"/>
                <a:lumOff val="-508"/>
                <a:alphaOff val="0"/>
                <a:satMod val="110000"/>
                <a:lumMod val="100000"/>
                <a:shade val="100000"/>
              </a:schemeClr>
            </a:gs>
            <a:gs pos="100000">
              <a:schemeClr val="accent2">
                <a:tint val="50000"/>
                <a:hueOff val="-587108"/>
                <a:satOff val="-50780"/>
                <a:lumOff val="-508"/>
                <a:alphaOff val="0"/>
                <a:lumMod val="99000"/>
                <a:satMod val="120000"/>
                <a:shade val="78000"/>
              </a:schemeClr>
            </a:gs>
          </a:gsLst>
          <a:lin ang="5400000" scaled="0"/>
        </a:gradFill>
        <a:ln>
          <a:noFill/>
        </a:ln>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 modelId="{8335CDEC-8C76-4848-912F-B99BACDC5D77}">
      <dsp:nvSpPr>
        <dsp:cNvPr id="0" name=""/>
        <dsp:cNvSpPr/>
      </dsp:nvSpPr>
      <dsp:spPr>
        <a:xfrm rot="10800000">
          <a:off x="1504394" y="3531910"/>
          <a:ext cx="5073426" cy="906006"/>
        </a:xfrm>
        <a:prstGeom prst="homePlate">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99524"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b="1" kern="1200"/>
            <a:t>4. SHOCK CARDIOGÉNICO: </a:t>
          </a:r>
          <a:r>
            <a:rPr lang="en-US" sz="1600" kern="1200"/>
            <a:t>Presentación Gradual o rápida, paciente “Húmedo y frío”</a:t>
          </a:r>
          <a:endParaRPr lang="es-CO" sz="1600" kern="1200"/>
        </a:p>
      </dsp:txBody>
      <dsp:txXfrm rot="10800000">
        <a:off x="1730895" y="3531910"/>
        <a:ext cx="4846925" cy="906006"/>
      </dsp:txXfrm>
    </dsp:sp>
    <dsp:sp modelId="{86525DDB-56E0-4A8C-BC14-0897BF9662A3}">
      <dsp:nvSpPr>
        <dsp:cNvPr id="0" name=""/>
        <dsp:cNvSpPr/>
      </dsp:nvSpPr>
      <dsp:spPr>
        <a:xfrm>
          <a:off x="1051391" y="3531910"/>
          <a:ext cx="906006" cy="906006"/>
        </a:xfrm>
        <a:prstGeom prst="ellipse">
          <a:avLst/>
        </a:prstGeom>
        <a:gradFill rotWithShape="0">
          <a:gsLst>
            <a:gs pos="0">
              <a:schemeClr val="accent2">
                <a:tint val="50000"/>
                <a:hueOff val="-880662"/>
                <a:satOff val="-76170"/>
                <a:lumOff val="-762"/>
                <a:alphaOff val="0"/>
                <a:satMod val="103000"/>
                <a:lumMod val="102000"/>
                <a:tint val="94000"/>
              </a:schemeClr>
            </a:gs>
            <a:gs pos="50000">
              <a:schemeClr val="accent2">
                <a:tint val="50000"/>
                <a:hueOff val="-880662"/>
                <a:satOff val="-76170"/>
                <a:lumOff val="-762"/>
                <a:alphaOff val="0"/>
                <a:satMod val="110000"/>
                <a:lumMod val="100000"/>
                <a:shade val="100000"/>
              </a:schemeClr>
            </a:gs>
            <a:gs pos="100000">
              <a:schemeClr val="accent2">
                <a:tint val="50000"/>
                <a:hueOff val="-880662"/>
                <a:satOff val="-76170"/>
                <a:lumOff val="-762"/>
                <a:alphaOff val="0"/>
                <a:lumMod val="99000"/>
                <a:satMod val="120000"/>
                <a:shade val="78000"/>
              </a:schemeClr>
            </a:gs>
          </a:gsLst>
          <a:lin ang="5400000" scaled="0"/>
        </a:gradFill>
        <a:ln>
          <a:noFill/>
        </a:ln>
        <a:effectLst/>
        <a:scene3d>
          <a:camera prst="orthographicFront"/>
          <a:lightRig rig="flat" dir="t"/>
        </a:scene3d>
        <a:sp3d z="127000" prstMaterial="plastic">
          <a:bevelT w="88900" h="88900"/>
          <a:bevelB w="88900" h="31750" prst="angle"/>
        </a:sp3d>
      </dsp:spPr>
      <dsp:style>
        <a:lnRef idx="0">
          <a:scrgbClr r="0" g="0" b="0"/>
        </a:lnRef>
        <a:fillRef idx="3">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C0C2A3-8EBB-4CA2-85C5-FAE6C8D76CAD}" type="datetimeFigureOut">
              <a:rPr lang="es-CO" smtClean="0"/>
              <a:t>24/09/2025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34BE6A-A6D9-4FC6-9B07-038C8CD91F36}" type="slidenum">
              <a:rPr lang="es-CO" smtClean="0"/>
              <a:t>‹Nº›</a:t>
            </a:fld>
            <a:endParaRPr lang="es-CO"/>
          </a:p>
        </p:txBody>
      </p:sp>
    </p:spTree>
    <p:extLst>
      <p:ext uri="{BB962C8B-B14F-4D97-AF65-F5344CB8AC3E}">
        <p14:creationId xmlns:p14="http://schemas.microsoft.com/office/powerpoint/2010/main" val="3790300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2F5F97-1020-4EE6-ACA1-E90897E1DD8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C2759910-1034-49E7-BC79-A280229290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968F966D-C1C7-40B0-8162-73CDD1D80026}"/>
              </a:ext>
            </a:extLst>
          </p:cNvPr>
          <p:cNvSpPr>
            <a:spLocks noGrp="1"/>
          </p:cNvSpPr>
          <p:nvPr>
            <p:ph type="dt" sz="half" idx="10"/>
          </p:nvPr>
        </p:nvSpPr>
        <p:spPr/>
        <p:txBody>
          <a:bodyPr/>
          <a:lstStyle/>
          <a:p>
            <a:fld id="{6BED464F-AE49-4530-AB8F-BF5C16571F6A}" type="datetimeFigureOut">
              <a:rPr lang="es-CO" smtClean="0"/>
              <a:t>24/09/2025</a:t>
            </a:fld>
            <a:endParaRPr lang="es-CO"/>
          </a:p>
        </p:txBody>
      </p:sp>
      <p:sp>
        <p:nvSpPr>
          <p:cNvPr id="5" name="Marcador de pie de página 4">
            <a:extLst>
              <a:ext uri="{FF2B5EF4-FFF2-40B4-BE49-F238E27FC236}">
                <a16:creationId xmlns:a16="http://schemas.microsoft.com/office/drawing/2014/main" id="{C9DB57A8-5238-40C4-9A88-85BF392CF47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67885B3-B239-4D90-B0FD-A877E874E32A}"/>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913594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E4AE1A-77EF-484F-A804-44EA302E910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F646D03-5F22-4FA5-9817-2E410DFDD53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9E9FB61-F9C1-4AA1-99BC-7FC860015251}"/>
              </a:ext>
            </a:extLst>
          </p:cNvPr>
          <p:cNvSpPr>
            <a:spLocks noGrp="1"/>
          </p:cNvSpPr>
          <p:nvPr>
            <p:ph type="dt" sz="half" idx="10"/>
          </p:nvPr>
        </p:nvSpPr>
        <p:spPr/>
        <p:txBody>
          <a:bodyPr/>
          <a:lstStyle/>
          <a:p>
            <a:fld id="{6BED464F-AE49-4530-AB8F-BF5C16571F6A}" type="datetimeFigureOut">
              <a:rPr lang="es-CO" smtClean="0"/>
              <a:t>24/09/2025</a:t>
            </a:fld>
            <a:endParaRPr lang="es-CO"/>
          </a:p>
        </p:txBody>
      </p:sp>
      <p:sp>
        <p:nvSpPr>
          <p:cNvPr id="5" name="Marcador de pie de página 4">
            <a:extLst>
              <a:ext uri="{FF2B5EF4-FFF2-40B4-BE49-F238E27FC236}">
                <a16:creationId xmlns:a16="http://schemas.microsoft.com/office/drawing/2014/main" id="{5F68517D-FDB7-4C54-926C-6304547E362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4F863A7-71BC-40F8-A158-5A9A60572004}"/>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087401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7C4E17-CB96-4580-8A84-23CF451DACE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6E743F1-DEAC-4FEA-91AE-57CBDF5982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4BEDFEA-2651-4C28-9F34-60EF561933A6}"/>
              </a:ext>
            </a:extLst>
          </p:cNvPr>
          <p:cNvSpPr>
            <a:spLocks noGrp="1"/>
          </p:cNvSpPr>
          <p:nvPr>
            <p:ph type="dt" sz="half" idx="10"/>
          </p:nvPr>
        </p:nvSpPr>
        <p:spPr/>
        <p:txBody>
          <a:bodyPr/>
          <a:lstStyle/>
          <a:p>
            <a:fld id="{6BED464F-AE49-4530-AB8F-BF5C16571F6A}" type="datetimeFigureOut">
              <a:rPr lang="es-CO" smtClean="0"/>
              <a:t>24/09/2025</a:t>
            </a:fld>
            <a:endParaRPr lang="es-CO"/>
          </a:p>
        </p:txBody>
      </p:sp>
      <p:sp>
        <p:nvSpPr>
          <p:cNvPr id="5" name="Marcador de pie de página 4">
            <a:extLst>
              <a:ext uri="{FF2B5EF4-FFF2-40B4-BE49-F238E27FC236}">
                <a16:creationId xmlns:a16="http://schemas.microsoft.com/office/drawing/2014/main" id="{878A936E-A542-4128-89FE-25910D87861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E454940-65B8-43B5-805A-62F15723B73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19430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86DA25-4C0D-463D-8289-FD732DC764B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47EFF1D-D0BE-43A4-A41B-9A5351DE9D0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EB3B7E19-8BC9-476E-B506-BDD3FD610BF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BFBF8CF4-5E72-4DEB-B453-063D3A0C3400}"/>
              </a:ext>
            </a:extLst>
          </p:cNvPr>
          <p:cNvSpPr>
            <a:spLocks noGrp="1"/>
          </p:cNvSpPr>
          <p:nvPr>
            <p:ph type="dt" sz="half" idx="10"/>
          </p:nvPr>
        </p:nvSpPr>
        <p:spPr/>
        <p:txBody>
          <a:bodyPr/>
          <a:lstStyle/>
          <a:p>
            <a:fld id="{6BED464F-AE49-4530-AB8F-BF5C16571F6A}" type="datetimeFigureOut">
              <a:rPr lang="es-CO" smtClean="0"/>
              <a:t>24/09/2025</a:t>
            </a:fld>
            <a:endParaRPr lang="es-CO"/>
          </a:p>
        </p:txBody>
      </p:sp>
      <p:sp>
        <p:nvSpPr>
          <p:cNvPr id="6" name="Marcador de pie de página 5">
            <a:extLst>
              <a:ext uri="{FF2B5EF4-FFF2-40B4-BE49-F238E27FC236}">
                <a16:creationId xmlns:a16="http://schemas.microsoft.com/office/drawing/2014/main" id="{A3299471-A835-445F-85B7-0393FD2DBCE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F22F38A-CD7A-4C0A-841F-3C02134E5E1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3783086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D640F6-05C2-4688-955A-7296D05799E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CDF0F71-EDCE-454E-AC7A-677AE7014D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321545F-6E58-42EF-8380-F7D3C73B995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D2EE216B-093A-470C-8716-5CD593F78D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4D12FC-F7E9-471F-9845-0726EC89197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C1A4E2CE-8782-4667-83A9-AD4D03229C18}"/>
              </a:ext>
            </a:extLst>
          </p:cNvPr>
          <p:cNvSpPr>
            <a:spLocks noGrp="1"/>
          </p:cNvSpPr>
          <p:nvPr>
            <p:ph type="dt" sz="half" idx="10"/>
          </p:nvPr>
        </p:nvSpPr>
        <p:spPr/>
        <p:txBody>
          <a:bodyPr/>
          <a:lstStyle/>
          <a:p>
            <a:fld id="{6BED464F-AE49-4530-AB8F-BF5C16571F6A}" type="datetimeFigureOut">
              <a:rPr lang="es-CO" smtClean="0"/>
              <a:t>24/09/2025</a:t>
            </a:fld>
            <a:endParaRPr lang="es-CO"/>
          </a:p>
        </p:txBody>
      </p:sp>
      <p:sp>
        <p:nvSpPr>
          <p:cNvPr id="8" name="Marcador de pie de página 7">
            <a:extLst>
              <a:ext uri="{FF2B5EF4-FFF2-40B4-BE49-F238E27FC236}">
                <a16:creationId xmlns:a16="http://schemas.microsoft.com/office/drawing/2014/main" id="{1742954F-5699-49D0-B195-CC619067889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5428E020-0DE7-4ADC-B298-3E3348C41B6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932537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71C42E-3A84-4A7D-A0D7-DFDBEEDAE87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0607FEBB-E137-4290-A7C2-BB81D055CE1D}"/>
              </a:ext>
            </a:extLst>
          </p:cNvPr>
          <p:cNvSpPr>
            <a:spLocks noGrp="1"/>
          </p:cNvSpPr>
          <p:nvPr>
            <p:ph type="dt" sz="half" idx="10"/>
          </p:nvPr>
        </p:nvSpPr>
        <p:spPr/>
        <p:txBody>
          <a:bodyPr/>
          <a:lstStyle/>
          <a:p>
            <a:fld id="{6BED464F-AE49-4530-AB8F-BF5C16571F6A}" type="datetimeFigureOut">
              <a:rPr lang="es-CO" smtClean="0"/>
              <a:t>24/09/2025</a:t>
            </a:fld>
            <a:endParaRPr lang="es-CO"/>
          </a:p>
        </p:txBody>
      </p:sp>
      <p:sp>
        <p:nvSpPr>
          <p:cNvPr id="4" name="Marcador de pie de página 3">
            <a:extLst>
              <a:ext uri="{FF2B5EF4-FFF2-40B4-BE49-F238E27FC236}">
                <a16:creationId xmlns:a16="http://schemas.microsoft.com/office/drawing/2014/main" id="{3BB4A668-FBFF-444A-9606-25D30B879C74}"/>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6EAD0BAB-85DB-4994-8FE2-8B134970A9A2}"/>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4055657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0EAEA6E-C7E2-400D-9F2C-7655A3A7FD93}"/>
              </a:ext>
            </a:extLst>
          </p:cNvPr>
          <p:cNvSpPr>
            <a:spLocks noGrp="1"/>
          </p:cNvSpPr>
          <p:nvPr>
            <p:ph type="dt" sz="half" idx="10"/>
          </p:nvPr>
        </p:nvSpPr>
        <p:spPr/>
        <p:txBody>
          <a:bodyPr/>
          <a:lstStyle/>
          <a:p>
            <a:fld id="{6BED464F-AE49-4530-AB8F-BF5C16571F6A}" type="datetimeFigureOut">
              <a:rPr lang="es-CO" smtClean="0"/>
              <a:t>24/09/2025</a:t>
            </a:fld>
            <a:endParaRPr lang="es-CO"/>
          </a:p>
        </p:txBody>
      </p:sp>
      <p:sp>
        <p:nvSpPr>
          <p:cNvPr id="3" name="Marcador de pie de página 2">
            <a:extLst>
              <a:ext uri="{FF2B5EF4-FFF2-40B4-BE49-F238E27FC236}">
                <a16:creationId xmlns:a16="http://schemas.microsoft.com/office/drawing/2014/main" id="{A5EAF9C2-66E4-4F6C-B5A9-DCE7CBD5480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9854F549-00DE-4C3D-92E9-C11D0660D1FD}"/>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2975723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9AC0ED-9A90-49B3-8F84-4CCBDA10AC3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02F82F6-A48C-4802-95FC-4E44B56B96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7DCDABEF-7742-4D1B-98F0-BDC980609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4EEF5A-EECA-4654-BFBC-C3224B67C946}"/>
              </a:ext>
            </a:extLst>
          </p:cNvPr>
          <p:cNvSpPr>
            <a:spLocks noGrp="1"/>
          </p:cNvSpPr>
          <p:nvPr>
            <p:ph type="dt" sz="half" idx="10"/>
          </p:nvPr>
        </p:nvSpPr>
        <p:spPr/>
        <p:txBody>
          <a:bodyPr/>
          <a:lstStyle/>
          <a:p>
            <a:fld id="{6BED464F-AE49-4530-AB8F-BF5C16571F6A}" type="datetimeFigureOut">
              <a:rPr lang="es-CO" smtClean="0"/>
              <a:t>24/09/2025</a:t>
            </a:fld>
            <a:endParaRPr lang="es-CO"/>
          </a:p>
        </p:txBody>
      </p:sp>
      <p:sp>
        <p:nvSpPr>
          <p:cNvPr id="6" name="Marcador de pie de página 5">
            <a:extLst>
              <a:ext uri="{FF2B5EF4-FFF2-40B4-BE49-F238E27FC236}">
                <a16:creationId xmlns:a16="http://schemas.microsoft.com/office/drawing/2014/main" id="{8A26A55B-4ECE-4555-81F3-7B01EFF52A1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6BC4BBE-5C8F-406F-A5F6-D7DC51E74582}"/>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91315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485C43-08EF-4BD9-A218-38CAD2668AF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4B6F318-8444-4900-BC88-875353FA60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E3D25216-3601-4132-A466-A43F914465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A07827F-E9CB-426E-88E8-51BB702387A3}"/>
              </a:ext>
            </a:extLst>
          </p:cNvPr>
          <p:cNvSpPr>
            <a:spLocks noGrp="1"/>
          </p:cNvSpPr>
          <p:nvPr>
            <p:ph type="dt" sz="half" idx="10"/>
          </p:nvPr>
        </p:nvSpPr>
        <p:spPr/>
        <p:txBody>
          <a:bodyPr/>
          <a:lstStyle/>
          <a:p>
            <a:fld id="{6BED464F-AE49-4530-AB8F-BF5C16571F6A}" type="datetimeFigureOut">
              <a:rPr lang="es-CO" smtClean="0"/>
              <a:t>24/09/2025</a:t>
            </a:fld>
            <a:endParaRPr lang="es-CO"/>
          </a:p>
        </p:txBody>
      </p:sp>
      <p:sp>
        <p:nvSpPr>
          <p:cNvPr id="6" name="Marcador de pie de página 5">
            <a:extLst>
              <a:ext uri="{FF2B5EF4-FFF2-40B4-BE49-F238E27FC236}">
                <a16:creationId xmlns:a16="http://schemas.microsoft.com/office/drawing/2014/main" id="{C55746CE-82F9-4FA8-9A0E-E8F8DA709DA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D1589BA-AA34-440C-96EE-5096F4D80989}"/>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154697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951E2B-923F-4458-9B56-B6694F6C370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3F8E8BD-05AE-42F6-A28F-DE6821AC6B4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6F1BADB-96DB-4328-9A9B-39ECD064501B}"/>
              </a:ext>
            </a:extLst>
          </p:cNvPr>
          <p:cNvSpPr>
            <a:spLocks noGrp="1"/>
          </p:cNvSpPr>
          <p:nvPr>
            <p:ph type="dt" sz="half" idx="10"/>
          </p:nvPr>
        </p:nvSpPr>
        <p:spPr/>
        <p:txBody>
          <a:bodyPr/>
          <a:lstStyle/>
          <a:p>
            <a:fld id="{6BED464F-AE49-4530-AB8F-BF5C16571F6A}" type="datetimeFigureOut">
              <a:rPr lang="es-CO" smtClean="0"/>
              <a:t>24/09/2025</a:t>
            </a:fld>
            <a:endParaRPr lang="es-CO"/>
          </a:p>
        </p:txBody>
      </p:sp>
      <p:sp>
        <p:nvSpPr>
          <p:cNvPr id="5" name="Marcador de pie de página 4">
            <a:extLst>
              <a:ext uri="{FF2B5EF4-FFF2-40B4-BE49-F238E27FC236}">
                <a16:creationId xmlns:a16="http://schemas.microsoft.com/office/drawing/2014/main" id="{D2F361CB-E120-4FCE-BC69-B351C1064DE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A0C5800-7D4C-473A-A846-3DA77B77F6E4}"/>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75846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39A63E9-572F-4E70-900E-8289A8BA080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1F3A2B5C-5897-4F84-B25A-DEA36E31FF1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2819DD3-DEDB-4FDA-B961-E728E57A9293}"/>
              </a:ext>
            </a:extLst>
          </p:cNvPr>
          <p:cNvSpPr>
            <a:spLocks noGrp="1"/>
          </p:cNvSpPr>
          <p:nvPr>
            <p:ph type="dt" sz="half" idx="10"/>
          </p:nvPr>
        </p:nvSpPr>
        <p:spPr/>
        <p:txBody>
          <a:bodyPr/>
          <a:lstStyle/>
          <a:p>
            <a:fld id="{6BED464F-AE49-4530-AB8F-BF5C16571F6A}" type="datetimeFigureOut">
              <a:rPr lang="es-CO" smtClean="0"/>
              <a:t>24/09/2025</a:t>
            </a:fld>
            <a:endParaRPr lang="es-CO"/>
          </a:p>
        </p:txBody>
      </p:sp>
      <p:sp>
        <p:nvSpPr>
          <p:cNvPr id="5" name="Marcador de pie de página 4">
            <a:extLst>
              <a:ext uri="{FF2B5EF4-FFF2-40B4-BE49-F238E27FC236}">
                <a16:creationId xmlns:a16="http://schemas.microsoft.com/office/drawing/2014/main" id="{8FEFDFE9-8BB3-47D4-8027-F3E67B3CA62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4ABD4CB-278D-4FCC-99DC-7BC9FE90A8FD}"/>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2483546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9169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BBD8030-76DF-446F-8225-156CADC5D7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A1A0A47-AAFE-4984-8867-B71DC703FA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0E5AFFB-23A1-4118-A1AD-F7A3420B9E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ED464F-AE49-4530-AB8F-BF5C16571F6A}" type="datetimeFigureOut">
              <a:rPr lang="es-CO" smtClean="0"/>
              <a:t>24/09/2025</a:t>
            </a:fld>
            <a:endParaRPr lang="es-CO"/>
          </a:p>
        </p:txBody>
      </p:sp>
      <p:sp>
        <p:nvSpPr>
          <p:cNvPr id="5" name="Marcador de pie de página 4">
            <a:extLst>
              <a:ext uri="{FF2B5EF4-FFF2-40B4-BE49-F238E27FC236}">
                <a16:creationId xmlns:a16="http://schemas.microsoft.com/office/drawing/2014/main" id="{227482B8-2E51-4D91-8D5A-2BE6ED75B6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92081BF-C090-4E4F-855F-FB857FCD28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8B09BD-4935-4E15-915B-CAF5541A0352}" type="slidenum">
              <a:rPr lang="es-CO" smtClean="0"/>
              <a:t>‹Nº›</a:t>
            </a:fld>
            <a:endParaRPr lang="es-CO"/>
          </a:p>
        </p:txBody>
      </p:sp>
    </p:spTree>
    <p:extLst>
      <p:ext uri="{BB962C8B-B14F-4D97-AF65-F5344CB8AC3E}">
        <p14:creationId xmlns:p14="http://schemas.microsoft.com/office/powerpoint/2010/main" val="3571825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1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8.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2.png"/><Relationship Id="rId7" Type="http://schemas.openxmlformats.org/officeDocument/2006/relationships/diagramColors" Target="../diagrams/colors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52.png"/><Relationship Id="rId2" Type="http://schemas.openxmlformats.org/officeDocument/2006/relationships/notesSlide" Target="../notesSlides/notesSlide4.xml"/><Relationship Id="rId16" Type="http://schemas.openxmlformats.org/officeDocument/2006/relationships/image" Target="../media/image51.png"/><Relationship Id="rId1" Type="http://schemas.openxmlformats.org/officeDocument/2006/relationships/slideLayout" Target="../slideLayouts/slideLayout1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55.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1.svg"/></Relationships>
</file>

<file path=ppt/slides/_rels/slide3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3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78.png"/><Relationship Id="rId4" Type="http://schemas.openxmlformats.org/officeDocument/2006/relationships/image" Target="../media/image77.png"/></Relationships>
</file>

<file path=ppt/slides/_rels/slide5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52.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B69533-1871-4A5A-9BE1-C29688C859B4}"/>
              </a:ext>
            </a:extLst>
          </p:cNvPr>
          <p:cNvSpPr>
            <a:spLocks noGrp="1"/>
          </p:cNvSpPr>
          <p:nvPr>
            <p:ph type="ctrTitle"/>
          </p:nvPr>
        </p:nvSpPr>
        <p:spPr>
          <a:xfrm>
            <a:off x="4010001" y="2342843"/>
            <a:ext cx="6655837" cy="949514"/>
          </a:xfrm>
        </p:spPr>
        <p:txBody>
          <a:bodyPr>
            <a:noAutofit/>
          </a:bodyPr>
          <a:lstStyle/>
          <a:p>
            <a:r>
              <a:rPr lang="es-MX" sz="4800" b="1" dirty="0">
                <a:solidFill>
                  <a:schemeClr val="bg1"/>
                </a:solidFill>
              </a:rPr>
              <a:t>Guías de práctica clínica</a:t>
            </a:r>
            <a:br>
              <a:rPr lang="es-MX" sz="4800" b="1" dirty="0">
                <a:solidFill>
                  <a:schemeClr val="bg1"/>
                </a:solidFill>
              </a:rPr>
            </a:br>
            <a:r>
              <a:rPr lang="es-MX" sz="4000" b="1" dirty="0">
                <a:solidFill>
                  <a:schemeClr val="bg1"/>
                </a:solidFill>
              </a:rPr>
              <a:t>Falla Cardíaca Aguda / Crónica</a:t>
            </a:r>
            <a:endParaRPr lang="es-CO" sz="4800" b="1" dirty="0">
              <a:solidFill>
                <a:schemeClr val="bg1"/>
              </a:solidFill>
            </a:endParaRPr>
          </a:p>
        </p:txBody>
      </p:sp>
    </p:spTree>
    <p:extLst>
      <p:ext uri="{BB962C8B-B14F-4D97-AF65-F5344CB8AC3E}">
        <p14:creationId xmlns:p14="http://schemas.microsoft.com/office/powerpoint/2010/main" val="1795083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ADFD2F9-0D79-4E4B-8119-436356F4C2B5}"/>
              </a:ext>
            </a:extLst>
          </p:cNvPr>
          <p:cNvSpPr txBox="1"/>
          <p:nvPr/>
        </p:nvSpPr>
        <p:spPr>
          <a:xfrm>
            <a:off x="896470" y="2572871"/>
            <a:ext cx="9511553" cy="3416320"/>
          </a:xfrm>
          <a:prstGeom prst="rect">
            <a:avLst/>
          </a:prstGeom>
          <a:noFill/>
        </p:spPr>
        <p:txBody>
          <a:bodyPr wrap="square" rtlCol="0">
            <a:spAutoFit/>
          </a:bodyPr>
          <a:lstStyle/>
          <a:p>
            <a:r>
              <a:rPr lang="es-CO" dirty="0"/>
              <a:t>1.Pre test </a:t>
            </a:r>
          </a:p>
          <a:p>
            <a:r>
              <a:rPr lang="es-CO" dirty="0"/>
              <a:t>2. Dar a conocer GPC adoptada y documento de modificación de recomendaciones</a:t>
            </a:r>
          </a:p>
          <a:p>
            <a:r>
              <a:rPr lang="es-CO" dirty="0"/>
              <a:t>3. Recordatorio: Definición, Clasificación y Terminología </a:t>
            </a:r>
          </a:p>
          <a:p>
            <a:r>
              <a:rPr lang="es-CO" dirty="0"/>
              <a:t>4. Aspectos fisiopatológicos clave</a:t>
            </a:r>
          </a:p>
          <a:p>
            <a:r>
              <a:rPr lang="es-CO" dirty="0"/>
              <a:t>5. Aspectos farmacológicos clave</a:t>
            </a:r>
          </a:p>
          <a:p>
            <a:r>
              <a:rPr lang="es-CO" dirty="0"/>
              <a:t>6. Falla cardiaca aguda: Diagnóstico – Tratamiento</a:t>
            </a:r>
          </a:p>
          <a:p>
            <a:r>
              <a:rPr lang="es-CO" dirty="0"/>
              <a:t>7. Falla cardiaca crónica: Diagnóstico- Tratamiento</a:t>
            </a:r>
          </a:p>
          <a:p>
            <a:r>
              <a:rPr lang="es-CO" dirty="0"/>
              <a:t>8. Intervenciones: Especialista de Cardiología</a:t>
            </a:r>
          </a:p>
          <a:p>
            <a:r>
              <a:rPr lang="es-CO" dirty="0"/>
              <a:t>9. Presentación material pedagógico con recomendaciones trazadoras</a:t>
            </a:r>
          </a:p>
          <a:p>
            <a:r>
              <a:rPr lang="es-CO" dirty="0"/>
              <a:t>10. Herramienta de evaluación</a:t>
            </a:r>
          </a:p>
          <a:p>
            <a:r>
              <a:rPr lang="es-CO" dirty="0"/>
              <a:t>11. Pos test</a:t>
            </a:r>
          </a:p>
          <a:p>
            <a:pPr marL="342900" indent="-342900">
              <a:buAutoNum type="arabicPeriod" startAt="5"/>
            </a:pPr>
            <a:endParaRPr lang="es-CO" dirty="0"/>
          </a:p>
        </p:txBody>
      </p:sp>
      <p:sp>
        <p:nvSpPr>
          <p:cNvPr id="3" name="CuadroTexto 2">
            <a:extLst>
              <a:ext uri="{FF2B5EF4-FFF2-40B4-BE49-F238E27FC236}">
                <a16:creationId xmlns:a16="http://schemas.microsoft.com/office/drawing/2014/main" id="{D2E705DA-1925-47ED-8D90-B73CF59AAEA3}"/>
              </a:ext>
            </a:extLst>
          </p:cNvPr>
          <p:cNvSpPr txBox="1"/>
          <p:nvPr/>
        </p:nvSpPr>
        <p:spPr>
          <a:xfrm>
            <a:off x="6006352" y="493058"/>
            <a:ext cx="5316071" cy="707886"/>
          </a:xfrm>
          <a:prstGeom prst="rect">
            <a:avLst/>
          </a:prstGeom>
          <a:noFill/>
        </p:spPr>
        <p:txBody>
          <a:bodyPr wrap="square" rtlCol="0">
            <a:spAutoFit/>
          </a:bodyPr>
          <a:lstStyle/>
          <a:p>
            <a:pPr algn="ctr"/>
            <a:r>
              <a:rPr lang="es-CO" sz="4000" b="1" dirty="0">
                <a:solidFill>
                  <a:srgbClr val="002060"/>
                </a:solidFill>
              </a:rPr>
              <a:t>Orden de la sesión</a:t>
            </a:r>
          </a:p>
        </p:txBody>
      </p:sp>
    </p:spTree>
    <p:extLst>
      <p:ext uri="{BB962C8B-B14F-4D97-AF65-F5344CB8AC3E}">
        <p14:creationId xmlns:p14="http://schemas.microsoft.com/office/powerpoint/2010/main" val="2910541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6A0929E-0B1B-475B-BCF0-C89F02238D0B}"/>
              </a:ext>
            </a:extLst>
          </p:cNvPr>
          <p:cNvPicPr>
            <a:picLocks noChangeAspect="1"/>
          </p:cNvPicPr>
          <p:nvPr/>
        </p:nvPicPr>
        <p:blipFill>
          <a:blip r:embed="rId3"/>
          <a:stretch>
            <a:fillRect/>
          </a:stretch>
        </p:blipFill>
        <p:spPr>
          <a:xfrm>
            <a:off x="543862" y="1252326"/>
            <a:ext cx="4718420" cy="4833503"/>
          </a:xfrm>
          <a:prstGeom prst="rect">
            <a:avLst/>
          </a:prstGeom>
        </p:spPr>
      </p:pic>
      <p:sp>
        <p:nvSpPr>
          <p:cNvPr id="4" name="CuadroTexto 3">
            <a:extLst>
              <a:ext uri="{FF2B5EF4-FFF2-40B4-BE49-F238E27FC236}">
                <a16:creationId xmlns:a16="http://schemas.microsoft.com/office/drawing/2014/main" id="{3F9E59A8-61B7-422B-964B-D6ABD1F186E3}"/>
              </a:ext>
            </a:extLst>
          </p:cNvPr>
          <p:cNvSpPr txBox="1"/>
          <p:nvPr/>
        </p:nvSpPr>
        <p:spPr>
          <a:xfrm>
            <a:off x="1819835" y="600635"/>
            <a:ext cx="1846730" cy="646331"/>
          </a:xfrm>
          <a:prstGeom prst="rect">
            <a:avLst/>
          </a:prstGeom>
          <a:noFill/>
        </p:spPr>
        <p:txBody>
          <a:bodyPr wrap="square" rtlCol="0">
            <a:spAutoFit/>
          </a:bodyPr>
          <a:lstStyle/>
          <a:p>
            <a:pPr algn="ctr"/>
            <a:r>
              <a:rPr lang="es-CO" b="1" dirty="0">
                <a:solidFill>
                  <a:srgbClr val="002060"/>
                </a:solidFill>
              </a:rPr>
              <a:t>GPC adoptada por normativa </a:t>
            </a:r>
          </a:p>
        </p:txBody>
      </p:sp>
      <p:sp>
        <p:nvSpPr>
          <p:cNvPr id="5" name="Flecha: a la derecha 4">
            <a:extLst>
              <a:ext uri="{FF2B5EF4-FFF2-40B4-BE49-F238E27FC236}">
                <a16:creationId xmlns:a16="http://schemas.microsoft.com/office/drawing/2014/main" id="{AA7791D7-7679-4F80-8DD5-BEF74C9AAABB}"/>
              </a:ext>
            </a:extLst>
          </p:cNvPr>
          <p:cNvSpPr/>
          <p:nvPr/>
        </p:nvSpPr>
        <p:spPr>
          <a:xfrm>
            <a:off x="5800165" y="3146612"/>
            <a:ext cx="896470" cy="2823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7" name="Imagen 6">
            <a:extLst>
              <a:ext uri="{FF2B5EF4-FFF2-40B4-BE49-F238E27FC236}">
                <a16:creationId xmlns:a16="http://schemas.microsoft.com/office/drawing/2014/main" id="{14DBBEFD-CAC6-4236-BAF1-B04CC6FE5ACA}"/>
              </a:ext>
            </a:extLst>
          </p:cNvPr>
          <p:cNvPicPr>
            <a:picLocks noChangeAspect="1"/>
          </p:cNvPicPr>
          <p:nvPr/>
        </p:nvPicPr>
        <p:blipFill>
          <a:blip r:embed="rId4"/>
          <a:stretch>
            <a:fillRect/>
          </a:stretch>
        </p:blipFill>
        <p:spPr>
          <a:xfrm>
            <a:off x="6260692" y="3861976"/>
            <a:ext cx="2059823" cy="2692635"/>
          </a:xfrm>
          <a:prstGeom prst="rect">
            <a:avLst/>
          </a:prstGeom>
        </p:spPr>
      </p:pic>
      <p:pic>
        <p:nvPicPr>
          <p:cNvPr id="9" name="Imagen 8">
            <a:extLst>
              <a:ext uri="{FF2B5EF4-FFF2-40B4-BE49-F238E27FC236}">
                <a16:creationId xmlns:a16="http://schemas.microsoft.com/office/drawing/2014/main" id="{3E0B62CA-9C86-4860-B73C-9D1AA59F8DDC}"/>
              </a:ext>
            </a:extLst>
          </p:cNvPr>
          <p:cNvPicPr>
            <a:picLocks noChangeAspect="1"/>
          </p:cNvPicPr>
          <p:nvPr/>
        </p:nvPicPr>
        <p:blipFill>
          <a:blip r:embed="rId5"/>
          <a:stretch>
            <a:fillRect/>
          </a:stretch>
        </p:blipFill>
        <p:spPr>
          <a:xfrm>
            <a:off x="6696635" y="776745"/>
            <a:ext cx="5145742" cy="1433409"/>
          </a:xfrm>
          <a:prstGeom prst="rect">
            <a:avLst/>
          </a:prstGeom>
        </p:spPr>
      </p:pic>
      <p:sp>
        <p:nvSpPr>
          <p:cNvPr id="10" name="CuadroTexto 9">
            <a:extLst>
              <a:ext uri="{FF2B5EF4-FFF2-40B4-BE49-F238E27FC236}">
                <a16:creationId xmlns:a16="http://schemas.microsoft.com/office/drawing/2014/main" id="{5D3558C1-A9FB-406D-BF51-CB0E9BCD1CCF}"/>
              </a:ext>
            </a:extLst>
          </p:cNvPr>
          <p:cNvSpPr txBox="1"/>
          <p:nvPr/>
        </p:nvSpPr>
        <p:spPr>
          <a:xfrm>
            <a:off x="5262282" y="2713045"/>
            <a:ext cx="1996821" cy="430887"/>
          </a:xfrm>
          <a:prstGeom prst="rect">
            <a:avLst/>
          </a:prstGeom>
          <a:noFill/>
        </p:spPr>
        <p:txBody>
          <a:bodyPr wrap="square" rtlCol="0">
            <a:spAutoFit/>
          </a:bodyPr>
          <a:lstStyle/>
          <a:p>
            <a:pPr algn="ctr"/>
            <a:r>
              <a:rPr lang="es-CO" sz="1100" dirty="0"/>
              <a:t>Se realiza adaptación de recomendaciones con base en </a:t>
            </a:r>
          </a:p>
        </p:txBody>
      </p:sp>
      <p:pic>
        <p:nvPicPr>
          <p:cNvPr id="14" name="Imagen 13">
            <a:extLst>
              <a:ext uri="{FF2B5EF4-FFF2-40B4-BE49-F238E27FC236}">
                <a16:creationId xmlns:a16="http://schemas.microsoft.com/office/drawing/2014/main" id="{BB7599E5-2F82-49F3-97CA-6CB2C4B08299}"/>
              </a:ext>
            </a:extLst>
          </p:cNvPr>
          <p:cNvPicPr>
            <a:picLocks noChangeAspect="1"/>
          </p:cNvPicPr>
          <p:nvPr/>
        </p:nvPicPr>
        <p:blipFill>
          <a:blip r:embed="rId6"/>
          <a:stretch>
            <a:fillRect/>
          </a:stretch>
        </p:blipFill>
        <p:spPr>
          <a:xfrm>
            <a:off x="9192150" y="3960344"/>
            <a:ext cx="1886213" cy="2495898"/>
          </a:xfrm>
          <a:prstGeom prst="rect">
            <a:avLst/>
          </a:prstGeom>
        </p:spPr>
      </p:pic>
    </p:spTree>
    <p:extLst>
      <p:ext uri="{BB962C8B-B14F-4D97-AF65-F5344CB8AC3E}">
        <p14:creationId xmlns:p14="http://schemas.microsoft.com/office/powerpoint/2010/main" val="162055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37D52B-8814-4029-B676-1BFACA6411C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pic>
        <p:nvPicPr>
          <p:cNvPr id="4" name="Imagen 3">
            <a:extLst>
              <a:ext uri="{FF2B5EF4-FFF2-40B4-BE49-F238E27FC236}">
                <a16:creationId xmlns:a16="http://schemas.microsoft.com/office/drawing/2014/main" id="{C4D1C776-9655-49AB-BDCE-5D6EC6B86B60}"/>
              </a:ext>
            </a:extLst>
          </p:cNvPr>
          <p:cNvPicPr>
            <a:picLocks noChangeAspect="1"/>
          </p:cNvPicPr>
          <p:nvPr/>
        </p:nvPicPr>
        <p:blipFill>
          <a:blip r:embed="rId3"/>
          <a:stretch>
            <a:fillRect/>
          </a:stretch>
        </p:blipFill>
        <p:spPr>
          <a:xfrm>
            <a:off x="3913442" y="1348274"/>
            <a:ext cx="4007923" cy="4272597"/>
          </a:xfrm>
          <a:prstGeom prst="rect">
            <a:avLst/>
          </a:prstGeom>
        </p:spPr>
      </p:pic>
      <p:sp>
        <p:nvSpPr>
          <p:cNvPr id="5" name="CuadroTexto 4">
            <a:extLst>
              <a:ext uri="{FF2B5EF4-FFF2-40B4-BE49-F238E27FC236}">
                <a16:creationId xmlns:a16="http://schemas.microsoft.com/office/drawing/2014/main" id="{0693ED65-2720-4826-84AF-C99C1C6F88BC}"/>
              </a:ext>
            </a:extLst>
          </p:cNvPr>
          <p:cNvSpPr txBox="1"/>
          <p:nvPr/>
        </p:nvSpPr>
        <p:spPr>
          <a:xfrm>
            <a:off x="1075765" y="546738"/>
            <a:ext cx="10703859" cy="461665"/>
          </a:xfrm>
          <a:prstGeom prst="rect">
            <a:avLst/>
          </a:prstGeom>
          <a:noFill/>
        </p:spPr>
        <p:txBody>
          <a:bodyPr wrap="square" rtlCol="0">
            <a:spAutoFit/>
          </a:bodyPr>
          <a:lstStyle/>
          <a:p>
            <a:pPr algn="ctr"/>
            <a:r>
              <a:rPr lang="es-CO" sz="2400" b="1" dirty="0">
                <a:solidFill>
                  <a:srgbClr val="002060"/>
                </a:solidFill>
              </a:rPr>
              <a:t>¿En donde están las recomendaciones adaptadas para nuestra institución?</a:t>
            </a:r>
          </a:p>
        </p:txBody>
      </p:sp>
      <p:sp>
        <p:nvSpPr>
          <p:cNvPr id="6" name="CuadroTexto 5">
            <a:extLst>
              <a:ext uri="{FF2B5EF4-FFF2-40B4-BE49-F238E27FC236}">
                <a16:creationId xmlns:a16="http://schemas.microsoft.com/office/drawing/2014/main" id="{90F1BB6F-5957-483B-A800-4630EFF7A9A4}"/>
              </a:ext>
            </a:extLst>
          </p:cNvPr>
          <p:cNvSpPr txBox="1"/>
          <p:nvPr/>
        </p:nvSpPr>
        <p:spPr>
          <a:xfrm>
            <a:off x="5038165" y="6219728"/>
            <a:ext cx="3953435" cy="369332"/>
          </a:xfrm>
          <a:prstGeom prst="rect">
            <a:avLst/>
          </a:prstGeom>
          <a:noFill/>
        </p:spPr>
        <p:txBody>
          <a:bodyPr wrap="square" rtlCol="0">
            <a:spAutoFit/>
          </a:bodyPr>
          <a:lstStyle/>
          <a:p>
            <a:r>
              <a:rPr lang="es-CO" b="1" dirty="0">
                <a:solidFill>
                  <a:srgbClr val="002060"/>
                </a:solidFill>
                <a:highlight>
                  <a:srgbClr val="FFFF00"/>
                </a:highlight>
              </a:rPr>
              <a:t>Disponible en </a:t>
            </a:r>
            <a:r>
              <a:rPr lang="es-CO" b="1" dirty="0" err="1">
                <a:solidFill>
                  <a:srgbClr val="002060"/>
                </a:solidFill>
                <a:highlight>
                  <a:srgbClr val="FFFF00"/>
                </a:highlight>
              </a:rPr>
              <a:t>Almera</a:t>
            </a:r>
            <a:endParaRPr lang="es-CO" b="1" dirty="0">
              <a:solidFill>
                <a:srgbClr val="002060"/>
              </a:solidFill>
              <a:highlight>
                <a:srgbClr val="FFFF00"/>
              </a:highlight>
            </a:endParaRPr>
          </a:p>
        </p:txBody>
      </p:sp>
    </p:spTree>
    <p:extLst>
      <p:ext uri="{BB962C8B-B14F-4D97-AF65-F5344CB8AC3E}">
        <p14:creationId xmlns:p14="http://schemas.microsoft.com/office/powerpoint/2010/main" val="3462826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4" name="Google Shape;91;p2">
            <a:extLst>
              <a:ext uri="{FF2B5EF4-FFF2-40B4-BE49-F238E27FC236}">
                <a16:creationId xmlns:a16="http://schemas.microsoft.com/office/drawing/2014/main" id="{2ED961ED-22EF-4ED2-84C5-D52BE04C1AA7}"/>
              </a:ext>
            </a:extLst>
          </p:cNvPr>
          <p:cNvSpPr txBox="1"/>
          <p:nvPr/>
        </p:nvSpPr>
        <p:spPr>
          <a:xfrm>
            <a:off x="542362" y="1519026"/>
            <a:ext cx="11107271" cy="369291"/>
          </a:xfrm>
          <a:prstGeom prst="rect">
            <a:avLst/>
          </a:prstGeom>
          <a:solidFill>
            <a:schemeClr val="accent6">
              <a:lumMod val="40000"/>
              <a:lumOff val="60000"/>
            </a:schemeClr>
          </a:solid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just" rtl="0">
              <a:spcBef>
                <a:spcPts val="0"/>
              </a:spcBef>
              <a:spcAft>
                <a:spcPts val="0"/>
              </a:spcAft>
              <a:buNone/>
            </a:pPr>
            <a:r>
              <a:rPr lang="es-CO" sz="1800" b="1" i="0" u="none" strike="noStrike" cap="none">
                <a:solidFill>
                  <a:schemeClr val="accent6">
                    <a:lumMod val="50000"/>
                  </a:schemeClr>
                </a:solidFill>
                <a:latin typeface="Calibri"/>
                <a:ea typeface="Calibri"/>
                <a:cs typeface="Calibri"/>
                <a:sym typeface="Calibri"/>
              </a:rPr>
              <a:t>Síndrome clínico caracterizado por</a:t>
            </a:r>
            <a:r>
              <a:rPr lang="es-CO" sz="1800" b="1">
                <a:solidFill>
                  <a:schemeClr val="accent6">
                    <a:lumMod val="50000"/>
                  </a:schemeClr>
                </a:solidFill>
                <a:latin typeface="Calibri"/>
                <a:ea typeface="Calibri"/>
                <a:cs typeface="Calibri"/>
                <a:sym typeface="Calibri"/>
              </a:rPr>
              <a:t> síntomas típicos y signos causados por anomalía cardiaca estructural o funcional</a:t>
            </a:r>
            <a:endParaRPr b="1">
              <a:solidFill>
                <a:schemeClr val="accent6">
                  <a:lumMod val="50000"/>
                </a:schemeClr>
              </a:solidFill>
            </a:endParaRPr>
          </a:p>
        </p:txBody>
      </p:sp>
      <p:sp>
        <p:nvSpPr>
          <p:cNvPr id="5" name="CuadroTexto 4">
            <a:extLst>
              <a:ext uri="{FF2B5EF4-FFF2-40B4-BE49-F238E27FC236}">
                <a16:creationId xmlns:a16="http://schemas.microsoft.com/office/drawing/2014/main" id="{EF9212A1-F556-4E18-A1DC-701FBEE4CA2A}"/>
              </a:ext>
            </a:extLst>
          </p:cNvPr>
          <p:cNvSpPr txBox="1"/>
          <p:nvPr/>
        </p:nvSpPr>
        <p:spPr>
          <a:xfrm>
            <a:off x="9502588" y="89647"/>
            <a:ext cx="3281082" cy="369332"/>
          </a:xfrm>
          <a:prstGeom prst="rect">
            <a:avLst/>
          </a:prstGeom>
          <a:noFill/>
        </p:spPr>
        <p:txBody>
          <a:bodyPr wrap="square" rtlCol="0">
            <a:spAutoFit/>
          </a:bodyPr>
          <a:lstStyle/>
          <a:p>
            <a:r>
              <a:rPr lang="es-CO" dirty="0">
                <a:solidFill>
                  <a:srgbClr val="002060"/>
                </a:solidFill>
              </a:rPr>
              <a:t>Recordatorio Conceptos</a:t>
            </a:r>
          </a:p>
        </p:txBody>
      </p:sp>
      <p:sp>
        <p:nvSpPr>
          <p:cNvPr id="6" name="CuadroTexto 5">
            <a:extLst>
              <a:ext uri="{FF2B5EF4-FFF2-40B4-BE49-F238E27FC236}">
                <a16:creationId xmlns:a16="http://schemas.microsoft.com/office/drawing/2014/main" id="{F8D06E02-91CC-492F-9152-9D7AE05A34C3}"/>
              </a:ext>
            </a:extLst>
          </p:cNvPr>
          <p:cNvSpPr txBox="1"/>
          <p:nvPr/>
        </p:nvSpPr>
        <p:spPr>
          <a:xfrm>
            <a:off x="2907362" y="539664"/>
            <a:ext cx="6377269" cy="584775"/>
          </a:xfrm>
          <a:prstGeom prst="rect">
            <a:avLst/>
          </a:prstGeom>
          <a:noFill/>
        </p:spPr>
        <p:txBody>
          <a:bodyPr wrap="square" rtlCol="0">
            <a:spAutoFit/>
          </a:bodyPr>
          <a:lstStyle/>
          <a:p>
            <a:r>
              <a:rPr lang="es-CO" sz="3200" b="1" dirty="0">
                <a:solidFill>
                  <a:schemeClr val="accent6">
                    <a:lumMod val="50000"/>
                  </a:schemeClr>
                </a:solidFill>
              </a:rPr>
              <a:t>Definición Insuficiencia Cardíaca (IC)</a:t>
            </a:r>
          </a:p>
        </p:txBody>
      </p:sp>
      <p:sp>
        <p:nvSpPr>
          <p:cNvPr id="7" name="Google Shape;95;p2">
            <a:extLst>
              <a:ext uri="{FF2B5EF4-FFF2-40B4-BE49-F238E27FC236}">
                <a16:creationId xmlns:a16="http://schemas.microsoft.com/office/drawing/2014/main" id="{27D6E728-29EF-403E-A10D-0FDB6606F442}"/>
              </a:ext>
            </a:extLst>
          </p:cNvPr>
          <p:cNvSpPr txBox="1"/>
          <p:nvPr/>
        </p:nvSpPr>
        <p:spPr>
          <a:xfrm>
            <a:off x="462317" y="3231698"/>
            <a:ext cx="4675800" cy="2586000"/>
          </a:xfrm>
          <a:prstGeom prst="rect">
            <a:avLst/>
          </a:prstGeom>
          <a:solidFill>
            <a:schemeClr val="accent6">
              <a:lumMod val="40000"/>
              <a:lumOff val="60000"/>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1800" b="1" dirty="0">
                <a:solidFill>
                  <a:srgbClr val="C00000"/>
                </a:solidFill>
                <a:latin typeface="Calibri"/>
                <a:ea typeface="Calibri"/>
                <a:cs typeface="Calibri"/>
                <a:sym typeface="Calibri"/>
              </a:rPr>
              <a:t>1.Enfermedad coronaria</a:t>
            </a:r>
            <a:endParaRPr b="1" dirty="0">
              <a:solidFill>
                <a:srgbClr val="C00000"/>
              </a:solidFill>
            </a:endParaRPr>
          </a:p>
          <a:p>
            <a:pPr marL="0" marR="0" lvl="0" indent="0" algn="l" rtl="0">
              <a:spcBef>
                <a:spcPts val="0"/>
              </a:spcBef>
              <a:spcAft>
                <a:spcPts val="0"/>
              </a:spcAft>
              <a:buNone/>
            </a:pPr>
            <a:r>
              <a:rPr lang="es-CO" sz="1800" b="1" dirty="0">
                <a:solidFill>
                  <a:srgbClr val="C00000"/>
                </a:solidFill>
                <a:latin typeface="Calibri"/>
                <a:ea typeface="Calibri"/>
                <a:cs typeface="Calibri"/>
                <a:sym typeface="Calibri"/>
              </a:rPr>
              <a:t>2.Hipertensión arterial</a:t>
            </a:r>
            <a:endParaRPr b="1" dirty="0">
              <a:solidFill>
                <a:srgbClr val="C00000"/>
              </a:solidFill>
            </a:endParaRPr>
          </a:p>
          <a:p>
            <a:pPr marL="0" marR="0" lvl="0" indent="0" algn="l" rtl="0">
              <a:spcBef>
                <a:spcPts val="0"/>
              </a:spcBef>
              <a:spcAft>
                <a:spcPts val="0"/>
              </a:spcAft>
              <a:buNone/>
            </a:pPr>
            <a:r>
              <a:rPr lang="es-CO" sz="1800" b="1" dirty="0">
                <a:solidFill>
                  <a:srgbClr val="C00000"/>
                </a:solidFill>
                <a:latin typeface="Calibri"/>
                <a:ea typeface="Calibri"/>
                <a:cs typeface="Calibri"/>
                <a:sym typeface="Calibri"/>
              </a:rPr>
              <a:t>3.Diabetes Mellitus </a:t>
            </a:r>
            <a:endParaRPr b="1" dirty="0">
              <a:solidFill>
                <a:srgbClr val="C00000"/>
              </a:solidFill>
            </a:endParaRPr>
          </a:p>
          <a:p>
            <a:pPr marL="0" marR="0" lvl="0" indent="0" algn="l" rtl="0">
              <a:spcBef>
                <a:spcPts val="0"/>
              </a:spcBef>
              <a:spcAft>
                <a:spcPts val="0"/>
              </a:spcAft>
              <a:buNone/>
            </a:pPr>
            <a:r>
              <a:rPr lang="es-CO" sz="1800" dirty="0">
                <a:solidFill>
                  <a:schemeClr val="dk1"/>
                </a:solidFill>
                <a:latin typeface="Calibri"/>
                <a:ea typeface="Calibri"/>
                <a:cs typeface="Calibri"/>
                <a:sym typeface="Calibri"/>
              </a:rPr>
              <a:t>4.Valvulopatías (estenosis aórtica)</a:t>
            </a:r>
            <a:endParaRPr dirty="0"/>
          </a:p>
          <a:p>
            <a:pPr marL="0" marR="0" lvl="0" indent="0" algn="l" rtl="0">
              <a:spcBef>
                <a:spcPts val="0"/>
              </a:spcBef>
              <a:spcAft>
                <a:spcPts val="0"/>
              </a:spcAft>
              <a:buNone/>
            </a:pPr>
            <a:r>
              <a:rPr lang="es-CO" sz="1800" dirty="0">
                <a:solidFill>
                  <a:schemeClr val="dk1"/>
                </a:solidFill>
                <a:latin typeface="Calibri"/>
                <a:ea typeface="Calibri"/>
                <a:cs typeface="Calibri"/>
                <a:sym typeface="Calibri"/>
              </a:rPr>
              <a:t>5.Arritmias (taquiarritmias auriculares, arritmias ventriculares)</a:t>
            </a:r>
            <a:endParaRPr dirty="0"/>
          </a:p>
          <a:p>
            <a:pPr marL="0" marR="0" lvl="0" indent="0" algn="l" rtl="0">
              <a:spcBef>
                <a:spcPts val="0"/>
              </a:spcBef>
              <a:spcAft>
                <a:spcPts val="0"/>
              </a:spcAft>
              <a:buNone/>
            </a:pPr>
            <a:r>
              <a:rPr lang="es-CO" sz="1800" dirty="0">
                <a:solidFill>
                  <a:schemeClr val="dk1"/>
                </a:solidFill>
                <a:latin typeface="Calibri"/>
                <a:ea typeface="Calibri"/>
                <a:cs typeface="Calibri"/>
                <a:sym typeface="Calibri"/>
              </a:rPr>
              <a:t>6.Miocardiopatías </a:t>
            </a:r>
            <a:endParaRPr dirty="0"/>
          </a:p>
          <a:p>
            <a:pPr marL="0" marR="0" lvl="0" indent="0" algn="l" rtl="0">
              <a:spcBef>
                <a:spcPts val="0"/>
              </a:spcBef>
              <a:spcAft>
                <a:spcPts val="0"/>
              </a:spcAft>
              <a:buNone/>
            </a:pPr>
            <a:r>
              <a:rPr lang="es-CO" sz="1800" dirty="0">
                <a:solidFill>
                  <a:schemeClr val="dk1"/>
                </a:solidFill>
                <a:latin typeface="Calibri"/>
                <a:ea typeface="Calibri"/>
                <a:cs typeface="Calibri"/>
                <a:sym typeface="Calibri"/>
              </a:rPr>
              <a:t>7.Infección (miocarditis viral, </a:t>
            </a:r>
            <a:r>
              <a:rPr lang="es-CO" sz="1800" b="1" dirty="0">
                <a:solidFill>
                  <a:srgbClr val="C00000"/>
                </a:solidFill>
                <a:latin typeface="Calibri"/>
                <a:ea typeface="Calibri"/>
                <a:cs typeface="Calibri"/>
                <a:sym typeface="Calibri"/>
              </a:rPr>
              <a:t>enfermedad de Chagas</a:t>
            </a:r>
            <a:r>
              <a:rPr lang="es-CO" sz="1800" dirty="0">
                <a:solidFill>
                  <a:schemeClr val="dk1"/>
                </a:solidFill>
                <a:latin typeface="Calibri"/>
                <a:ea typeface="Calibri"/>
                <a:cs typeface="Calibri"/>
                <a:sym typeface="Calibri"/>
              </a:rPr>
              <a:t>, VIH, enfermedad de Lyme)</a:t>
            </a:r>
            <a:endParaRPr dirty="0"/>
          </a:p>
        </p:txBody>
      </p:sp>
      <p:sp>
        <p:nvSpPr>
          <p:cNvPr id="9" name="CuadroTexto 8">
            <a:extLst>
              <a:ext uri="{FF2B5EF4-FFF2-40B4-BE49-F238E27FC236}">
                <a16:creationId xmlns:a16="http://schemas.microsoft.com/office/drawing/2014/main" id="{10C06300-25D7-43C0-BFAC-021D79BE0037}"/>
              </a:ext>
            </a:extLst>
          </p:cNvPr>
          <p:cNvSpPr txBox="1"/>
          <p:nvPr/>
        </p:nvSpPr>
        <p:spPr>
          <a:xfrm>
            <a:off x="1032413" y="2720633"/>
            <a:ext cx="3334871" cy="369332"/>
          </a:xfrm>
          <a:prstGeom prst="rect">
            <a:avLst/>
          </a:prstGeom>
          <a:noFill/>
        </p:spPr>
        <p:txBody>
          <a:bodyPr wrap="square" rtlCol="0">
            <a:spAutoFit/>
          </a:bodyPr>
          <a:lstStyle/>
          <a:p>
            <a:r>
              <a:rPr lang="es-CO" b="1" dirty="0">
                <a:solidFill>
                  <a:schemeClr val="accent6">
                    <a:lumMod val="50000"/>
                  </a:schemeClr>
                </a:solidFill>
              </a:rPr>
              <a:t>Condiciones desencadenantes</a:t>
            </a:r>
          </a:p>
        </p:txBody>
      </p:sp>
      <p:sp>
        <p:nvSpPr>
          <p:cNvPr id="11" name="CuadroTexto 10">
            <a:extLst>
              <a:ext uri="{FF2B5EF4-FFF2-40B4-BE49-F238E27FC236}">
                <a16:creationId xmlns:a16="http://schemas.microsoft.com/office/drawing/2014/main" id="{2CB6AE48-572F-4514-99A1-1D0852733142}"/>
              </a:ext>
            </a:extLst>
          </p:cNvPr>
          <p:cNvSpPr txBox="1"/>
          <p:nvPr/>
        </p:nvSpPr>
        <p:spPr>
          <a:xfrm>
            <a:off x="5961658" y="2838497"/>
            <a:ext cx="4525368" cy="2862322"/>
          </a:xfrm>
          <a:prstGeom prst="rect">
            <a:avLst/>
          </a:prstGeom>
          <a:solidFill>
            <a:schemeClr val="bg1"/>
          </a:solidFill>
        </p:spPr>
        <p:txBody>
          <a:bodyPr wrap="square">
            <a:spAutoFit/>
          </a:bodyPr>
          <a:lstStyle/>
          <a:p>
            <a:pPr algn="just" rtl="0">
              <a:spcBef>
                <a:spcPts val="0"/>
              </a:spcBef>
              <a:spcAft>
                <a:spcPts val="0"/>
              </a:spcAft>
            </a:pPr>
            <a:r>
              <a:rPr lang="es-MX" sz="1800" b="1" i="0" u="none" strike="noStrike" dirty="0">
                <a:solidFill>
                  <a:srgbClr val="000000"/>
                </a:solidFill>
                <a:effectLst/>
                <a:latin typeface="Calibri" panose="020F0502020204030204" pitchFamily="34" charset="0"/>
              </a:rPr>
              <a:t>Anomalías Estructurales: </a:t>
            </a:r>
            <a:endParaRPr lang="es-MX" b="1" dirty="0">
              <a:effectLst/>
            </a:endParaRPr>
          </a:p>
          <a:p>
            <a:pPr algn="just" rtl="0" fontAlgn="base">
              <a:spcBef>
                <a:spcPts val="0"/>
              </a:spcBef>
              <a:spcAft>
                <a:spcPts val="0"/>
              </a:spcAft>
              <a:buFont typeface="Arial" panose="020B0604020202020204" pitchFamily="34" charset="0"/>
              <a:buChar char="•"/>
            </a:pPr>
            <a:r>
              <a:rPr lang="es-MX" sz="1800" b="0" i="0" u="none" strike="noStrike" dirty="0">
                <a:solidFill>
                  <a:srgbClr val="000000"/>
                </a:solidFill>
                <a:effectLst/>
                <a:latin typeface="Calibri" panose="020F0502020204030204" pitchFamily="34" charset="0"/>
              </a:rPr>
              <a:t>Cardiomegalia y dilatación de cavidades </a:t>
            </a:r>
          </a:p>
          <a:p>
            <a:pPr algn="just" rtl="0" fontAlgn="base">
              <a:spcBef>
                <a:spcPts val="0"/>
              </a:spcBef>
              <a:spcAft>
                <a:spcPts val="0"/>
              </a:spcAft>
              <a:buFont typeface="Arial" panose="020B0604020202020204" pitchFamily="34" charset="0"/>
              <a:buChar char="•"/>
            </a:pPr>
            <a:r>
              <a:rPr lang="es-MX" sz="1800" b="0" i="0" u="none" strike="noStrike" dirty="0">
                <a:solidFill>
                  <a:srgbClr val="000000"/>
                </a:solidFill>
                <a:effectLst/>
                <a:latin typeface="Calibri" panose="020F0502020204030204" pitchFamily="34" charset="0"/>
              </a:rPr>
              <a:t>Hipertrofia ventricular (engrosamiento concéntrico y excéntrico)</a:t>
            </a:r>
          </a:p>
          <a:p>
            <a:pPr algn="just" rtl="0" fontAlgn="base">
              <a:spcBef>
                <a:spcPts val="0"/>
              </a:spcBef>
              <a:spcAft>
                <a:spcPts val="0"/>
              </a:spcAft>
              <a:buFont typeface="Arial" panose="020B0604020202020204" pitchFamily="34" charset="0"/>
              <a:buChar char="•"/>
            </a:pPr>
            <a:r>
              <a:rPr lang="es-MX" sz="1800" b="0" i="0" u="none" strike="noStrike" dirty="0">
                <a:solidFill>
                  <a:srgbClr val="000000"/>
                </a:solidFill>
                <a:effectLst/>
                <a:latin typeface="Calibri" panose="020F0502020204030204" pitchFamily="34" charset="0"/>
              </a:rPr>
              <a:t>Alteraciones valvulares</a:t>
            </a:r>
          </a:p>
          <a:p>
            <a:pPr algn="just" rtl="0">
              <a:spcBef>
                <a:spcPts val="0"/>
              </a:spcBef>
              <a:spcAft>
                <a:spcPts val="0"/>
              </a:spcAft>
            </a:pPr>
            <a:br>
              <a:rPr lang="es-MX" b="0" dirty="0">
                <a:effectLst/>
              </a:rPr>
            </a:br>
            <a:r>
              <a:rPr lang="es-MX" sz="1800" b="1" i="0" u="none" strike="noStrike" dirty="0">
                <a:solidFill>
                  <a:srgbClr val="000000"/>
                </a:solidFill>
                <a:effectLst/>
                <a:latin typeface="Calibri" panose="020F0502020204030204" pitchFamily="34" charset="0"/>
              </a:rPr>
              <a:t>Anomalías Funcionales:</a:t>
            </a:r>
          </a:p>
          <a:p>
            <a:pPr algn="just" rtl="0">
              <a:spcBef>
                <a:spcPts val="0"/>
              </a:spcBef>
              <a:spcAft>
                <a:spcPts val="0"/>
              </a:spcAft>
            </a:pPr>
            <a:r>
              <a:rPr lang="es-MX" sz="1800" b="0" i="0" u="none" strike="noStrike" dirty="0">
                <a:solidFill>
                  <a:srgbClr val="000000"/>
                </a:solidFill>
                <a:effectLst/>
                <a:latin typeface="Calibri" panose="020F0502020204030204" pitchFamily="34" charset="0"/>
              </a:rPr>
              <a:t>Fracción de eyección del ventrículo izquierdo reducida o anormal</a:t>
            </a:r>
          </a:p>
          <a:p>
            <a:pPr algn="just" rtl="0" fontAlgn="base">
              <a:spcBef>
                <a:spcPts val="0"/>
              </a:spcBef>
              <a:spcAft>
                <a:spcPts val="0"/>
              </a:spcAft>
              <a:buFont typeface="Arial" panose="020B0604020202020204" pitchFamily="34" charset="0"/>
              <a:buChar char="•"/>
            </a:pPr>
            <a:r>
              <a:rPr lang="es-MX" sz="1800" b="0" i="0" u="none" strike="noStrike" dirty="0">
                <a:solidFill>
                  <a:srgbClr val="000000"/>
                </a:solidFill>
                <a:effectLst/>
                <a:latin typeface="Calibri" panose="020F0502020204030204" pitchFamily="34" charset="0"/>
              </a:rPr>
              <a:t>Disfunción sistólica ventricular </a:t>
            </a:r>
          </a:p>
        </p:txBody>
      </p:sp>
      <p:sp>
        <p:nvSpPr>
          <p:cNvPr id="12" name="Flecha: hacia abajo 11">
            <a:extLst>
              <a:ext uri="{FF2B5EF4-FFF2-40B4-BE49-F238E27FC236}">
                <a16:creationId xmlns:a16="http://schemas.microsoft.com/office/drawing/2014/main" id="{702BFBA5-1CA4-4647-8785-1B42DC9CD83F}"/>
              </a:ext>
            </a:extLst>
          </p:cNvPr>
          <p:cNvSpPr/>
          <p:nvPr/>
        </p:nvSpPr>
        <p:spPr>
          <a:xfrm rot="16200000">
            <a:off x="5497753" y="4130250"/>
            <a:ext cx="233083" cy="555812"/>
          </a:xfrm>
          <a:prstGeom prst="downArrow">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50" name="Picture 2">
            <a:extLst>
              <a:ext uri="{FF2B5EF4-FFF2-40B4-BE49-F238E27FC236}">
                <a16:creationId xmlns:a16="http://schemas.microsoft.com/office/drawing/2014/main" id="{7354702A-DB3E-41F3-8628-DD2D751AD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4385" y="1959018"/>
            <a:ext cx="4319913" cy="4381500"/>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B1DC7FE5-E6DA-4751-9FB3-6A5AC7146327}"/>
              </a:ext>
            </a:extLst>
          </p:cNvPr>
          <p:cNvSpPr txBox="1"/>
          <p:nvPr/>
        </p:nvSpPr>
        <p:spPr>
          <a:xfrm>
            <a:off x="6720" y="6411219"/>
            <a:ext cx="11107272" cy="461665"/>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Tree>
    <p:extLst>
      <p:ext uri="{BB962C8B-B14F-4D97-AF65-F5344CB8AC3E}">
        <p14:creationId xmlns:p14="http://schemas.microsoft.com/office/powerpoint/2010/main" val="4105938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2DC6C8-74E4-430F-AEC0-82CBB479FAE1}"/>
              </a:ext>
            </a:extLst>
          </p:cNvPr>
          <p:cNvSpPr txBox="1"/>
          <p:nvPr/>
        </p:nvSpPr>
        <p:spPr>
          <a:xfrm>
            <a:off x="2909887" y="498858"/>
            <a:ext cx="6096000" cy="1938992"/>
          </a:xfrm>
          <a:prstGeom prst="rect">
            <a:avLst/>
          </a:prstGeom>
          <a:noFill/>
        </p:spPr>
        <p:txBody>
          <a:bodyPr wrap="square">
            <a:spAutoFit/>
          </a:bodyPr>
          <a:lstStyle/>
          <a:p>
            <a:pPr algn="ctr" rtl="0">
              <a:spcBef>
                <a:spcPts val="0"/>
              </a:spcBef>
              <a:spcAft>
                <a:spcPts val="0"/>
              </a:spcAft>
            </a:pPr>
            <a:r>
              <a:rPr lang="es-CO" sz="4000" b="1" dirty="0">
                <a:solidFill>
                  <a:schemeClr val="accent6">
                    <a:lumMod val="50000"/>
                  </a:schemeClr>
                </a:solidFill>
              </a:rPr>
              <a:t>Clasificación</a:t>
            </a:r>
            <a:endParaRPr lang="es-CO" sz="4000" b="1" dirty="0">
              <a:solidFill>
                <a:schemeClr val="accent6">
                  <a:lumMod val="50000"/>
                </a:schemeClr>
              </a:solidFill>
              <a:effectLst/>
            </a:endParaRPr>
          </a:p>
          <a:p>
            <a:br>
              <a:rPr lang="es-CO" sz="4000" b="1" dirty="0">
                <a:solidFill>
                  <a:schemeClr val="accent6">
                    <a:lumMod val="50000"/>
                  </a:schemeClr>
                </a:solidFill>
              </a:rPr>
            </a:br>
            <a:endParaRPr lang="es-CO" sz="4000" b="1" dirty="0">
              <a:solidFill>
                <a:schemeClr val="accent6">
                  <a:lumMod val="50000"/>
                </a:schemeClr>
              </a:solidFill>
            </a:endParaRPr>
          </a:p>
        </p:txBody>
      </p:sp>
      <p:sp>
        <p:nvSpPr>
          <p:cNvPr id="4" name="CuadroTexto 3">
            <a:extLst>
              <a:ext uri="{FF2B5EF4-FFF2-40B4-BE49-F238E27FC236}">
                <a16:creationId xmlns:a16="http://schemas.microsoft.com/office/drawing/2014/main" id="{A9FF75C7-A7D5-45E0-8C10-F6F43369DBA6}"/>
              </a:ext>
            </a:extLst>
          </p:cNvPr>
          <p:cNvSpPr txBox="1"/>
          <p:nvPr/>
        </p:nvSpPr>
        <p:spPr>
          <a:xfrm>
            <a:off x="9502588" y="89647"/>
            <a:ext cx="3281082" cy="369332"/>
          </a:xfrm>
          <a:prstGeom prst="rect">
            <a:avLst/>
          </a:prstGeom>
          <a:noFill/>
        </p:spPr>
        <p:txBody>
          <a:bodyPr wrap="square" rtlCol="0">
            <a:spAutoFit/>
          </a:bodyPr>
          <a:lstStyle/>
          <a:p>
            <a:r>
              <a:rPr lang="es-CO" dirty="0">
                <a:solidFill>
                  <a:srgbClr val="002060"/>
                </a:solidFill>
              </a:rPr>
              <a:t>Recordatorio Conceptos</a:t>
            </a:r>
          </a:p>
        </p:txBody>
      </p:sp>
      <p:sp>
        <p:nvSpPr>
          <p:cNvPr id="5" name="CuadroTexto 4">
            <a:extLst>
              <a:ext uri="{FF2B5EF4-FFF2-40B4-BE49-F238E27FC236}">
                <a16:creationId xmlns:a16="http://schemas.microsoft.com/office/drawing/2014/main" id="{22708ED9-9578-4ACC-88AB-8A5DB2C19483}"/>
              </a:ext>
            </a:extLst>
          </p:cNvPr>
          <p:cNvSpPr txBox="1"/>
          <p:nvPr/>
        </p:nvSpPr>
        <p:spPr>
          <a:xfrm>
            <a:off x="857249" y="1664635"/>
            <a:ext cx="3390902" cy="369332"/>
          </a:xfrm>
          <a:prstGeom prst="rect">
            <a:avLst/>
          </a:prstGeom>
          <a:solidFill>
            <a:schemeClr val="accent6">
              <a:lumMod val="40000"/>
              <a:lumOff val="60000"/>
            </a:schemeClr>
          </a:solidFill>
        </p:spPr>
        <p:txBody>
          <a:bodyPr wrap="square" rtlCol="0">
            <a:spAutoFit/>
          </a:bodyPr>
          <a:lstStyle/>
          <a:p>
            <a:r>
              <a:rPr lang="es-CO" b="1" dirty="0">
                <a:solidFill>
                  <a:schemeClr val="accent6">
                    <a:lumMod val="50000"/>
                  </a:schemeClr>
                </a:solidFill>
              </a:rPr>
              <a:t>Insuficiencia cardíaca aguda (ICA)</a:t>
            </a:r>
          </a:p>
        </p:txBody>
      </p:sp>
      <p:sp>
        <p:nvSpPr>
          <p:cNvPr id="6" name="CuadroTexto 5">
            <a:extLst>
              <a:ext uri="{FF2B5EF4-FFF2-40B4-BE49-F238E27FC236}">
                <a16:creationId xmlns:a16="http://schemas.microsoft.com/office/drawing/2014/main" id="{F0CEB20F-CD75-4D0A-9CD5-08BF1C204F4F}"/>
              </a:ext>
            </a:extLst>
          </p:cNvPr>
          <p:cNvSpPr txBox="1"/>
          <p:nvPr/>
        </p:nvSpPr>
        <p:spPr>
          <a:xfrm>
            <a:off x="7186612" y="1586015"/>
            <a:ext cx="3638550" cy="369332"/>
          </a:xfrm>
          <a:prstGeom prst="rect">
            <a:avLst/>
          </a:prstGeom>
          <a:solidFill>
            <a:schemeClr val="accent6">
              <a:lumMod val="40000"/>
              <a:lumOff val="60000"/>
            </a:schemeClr>
          </a:solidFill>
        </p:spPr>
        <p:txBody>
          <a:bodyPr wrap="square" rtlCol="0">
            <a:spAutoFit/>
          </a:bodyPr>
          <a:lstStyle/>
          <a:p>
            <a:r>
              <a:rPr lang="es-CO" b="1" dirty="0">
                <a:solidFill>
                  <a:schemeClr val="accent6">
                    <a:lumMod val="50000"/>
                  </a:schemeClr>
                </a:solidFill>
              </a:rPr>
              <a:t>Insuficiencia cardíaca crónica (ICC)</a:t>
            </a:r>
          </a:p>
        </p:txBody>
      </p:sp>
      <p:sp>
        <p:nvSpPr>
          <p:cNvPr id="7" name="Google Shape;109;g36560ee51d0_0_20">
            <a:extLst>
              <a:ext uri="{FF2B5EF4-FFF2-40B4-BE49-F238E27FC236}">
                <a16:creationId xmlns:a16="http://schemas.microsoft.com/office/drawing/2014/main" id="{B43BFBB0-A577-4616-BD58-9683D385FA8A}"/>
              </a:ext>
            </a:extLst>
          </p:cNvPr>
          <p:cNvSpPr txBox="1"/>
          <p:nvPr/>
        </p:nvSpPr>
        <p:spPr>
          <a:xfrm>
            <a:off x="656006" y="2597100"/>
            <a:ext cx="4087444" cy="1034099"/>
          </a:xfrm>
          <a:prstGeom prst="rect">
            <a:avLst/>
          </a:prstGeom>
          <a:solidFill>
            <a:schemeClr val="accent6">
              <a:lumMod val="40000"/>
              <a:lumOff val="60000"/>
            </a:schemeClr>
          </a:solid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s-CO" sz="1600" dirty="0">
                <a:solidFill>
                  <a:schemeClr val="dk1"/>
                </a:solidFill>
                <a:latin typeface="Calibri"/>
                <a:ea typeface="Calibri"/>
                <a:cs typeface="Calibri"/>
                <a:sym typeface="Calibri"/>
              </a:rPr>
              <a:t>Aparición rápida o gradual de signos o síntomas de IC graves para que el paciente necesite atención médica urgente.</a:t>
            </a:r>
            <a:endParaRPr sz="1400" dirty="0">
              <a:latin typeface="Calibri"/>
              <a:ea typeface="Calibri"/>
              <a:cs typeface="Calibri"/>
              <a:sym typeface="Calibri"/>
            </a:endParaRPr>
          </a:p>
        </p:txBody>
      </p:sp>
      <p:sp>
        <p:nvSpPr>
          <p:cNvPr id="8" name="Google Shape;109;g36560ee51d0_0_20">
            <a:extLst>
              <a:ext uri="{FF2B5EF4-FFF2-40B4-BE49-F238E27FC236}">
                <a16:creationId xmlns:a16="http://schemas.microsoft.com/office/drawing/2014/main" id="{BB9E1592-25B8-42BB-B1A6-635527E6F777}"/>
              </a:ext>
            </a:extLst>
          </p:cNvPr>
          <p:cNvSpPr txBox="1"/>
          <p:nvPr/>
        </p:nvSpPr>
        <p:spPr>
          <a:xfrm>
            <a:off x="6551981" y="4076367"/>
            <a:ext cx="4087444" cy="1600408"/>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s-CO" sz="1600" dirty="0">
                <a:latin typeface="Calibri"/>
                <a:ea typeface="Calibri"/>
                <a:cs typeface="Calibri"/>
                <a:sym typeface="Calibri"/>
              </a:rPr>
              <a:t>Subclasificación</a:t>
            </a:r>
          </a:p>
          <a:p>
            <a:pPr marL="285750" lvl="0" indent="-285750" algn="just" rtl="0">
              <a:lnSpc>
                <a:spcPct val="115000"/>
              </a:lnSpc>
              <a:spcBef>
                <a:spcPts val="0"/>
              </a:spcBef>
              <a:spcAft>
                <a:spcPts val="0"/>
              </a:spcAft>
              <a:buFontTx/>
              <a:buChar char="-"/>
            </a:pPr>
            <a:r>
              <a:rPr lang="es-CO" sz="1600" dirty="0">
                <a:latin typeface="Calibri"/>
                <a:ea typeface="Calibri"/>
                <a:cs typeface="Calibri"/>
                <a:sym typeface="Calibri"/>
              </a:rPr>
              <a:t>FEVI: preservada, levemente reducida y reducida</a:t>
            </a:r>
          </a:p>
          <a:p>
            <a:pPr marL="285750" lvl="0" indent="-285750" algn="just" rtl="0">
              <a:lnSpc>
                <a:spcPct val="115000"/>
              </a:lnSpc>
              <a:spcBef>
                <a:spcPts val="0"/>
              </a:spcBef>
              <a:spcAft>
                <a:spcPts val="0"/>
              </a:spcAft>
              <a:buFontTx/>
              <a:buChar char="-"/>
            </a:pPr>
            <a:r>
              <a:rPr lang="es-CO" sz="1600" b="1" dirty="0">
                <a:latin typeface="Calibri"/>
                <a:ea typeface="Calibri"/>
                <a:cs typeface="Calibri"/>
                <a:sym typeface="Calibri"/>
              </a:rPr>
              <a:t>NYHA</a:t>
            </a:r>
          </a:p>
          <a:p>
            <a:pPr marL="285750" lvl="0" indent="-285750" algn="just" rtl="0">
              <a:lnSpc>
                <a:spcPct val="115000"/>
              </a:lnSpc>
              <a:spcBef>
                <a:spcPts val="0"/>
              </a:spcBef>
              <a:spcAft>
                <a:spcPts val="0"/>
              </a:spcAft>
              <a:buFontTx/>
              <a:buChar char="-"/>
            </a:pPr>
            <a:r>
              <a:rPr lang="es-CO" sz="1600" b="1" dirty="0">
                <a:latin typeface="Calibri"/>
                <a:ea typeface="Calibri"/>
                <a:cs typeface="Calibri"/>
                <a:sym typeface="Calibri"/>
              </a:rPr>
              <a:t>AHA</a:t>
            </a:r>
          </a:p>
        </p:txBody>
      </p:sp>
      <p:sp>
        <p:nvSpPr>
          <p:cNvPr id="10" name="CuadroTexto 9">
            <a:extLst>
              <a:ext uri="{FF2B5EF4-FFF2-40B4-BE49-F238E27FC236}">
                <a16:creationId xmlns:a16="http://schemas.microsoft.com/office/drawing/2014/main" id="{9181CBC6-048B-4115-886D-373A4A09F971}"/>
              </a:ext>
            </a:extLst>
          </p:cNvPr>
          <p:cNvSpPr txBox="1"/>
          <p:nvPr/>
        </p:nvSpPr>
        <p:spPr>
          <a:xfrm>
            <a:off x="6363919" y="2566642"/>
            <a:ext cx="5143500" cy="1077218"/>
          </a:xfrm>
          <a:prstGeom prst="rect">
            <a:avLst/>
          </a:prstGeom>
          <a:solidFill>
            <a:schemeClr val="accent6">
              <a:lumMod val="40000"/>
              <a:lumOff val="60000"/>
            </a:schemeClr>
          </a:solidFill>
        </p:spPr>
        <p:txBody>
          <a:bodyPr wrap="square">
            <a:spAutoFit/>
          </a:bodyPr>
          <a:lstStyle/>
          <a:p>
            <a:pPr algn="just" rtl="0">
              <a:spcBef>
                <a:spcPts val="0"/>
              </a:spcBef>
              <a:spcAft>
                <a:spcPts val="0"/>
              </a:spcAft>
            </a:pPr>
            <a:r>
              <a:rPr lang="es-MX" sz="1600" b="0" i="0" u="none" strike="noStrike" dirty="0">
                <a:solidFill>
                  <a:srgbClr val="000000"/>
                </a:solidFill>
                <a:effectLst/>
              </a:rPr>
              <a:t>Síndrome clínico persistente dado por síntomas típicos como disnea, inflamación de tobillos y fatiga acompañado de signos como presión yugular elevada, crepitantes pulmonares y edema periférico.</a:t>
            </a:r>
            <a:endParaRPr lang="es-CO" sz="1600" dirty="0"/>
          </a:p>
        </p:txBody>
      </p:sp>
      <p:sp>
        <p:nvSpPr>
          <p:cNvPr id="11" name="Google Shape;109;g36560ee51d0_0_20">
            <a:extLst>
              <a:ext uri="{FF2B5EF4-FFF2-40B4-BE49-F238E27FC236}">
                <a16:creationId xmlns:a16="http://schemas.microsoft.com/office/drawing/2014/main" id="{51EA7318-EF42-4A64-A350-891A17D72343}"/>
              </a:ext>
            </a:extLst>
          </p:cNvPr>
          <p:cNvSpPr txBox="1"/>
          <p:nvPr/>
        </p:nvSpPr>
        <p:spPr>
          <a:xfrm>
            <a:off x="857249" y="4092640"/>
            <a:ext cx="4087444" cy="1883562"/>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s-CO" sz="1600" dirty="0">
                <a:latin typeface="Calibri"/>
                <a:ea typeface="Calibri"/>
                <a:cs typeface="Calibri"/>
                <a:sym typeface="Calibri"/>
              </a:rPr>
              <a:t>Subclasificación: </a:t>
            </a:r>
          </a:p>
          <a:p>
            <a:pPr marL="285750" lvl="0" indent="-285750" algn="just" rtl="0">
              <a:lnSpc>
                <a:spcPct val="115000"/>
              </a:lnSpc>
              <a:spcBef>
                <a:spcPts val="0"/>
              </a:spcBef>
              <a:spcAft>
                <a:spcPts val="0"/>
              </a:spcAft>
              <a:buFontTx/>
              <a:buChar char="-"/>
            </a:pPr>
            <a:r>
              <a:rPr lang="es-CO" sz="1600" dirty="0">
                <a:latin typeface="Calibri"/>
                <a:ea typeface="Calibri"/>
                <a:cs typeface="Calibri"/>
                <a:sym typeface="Calibri"/>
              </a:rPr>
              <a:t>De Novo</a:t>
            </a:r>
          </a:p>
          <a:p>
            <a:pPr marL="285750" lvl="0" indent="-285750" algn="just" rtl="0">
              <a:lnSpc>
                <a:spcPct val="115000"/>
              </a:lnSpc>
              <a:spcBef>
                <a:spcPts val="0"/>
              </a:spcBef>
              <a:spcAft>
                <a:spcPts val="0"/>
              </a:spcAft>
              <a:buFontTx/>
              <a:buChar char="-"/>
            </a:pPr>
            <a:r>
              <a:rPr lang="es-CO" sz="1600" dirty="0">
                <a:latin typeface="Calibri"/>
                <a:ea typeface="Calibri"/>
                <a:cs typeface="Calibri"/>
                <a:sym typeface="Calibri"/>
              </a:rPr>
              <a:t>Crónica Descompensada</a:t>
            </a:r>
          </a:p>
          <a:p>
            <a:pPr marL="285750" lvl="0" indent="-285750" algn="just" rtl="0">
              <a:lnSpc>
                <a:spcPct val="115000"/>
              </a:lnSpc>
              <a:spcBef>
                <a:spcPts val="0"/>
              </a:spcBef>
              <a:spcAft>
                <a:spcPts val="0"/>
              </a:spcAft>
              <a:buFontTx/>
              <a:buChar char="-"/>
            </a:pPr>
            <a:r>
              <a:rPr lang="es-CO" sz="1600" dirty="0">
                <a:latin typeface="Calibri"/>
                <a:ea typeface="Calibri"/>
                <a:cs typeface="Calibri"/>
                <a:sym typeface="Calibri"/>
              </a:rPr>
              <a:t>Stevenson / Fenotipos de ICA</a:t>
            </a:r>
          </a:p>
          <a:p>
            <a:pPr marL="285750" lvl="0" indent="-285750" algn="just" rtl="0">
              <a:lnSpc>
                <a:spcPct val="115000"/>
              </a:lnSpc>
              <a:spcBef>
                <a:spcPts val="0"/>
              </a:spcBef>
              <a:spcAft>
                <a:spcPts val="0"/>
              </a:spcAft>
              <a:buFontTx/>
              <a:buChar char="-"/>
            </a:pPr>
            <a:r>
              <a:rPr lang="es-CO" sz="1600" b="1" dirty="0">
                <a:latin typeface="Calibri"/>
                <a:ea typeface="Calibri"/>
                <a:cs typeface="Calibri"/>
                <a:sym typeface="Calibri"/>
              </a:rPr>
              <a:t>NYHA</a:t>
            </a:r>
          </a:p>
          <a:p>
            <a:pPr marL="285750" lvl="0" indent="-285750" algn="just" rtl="0">
              <a:lnSpc>
                <a:spcPct val="115000"/>
              </a:lnSpc>
              <a:spcBef>
                <a:spcPts val="0"/>
              </a:spcBef>
              <a:spcAft>
                <a:spcPts val="0"/>
              </a:spcAft>
              <a:buFontTx/>
              <a:buChar char="-"/>
            </a:pPr>
            <a:r>
              <a:rPr lang="es-CO" sz="1600" b="1" dirty="0">
                <a:latin typeface="Calibri"/>
                <a:ea typeface="Calibri"/>
                <a:cs typeface="Calibri"/>
                <a:sym typeface="Calibri"/>
              </a:rPr>
              <a:t>AHA</a:t>
            </a:r>
          </a:p>
        </p:txBody>
      </p:sp>
      <p:sp>
        <p:nvSpPr>
          <p:cNvPr id="12" name="Flecha: hacia abajo 11">
            <a:extLst>
              <a:ext uri="{FF2B5EF4-FFF2-40B4-BE49-F238E27FC236}">
                <a16:creationId xmlns:a16="http://schemas.microsoft.com/office/drawing/2014/main" id="{2F0A6640-3FB8-490A-8132-D425F94B0F83}"/>
              </a:ext>
            </a:extLst>
          </p:cNvPr>
          <p:cNvSpPr/>
          <p:nvPr/>
        </p:nvSpPr>
        <p:spPr>
          <a:xfrm>
            <a:off x="2319617" y="2101210"/>
            <a:ext cx="233083" cy="369332"/>
          </a:xfrm>
          <a:prstGeom prst="downArrow">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Flecha: hacia abajo 12">
            <a:extLst>
              <a:ext uri="{FF2B5EF4-FFF2-40B4-BE49-F238E27FC236}">
                <a16:creationId xmlns:a16="http://schemas.microsoft.com/office/drawing/2014/main" id="{E14C3CBF-C65C-4A95-A97D-E36B5F11972E}"/>
              </a:ext>
            </a:extLst>
          </p:cNvPr>
          <p:cNvSpPr/>
          <p:nvPr/>
        </p:nvSpPr>
        <p:spPr>
          <a:xfrm>
            <a:off x="8844242" y="2071490"/>
            <a:ext cx="233083" cy="399052"/>
          </a:xfrm>
          <a:prstGeom prst="downArrow">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Flecha: hacia abajo 13">
            <a:extLst>
              <a:ext uri="{FF2B5EF4-FFF2-40B4-BE49-F238E27FC236}">
                <a16:creationId xmlns:a16="http://schemas.microsoft.com/office/drawing/2014/main" id="{4A4FA671-CC4C-4D7B-8F42-38CB7D3C6F2A}"/>
              </a:ext>
            </a:extLst>
          </p:cNvPr>
          <p:cNvSpPr/>
          <p:nvPr/>
        </p:nvSpPr>
        <p:spPr>
          <a:xfrm>
            <a:off x="2319616" y="3688757"/>
            <a:ext cx="233083" cy="369332"/>
          </a:xfrm>
          <a:prstGeom prst="downArrow">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Flecha: hacia abajo 14">
            <a:extLst>
              <a:ext uri="{FF2B5EF4-FFF2-40B4-BE49-F238E27FC236}">
                <a16:creationId xmlns:a16="http://schemas.microsoft.com/office/drawing/2014/main" id="{DAABBD3F-88E7-466B-944A-F1EBA5610ECE}"/>
              </a:ext>
            </a:extLst>
          </p:cNvPr>
          <p:cNvSpPr/>
          <p:nvPr/>
        </p:nvSpPr>
        <p:spPr>
          <a:xfrm>
            <a:off x="8913157" y="3723308"/>
            <a:ext cx="233083" cy="369332"/>
          </a:xfrm>
          <a:prstGeom prst="downArrow">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CuadroTexto 15">
            <a:extLst>
              <a:ext uri="{FF2B5EF4-FFF2-40B4-BE49-F238E27FC236}">
                <a16:creationId xmlns:a16="http://schemas.microsoft.com/office/drawing/2014/main" id="{04D4796A-FCA7-4431-B367-9747266851C1}"/>
              </a:ext>
            </a:extLst>
          </p:cNvPr>
          <p:cNvSpPr txBox="1"/>
          <p:nvPr/>
        </p:nvSpPr>
        <p:spPr>
          <a:xfrm>
            <a:off x="6720" y="6411219"/>
            <a:ext cx="11107272" cy="461665"/>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Tree>
    <p:extLst>
      <p:ext uri="{BB962C8B-B14F-4D97-AF65-F5344CB8AC3E}">
        <p14:creationId xmlns:p14="http://schemas.microsoft.com/office/powerpoint/2010/main" val="1875564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80EE6F53-2023-4652-834D-44D116F491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9" y="2986919"/>
            <a:ext cx="5434012" cy="2870956"/>
          </a:xfrm>
          <a:prstGeom prst="rect">
            <a:avLst/>
          </a:prstGeom>
          <a:noFill/>
          <a:extLst>
            <a:ext uri="{909E8E84-426E-40DD-AFC4-6F175D3DCCD1}">
              <a14:hiddenFill xmlns:a14="http://schemas.microsoft.com/office/drawing/2010/main">
                <a:solidFill>
                  <a:srgbClr val="FFFFFF"/>
                </a:solidFill>
              </a14:hiddenFill>
            </a:ext>
          </a:extLst>
        </p:spPr>
      </p:pic>
      <p:pic>
        <p:nvPicPr>
          <p:cNvPr id="3" name="Google Shape;137;g36560ee51d0_0_44">
            <a:extLst>
              <a:ext uri="{FF2B5EF4-FFF2-40B4-BE49-F238E27FC236}">
                <a16:creationId xmlns:a16="http://schemas.microsoft.com/office/drawing/2014/main" id="{DEB0FEF8-C975-423C-AA6F-860ED6C360D3}"/>
              </a:ext>
            </a:extLst>
          </p:cNvPr>
          <p:cNvPicPr preferRelativeResize="0"/>
          <p:nvPr/>
        </p:nvPicPr>
        <p:blipFill rotWithShape="1">
          <a:blip r:embed="rId4">
            <a:alphaModFix/>
          </a:blip>
          <a:srcRect l="2847" t="11185" r="4396" b="4709"/>
          <a:stretch/>
        </p:blipFill>
        <p:spPr>
          <a:xfrm>
            <a:off x="7017150" y="2492150"/>
            <a:ext cx="3727050" cy="3365725"/>
          </a:xfrm>
          <a:prstGeom prst="rect">
            <a:avLst/>
          </a:prstGeom>
          <a:noFill/>
          <a:ln>
            <a:noFill/>
          </a:ln>
        </p:spPr>
      </p:pic>
      <p:sp>
        <p:nvSpPr>
          <p:cNvPr id="5" name="CuadroTexto 4">
            <a:extLst>
              <a:ext uri="{FF2B5EF4-FFF2-40B4-BE49-F238E27FC236}">
                <a16:creationId xmlns:a16="http://schemas.microsoft.com/office/drawing/2014/main" id="{979D02E8-EFDF-4429-A0C2-9370257612EC}"/>
              </a:ext>
            </a:extLst>
          </p:cNvPr>
          <p:cNvSpPr txBox="1"/>
          <p:nvPr/>
        </p:nvSpPr>
        <p:spPr>
          <a:xfrm>
            <a:off x="6880425" y="1172944"/>
            <a:ext cx="4000500" cy="923330"/>
          </a:xfrm>
          <a:prstGeom prst="rect">
            <a:avLst/>
          </a:prstGeom>
          <a:solidFill>
            <a:schemeClr val="accent6">
              <a:lumMod val="20000"/>
              <a:lumOff val="80000"/>
            </a:schemeClr>
          </a:solidFill>
        </p:spPr>
        <p:txBody>
          <a:bodyPr wrap="square">
            <a:spAutoFit/>
          </a:bodyPr>
          <a:lstStyle/>
          <a:p>
            <a:pPr marL="0" lvl="0" indent="0" algn="ctr" rtl="0">
              <a:spcBef>
                <a:spcPts val="0"/>
              </a:spcBef>
              <a:spcAft>
                <a:spcPts val="0"/>
              </a:spcAft>
              <a:buNone/>
            </a:pPr>
            <a:r>
              <a:rPr lang="es-MX" sz="1800" b="1" dirty="0">
                <a:solidFill>
                  <a:schemeClr val="accent6">
                    <a:lumMod val="50000"/>
                  </a:schemeClr>
                </a:solidFill>
                <a:latin typeface="Calibri"/>
                <a:ea typeface="Calibri"/>
                <a:cs typeface="Calibri"/>
                <a:sym typeface="Calibri"/>
              </a:rPr>
              <a:t>La clasificación de la AHA/ACC describe la evolución progresiva de la insuficiencia cardiaca</a:t>
            </a:r>
          </a:p>
        </p:txBody>
      </p:sp>
      <p:sp>
        <p:nvSpPr>
          <p:cNvPr id="7" name="CuadroTexto 6">
            <a:extLst>
              <a:ext uri="{FF2B5EF4-FFF2-40B4-BE49-F238E27FC236}">
                <a16:creationId xmlns:a16="http://schemas.microsoft.com/office/drawing/2014/main" id="{BA0A67A9-DEA6-4806-8C04-CE44AC097113}"/>
              </a:ext>
            </a:extLst>
          </p:cNvPr>
          <p:cNvSpPr txBox="1"/>
          <p:nvPr/>
        </p:nvSpPr>
        <p:spPr>
          <a:xfrm>
            <a:off x="863401" y="1156037"/>
            <a:ext cx="4448175" cy="923330"/>
          </a:xfrm>
          <a:prstGeom prst="rect">
            <a:avLst/>
          </a:prstGeom>
          <a:solidFill>
            <a:schemeClr val="accent6">
              <a:lumMod val="20000"/>
              <a:lumOff val="80000"/>
            </a:schemeClr>
          </a:solidFill>
        </p:spPr>
        <p:txBody>
          <a:bodyPr wrap="square">
            <a:spAutoFit/>
          </a:bodyPr>
          <a:lstStyle/>
          <a:p>
            <a:pPr algn="ctr"/>
            <a:r>
              <a:rPr lang="es-MX" sz="1800" b="1" i="0" u="none" strike="noStrike" dirty="0">
                <a:solidFill>
                  <a:schemeClr val="accent6">
                    <a:lumMod val="50000"/>
                  </a:schemeClr>
                </a:solidFill>
                <a:effectLst/>
                <a:latin typeface="Calibri" panose="020F0502020204030204" pitchFamily="34" charset="0"/>
              </a:rPr>
              <a:t>Grado de insuficiencia cardiaca: clasificación funcional de la New York Heart </a:t>
            </a:r>
            <a:r>
              <a:rPr lang="es-MX" sz="1800" b="1" i="0" u="none" strike="noStrike" dirty="0" err="1">
                <a:solidFill>
                  <a:schemeClr val="accent6">
                    <a:lumMod val="50000"/>
                  </a:schemeClr>
                </a:solidFill>
                <a:effectLst/>
                <a:latin typeface="Calibri" panose="020F0502020204030204" pitchFamily="34" charset="0"/>
              </a:rPr>
              <a:t>Association</a:t>
            </a:r>
            <a:r>
              <a:rPr lang="es-MX" sz="1800" b="1" i="0" u="none" strike="noStrike" dirty="0">
                <a:solidFill>
                  <a:schemeClr val="accent6">
                    <a:lumMod val="50000"/>
                  </a:schemeClr>
                </a:solidFill>
                <a:effectLst/>
                <a:latin typeface="Calibri" panose="020F0502020204030204" pitchFamily="34" charset="0"/>
              </a:rPr>
              <a:t> (NYHA).</a:t>
            </a:r>
            <a:endParaRPr lang="es-CO" b="1" dirty="0">
              <a:solidFill>
                <a:schemeClr val="accent6">
                  <a:lumMod val="50000"/>
                </a:schemeClr>
              </a:solidFill>
            </a:endParaRPr>
          </a:p>
        </p:txBody>
      </p:sp>
      <p:sp>
        <p:nvSpPr>
          <p:cNvPr id="8" name="CuadroTexto 7">
            <a:extLst>
              <a:ext uri="{FF2B5EF4-FFF2-40B4-BE49-F238E27FC236}">
                <a16:creationId xmlns:a16="http://schemas.microsoft.com/office/drawing/2014/main" id="{03CD90D8-D934-4DC5-B66F-94950A606752}"/>
              </a:ext>
            </a:extLst>
          </p:cNvPr>
          <p:cNvSpPr txBox="1"/>
          <p:nvPr/>
        </p:nvSpPr>
        <p:spPr>
          <a:xfrm>
            <a:off x="3048000" y="203448"/>
            <a:ext cx="6096000" cy="707886"/>
          </a:xfrm>
          <a:prstGeom prst="rect">
            <a:avLst/>
          </a:prstGeom>
          <a:noFill/>
        </p:spPr>
        <p:txBody>
          <a:bodyPr wrap="square">
            <a:spAutoFit/>
          </a:bodyPr>
          <a:lstStyle/>
          <a:p>
            <a:pPr algn="ctr" rtl="0">
              <a:spcBef>
                <a:spcPts val="0"/>
              </a:spcBef>
              <a:spcAft>
                <a:spcPts val="0"/>
              </a:spcAft>
            </a:pPr>
            <a:r>
              <a:rPr lang="es-CO" sz="4000" b="1" dirty="0">
                <a:solidFill>
                  <a:schemeClr val="accent6">
                    <a:lumMod val="50000"/>
                  </a:schemeClr>
                </a:solidFill>
              </a:rPr>
              <a:t>Clasificación Funcional</a:t>
            </a:r>
            <a:endParaRPr lang="es-CO" sz="4000" b="1" dirty="0">
              <a:solidFill>
                <a:schemeClr val="accent6">
                  <a:lumMod val="50000"/>
                </a:schemeClr>
              </a:solidFill>
              <a:effectLst/>
            </a:endParaRPr>
          </a:p>
        </p:txBody>
      </p:sp>
      <p:sp>
        <p:nvSpPr>
          <p:cNvPr id="9" name="CuadroTexto 8">
            <a:extLst>
              <a:ext uri="{FF2B5EF4-FFF2-40B4-BE49-F238E27FC236}">
                <a16:creationId xmlns:a16="http://schemas.microsoft.com/office/drawing/2014/main" id="{D72FDC18-81D0-4000-9DD5-F351CE7D0293}"/>
              </a:ext>
            </a:extLst>
          </p:cNvPr>
          <p:cNvSpPr txBox="1"/>
          <p:nvPr/>
        </p:nvSpPr>
        <p:spPr>
          <a:xfrm>
            <a:off x="9502588" y="89647"/>
            <a:ext cx="3281082" cy="369332"/>
          </a:xfrm>
          <a:prstGeom prst="rect">
            <a:avLst/>
          </a:prstGeom>
          <a:noFill/>
        </p:spPr>
        <p:txBody>
          <a:bodyPr wrap="square" rtlCol="0">
            <a:spAutoFit/>
          </a:bodyPr>
          <a:lstStyle/>
          <a:p>
            <a:r>
              <a:rPr lang="es-CO" dirty="0">
                <a:solidFill>
                  <a:srgbClr val="002060"/>
                </a:solidFill>
              </a:rPr>
              <a:t>Recordatorio Conceptos</a:t>
            </a:r>
          </a:p>
        </p:txBody>
      </p:sp>
      <p:sp>
        <p:nvSpPr>
          <p:cNvPr id="10" name="CuadroTexto 9">
            <a:extLst>
              <a:ext uri="{FF2B5EF4-FFF2-40B4-BE49-F238E27FC236}">
                <a16:creationId xmlns:a16="http://schemas.microsoft.com/office/drawing/2014/main" id="{11B33DFA-A514-4FDF-BEAA-979C8FBF9CF4}"/>
              </a:ext>
            </a:extLst>
          </p:cNvPr>
          <p:cNvSpPr txBox="1"/>
          <p:nvPr/>
        </p:nvSpPr>
        <p:spPr>
          <a:xfrm>
            <a:off x="6720" y="6411219"/>
            <a:ext cx="11107272" cy="461665"/>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Tree>
    <p:extLst>
      <p:ext uri="{BB962C8B-B14F-4D97-AF65-F5344CB8AC3E}">
        <p14:creationId xmlns:p14="http://schemas.microsoft.com/office/powerpoint/2010/main" val="3177678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738DB3B-0396-488E-AAD3-A151732C52EB}"/>
              </a:ext>
            </a:extLst>
          </p:cNvPr>
          <p:cNvSpPr txBox="1"/>
          <p:nvPr/>
        </p:nvSpPr>
        <p:spPr>
          <a:xfrm>
            <a:off x="9502588" y="89647"/>
            <a:ext cx="3281082" cy="369332"/>
          </a:xfrm>
          <a:prstGeom prst="rect">
            <a:avLst/>
          </a:prstGeom>
          <a:noFill/>
        </p:spPr>
        <p:txBody>
          <a:bodyPr wrap="square" rtlCol="0">
            <a:spAutoFit/>
          </a:bodyPr>
          <a:lstStyle/>
          <a:p>
            <a:r>
              <a:rPr lang="es-CO" dirty="0">
                <a:solidFill>
                  <a:srgbClr val="002060"/>
                </a:solidFill>
              </a:rPr>
              <a:t>Recordatorio Conceptos</a:t>
            </a:r>
          </a:p>
        </p:txBody>
      </p:sp>
      <p:sp>
        <p:nvSpPr>
          <p:cNvPr id="8" name="Rectangle 2">
            <a:extLst>
              <a:ext uri="{FF2B5EF4-FFF2-40B4-BE49-F238E27FC236}">
                <a16:creationId xmlns:a16="http://schemas.microsoft.com/office/drawing/2014/main" id="{43B018DE-D2E8-4287-9FDA-49B5DBDA30C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sp>
        <p:nvSpPr>
          <p:cNvPr id="9" name="Freeform 3">
            <a:extLst>
              <a:ext uri="{FF2B5EF4-FFF2-40B4-BE49-F238E27FC236}">
                <a16:creationId xmlns:a16="http://schemas.microsoft.com/office/drawing/2014/main" id="{23E6B8FB-D73B-4434-A95D-C0F5F5A47E71}"/>
              </a:ext>
            </a:extLst>
          </p:cNvPr>
          <p:cNvSpPr/>
          <p:nvPr/>
        </p:nvSpPr>
        <p:spPr>
          <a:xfrm>
            <a:off x="871028" y="811902"/>
            <a:ext cx="9882926" cy="5842650"/>
          </a:xfrm>
          <a:custGeom>
            <a:avLst/>
            <a:gdLst/>
            <a:ahLst/>
            <a:cxnLst/>
            <a:rect l="l" t="t" r="r" b="b"/>
            <a:pathLst>
              <a:path w="19060099" h="8934421">
                <a:moveTo>
                  <a:pt x="0" y="0"/>
                </a:moveTo>
                <a:lnTo>
                  <a:pt x="19060099" y="0"/>
                </a:lnTo>
                <a:lnTo>
                  <a:pt x="19060099" y="8934421"/>
                </a:lnTo>
                <a:lnTo>
                  <a:pt x="0" y="8934421"/>
                </a:lnTo>
                <a:lnTo>
                  <a:pt x="0" y="0"/>
                </a:lnTo>
                <a:close/>
              </a:path>
            </a:pathLst>
          </a:custGeom>
          <a:blipFill>
            <a:blip r:embed="rId3"/>
            <a:stretch>
              <a:fillRect/>
            </a:stretch>
          </a:bli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endParaRPr lang="es-CO" dirty="0"/>
          </a:p>
        </p:txBody>
      </p:sp>
      <p:sp>
        <p:nvSpPr>
          <p:cNvPr id="7" name="CuadroTexto 6">
            <a:extLst>
              <a:ext uri="{FF2B5EF4-FFF2-40B4-BE49-F238E27FC236}">
                <a16:creationId xmlns:a16="http://schemas.microsoft.com/office/drawing/2014/main" id="{18F177FC-65FA-49F5-86F0-A5C71B4F07FE}"/>
              </a:ext>
            </a:extLst>
          </p:cNvPr>
          <p:cNvSpPr txBox="1"/>
          <p:nvPr/>
        </p:nvSpPr>
        <p:spPr>
          <a:xfrm>
            <a:off x="2967317" y="52008"/>
            <a:ext cx="6096000" cy="707886"/>
          </a:xfrm>
          <a:prstGeom prst="rect">
            <a:avLst/>
          </a:prstGeom>
          <a:noFill/>
        </p:spPr>
        <p:txBody>
          <a:bodyPr wrap="square">
            <a:spAutoFit/>
          </a:bodyPr>
          <a:lstStyle/>
          <a:p>
            <a:pPr algn="ctr" rtl="0">
              <a:spcBef>
                <a:spcPts val="0"/>
              </a:spcBef>
              <a:spcAft>
                <a:spcPts val="0"/>
              </a:spcAft>
            </a:pPr>
            <a:r>
              <a:rPr lang="es-CO" sz="4000" b="1" dirty="0">
                <a:solidFill>
                  <a:schemeClr val="accent6">
                    <a:lumMod val="50000"/>
                  </a:schemeClr>
                </a:solidFill>
                <a:effectLst/>
              </a:rPr>
              <a:t>Fisiopatología</a:t>
            </a:r>
          </a:p>
        </p:txBody>
      </p:sp>
    </p:spTree>
    <p:extLst>
      <p:ext uri="{BB962C8B-B14F-4D97-AF65-F5344CB8AC3E}">
        <p14:creationId xmlns:p14="http://schemas.microsoft.com/office/powerpoint/2010/main" val="1322092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738DB3B-0396-488E-AAD3-A151732C52EB}"/>
              </a:ext>
            </a:extLst>
          </p:cNvPr>
          <p:cNvSpPr txBox="1"/>
          <p:nvPr/>
        </p:nvSpPr>
        <p:spPr>
          <a:xfrm>
            <a:off x="9502588" y="89647"/>
            <a:ext cx="3281082" cy="369332"/>
          </a:xfrm>
          <a:prstGeom prst="rect">
            <a:avLst/>
          </a:prstGeom>
          <a:noFill/>
        </p:spPr>
        <p:txBody>
          <a:bodyPr wrap="square" rtlCol="0">
            <a:spAutoFit/>
          </a:bodyPr>
          <a:lstStyle/>
          <a:p>
            <a:r>
              <a:rPr lang="es-CO" dirty="0">
                <a:solidFill>
                  <a:srgbClr val="002060"/>
                </a:solidFill>
              </a:rPr>
              <a:t>Recordatorio Conceptos</a:t>
            </a:r>
          </a:p>
        </p:txBody>
      </p:sp>
      <p:sp>
        <p:nvSpPr>
          <p:cNvPr id="8" name="Rectangle 2">
            <a:extLst>
              <a:ext uri="{FF2B5EF4-FFF2-40B4-BE49-F238E27FC236}">
                <a16:creationId xmlns:a16="http://schemas.microsoft.com/office/drawing/2014/main" id="{43B018DE-D2E8-4287-9FDA-49B5DBDA30C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sp>
        <p:nvSpPr>
          <p:cNvPr id="7" name="CuadroTexto 6">
            <a:extLst>
              <a:ext uri="{FF2B5EF4-FFF2-40B4-BE49-F238E27FC236}">
                <a16:creationId xmlns:a16="http://schemas.microsoft.com/office/drawing/2014/main" id="{18F177FC-65FA-49F5-86F0-A5C71B4F07FE}"/>
              </a:ext>
            </a:extLst>
          </p:cNvPr>
          <p:cNvSpPr txBox="1"/>
          <p:nvPr/>
        </p:nvSpPr>
        <p:spPr>
          <a:xfrm>
            <a:off x="2913528" y="0"/>
            <a:ext cx="6096000" cy="707886"/>
          </a:xfrm>
          <a:prstGeom prst="rect">
            <a:avLst/>
          </a:prstGeom>
          <a:noFill/>
        </p:spPr>
        <p:txBody>
          <a:bodyPr wrap="square">
            <a:spAutoFit/>
          </a:bodyPr>
          <a:lstStyle/>
          <a:p>
            <a:pPr algn="ctr" rtl="0">
              <a:spcBef>
                <a:spcPts val="0"/>
              </a:spcBef>
              <a:spcAft>
                <a:spcPts val="0"/>
              </a:spcAft>
            </a:pPr>
            <a:r>
              <a:rPr lang="es-CO" sz="4000" b="1" dirty="0">
                <a:solidFill>
                  <a:schemeClr val="accent6">
                    <a:lumMod val="50000"/>
                  </a:schemeClr>
                </a:solidFill>
                <a:effectLst/>
              </a:rPr>
              <a:t>Etiología</a:t>
            </a:r>
          </a:p>
        </p:txBody>
      </p:sp>
      <p:pic>
        <p:nvPicPr>
          <p:cNvPr id="3" name="Imagen 2">
            <a:extLst>
              <a:ext uri="{FF2B5EF4-FFF2-40B4-BE49-F238E27FC236}">
                <a16:creationId xmlns:a16="http://schemas.microsoft.com/office/drawing/2014/main" id="{AF7C54C0-0D40-43C2-BE41-EBEC9EE8BF3F}"/>
              </a:ext>
            </a:extLst>
          </p:cNvPr>
          <p:cNvPicPr>
            <a:picLocks noChangeAspect="1"/>
          </p:cNvPicPr>
          <p:nvPr/>
        </p:nvPicPr>
        <p:blipFill>
          <a:blip r:embed="rId3"/>
          <a:stretch>
            <a:fillRect/>
          </a:stretch>
        </p:blipFill>
        <p:spPr>
          <a:xfrm>
            <a:off x="1308846" y="715467"/>
            <a:ext cx="8989849" cy="6142531"/>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2634913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E775BC6-1E43-43E0-AB01-533720339219}"/>
              </a:ext>
            </a:extLst>
          </p:cNvPr>
          <p:cNvSpPr txBox="1"/>
          <p:nvPr/>
        </p:nvSpPr>
        <p:spPr>
          <a:xfrm>
            <a:off x="3362143" y="381499"/>
            <a:ext cx="5756463" cy="523220"/>
          </a:xfrm>
          <a:prstGeom prst="rect">
            <a:avLst/>
          </a:prstGeom>
          <a:noFill/>
        </p:spPr>
        <p:txBody>
          <a:bodyPr wrap="square" rtlCol="0">
            <a:spAutoFit/>
          </a:bodyPr>
          <a:lstStyle/>
          <a:p>
            <a:r>
              <a:rPr lang="es-CO" sz="2800" b="1" dirty="0">
                <a:solidFill>
                  <a:schemeClr val="accent6">
                    <a:lumMod val="50000"/>
                  </a:schemeClr>
                </a:solidFill>
              </a:rPr>
              <a:t>Insuficiencia Cardíaca Aguda (ICA)</a:t>
            </a:r>
          </a:p>
        </p:txBody>
      </p:sp>
      <p:grpSp>
        <p:nvGrpSpPr>
          <p:cNvPr id="5" name="Group 3">
            <a:extLst>
              <a:ext uri="{FF2B5EF4-FFF2-40B4-BE49-F238E27FC236}">
                <a16:creationId xmlns:a16="http://schemas.microsoft.com/office/drawing/2014/main" id="{ABB8CA1C-4BEA-4A5B-AD6B-8F829D48912F}"/>
              </a:ext>
            </a:extLst>
          </p:cNvPr>
          <p:cNvGrpSpPr/>
          <p:nvPr/>
        </p:nvGrpSpPr>
        <p:grpSpPr>
          <a:xfrm>
            <a:off x="505199" y="3176630"/>
            <a:ext cx="4448427" cy="1761062"/>
            <a:chOff x="0" y="0"/>
            <a:chExt cx="1859246" cy="977393"/>
          </a:xfrm>
          <a:scene3d>
            <a:camera prst="orthographicFront">
              <a:rot lat="0" lon="0" rev="0"/>
            </a:camera>
            <a:lightRig rig="balanced" dir="t">
              <a:rot lat="0" lon="0" rev="8700000"/>
            </a:lightRig>
          </a:scene3d>
        </p:grpSpPr>
        <p:sp>
          <p:nvSpPr>
            <p:cNvPr id="6" name="Freeform 4">
              <a:extLst>
                <a:ext uri="{FF2B5EF4-FFF2-40B4-BE49-F238E27FC236}">
                  <a16:creationId xmlns:a16="http://schemas.microsoft.com/office/drawing/2014/main" id="{2CB8B7EC-A929-48A6-B1A2-B0827B756637}"/>
                </a:ext>
              </a:extLst>
            </p:cNvPr>
            <p:cNvSpPr/>
            <p:nvPr/>
          </p:nvSpPr>
          <p:spPr>
            <a:xfrm>
              <a:off x="0" y="0"/>
              <a:ext cx="1859246" cy="977393"/>
            </a:xfrm>
            <a:custGeom>
              <a:avLst/>
              <a:gdLst/>
              <a:ahLst/>
              <a:cxnLst/>
              <a:rect l="l" t="t" r="r" b="b"/>
              <a:pathLst>
                <a:path w="1859246" h="977393">
                  <a:moveTo>
                    <a:pt x="55931" y="0"/>
                  </a:moveTo>
                  <a:lnTo>
                    <a:pt x="1803314" y="0"/>
                  </a:lnTo>
                  <a:cubicBezTo>
                    <a:pt x="1818148" y="0"/>
                    <a:pt x="1832375" y="5893"/>
                    <a:pt x="1842864" y="16382"/>
                  </a:cubicBezTo>
                  <a:cubicBezTo>
                    <a:pt x="1853353" y="26871"/>
                    <a:pt x="1859246" y="41097"/>
                    <a:pt x="1859246" y="55931"/>
                  </a:cubicBezTo>
                  <a:lnTo>
                    <a:pt x="1859246" y="921461"/>
                  </a:lnTo>
                  <a:cubicBezTo>
                    <a:pt x="1859246" y="936295"/>
                    <a:pt x="1853353" y="950522"/>
                    <a:pt x="1842864" y="961011"/>
                  </a:cubicBezTo>
                  <a:cubicBezTo>
                    <a:pt x="1832375" y="971500"/>
                    <a:pt x="1818148" y="977393"/>
                    <a:pt x="1803314" y="977393"/>
                  </a:cubicBezTo>
                  <a:lnTo>
                    <a:pt x="55931" y="977393"/>
                  </a:lnTo>
                  <a:cubicBezTo>
                    <a:pt x="25041" y="977393"/>
                    <a:pt x="0" y="952352"/>
                    <a:pt x="0" y="921461"/>
                  </a:cubicBezTo>
                  <a:lnTo>
                    <a:pt x="0" y="55931"/>
                  </a:lnTo>
                  <a:cubicBezTo>
                    <a:pt x="0" y="25041"/>
                    <a:pt x="25041" y="0"/>
                    <a:pt x="55931" y="0"/>
                  </a:cubicBezTo>
                  <a:close/>
                </a:path>
              </a:pathLst>
            </a:custGeom>
            <a:solidFill>
              <a:srgbClr val="EAC179"/>
            </a:solidFill>
            <a:ln>
              <a:noFill/>
            </a:ln>
            <a:effectLst>
              <a:outerShdw blurRad="44450" dist="27940" dir="5400000" algn="ctr">
                <a:srgbClr val="000000">
                  <a:alpha val="32000"/>
                </a:srgbClr>
              </a:outerShdw>
            </a:effectLst>
            <a:sp3d>
              <a:bevelT w="190500" h="38100"/>
            </a:sp3d>
          </p:spPr>
        </p:sp>
        <p:sp>
          <p:nvSpPr>
            <p:cNvPr id="7" name="TextBox 5">
              <a:extLst>
                <a:ext uri="{FF2B5EF4-FFF2-40B4-BE49-F238E27FC236}">
                  <a16:creationId xmlns:a16="http://schemas.microsoft.com/office/drawing/2014/main" id="{F60ACA47-EE13-4124-9D69-7B9A7F1C78E6}"/>
                </a:ext>
              </a:extLst>
            </p:cNvPr>
            <p:cNvSpPr txBox="1"/>
            <p:nvPr/>
          </p:nvSpPr>
          <p:spPr>
            <a:xfrm>
              <a:off x="0" y="-9525"/>
              <a:ext cx="1859246" cy="986918"/>
            </a:xfrm>
            <a:prstGeom prst="rect">
              <a:avLst/>
            </a:prstGeom>
            <a:ln>
              <a:noFill/>
            </a:ln>
            <a:effectLst>
              <a:outerShdw blurRad="44450" dist="27940" dir="5400000" algn="ctr">
                <a:srgbClr val="000000">
                  <a:alpha val="32000"/>
                </a:srgbClr>
              </a:outerShdw>
            </a:effectLst>
            <a:sp3d>
              <a:bevelT w="190500" h="38100"/>
            </a:sp3d>
          </p:spPr>
          <p:txBody>
            <a:bodyPr lIns="50800" tIns="50800" rIns="50800" bIns="50800" rtlCol="0" anchor="ctr"/>
            <a:lstStyle/>
            <a:p>
              <a:pPr algn="ctr">
                <a:lnSpc>
                  <a:spcPts val="2879"/>
                </a:lnSpc>
              </a:pPr>
              <a:endParaRPr/>
            </a:p>
          </p:txBody>
        </p:sp>
      </p:grpSp>
      <p:sp>
        <p:nvSpPr>
          <p:cNvPr id="11" name="Google Shape;109;g36560ee51d0_0_20">
            <a:extLst>
              <a:ext uri="{FF2B5EF4-FFF2-40B4-BE49-F238E27FC236}">
                <a16:creationId xmlns:a16="http://schemas.microsoft.com/office/drawing/2014/main" id="{8562DE75-FAE5-400C-8AEB-E69E36C043B7}"/>
              </a:ext>
            </a:extLst>
          </p:cNvPr>
          <p:cNvSpPr txBox="1"/>
          <p:nvPr/>
        </p:nvSpPr>
        <p:spPr>
          <a:xfrm>
            <a:off x="466599" y="1150022"/>
            <a:ext cx="11258802" cy="503184"/>
          </a:xfrm>
          <a:prstGeom prst="rect">
            <a:avLst/>
          </a:prstGeom>
          <a:solidFill>
            <a:schemeClr val="accent6">
              <a:lumMod val="40000"/>
              <a:lumOff val="60000"/>
            </a:schemeClr>
          </a:solid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s-CO" b="1" dirty="0">
                <a:solidFill>
                  <a:schemeClr val="accent6">
                    <a:lumMod val="50000"/>
                  </a:schemeClr>
                </a:solidFill>
                <a:latin typeface="Calibri"/>
                <a:ea typeface="Calibri"/>
                <a:cs typeface="Calibri"/>
                <a:sym typeface="Calibri"/>
              </a:rPr>
              <a:t>Aparición rápida o gradual de signos o síntomas de IC graves para que el paciente necesite atención médica urgente.</a:t>
            </a:r>
            <a:endParaRPr sz="1600" b="1" dirty="0">
              <a:solidFill>
                <a:schemeClr val="accent6">
                  <a:lumMod val="50000"/>
                </a:schemeClr>
              </a:solidFill>
              <a:latin typeface="Calibri"/>
              <a:ea typeface="Calibri"/>
              <a:cs typeface="Calibri"/>
              <a:sym typeface="Calibri"/>
            </a:endParaRPr>
          </a:p>
        </p:txBody>
      </p:sp>
      <p:sp>
        <p:nvSpPr>
          <p:cNvPr id="2" name="CuadroTexto 1">
            <a:extLst>
              <a:ext uri="{FF2B5EF4-FFF2-40B4-BE49-F238E27FC236}">
                <a16:creationId xmlns:a16="http://schemas.microsoft.com/office/drawing/2014/main" id="{48FB3FD7-1B1B-41EC-8288-E71C23CB605C}"/>
              </a:ext>
            </a:extLst>
          </p:cNvPr>
          <p:cNvSpPr txBox="1"/>
          <p:nvPr/>
        </p:nvSpPr>
        <p:spPr>
          <a:xfrm>
            <a:off x="4915026" y="1898509"/>
            <a:ext cx="1914525" cy="369332"/>
          </a:xfrm>
          <a:prstGeom prst="rect">
            <a:avLst/>
          </a:prstGeom>
          <a:noFill/>
        </p:spPr>
        <p:txBody>
          <a:bodyPr wrap="square" rtlCol="0">
            <a:spAutoFit/>
          </a:bodyPr>
          <a:lstStyle/>
          <a:p>
            <a:r>
              <a:rPr lang="es-CO" b="1" dirty="0"/>
              <a:t>Clasificación</a:t>
            </a:r>
          </a:p>
        </p:txBody>
      </p:sp>
      <p:sp>
        <p:nvSpPr>
          <p:cNvPr id="12" name="TextBox 13">
            <a:extLst>
              <a:ext uri="{FF2B5EF4-FFF2-40B4-BE49-F238E27FC236}">
                <a16:creationId xmlns:a16="http://schemas.microsoft.com/office/drawing/2014/main" id="{20E8D67B-0F34-4AE7-B7A7-9EB1D1FADEF5}"/>
              </a:ext>
            </a:extLst>
          </p:cNvPr>
          <p:cNvSpPr txBox="1"/>
          <p:nvPr/>
        </p:nvSpPr>
        <p:spPr>
          <a:xfrm>
            <a:off x="466599" y="3318497"/>
            <a:ext cx="4448427" cy="1477328"/>
          </a:xfrm>
          <a:prstGeom prst="rect">
            <a:avLst/>
          </a:prstGeom>
        </p:spPr>
        <p:txBody>
          <a:bodyPr wrap="square" lIns="0" tIns="0" rIns="0" bIns="0" rtlCol="0" anchor="t">
            <a:spAutoFit/>
          </a:bodyPr>
          <a:lstStyle/>
          <a:p>
            <a:pPr marL="697406" lvl="1" indent="-348703" algn="just">
              <a:buFont typeface="Arial"/>
              <a:buChar char="•"/>
            </a:pPr>
            <a:r>
              <a:rPr lang="en-US" sz="1600" dirty="0">
                <a:solidFill>
                  <a:srgbClr val="000000"/>
                </a:solidFill>
                <a:ea typeface="Glacial Indifference"/>
                <a:cs typeface="Glacial Indifference"/>
                <a:sym typeface="Glacial Indifference"/>
              </a:rPr>
              <a:t>⅓ de los casos </a:t>
            </a:r>
          </a:p>
          <a:p>
            <a:pPr marL="697406" lvl="1" indent="-348703" algn="just">
              <a:buFont typeface="Arial"/>
              <a:buChar char="•"/>
            </a:pPr>
            <a:r>
              <a:rPr lang="en-US" sz="1600" dirty="0">
                <a:solidFill>
                  <a:srgbClr val="000000"/>
                </a:solidFill>
                <a:ea typeface="Glacial Indifference"/>
                <a:cs typeface="Glacial Indifference"/>
                <a:sym typeface="Glacial Indifference"/>
              </a:rPr>
              <a:t>Sin diagnóstico previo. </a:t>
            </a:r>
          </a:p>
          <a:p>
            <a:pPr marL="697406" lvl="1" indent="-348703" algn="just">
              <a:buFont typeface="Arial"/>
              <a:buChar char="•"/>
            </a:pPr>
            <a:r>
              <a:rPr lang="en-US" sz="1600" dirty="0">
                <a:solidFill>
                  <a:srgbClr val="000000"/>
                </a:solidFill>
                <a:ea typeface="Glacial Indifference"/>
                <a:cs typeface="Glacial Indifference"/>
                <a:sym typeface="Glacial Indifference"/>
              </a:rPr>
              <a:t>Paciente con FR cardiovascular </a:t>
            </a:r>
          </a:p>
          <a:p>
            <a:pPr marL="697406" lvl="1" indent="-348703" algn="just">
              <a:buFont typeface="Arial"/>
              <a:buChar char="•"/>
            </a:pPr>
            <a:r>
              <a:rPr lang="en-US" sz="1600" dirty="0">
                <a:solidFill>
                  <a:srgbClr val="000000"/>
                </a:solidFill>
                <a:ea typeface="Glacial Indifference"/>
                <a:cs typeface="Glacial Indifference"/>
                <a:sym typeface="Glacial Indifference"/>
              </a:rPr>
              <a:t>Instauración rápida de síntomas</a:t>
            </a:r>
          </a:p>
          <a:p>
            <a:pPr marL="697406" lvl="1" indent="-348703" algn="just">
              <a:buFont typeface="Arial"/>
              <a:buChar char="•"/>
            </a:pPr>
            <a:r>
              <a:rPr lang="en-US" sz="1600" dirty="0">
                <a:solidFill>
                  <a:srgbClr val="000000"/>
                </a:solidFill>
                <a:ea typeface="Glacial Indifference"/>
                <a:cs typeface="Glacial Indifference"/>
                <a:sym typeface="Glacial Indifference"/>
              </a:rPr>
              <a:t>Presentación: Edema Pulmonar Agudo </a:t>
            </a:r>
          </a:p>
          <a:p>
            <a:pPr marL="697406" lvl="1" indent="-348703" algn="just">
              <a:buFont typeface="Arial"/>
              <a:buChar char="•"/>
            </a:pPr>
            <a:r>
              <a:rPr lang="en-US" sz="1600" dirty="0">
                <a:solidFill>
                  <a:srgbClr val="000000"/>
                </a:solidFill>
                <a:ea typeface="Glacial Indifference"/>
                <a:cs typeface="Glacial Indifference"/>
                <a:sym typeface="Glacial Indifference"/>
              </a:rPr>
              <a:t>SCA como desencadenante </a:t>
            </a:r>
          </a:p>
        </p:txBody>
      </p:sp>
      <p:sp>
        <p:nvSpPr>
          <p:cNvPr id="13" name="CuadroTexto 12">
            <a:extLst>
              <a:ext uri="{FF2B5EF4-FFF2-40B4-BE49-F238E27FC236}">
                <a16:creationId xmlns:a16="http://schemas.microsoft.com/office/drawing/2014/main" id="{ABE21E7E-0D9B-49E7-BBBD-D100CA790231}"/>
              </a:ext>
            </a:extLst>
          </p:cNvPr>
          <p:cNvSpPr txBox="1"/>
          <p:nvPr/>
        </p:nvSpPr>
        <p:spPr>
          <a:xfrm>
            <a:off x="2082642" y="2608403"/>
            <a:ext cx="1876425" cy="369332"/>
          </a:xfrm>
          <a:prstGeom prst="rect">
            <a:avLst/>
          </a:prstGeom>
          <a:noFill/>
        </p:spPr>
        <p:txBody>
          <a:bodyPr wrap="square" rtlCol="0">
            <a:spAutoFit/>
          </a:bodyPr>
          <a:lstStyle/>
          <a:p>
            <a:r>
              <a:rPr lang="es-CO" b="1" dirty="0"/>
              <a:t>De Novo</a:t>
            </a:r>
          </a:p>
        </p:txBody>
      </p:sp>
      <p:sp>
        <p:nvSpPr>
          <p:cNvPr id="14" name="Freeform 7">
            <a:extLst>
              <a:ext uri="{FF2B5EF4-FFF2-40B4-BE49-F238E27FC236}">
                <a16:creationId xmlns:a16="http://schemas.microsoft.com/office/drawing/2014/main" id="{5F53BB52-718D-4B67-89DC-F2E7D75090CC}"/>
              </a:ext>
            </a:extLst>
          </p:cNvPr>
          <p:cNvSpPr/>
          <p:nvPr/>
        </p:nvSpPr>
        <p:spPr>
          <a:xfrm>
            <a:off x="8615700" y="58673"/>
            <a:ext cx="847977" cy="978219"/>
          </a:xfrm>
          <a:custGeom>
            <a:avLst/>
            <a:gdLst/>
            <a:ahLst/>
            <a:cxnLst/>
            <a:rect l="l" t="t" r="r" b="b"/>
            <a:pathLst>
              <a:path w="4008096" h="5645206">
                <a:moveTo>
                  <a:pt x="0" y="0"/>
                </a:moveTo>
                <a:lnTo>
                  <a:pt x="4008096" y="0"/>
                </a:lnTo>
                <a:lnTo>
                  <a:pt x="4008096" y="5645206"/>
                </a:lnTo>
                <a:lnTo>
                  <a:pt x="0" y="56452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CuadroTexto 14">
            <a:extLst>
              <a:ext uri="{FF2B5EF4-FFF2-40B4-BE49-F238E27FC236}">
                <a16:creationId xmlns:a16="http://schemas.microsoft.com/office/drawing/2014/main" id="{E2185ACA-8117-4D50-9B58-BCD9F98C1C61}"/>
              </a:ext>
            </a:extLst>
          </p:cNvPr>
          <p:cNvSpPr txBox="1"/>
          <p:nvPr/>
        </p:nvSpPr>
        <p:spPr>
          <a:xfrm>
            <a:off x="7451883" y="2560684"/>
            <a:ext cx="2657475" cy="369332"/>
          </a:xfrm>
          <a:prstGeom prst="rect">
            <a:avLst/>
          </a:prstGeom>
          <a:noFill/>
        </p:spPr>
        <p:txBody>
          <a:bodyPr wrap="square" rtlCol="0">
            <a:spAutoFit/>
          </a:bodyPr>
          <a:lstStyle/>
          <a:p>
            <a:r>
              <a:rPr lang="es-CO" b="1" dirty="0"/>
              <a:t>Crónica Descompensada</a:t>
            </a:r>
          </a:p>
        </p:txBody>
      </p:sp>
      <p:sp>
        <p:nvSpPr>
          <p:cNvPr id="18" name="TextBox 11">
            <a:extLst>
              <a:ext uri="{FF2B5EF4-FFF2-40B4-BE49-F238E27FC236}">
                <a16:creationId xmlns:a16="http://schemas.microsoft.com/office/drawing/2014/main" id="{33C14461-CAFD-4CFE-B316-F5F0FAE22F8F}"/>
              </a:ext>
            </a:extLst>
          </p:cNvPr>
          <p:cNvSpPr txBox="1"/>
          <p:nvPr/>
        </p:nvSpPr>
        <p:spPr>
          <a:xfrm>
            <a:off x="8885663" y="4628291"/>
            <a:ext cx="8078613" cy="3747203"/>
          </a:xfrm>
          <a:prstGeom prst="rect">
            <a:avLst/>
          </a:prstGeom>
        </p:spPr>
        <p:txBody>
          <a:bodyPr lIns="50800" tIns="50800" rIns="50800" bIns="50800" rtlCol="0" anchor="ctr"/>
          <a:lstStyle/>
          <a:p>
            <a:pPr algn="ctr">
              <a:lnSpc>
                <a:spcPts val="2879"/>
              </a:lnSpc>
            </a:pPr>
            <a:endParaRPr/>
          </a:p>
        </p:txBody>
      </p:sp>
      <p:grpSp>
        <p:nvGrpSpPr>
          <p:cNvPr id="20" name="Group 3">
            <a:extLst>
              <a:ext uri="{FF2B5EF4-FFF2-40B4-BE49-F238E27FC236}">
                <a16:creationId xmlns:a16="http://schemas.microsoft.com/office/drawing/2014/main" id="{4FA523EF-0B0E-4060-A0EA-BCA375B6DB8A}"/>
              </a:ext>
            </a:extLst>
          </p:cNvPr>
          <p:cNvGrpSpPr/>
          <p:nvPr/>
        </p:nvGrpSpPr>
        <p:grpSpPr>
          <a:xfrm>
            <a:off x="6391486" y="3162615"/>
            <a:ext cx="4823910" cy="1761062"/>
            <a:chOff x="0" y="0"/>
            <a:chExt cx="1859246" cy="977393"/>
          </a:xfrm>
          <a:scene3d>
            <a:camera prst="orthographicFront">
              <a:rot lat="0" lon="0" rev="0"/>
            </a:camera>
            <a:lightRig rig="balanced" dir="t">
              <a:rot lat="0" lon="0" rev="8700000"/>
            </a:lightRig>
          </a:scene3d>
        </p:grpSpPr>
        <p:sp>
          <p:nvSpPr>
            <p:cNvPr id="21" name="Freeform 4">
              <a:extLst>
                <a:ext uri="{FF2B5EF4-FFF2-40B4-BE49-F238E27FC236}">
                  <a16:creationId xmlns:a16="http://schemas.microsoft.com/office/drawing/2014/main" id="{5430D0A7-FA83-4266-8E67-9702C5F7874A}"/>
                </a:ext>
              </a:extLst>
            </p:cNvPr>
            <p:cNvSpPr/>
            <p:nvPr/>
          </p:nvSpPr>
          <p:spPr>
            <a:xfrm>
              <a:off x="0" y="0"/>
              <a:ext cx="1859246" cy="977393"/>
            </a:xfrm>
            <a:custGeom>
              <a:avLst/>
              <a:gdLst/>
              <a:ahLst/>
              <a:cxnLst/>
              <a:rect l="l" t="t" r="r" b="b"/>
              <a:pathLst>
                <a:path w="1859246" h="977393">
                  <a:moveTo>
                    <a:pt x="55931" y="0"/>
                  </a:moveTo>
                  <a:lnTo>
                    <a:pt x="1803314" y="0"/>
                  </a:lnTo>
                  <a:cubicBezTo>
                    <a:pt x="1818148" y="0"/>
                    <a:pt x="1832375" y="5893"/>
                    <a:pt x="1842864" y="16382"/>
                  </a:cubicBezTo>
                  <a:cubicBezTo>
                    <a:pt x="1853353" y="26871"/>
                    <a:pt x="1859246" y="41097"/>
                    <a:pt x="1859246" y="55931"/>
                  </a:cubicBezTo>
                  <a:lnTo>
                    <a:pt x="1859246" y="921461"/>
                  </a:lnTo>
                  <a:cubicBezTo>
                    <a:pt x="1859246" y="936295"/>
                    <a:pt x="1853353" y="950522"/>
                    <a:pt x="1842864" y="961011"/>
                  </a:cubicBezTo>
                  <a:cubicBezTo>
                    <a:pt x="1832375" y="971500"/>
                    <a:pt x="1818148" y="977393"/>
                    <a:pt x="1803314" y="977393"/>
                  </a:cubicBezTo>
                  <a:lnTo>
                    <a:pt x="55931" y="977393"/>
                  </a:lnTo>
                  <a:cubicBezTo>
                    <a:pt x="25041" y="977393"/>
                    <a:pt x="0" y="952352"/>
                    <a:pt x="0" y="921461"/>
                  </a:cubicBezTo>
                  <a:lnTo>
                    <a:pt x="0" y="55931"/>
                  </a:lnTo>
                  <a:cubicBezTo>
                    <a:pt x="0" y="25041"/>
                    <a:pt x="25041" y="0"/>
                    <a:pt x="55931" y="0"/>
                  </a:cubicBezTo>
                  <a:close/>
                </a:path>
              </a:pathLst>
            </a:custGeom>
            <a:solidFill>
              <a:srgbClr val="EAC179"/>
            </a:solidFill>
            <a:ln>
              <a:noFill/>
            </a:ln>
            <a:effectLst>
              <a:outerShdw blurRad="44450" dist="27940" dir="5400000" algn="ctr">
                <a:srgbClr val="000000">
                  <a:alpha val="32000"/>
                </a:srgbClr>
              </a:outerShdw>
            </a:effectLst>
            <a:sp3d>
              <a:bevelT w="190500" h="38100"/>
            </a:sp3d>
          </p:spPr>
        </p:sp>
        <p:sp>
          <p:nvSpPr>
            <p:cNvPr id="22" name="TextBox 5">
              <a:extLst>
                <a:ext uri="{FF2B5EF4-FFF2-40B4-BE49-F238E27FC236}">
                  <a16:creationId xmlns:a16="http://schemas.microsoft.com/office/drawing/2014/main" id="{21E8B2B7-2D6E-4B22-A239-8513A00F4DF0}"/>
                </a:ext>
              </a:extLst>
            </p:cNvPr>
            <p:cNvSpPr txBox="1"/>
            <p:nvPr/>
          </p:nvSpPr>
          <p:spPr>
            <a:xfrm>
              <a:off x="0" y="-9525"/>
              <a:ext cx="1859246" cy="986918"/>
            </a:xfrm>
            <a:prstGeom prst="rect">
              <a:avLst/>
            </a:prstGeom>
            <a:ln>
              <a:noFill/>
            </a:ln>
            <a:effectLst>
              <a:outerShdw blurRad="44450" dist="27940" dir="5400000" algn="ctr">
                <a:srgbClr val="000000">
                  <a:alpha val="32000"/>
                </a:srgbClr>
              </a:outerShdw>
            </a:effectLst>
            <a:sp3d>
              <a:bevelT w="190500" h="38100"/>
            </a:sp3d>
          </p:spPr>
          <p:txBody>
            <a:bodyPr lIns="50800" tIns="50800" rIns="50800" bIns="50800" rtlCol="0" anchor="ctr"/>
            <a:lstStyle/>
            <a:p>
              <a:pPr algn="ctr">
                <a:lnSpc>
                  <a:spcPts val="2879"/>
                </a:lnSpc>
              </a:pPr>
              <a:endParaRPr sz="1600"/>
            </a:p>
          </p:txBody>
        </p:sp>
      </p:grpSp>
      <p:sp>
        <p:nvSpPr>
          <p:cNvPr id="19" name="TextBox 12">
            <a:extLst>
              <a:ext uri="{FF2B5EF4-FFF2-40B4-BE49-F238E27FC236}">
                <a16:creationId xmlns:a16="http://schemas.microsoft.com/office/drawing/2014/main" id="{B310E18E-FE94-4249-A148-C49F2895C3C7}"/>
              </a:ext>
            </a:extLst>
          </p:cNvPr>
          <p:cNvSpPr txBox="1"/>
          <p:nvPr/>
        </p:nvSpPr>
        <p:spPr>
          <a:xfrm>
            <a:off x="6306262" y="3361664"/>
            <a:ext cx="4618874" cy="1231106"/>
          </a:xfrm>
          <a:prstGeom prst="rect">
            <a:avLst/>
          </a:prstGeom>
        </p:spPr>
        <p:txBody>
          <a:bodyPr wrap="square" lIns="0" tIns="0" rIns="0" bIns="0" rtlCol="0" anchor="t">
            <a:spAutoFit/>
          </a:bodyPr>
          <a:lstStyle/>
          <a:p>
            <a:pPr marL="634453" lvl="1" indent="-285750" algn="just">
              <a:buFont typeface="Arial" panose="020B0604020202020204" pitchFamily="34" charset="0"/>
              <a:buChar char="•"/>
            </a:pPr>
            <a:r>
              <a:rPr lang="en-US" sz="1600" dirty="0">
                <a:solidFill>
                  <a:srgbClr val="000000"/>
                </a:solidFill>
                <a:ea typeface="Glacial Indifference"/>
                <a:cs typeface="Glacial Indifference"/>
                <a:sym typeface="Glacial Indifference"/>
              </a:rPr>
              <a:t>65-75% </a:t>
            </a:r>
          </a:p>
          <a:p>
            <a:pPr marL="634453" lvl="1" indent="-285750" algn="just">
              <a:buFont typeface="Arial" panose="020B0604020202020204" pitchFamily="34" charset="0"/>
              <a:buChar char="•"/>
            </a:pPr>
            <a:r>
              <a:rPr lang="en-US" sz="1600" dirty="0">
                <a:solidFill>
                  <a:srgbClr val="000000"/>
                </a:solidFill>
                <a:ea typeface="Glacial Indifference"/>
                <a:cs typeface="Glacial Indifference"/>
                <a:sym typeface="Glacial Indifference"/>
              </a:rPr>
              <a:t>Deterioro progresivo por factores precipitantes: no adherencia terapéutica, arritmias, infecciones, crisis hipertensiva, progresión de enfermedad cardíaca </a:t>
            </a:r>
          </a:p>
        </p:txBody>
      </p:sp>
      <p:sp>
        <p:nvSpPr>
          <p:cNvPr id="23" name="CuadroTexto 22">
            <a:extLst>
              <a:ext uri="{FF2B5EF4-FFF2-40B4-BE49-F238E27FC236}">
                <a16:creationId xmlns:a16="http://schemas.microsoft.com/office/drawing/2014/main" id="{7F45CD4F-6EA6-4A1A-A48A-BA879B989D7D}"/>
              </a:ext>
            </a:extLst>
          </p:cNvPr>
          <p:cNvSpPr txBox="1"/>
          <p:nvPr/>
        </p:nvSpPr>
        <p:spPr>
          <a:xfrm>
            <a:off x="6720" y="6411219"/>
            <a:ext cx="11107272" cy="461665"/>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Tree>
    <p:extLst>
      <p:ext uri="{BB962C8B-B14F-4D97-AF65-F5344CB8AC3E}">
        <p14:creationId xmlns:p14="http://schemas.microsoft.com/office/powerpoint/2010/main" val="3468188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E775BC6-1E43-43E0-AB01-533720339219}"/>
              </a:ext>
            </a:extLst>
          </p:cNvPr>
          <p:cNvSpPr txBox="1"/>
          <p:nvPr/>
        </p:nvSpPr>
        <p:spPr>
          <a:xfrm>
            <a:off x="3362143" y="381499"/>
            <a:ext cx="5756463" cy="523220"/>
          </a:xfrm>
          <a:prstGeom prst="rect">
            <a:avLst/>
          </a:prstGeom>
          <a:noFill/>
        </p:spPr>
        <p:txBody>
          <a:bodyPr wrap="square" rtlCol="0">
            <a:spAutoFit/>
          </a:bodyPr>
          <a:lstStyle/>
          <a:p>
            <a:r>
              <a:rPr lang="es-CO" sz="2800" b="1" dirty="0">
                <a:solidFill>
                  <a:schemeClr val="accent6">
                    <a:lumMod val="50000"/>
                  </a:schemeClr>
                </a:solidFill>
              </a:rPr>
              <a:t>Insuficiencia Cardíaca Aguda (ICA)</a:t>
            </a:r>
          </a:p>
        </p:txBody>
      </p:sp>
      <p:sp>
        <p:nvSpPr>
          <p:cNvPr id="11" name="Google Shape;109;g36560ee51d0_0_20">
            <a:extLst>
              <a:ext uri="{FF2B5EF4-FFF2-40B4-BE49-F238E27FC236}">
                <a16:creationId xmlns:a16="http://schemas.microsoft.com/office/drawing/2014/main" id="{8562DE75-FAE5-400C-8AEB-E69E36C043B7}"/>
              </a:ext>
            </a:extLst>
          </p:cNvPr>
          <p:cNvSpPr txBox="1"/>
          <p:nvPr/>
        </p:nvSpPr>
        <p:spPr>
          <a:xfrm>
            <a:off x="466599" y="1150022"/>
            <a:ext cx="11258802" cy="503184"/>
          </a:xfrm>
          <a:prstGeom prst="rect">
            <a:avLst/>
          </a:prstGeom>
          <a:solidFill>
            <a:schemeClr val="accent6">
              <a:lumMod val="40000"/>
              <a:lumOff val="60000"/>
            </a:schemeClr>
          </a:solid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s-CO" b="1" dirty="0">
                <a:solidFill>
                  <a:schemeClr val="accent6">
                    <a:lumMod val="50000"/>
                  </a:schemeClr>
                </a:solidFill>
                <a:latin typeface="Calibri"/>
                <a:ea typeface="Calibri"/>
                <a:cs typeface="Calibri"/>
                <a:sym typeface="Calibri"/>
              </a:rPr>
              <a:t>Aparición rápida o gradual de signos o síntomas de IC graves para que el paciente necesite atención médica urgente.</a:t>
            </a:r>
            <a:endParaRPr sz="1600" b="1" dirty="0">
              <a:solidFill>
                <a:schemeClr val="accent6">
                  <a:lumMod val="50000"/>
                </a:schemeClr>
              </a:solidFill>
              <a:latin typeface="Calibri"/>
              <a:ea typeface="Calibri"/>
              <a:cs typeface="Calibri"/>
              <a:sym typeface="Calibri"/>
            </a:endParaRPr>
          </a:p>
        </p:txBody>
      </p:sp>
      <p:sp>
        <p:nvSpPr>
          <p:cNvPr id="2" name="CuadroTexto 1">
            <a:extLst>
              <a:ext uri="{FF2B5EF4-FFF2-40B4-BE49-F238E27FC236}">
                <a16:creationId xmlns:a16="http://schemas.microsoft.com/office/drawing/2014/main" id="{48FB3FD7-1B1B-41EC-8288-E71C23CB605C}"/>
              </a:ext>
            </a:extLst>
          </p:cNvPr>
          <p:cNvSpPr txBox="1"/>
          <p:nvPr/>
        </p:nvSpPr>
        <p:spPr>
          <a:xfrm>
            <a:off x="4915026" y="1898509"/>
            <a:ext cx="1914525" cy="369332"/>
          </a:xfrm>
          <a:prstGeom prst="rect">
            <a:avLst/>
          </a:prstGeom>
          <a:noFill/>
        </p:spPr>
        <p:txBody>
          <a:bodyPr wrap="square" rtlCol="0">
            <a:spAutoFit/>
          </a:bodyPr>
          <a:lstStyle/>
          <a:p>
            <a:r>
              <a:rPr lang="es-CO" b="1" dirty="0"/>
              <a:t>Clasificación</a:t>
            </a:r>
          </a:p>
        </p:txBody>
      </p:sp>
      <p:sp>
        <p:nvSpPr>
          <p:cNvPr id="14" name="Freeform 7">
            <a:extLst>
              <a:ext uri="{FF2B5EF4-FFF2-40B4-BE49-F238E27FC236}">
                <a16:creationId xmlns:a16="http://schemas.microsoft.com/office/drawing/2014/main" id="{5F53BB52-718D-4B67-89DC-F2E7D75090CC}"/>
              </a:ext>
            </a:extLst>
          </p:cNvPr>
          <p:cNvSpPr/>
          <p:nvPr/>
        </p:nvSpPr>
        <p:spPr>
          <a:xfrm>
            <a:off x="8615700" y="58673"/>
            <a:ext cx="847977" cy="978219"/>
          </a:xfrm>
          <a:custGeom>
            <a:avLst/>
            <a:gdLst/>
            <a:ahLst/>
            <a:cxnLst/>
            <a:rect l="l" t="t" r="r" b="b"/>
            <a:pathLst>
              <a:path w="4008096" h="5645206">
                <a:moveTo>
                  <a:pt x="0" y="0"/>
                </a:moveTo>
                <a:lnTo>
                  <a:pt x="4008096" y="0"/>
                </a:lnTo>
                <a:lnTo>
                  <a:pt x="4008096" y="5645206"/>
                </a:lnTo>
                <a:lnTo>
                  <a:pt x="0" y="56452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TextBox 11">
            <a:extLst>
              <a:ext uri="{FF2B5EF4-FFF2-40B4-BE49-F238E27FC236}">
                <a16:creationId xmlns:a16="http://schemas.microsoft.com/office/drawing/2014/main" id="{33C14461-CAFD-4CFE-B316-F5F0FAE22F8F}"/>
              </a:ext>
            </a:extLst>
          </p:cNvPr>
          <p:cNvSpPr txBox="1"/>
          <p:nvPr/>
        </p:nvSpPr>
        <p:spPr>
          <a:xfrm>
            <a:off x="8885663" y="4628291"/>
            <a:ext cx="8078613" cy="3747203"/>
          </a:xfrm>
          <a:prstGeom prst="rect">
            <a:avLst/>
          </a:prstGeom>
        </p:spPr>
        <p:txBody>
          <a:bodyPr lIns="50800" tIns="50800" rIns="50800" bIns="50800" rtlCol="0" anchor="ctr"/>
          <a:lstStyle/>
          <a:p>
            <a:pPr algn="ctr">
              <a:lnSpc>
                <a:spcPts val="2879"/>
              </a:lnSpc>
            </a:pPr>
            <a:endParaRPr/>
          </a:p>
        </p:txBody>
      </p:sp>
      <p:graphicFrame>
        <p:nvGraphicFramePr>
          <p:cNvPr id="17" name="Table 3">
            <a:extLst>
              <a:ext uri="{FF2B5EF4-FFF2-40B4-BE49-F238E27FC236}">
                <a16:creationId xmlns:a16="http://schemas.microsoft.com/office/drawing/2014/main" id="{D35AB942-F3D1-4B61-A312-B99A9E316942}"/>
              </a:ext>
            </a:extLst>
          </p:cNvPr>
          <p:cNvGraphicFramePr>
            <a:graphicFrameLocks noGrp="1"/>
          </p:cNvGraphicFramePr>
          <p:nvPr>
            <p:extLst>
              <p:ext uri="{D42A27DB-BD31-4B8C-83A1-F6EECF244321}">
                <p14:modId xmlns:p14="http://schemas.microsoft.com/office/powerpoint/2010/main" val="2332814830"/>
              </p:ext>
            </p:extLst>
          </p:nvPr>
        </p:nvGraphicFramePr>
        <p:xfrm>
          <a:off x="847600" y="2632887"/>
          <a:ext cx="10049375" cy="3268980"/>
        </p:xfrm>
        <a:graphic>
          <a:graphicData uri="http://schemas.openxmlformats.org/drawingml/2006/table">
            <a:tbl>
              <a:tblPr>
                <a:effectLst>
                  <a:outerShdw blurRad="50800" dist="38100" dir="2700000" algn="tl" rotWithShape="0">
                    <a:prstClr val="black">
                      <a:alpha val="40000"/>
                    </a:prstClr>
                  </a:outerShdw>
                </a:effectLst>
                <a:tableStyleId>{16D9F66E-5EB9-4882-86FB-DCBF35E3C3E4}</a:tableStyleId>
              </a:tblPr>
              <a:tblGrid>
                <a:gridCol w="3201562">
                  <a:extLst>
                    <a:ext uri="{9D8B030D-6E8A-4147-A177-3AD203B41FA5}">
                      <a16:colId xmlns:a16="http://schemas.microsoft.com/office/drawing/2014/main" val="20000"/>
                    </a:ext>
                  </a:extLst>
                </a:gridCol>
                <a:gridCol w="3201562">
                  <a:extLst>
                    <a:ext uri="{9D8B030D-6E8A-4147-A177-3AD203B41FA5}">
                      <a16:colId xmlns:a16="http://schemas.microsoft.com/office/drawing/2014/main" val="20001"/>
                    </a:ext>
                  </a:extLst>
                </a:gridCol>
                <a:gridCol w="3646251">
                  <a:extLst>
                    <a:ext uri="{9D8B030D-6E8A-4147-A177-3AD203B41FA5}">
                      <a16:colId xmlns:a16="http://schemas.microsoft.com/office/drawing/2014/main" val="20002"/>
                    </a:ext>
                  </a:extLst>
                </a:gridCol>
              </a:tblGrid>
              <a:tr h="344562">
                <a:tc>
                  <a:txBody>
                    <a:bodyPr/>
                    <a:lstStyle/>
                    <a:p>
                      <a:pPr algn="ctr">
                        <a:lnSpc>
                          <a:spcPct val="100000"/>
                        </a:lnSpc>
                        <a:defRPr/>
                      </a:pPr>
                      <a:r>
                        <a:rPr lang="en-US" sz="1600" b="1" dirty="0">
                          <a:solidFill>
                            <a:srgbClr val="000000"/>
                          </a:solidFill>
                          <a:sym typeface="Glacial Indifference Bold"/>
                        </a:rPr>
                        <a:t>ICA HIPERTENSIVA </a:t>
                      </a:r>
                      <a:endParaRPr lang="en-US" sz="1600" dirty="0">
                        <a:latin typeface="+mn-lt"/>
                      </a:endParaRPr>
                    </a:p>
                  </a:txBody>
                  <a:tcPr marL="85725" marR="85725" marT="85725" marB="85725"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lumMod val="40000"/>
                        <a:lumOff val="60000"/>
                      </a:schemeClr>
                    </a:solidFill>
                  </a:tcPr>
                </a:tc>
                <a:tc>
                  <a:txBody>
                    <a:bodyPr/>
                    <a:lstStyle/>
                    <a:p>
                      <a:pPr algn="ctr">
                        <a:lnSpc>
                          <a:spcPct val="100000"/>
                        </a:lnSpc>
                        <a:defRPr/>
                      </a:pPr>
                      <a:r>
                        <a:rPr lang="en-US" sz="1600" b="1" dirty="0">
                          <a:solidFill>
                            <a:srgbClr val="000000"/>
                          </a:solidFill>
                          <a:sym typeface="Glacial Indifference Bold"/>
                        </a:rPr>
                        <a:t>ICA NORMOTENSIVA </a:t>
                      </a:r>
                      <a:endParaRPr lang="en-US" sz="1600" dirty="0">
                        <a:latin typeface="+mn-lt"/>
                      </a:endParaRPr>
                    </a:p>
                  </a:txBody>
                  <a:tcPr marL="85725" marR="85725" marT="85725" marB="85725"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lumMod val="40000"/>
                        <a:lumOff val="60000"/>
                      </a:schemeClr>
                    </a:solidFill>
                  </a:tcPr>
                </a:tc>
                <a:tc>
                  <a:txBody>
                    <a:bodyPr/>
                    <a:lstStyle/>
                    <a:p>
                      <a:pPr algn="ctr">
                        <a:lnSpc>
                          <a:spcPct val="100000"/>
                        </a:lnSpc>
                        <a:defRPr/>
                      </a:pPr>
                      <a:r>
                        <a:rPr lang="en-US" sz="1600" b="1" dirty="0">
                          <a:solidFill>
                            <a:srgbClr val="000000"/>
                          </a:solidFill>
                          <a:sym typeface="Glacial Indifference Bold"/>
                        </a:rPr>
                        <a:t>ICA HIPOTENSIVA </a:t>
                      </a:r>
                      <a:endParaRPr lang="en-US" sz="1600" dirty="0">
                        <a:latin typeface="+mn-lt"/>
                      </a:endParaRPr>
                    </a:p>
                  </a:txBody>
                  <a:tcPr marL="85725" marR="85725" marT="85725" marB="85725" anchor="ct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2385220">
                <a:tc>
                  <a:txBody>
                    <a:bodyPr/>
                    <a:lstStyle/>
                    <a:p>
                      <a:pPr marL="582932" lvl="1" indent="-291466" algn="l">
                        <a:lnSpc>
                          <a:spcPct val="100000"/>
                        </a:lnSpc>
                        <a:buFont typeface="Arial"/>
                        <a:buChar char="•"/>
                        <a:defRPr/>
                      </a:pPr>
                      <a:r>
                        <a:rPr lang="en-US" sz="1600" dirty="0">
                          <a:solidFill>
                            <a:srgbClr val="000000"/>
                          </a:solidFill>
                          <a:sym typeface="Glacial Indifference"/>
                        </a:rPr>
                        <a:t>PAS &gt;140 mmHg</a:t>
                      </a:r>
                      <a:endParaRPr lang="en-US" sz="1600" dirty="0"/>
                    </a:p>
                    <a:p>
                      <a:pPr marL="582932" lvl="1" indent="-291466" algn="l">
                        <a:lnSpc>
                          <a:spcPct val="100000"/>
                        </a:lnSpc>
                        <a:buFont typeface="Arial"/>
                        <a:buChar char="•"/>
                      </a:pPr>
                      <a:r>
                        <a:rPr lang="en-US" sz="1600" dirty="0">
                          <a:solidFill>
                            <a:srgbClr val="000000"/>
                          </a:solidFill>
                          <a:sym typeface="Glacial Indifference"/>
                        </a:rPr>
                        <a:t>Más del 50 % de los casos</a:t>
                      </a:r>
                    </a:p>
                    <a:p>
                      <a:pPr marL="582932" lvl="1" indent="-291466" algn="l">
                        <a:lnSpc>
                          <a:spcPct val="100000"/>
                        </a:lnSpc>
                        <a:buFont typeface="Arial"/>
                        <a:buChar char="•"/>
                      </a:pPr>
                      <a:r>
                        <a:rPr lang="en-US" sz="1600" dirty="0" err="1">
                          <a:solidFill>
                            <a:srgbClr val="000000"/>
                          </a:solidFill>
                          <a:sym typeface="Glacial Indifference"/>
                        </a:rPr>
                        <a:t>Mujeres</a:t>
                      </a:r>
                      <a:r>
                        <a:rPr lang="en-US" sz="1600" dirty="0">
                          <a:solidFill>
                            <a:srgbClr val="000000"/>
                          </a:solidFill>
                          <a:sym typeface="Glacial Indifference"/>
                        </a:rPr>
                        <a:t> de </a:t>
                      </a:r>
                      <a:r>
                        <a:rPr lang="en-US" sz="1600" dirty="0" err="1">
                          <a:solidFill>
                            <a:srgbClr val="000000"/>
                          </a:solidFill>
                          <a:sym typeface="Glacial Indifference"/>
                        </a:rPr>
                        <a:t>edad</a:t>
                      </a:r>
                      <a:r>
                        <a:rPr lang="en-US" sz="1600" dirty="0">
                          <a:solidFill>
                            <a:srgbClr val="000000"/>
                          </a:solidFill>
                          <a:sym typeface="Glacial Indifference"/>
                        </a:rPr>
                        <a:t> </a:t>
                      </a:r>
                      <a:r>
                        <a:rPr lang="en-US" sz="1600" dirty="0" err="1">
                          <a:solidFill>
                            <a:srgbClr val="000000"/>
                          </a:solidFill>
                          <a:sym typeface="Glacial Indifference"/>
                        </a:rPr>
                        <a:t>avanzada</a:t>
                      </a:r>
                      <a:endParaRPr lang="en-US" sz="1600" dirty="0">
                        <a:solidFill>
                          <a:srgbClr val="000000"/>
                        </a:solidFill>
                        <a:sym typeface="Glacial Indifference"/>
                      </a:endParaRPr>
                    </a:p>
                    <a:p>
                      <a:pPr marL="582932" lvl="1" indent="-291466" algn="l">
                        <a:lnSpc>
                          <a:spcPct val="100000"/>
                        </a:lnSpc>
                        <a:buFont typeface="Arial"/>
                        <a:buChar char="•"/>
                      </a:pPr>
                      <a:r>
                        <a:rPr lang="en-US" sz="1600" dirty="0" err="1">
                          <a:solidFill>
                            <a:srgbClr val="000000"/>
                          </a:solidFill>
                          <a:sym typeface="Glacial Indifference"/>
                        </a:rPr>
                        <a:t>Fracción</a:t>
                      </a:r>
                      <a:r>
                        <a:rPr lang="en-US" sz="1600" dirty="0">
                          <a:solidFill>
                            <a:srgbClr val="000000"/>
                          </a:solidFill>
                          <a:sym typeface="Glacial Indifference"/>
                        </a:rPr>
                        <a:t> de </a:t>
                      </a:r>
                      <a:r>
                        <a:rPr lang="en-US" sz="1600" dirty="0" err="1">
                          <a:solidFill>
                            <a:srgbClr val="000000"/>
                          </a:solidFill>
                          <a:sym typeface="Glacial Indifference"/>
                        </a:rPr>
                        <a:t>eyección</a:t>
                      </a:r>
                      <a:r>
                        <a:rPr lang="en-US" sz="1600" dirty="0">
                          <a:solidFill>
                            <a:srgbClr val="000000"/>
                          </a:solidFill>
                          <a:sym typeface="Glacial Indifference"/>
                        </a:rPr>
                        <a:t> preservada, con </a:t>
                      </a:r>
                      <a:r>
                        <a:rPr lang="en-US" sz="1600" dirty="0" err="1">
                          <a:solidFill>
                            <a:srgbClr val="000000"/>
                          </a:solidFill>
                          <a:sym typeface="Glacial Indifference"/>
                        </a:rPr>
                        <a:t>inicio</a:t>
                      </a:r>
                      <a:r>
                        <a:rPr lang="en-US" sz="1600" dirty="0">
                          <a:solidFill>
                            <a:srgbClr val="000000"/>
                          </a:solidFill>
                          <a:sym typeface="Glacial Indifference"/>
                        </a:rPr>
                        <a:t> </a:t>
                      </a:r>
                      <a:r>
                        <a:rPr lang="en-US" sz="1600" dirty="0" err="1">
                          <a:solidFill>
                            <a:srgbClr val="000000"/>
                          </a:solidFill>
                          <a:sym typeface="Glacial Indifference"/>
                        </a:rPr>
                        <a:t>brusco</a:t>
                      </a:r>
                      <a:r>
                        <a:rPr lang="en-US" sz="1600" dirty="0">
                          <a:solidFill>
                            <a:srgbClr val="000000"/>
                          </a:solidFill>
                          <a:sym typeface="Glacial Indifference"/>
                        </a:rPr>
                        <a:t> de </a:t>
                      </a:r>
                      <a:r>
                        <a:rPr lang="en-US" sz="1600" dirty="0" err="1">
                          <a:solidFill>
                            <a:srgbClr val="000000"/>
                          </a:solidFill>
                          <a:sym typeface="Glacial Indifference"/>
                        </a:rPr>
                        <a:t>congestión</a:t>
                      </a:r>
                      <a:r>
                        <a:rPr lang="en-US" sz="1600" dirty="0">
                          <a:solidFill>
                            <a:srgbClr val="000000"/>
                          </a:solidFill>
                          <a:sym typeface="Glacial Indifference"/>
                        </a:rPr>
                        <a:t> </a:t>
                      </a:r>
                      <a:r>
                        <a:rPr lang="en-US" sz="1600" dirty="0" err="1">
                          <a:solidFill>
                            <a:srgbClr val="000000"/>
                          </a:solidFill>
                          <a:sym typeface="Glacial Indifference"/>
                        </a:rPr>
                        <a:t>pulmonar</a:t>
                      </a:r>
                      <a:r>
                        <a:rPr lang="en-US" sz="1600" dirty="0">
                          <a:solidFill>
                            <a:srgbClr val="000000"/>
                          </a:solidFill>
                          <a:sym typeface="Glacial Indifference"/>
                        </a:rPr>
                        <a:t> </a:t>
                      </a:r>
                    </a:p>
                    <a:p>
                      <a:pPr marL="582932" lvl="1" indent="-291466" algn="l">
                        <a:lnSpc>
                          <a:spcPct val="100000"/>
                        </a:lnSpc>
                        <a:buFont typeface="Arial"/>
                        <a:buChar char="•"/>
                      </a:pPr>
                      <a:r>
                        <a:rPr lang="en-US" sz="1600" dirty="0">
                          <a:solidFill>
                            <a:srgbClr val="000000"/>
                          </a:solidFill>
                          <a:sym typeface="Glacial Indifference"/>
                        </a:rPr>
                        <a:t>Mortalidad hospitalaria </a:t>
                      </a:r>
                      <a:r>
                        <a:rPr lang="en-US" sz="1600" dirty="0" err="1">
                          <a:solidFill>
                            <a:srgbClr val="000000"/>
                          </a:solidFill>
                          <a:sym typeface="Glacial Indifference"/>
                        </a:rPr>
                        <a:t>relativamente</a:t>
                      </a:r>
                      <a:r>
                        <a:rPr lang="en-US" sz="1600" dirty="0">
                          <a:solidFill>
                            <a:srgbClr val="000000"/>
                          </a:solidFill>
                          <a:sym typeface="Glacial Indifference"/>
                        </a:rPr>
                        <a:t> </a:t>
                      </a:r>
                      <a:r>
                        <a:rPr lang="en-US" sz="1600" dirty="0" err="1">
                          <a:solidFill>
                            <a:srgbClr val="000000"/>
                          </a:solidFill>
                          <a:sym typeface="Glacial Indifference"/>
                        </a:rPr>
                        <a:t>baja</a:t>
                      </a:r>
                      <a:r>
                        <a:rPr lang="en-US" sz="1600" dirty="0">
                          <a:solidFill>
                            <a:srgbClr val="000000"/>
                          </a:solidFill>
                          <a:sym typeface="Glacial Indifference"/>
                        </a:rPr>
                        <a:t> (1,7–2,5 %)</a:t>
                      </a:r>
                      <a:endParaRPr lang="en-US" sz="1600" dirty="0">
                        <a:solidFill>
                          <a:srgbClr val="000000"/>
                        </a:solidFill>
                        <a:latin typeface="+mn-lt"/>
                        <a:ea typeface="Glacial Indifference"/>
                        <a:cs typeface="Glacial Indifference"/>
                        <a:sym typeface="Glacial Indifference"/>
                      </a:endParaRPr>
                    </a:p>
                  </a:txBody>
                  <a:tcPr marL="85725" marR="85725" marT="85725" marB="85725">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582932" lvl="1" indent="-291466" algn="l">
                        <a:lnSpc>
                          <a:spcPct val="100000"/>
                        </a:lnSpc>
                        <a:buFont typeface="Arial"/>
                        <a:buChar char="•"/>
                        <a:defRPr/>
                      </a:pPr>
                      <a:r>
                        <a:rPr lang="en-US" sz="1600" dirty="0">
                          <a:solidFill>
                            <a:srgbClr val="000000"/>
                          </a:solidFill>
                          <a:sym typeface="Glacial Indifference"/>
                        </a:rPr>
                        <a:t>PAS 90–140 mmHg</a:t>
                      </a:r>
                      <a:endParaRPr lang="en-US" sz="1600" dirty="0"/>
                    </a:p>
                    <a:p>
                      <a:pPr marL="582932" lvl="1" indent="-291466" algn="l">
                        <a:lnSpc>
                          <a:spcPct val="100000"/>
                        </a:lnSpc>
                        <a:buFont typeface="Arial"/>
                        <a:buChar char="•"/>
                      </a:pPr>
                      <a:r>
                        <a:rPr lang="en-US" sz="1600" dirty="0" err="1">
                          <a:solidFill>
                            <a:srgbClr val="000000"/>
                          </a:solidFill>
                          <a:sym typeface="Glacial Indifference"/>
                        </a:rPr>
                        <a:t>Alrededor</a:t>
                      </a:r>
                      <a:r>
                        <a:rPr lang="en-US" sz="1600" dirty="0">
                          <a:solidFill>
                            <a:srgbClr val="000000"/>
                          </a:solidFill>
                          <a:sym typeface="Glacial Indifference"/>
                        </a:rPr>
                        <a:t> del 40 % de los </a:t>
                      </a:r>
                      <a:r>
                        <a:rPr lang="en-US" sz="1600" dirty="0" err="1">
                          <a:solidFill>
                            <a:srgbClr val="000000"/>
                          </a:solidFill>
                          <a:sym typeface="Glacial Indifference"/>
                        </a:rPr>
                        <a:t>pacientes</a:t>
                      </a:r>
                      <a:endParaRPr lang="en-US" sz="1600" dirty="0">
                        <a:solidFill>
                          <a:srgbClr val="000000"/>
                        </a:solidFill>
                        <a:sym typeface="Glacial Indifference"/>
                      </a:endParaRPr>
                    </a:p>
                    <a:p>
                      <a:pPr marL="582932" lvl="1" indent="-291466" algn="l">
                        <a:lnSpc>
                          <a:spcPct val="100000"/>
                        </a:lnSpc>
                        <a:buFont typeface="Arial"/>
                        <a:buChar char="•"/>
                      </a:pPr>
                      <a:r>
                        <a:rPr lang="en-US" sz="1600" dirty="0">
                          <a:solidFill>
                            <a:srgbClr val="000000"/>
                          </a:solidFill>
                          <a:sym typeface="Glacial Indifference"/>
                        </a:rPr>
                        <a:t>Descompensación de IC </a:t>
                      </a:r>
                      <a:r>
                        <a:rPr lang="en-US" sz="1600" dirty="0" err="1">
                          <a:solidFill>
                            <a:srgbClr val="000000"/>
                          </a:solidFill>
                          <a:sym typeface="Glacial Indifference"/>
                        </a:rPr>
                        <a:t>crónica</a:t>
                      </a:r>
                      <a:r>
                        <a:rPr lang="en-US" sz="1600" dirty="0">
                          <a:solidFill>
                            <a:srgbClr val="000000"/>
                          </a:solidFill>
                          <a:sym typeface="Glacial Indifference"/>
                        </a:rPr>
                        <a:t> </a:t>
                      </a:r>
                    </a:p>
                    <a:p>
                      <a:pPr marL="582932" lvl="1" indent="-291466" algn="l">
                        <a:lnSpc>
                          <a:spcPct val="100000"/>
                        </a:lnSpc>
                        <a:buFont typeface="Arial"/>
                        <a:buChar char="•"/>
                      </a:pPr>
                      <a:r>
                        <a:rPr lang="en-US" sz="1600" dirty="0" err="1">
                          <a:solidFill>
                            <a:srgbClr val="000000"/>
                          </a:solidFill>
                          <a:sym typeface="Glacial Indifference"/>
                        </a:rPr>
                        <a:t>Fracción</a:t>
                      </a:r>
                      <a:r>
                        <a:rPr lang="en-US" sz="1600" dirty="0">
                          <a:solidFill>
                            <a:srgbClr val="000000"/>
                          </a:solidFill>
                          <a:sym typeface="Glacial Indifference"/>
                        </a:rPr>
                        <a:t> de </a:t>
                      </a:r>
                      <a:r>
                        <a:rPr lang="en-US" sz="1600" dirty="0" err="1">
                          <a:solidFill>
                            <a:srgbClr val="000000"/>
                          </a:solidFill>
                          <a:sym typeface="Glacial Indifference"/>
                        </a:rPr>
                        <a:t>eyección</a:t>
                      </a:r>
                      <a:r>
                        <a:rPr lang="en-US" sz="1600" dirty="0">
                          <a:solidFill>
                            <a:srgbClr val="000000"/>
                          </a:solidFill>
                          <a:sym typeface="Glacial Indifference"/>
                        </a:rPr>
                        <a:t> </a:t>
                      </a:r>
                      <a:r>
                        <a:rPr lang="en-US" sz="1600" dirty="0" err="1">
                          <a:solidFill>
                            <a:srgbClr val="000000"/>
                          </a:solidFill>
                          <a:sym typeface="Glacial Indifference"/>
                        </a:rPr>
                        <a:t>reducida</a:t>
                      </a:r>
                      <a:r>
                        <a:rPr lang="en-US" sz="1600" dirty="0">
                          <a:solidFill>
                            <a:srgbClr val="000000"/>
                          </a:solidFill>
                          <a:sym typeface="Glacial Indifference"/>
                        </a:rPr>
                        <a:t>,  con </a:t>
                      </a:r>
                      <a:r>
                        <a:rPr lang="en-US" sz="1600" dirty="0" err="1">
                          <a:solidFill>
                            <a:srgbClr val="000000"/>
                          </a:solidFill>
                          <a:sym typeface="Glacial Indifference"/>
                        </a:rPr>
                        <a:t>evolución</a:t>
                      </a:r>
                      <a:r>
                        <a:rPr lang="en-US" sz="1600" dirty="0">
                          <a:solidFill>
                            <a:srgbClr val="000000"/>
                          </a:solidFill>
                          <a:sym typeface="Glacial Indifference"/>
                        </a:rPr>
                        <a:t> </a:t>
                      </a:r>
                      <a:r>
                        <a:rPr lang="en-US" sz="1600" dirty="0" err="1">
                          <a:solidFill>
                            <a:srgbClr val="000000"/>
                          </a:solidFill>
                          <a:sym typeface="Glacial Indifference"/>
                        </a:rPr>
                        <a:t>más</a:t>
                      </a:r>
                      <a:r>
                        <a:rPr lang="en-US" sz="1600" dirty="0">
                          <a:solidFill>
                            <a:srgbClr val="000000"/>
                          </a:solidFill>
                          <a:sym typeface="Glacial Indifference"/>
                        </a:rPr>
                        <a:t> </a:t>
                      </a:r>
                      <a:r>
                        <a:rPr lang="en-US" sz="1600" dirty="0" err="1">
                          <a:solidFill>
                            <a:srgbClr val="000000"/>
                          </a:solidFill>
                          <a:sym typeface="Glacial Indifference"/>
                        </a:rPr>
                        <a:t>insidiosa</a:t>
                      </a:r>
                      <a:r>
                        <a:rPr lang="en-US" sz="1600" dirty="0">
                          <a:solidFill>
                            <a:srgbClr val="000000"/>
                          </a:solidFill>
                          <a:sym typeface="Glacial Indifference"/>
                        </a:rPr>
                        <a:t> y </a:t>
                      </a:r>
                      <a:r>
                        <a:rPr lang="en-US" sz="1600" dirty="0" err="1">
                          <a:solidFill>
                            <a:srgbClr val="000000"/>
                          </a:solidFill>
                          <a:sym typeface="Glacial Indifference"/>
                        </a:rPr>
                        <a:t>congestión</a:t>
                      </a:r>
                      <a:r>
                        <a:rPr lang="en-US" sz="1600" dirty="0">
                          <a:solidFill>
                            <a:srgbClr val="000000"/>
                          </a:solidFill>
                          <a:sym typeface="Glacial Indifference"/>
                        </a:rPr>
                        <a:t> </a:t>
                      </a:r>
                      <a:r>
                        <a:rPr lang="en-US" sz="1600" dirty="0" err="1">
                          <a:solidFill>
                            <a:srgbClr val="000000"/>
                          </a:solidFill>
                          <a:sym typeface="Glacial Indifference"/>
                        </a:rPr>
                        <a:t>sistémica</a:t>
                      </a:r>
                      <a:r>
                        <a:rPr lang="en-US" sz="1600" dirty="0">
                          <a:solidFill>
                            <a:srgbClr val="000000"/>
                          </a:solidFill>
                          <a:sym typeface="Glacial Indifference"/>
                        </a:rPr>
                        <a:t> </a:t>
                      </a:r>
                      <a:r>
                        <a:rPr lang="en-US" sz="1600" dirty="0" err="1">
                          <a:solidFill>
                            <a:srgbClr val="000000"/>
                          </a:solidFill>
                          <a:sym typeface="Glacial Indifference"/>
                        </a:rPr>
                        <a:t>significativa</a:t>
                      </a:r>
                      <a:endParaRPr lang="en-US" sz="1600" dirty="0">
                        <a:solidFill>
                          <a:srgbClr val="000000"/>
                        </a:solidFill>
                        <a:sym typeface="Glacial Indifference"/>
                      </a:endParaRPr>
                    </a:p>
                    <a:p>
                      <a:pPr marL="582932" lvl="1" indent="-291466" algn="l">
                        <a:lnSpc>
                          <a:spcPct val="100000"/>
                        </a:lnSpc>
                        <a:buFont typeface="Arial"/>
                        <a:buChar char="•"/>
                      </a:pPr>
                      <a:r>
                        <a:rPr lang="en-US" sz="1600" dirty="0">
                          <a:solidFill>
                            <a:srgbClr val="000000"/>
                          </a:solidFill>
                          <a:sym typeface="Glacial Indifference"/>
                        </a:rPr>
                        <a:t>Mortalidad hospitalaria </a:t>
                      </a:r>
                      <a:r>
                        <a:rPr lang="en-US" sz="1600" dirty="0" err="1">
                          <a:solidFill>
                            <a:srgbClr val="000000"/>
                          </a:solidFill>
                          <a:sym typeface="Glacial Indifference"/>
                        </a:rPr>
                        <a:t>oscila</a:t>
                      </a:r>
                      <a:r>
                        <a:rPr lang="en-US" sz="1600" dirty="0">
                          <a:solidFill>
                            <a:srgbClr val="000000"/>
                          </a:solidFill>
                          <a:sym typeface="Glacial Indifference"/>
                        </a:rPr>
                        <a:t> entre 8–10 %</a:t>
                      </a:r>
                      <a:endParaRPr lang="en-US" sz="1600" dirty="0">
                        <a:solidFill>
                          <a:srgbClr val="000000"/>
                        </a:solidFill>
                        <a:latin typeface="+mn-lt"/>
                        <a:ea typeface="Glacial Indifference"/>
                        <a:cs typeface="Glacial Indifference"/>
                        <a:sym typeface="Glacial Indifference"/>
                      </a:endParaRPr>
                    </a:p>
                  </a:txBody>
                  <a:tcPr marL="85725" marR="85725" marT="85725" marB="85725">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bg1"/>
                    </a:solidFill>
                  </a:tcPr>
                </a:tc>
                <a:tc>
                  <a:txBody>
                    <a:bodyPr/>
                    <a:lstStyle/>
                    <a:p>
                      <a:pPr marL="582932" lvl="1" indent="-291466" algn="l">
                        <a:lnSpc>
                          <a:spcPct val="100000"/>
                        </a:lnSpc>
                        <a:buFont typeface="Arial"/>
                        <a:buChar char="•"/>
                        <a:defRPr/>
                      </a:pPr>
                      <a:r>
                        <a:rPr lang="en-US" sz="1600" dirty="0">
                          <a:solidFill>
                            <a:srgbClr val="000000"/>
                          </a:solidFill>
                          <a:sym typeface="Glacial Indifference"/>
                        </a:rPr>
                        <a:t>PAS &lt;90 mmHg</a:t>
                      </a:r>
                      <a:endParaRPr lang="en-US" sz="1600" dirty="0"/>
                    </a:p>
                    <a:p>
                      <a:pPr marL="582932" lvl="1" indent="-291466" algn="l">
                        <a:lnSpc>
                          <a:spcPct val="100000"/>
                        </a:lnSpc>
                        <a:buFont typeface="Arial"/>
                        <a:buChar char="•"/>
                      </a:pPr>
                      <a:r>
                        <a:rPr lang="en-US" sz="1600" dirty="0" err="1">
                          <a:solidFill>
                            <a:srgbClr val="000000"/>
                          </a:solidFill>
                          <a:sym typeface="Glacial Indifference"/>
                        </a:rPr>
                        <a:t>Menos</a:t>
                      </a:r>
                      <a:r>
                        <a:rPr lang="en-US" sz="1600" dirty="0">
                          <a:solidFill>
                            <a:srgbClr val="000000"/>
                          </a:solidFill>
                          <a:sym typeface="Glacial Indifference"/>
                        </a:rPr>
                        <a:t> del 8 % de los </a:t>
                      </a:r>
                      <a:r>
                        <a:rPr lang="en-US" sz="1600" dirty="0" err="1">
                          <a:solidFill>
                            <a:srgbClr val="000000"/>
                          </a:solidFill>
                          <a:sym typeface="Glacial Indifference"/>
                        </a:rPr>
                        <a:t>casos</a:t>
                      </a:r>
                      <a:endParaRPr lang="en-US" sz="1600" dirty="0">
                        <a:solidFill>
                          <a:srgbClr val="000000"/>
                        </a:solidFill>
                        <a:sym typeface="Glacial Indifference"/>
                      </a:endParaRPr>
                    </a:p>
                    <a:p>
                      <a:pPr marL="582932" lvl="1" indent="-291466" algn="l">
                        <a:lnSpc>
                          <a:spcPct val="100000"/>
                        </a:lnSpc>
                        <a:buFont typeface="Arial"/>
                        <a:buChar char="•"/>
                      </a:pPr>
                      <a:r>
                        <a:rPr lang="en-US" sz="1600" dirty="0" err="1">
                          <a:solidFill>
                            <a:srgbClr val="000000"/>
                          </a:solidFill>
                          <a:sym typeface="Glacial Indifference"/>
                        </a:rPr>
                        <a:t>Fases</a:t>
                      </a:r>
                      <a:r>
                        <a:rPr lang="en-US" sz="1600" dirty="0">
                          <a:solidFill>
                            <a:srgbClr val="000000"/>
                          </a:solidFill>
                          <a:sym typeface="Glacial Indifference"/>
                        </a:rPr>
                        <a:t> </a:t>
                      </a:r>
                      <a:r>
                        <a:rPr lang="en-US" sz="1600" dirty="0" err="1">
                          <a:solidFill>
                            <a:srgbClr val="000000"/>
                          </a:solidFill>
                          <a:sym typeface="Glacial Indifference"/>
                        </a:rPr>
                        <a:t>avanzadas</a:t>
                      </a:r>
                      <a:r>
                        <a:rPr lang="en-US" sz="1600" dirty="0">
                          <a:solidFill>
                            <a:srgbClr val="000000"/>
                          </a:solidFill>
                          <a:sym typeface="Glacial Indifference"/>
                        </a:rPr>
                        <a:t> o </a:t>
                      </a:r>
                      <a:r>
                        <a:rPr lang="en-US" sz="1600" dirty="0" err="1">
                          <a:solidFill>
                            <a:srgbClr val="000000"/>
                          </a:solidFill>
                          <a:sym typeface="Glacial Indifference"/>
                        </a:rPr>
                        <a:t>terminales</a:t>
                      </a:r>
                      <a:r>
                        <a:rPr lang="en-US" sz="1600" dirty="0">
                          <a:solidFill>
                            <a:srgbClr val="000000"/>
                          </a:solidFill>
                          <a:sym typeface="Glacial Indifference"/>
                        </a:rPr>
                        <a:t> de IC </a:t>
                      </a:r>
                    </a:p>
                    <a:p>
                      <a:pPr marL="582932" lvl="1" indent="-291466" algn="l">
                        <a:lnSpc>
                          <a:spcPct val="100000"/>
                        </a:lnSpc>
                        <a:buFont typeface="Arial"/>
                        <a:buChar char="•"/>
                      </a:pPr>
                      <a:r>
                        <a:rPr lang="en-US" sz="1600" dirty="0">
                          <a:solidFill>
                            <a:srgbClr val="000000"/>
                          </a:solidFill>
                          <a:sym typeface="Glacial Indifference"/>
                        </a:rPr>
                        <a:t>Bajo </a:t>
                      </a:r>
                      <a:r>
                        <a:rPr lang="en-US" sz="1600" dirty="0" err="1">
                          <a:solidFill>
                            <a:srgbClr val="000000"/>
                          </a:solidFill>
                          <a:sym typeface="Glacial Indifference"/>
                        </a:rPr>
                        <a:t>gasto</a:t>
                      </a:r>
                      <a:r>
                        <a:rPr lang="en-US" sz="1600" dirty="0">
                          <a:solidFill>
                            <a:srgbClr val="000000"/>
                          </a:solidFill>
                          <a:sym typeface="Glacial Indifference"/>
                        </a:rPr>
                        <a:t> </a:t>
                      </a:r>
                      <a:r>
                        <a:rPr lang="en-US" sz="1600" dirty="0" err="1">
                          <a:solidFill>
                            <a:srgbClr val="000000"/>
                          </a:solidFill>
                          <a:sym typeface="Glacial Indifference"/>
                        </a:rPr>
                        <a:t>cardíaco</a:t>
                      </a:r>
                      <a:r>
                        <a:rPr lang="en-US" sz="1600" dirty="0">
                          <a:solidFill>
                            <a:srgbClr val="000000"/>
                          </a:solidFill>
                          <a:sym typeface="Glacial Indifference"/>
                        </a:rPr>
                        <a:t>, </a:t>
                      </a:r>
                      <a:r>
                        <a:rPr lang="en-US" sz="1600" dirty="0" err="1">
                          <a:solidFill>
                            <a:srgbClr val="000000"/>
                          </a:solidFill>
                          <a:sym typeface="Glacial Indifference"/>
                        </a:rPr>
                        <a:t>hipoperfusión</a:t>
                      </a:r>
                      <a:r>
                        <a:rPr lang="en-US" sz="1600" dirty="0">
                          <a:solidFill>
                            <a:srgbClr val="000000"/>
                          </a:solidFill>
                          <a:sym typeface="Glacial Indifference"/>
                        </a:rPr>
                        <a:t> </a:t>
                      </a:r>
                      <a:r>
                        <a:rPr lang="en-US" sz="1600" dirty="0" err="1">
                          <a:solidFill>
                            <a:srgbClr val="000000"/>
                          </a:solidFill>
                          <a:sym typeface="Glacial Indifference"/>
                        </a:rPr>
                        <a:t>tisular</a:t>
                      </a:r>
                      <a:r>
                        <a:rPr lang="en-US" sz="1600" dirty="0">
                          <a:solidFill>
                            <a:srgbClr val="000000"/>
                          </a:solidFill>
                          <a:sym typeface="Glacial Indifference"/>
                        </a:rPr>
                        <a:t> y, en </a:t>
                      </a:r>
                      <a:r>
                        <a:rPr lang="en-US" sz="1600" dirty="0" err="1">
                          <a:solidFill>
                            <a:srgbClr val="000000"/>
                          </a:solidFill>
                          <a:sym typeface="Glacial Indifference"/>
                        </a:rPr>
                        <a:t>algunos</a:t>
                      </a:r>
                      <a:r>
                        <a:rPr lang="en-US" sz="1600" dirty="0">
                          <a:solidFill>
                            <a:srgbClr val="000000"/>
                          </a:solidFill>
                          <a:sym typeface="Glacial Indifference"/>
                        </a:rPr>
                        <a:t> casos, choque </a:t>
                      </a:r>
                      <a:r>
                        <a:rPr lang="en-US" sz="1600" dirty="0" err="1">
                          <a:solidFill>
                            <a:srgbClr val="000000"/>
                          </a:solidFill>
                          <a:sym typeface="Glacial Indifference"/>
                        </a:rPr>
                        <a:t>cardiogénico</a:t>
                      </a:r>
                      <a:endParaRPr lang="en-US" sz="1600" dirty="0">
                        <a:solidFill>
                          <a:srgbClr val="000000"/>
                        </a:solidFill>
                        <a:sym typeface="Glacial Indifference"/>
                      </a:endParaRPr>
                    </a:p>
                    <a:p>
                      <a:pPr marL="582932" lvl="1" indent="-291466" algn="l">
                        <a:lnSpc>
                          <a:spcPct val="100000"/>
                        </a:lnSpc>
                        <a:buFont typeface="Arial"/>
                        <a:buChar char="•"/>
                      </a:pPr>
                      <a:r>
                        <a:rPr lang="en-US" sz="1600" dirty="0">
                          <a:solidFill>
                            <a:srgbClr val="000000"/>
                          </a:solidFill>
                          <a:sym typeface="Glacial Indifference"/>
                        </a:rPr>
                        <a:t>Mortalidad hospitalaria superior al 15 % y que </a:t>
                      </a:r>
                      <a:r>
                        <a:rPr lang="en-US" sz="1600" dirty="0" err="1">
                          <a:solidFill>
                            <a:srgbClr val="000000"/>
                          </a:solidFill>
                          <a:sym typeface="Glacial Indifference"/>
                        </a:rPr>
                        <a:t>puede</a:t>
                      </a:r>
                      <a:r>
                        <a:rPr lang="en-US" sz="1600" dirty="0">
                          <a:solidFill>
                            <a:srgbClr val="000000"/>
                          </a:solidFill>
                          <a:sym typeface="Glacial Indifference"/>
                        </a:rPr>
                        <a:t> </a:t>
                      </a:r>
                      <a:r>
                        <a:rPr lang="en-US" sz="1600" dirty="0" err="1">
                          <a:solidFill>
                            <a:srgbClr val="000000"/>
                          </a:solidFill>
                          <a:sym typeface="Glacial Indifference"/>
                        </a:rPr>
                        <a:t>alcanzar</a:t>
                      </a:r>
                      <a:r>
                        <a:rPr lang="en-US" sz="1600" dirty="0">
                          <a:solidFill>
                            <a:srgbClr val="000000"/>
                          </a:solidFill>
                          <a:sym typeface="Glacial Indifference"/>
                        </a:rPr>
                        <a:t> hasta 30 % en </a:t>
                      </a:r>
                      <a:r>
                        <a:rPr lang="en-US" sz="1600" dirty="0" err="1">
                          <a:solidFill>
                            <a:srgbClr val="000000"/>
                          </a:solidFill>
                          <a:sym typeface="Glacial Indifference"/>
                        </a:rPr>
                        <a:t>presencia</a:t>
                      </a:r>
                      <a:r>
                        <a:rPr lang="en-US" sz="1600" dirty="0">
                          <a:solidFill>
                            <a:srgbClr val="000000"/>
                          </a:solidFill>
                          <a:sym typeface="Glacial Indifference"/>
                        </a:rPr>
                        <a:t> de choque</a:t>
                      </a:r>
                      <a:endParaRPr lang="en-US" sz="1600" dirty="0">
                        <a:solidFill>
                          <a:srgbClr val="000000"/>
                        </a:solidFill>
                        <a:latin typeface="+mn-lt"/>
                        <a:ea typeface="Glacial Indifference"/>
                        <a:cs typeface="Glacial Indifference"/>
                        <a:sym typeface="Glacial Indifference"/>
                      </a:endParaRPr>
                    </a:p>
                  </a:txBody>
                  <a:tcPr marL="85725" marR="85725" marT="85725" marB="85725">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23" name="CuadroTexto 22">
            <a:extLst>
              <a:ext uri="{FF2B5EF4-FFF2-40B4-BE49-F238E27FC236}">
                <a16:creationId xmlns:a16="http://schemas.microsoft.com/office/drawing/2014/main" id="{C5413BF4-1760-4A21-AFE0-9042E8C48465}"/>
              </a:ext>
            </a:extLst>
          </p:cNvPr>
          <p:cNvSpPr txBox="1"/>
          <p:nvPr/>
        </p:nvSpPr>
        <p:spPr>
          <a:xfrm>
            <a:off x="6720" y="6411219"/>
            <a:ext cx="11107272" cy="461665"/>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Tree>
    <p:extLst>
      <p:ext uri="{BB962C8B-B14F-4D97-AF65-F5344CB8AC3E}">
        <p14:creationId xmlns:p14="http://schemas.microsoft.com/office/powerpoint/2010/main" val="4175958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grpSp>
        <p:nvGrpSpPr>
          <p:cNvPr id="18" name="Group 3">
            <a:extLst>
              <a:ext uri="{FF2B5EF4-FFF2-40B4-BE49-F238E27FC236}">
                <a16:creationId xmlns:a16="http://schemas.microsoft.com/office/drawing/2014/main" id="{9B57B4F8-FE3B-464F-A82F-F7D71DF1F779}"/>
              </a:ext>
            </a:extLst>
          </p:cNvPr>
          <p:cNvGrpSpPr/>
          <p:nvPr/>
        </p:nvGrpSpPr>
        <p:grpSpPr>
          <a:xfrm>
            <a:off x="2536368" y="4379725"/>
            <a:ext cx="9543541" cy="2199064"/>
            <a:chOff x="0" y="0"/>
            <a:chExt cx="1859246" cy="977393"/>
          </a:xfrm>
          <a:solidFill>
            <a:schemeClr val="accent1">
              <a:lumMod val="40000"/>
              <a:lumOff val="60000"/>
            </a:schemeClr>
          </a:solidFill>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p:grpSpPr>
        <p:sp>
          <p:nvSpPr>
            <p:cNvPr id="19" name="Freeform 4">
              <a:extLst>
                <a:ext uri="{FF2B5EF4-FFF2-40B4-BE49-F238E27FC236}">
                  <a16:creationId xmlns:a16="http://schemas.microsoft.com/office/drawing/2014/main" id="{08E67297-B530-4F75-92D3-324A364897B2}"/>
                </a:ext>
              </a:extLst>
            </p:cNvPr>
            <p:cNvSpPr/>
            <p:nvPr/>
          </p:nvSpPr>
          <p:spPr>
            <a:xfrm>
              <a:off x="0" y="0"/>
              <a:ext cx="1859246" cy="977393"/>
            </a:xfrm>
            <a:custGeom>
              <a:avLst/>
              <a:gdLst/>
              <a:ahLst/>
              <a:cxnLst/>
              <a:rect l="l" t="t" r="r" b="b"/>
              <a:pathLst>
                <a:path w="1859246" h="977393">
                  <a:moveTo>
                    <a:pt x="55931" y="0"/>
                  </a:moveTo>
                  <a:lnTo>
                    <a:pt x="1803314" y="0"/>
                  </a:lnTo>
                  <a:cubicBezTo>
                    <a:pt x="1818148" y="0"/>
                    <a:pt x="1832375" y="5893"/>
                    <a:pt x="1842864" y="16382"/>
                  </a:cubicBezTo>
                  <a:cubicBezTo>
                    <a:pt x="1853353" y="26871"/>
                    <a:pt x="1859246" y="41097"/>
                    <a:pt x="1859246" y="55931"/>
                  </a:cubicBezTo>
                  <a:lnTo>
                    <a:pt x="1859246" y="921461"/>
                  </a:lnTo>
                  <a:cubicBezTo>
                    <a:pt x="1859246" y="936295"/>
                    <a:pt x="1853353" y="950522"/>
                    <a:pt x="1842864" y="961011"/>
                  </a:cubicBezTo>
                  <a:cubicBezTo>
                    <a:pt x="1832375" y="971500"/>
                    <a:pt x="1818148" y="977393"/>
                    <a:pt x="1803314" y="977393"/>
                  </a:cubicBezTo>
                  <a:lnTo>
                    <a:pt x="55931" y="977393"/>
                  </a:lnTo>
                  <a:cubicBezTo>
                    <a:pt x="25041" y="977393"/>
                    <a:pt x="0" y="952352"/>
                    <a:pt x="0" y="921461"/>
                  </a:cubicBezTo>
                  <a:lnTo>
                    <a:pt x="0" y="55931"/>
                  </a:lnTo>
                  <a:cubicBezTo>
                    <a:pt x="0" y="25041"/>
                    <a:pt x="25041" y="0"/>
                    <a:pt x="55931" y="0"/>
                  </a:cubicBezTo>
                  <a:close/>
                </a:path>
              </a:pathLst>
            </a:custGeom>
            <a:grpFill/>
            <a:ln>
              <a:noFill/>
            </a:ln>
            <a:effectLst>
              <a:outerShdw blurRad="149987" dist="250190" dir="8460000" algn="ctr">
                <a:srgbClr val="000000">
                  <a:alpha val="28000"/>
                </a:srgbClr>
              </a:outerShdw>
            </a:effectLst>
            <a:sp3d prstMaterial="metal">
              <a:bevelT w="88900" h="88900"/>
            </a:sp3d>
          </p:spPr>
        </p:sp>
        <p:sp>
          <p:nvSpPr>
            <p:cNvPr id="20" name="TextBox 5">
              <a:extLst>
                <a:ext uri="{FF2B5EF4-FFF2-40B4-BE49-F238E27FC236}">
                  <a16:creationId xmlns:a16="http://schemas.microsoft.com/office/drawing/2014/main" id="{EEF6A419-CAB5-4889-B619-B9CCF1006B3C}"/>
                </a:ext>
              </a:extLst>
            </p:cNvPr>
            <p:cNvSpPr txBox="1"/>
            <p:nvPr/>
          </p:nvSpPr>
          <p:spPr>
            <a:xfrm>
              <a:off x="0" y="-9525"/>
              <a:ext cx="1859246" cy="986918"/>
            </a:xfrm>
            <a:prstGeom prst="rect">
              <a:avLst/>
            </a:prstGeom>
            <a:grpFill/>
            <a:ln>
              <a:noFill/>
            </a:ln>
            <a:effectLst>
              <a:outerShdw blurRad="149987" dist="250190" dir="8460000" algn="ctr">
                <a:srgbClr val="000000">
                  <a:alpha val="28000"/>
                </a:srgbClr>
              </a:outerShdw>
            </a:effectLst>
            <a:sp3d prstMaterial="metal">
              <a:bevelT w="88900" h="88900"/>
            </a:sp3d>
          </p:spPr>
          <p:txBody>
            <a:bodyPr lIns="50800" tIns="50800" rIns="50800" bIns="50800" rtlCol="0" anchor="ctr"/>
            <a:lstStyle/>
            <a:p>
              <a:pPr algn="ctr">
                <a:lnSpc>
                  <a:spcPts val="2879"/>
                </a:lnSpc>
              </a:pPr>
              <a:endParaRPr sz="1600"/>
            </a:p>
          </p:txBody>
        </p:sp>
      </p:grpSp>
      <p:grpSp>
        <p:nvGrpSpPr>
          <p:cNvPr id="15" name="Group 3">
            <a:extLst>
              <a:ext uri="{FF2B5EF4-FFF2-40B4-BE49-F238E27FC236}">
                <a16:creationId xmlns:a16="http://schemas.microsoft.com/office/drawing/2014/main" id="{EE6257AD-CCB1-415A-AEAC-BFBC3E864172}"/>
              </a:ext>
            </a:extLst>
          </p:cNvPr>
          <p:cNvGrpSpPr/>
          <p:nvPr/>
        </p:nvGrpSpPr>
        <p:grpSpPr>
          <a:xfrm>
            <a:off x="2321254" y="2342088"/>
            <a:ext cx="9543541" cy="1709068"/>
            <a:chOff x="0" y="0"/>
            <a:chExt cx="1859246" cy="977393"/>
          </a:xfrm>
          <a:solidFill>
            <a:schemeClr val="accent6">
              <a:lumMod val="40000"/>
              <a:lumOff val="60000"/>
            </a:schemeClr>
          </a:solidFill>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p:grpSpPr>
        <p:sp>
          <p:nvSpPr>
            <p:cNvPr id="16" name="Freeform 4">
              <a:extLst>
                <a:ext uri="{FF2B5EF4-FFF2-40B4-BE49-F238E27FC236}">
                  <a16:creationId xmlns:a16="http://schemas.microsoft.com/office/drawing/2014/main" id="{D2425B67-6F9C-425D-8E88-74504433E9E6}"/>
                </a:ext>
              </a:extLst>
            </p:cNvPr>
            <p:cNvSpPr/>
            <p:nvPr/>
          </p:nvSpPr>
          <p:spPr>
            <a:xfrm>
              <a:off x="0" y="0"/>
              <a:ext cx="1859246" cy="977393"/>
            </a:xfrm>
            <a:custGeom>
              <a:avLst/>
              <a:gdLst/>
              <a:ahLst/>
              <a:cxnLst/>
              <a:rect l="l" t="t" r="r" b="b"/>
              <a:pathLst>
                <a:path w="1859246" h="977393">
                  <a:moveTo>
                    <a:pt x="55931" y="0"/>
                  </a:moveTo>
                  <a:lnTo>
                    <a:pt x="1803314" y="0"/>
                  </a:lnTo>
                  <a:cubicBezTo>
                    <a:pt x="1818148" y="0"/>
                    <a:pt x="1832375" y="5893"/>
                    <a:pt x="1842864" y="16382"/>
                  </a:cubicBezTo>
                  <a:cubicBezTo>
                    <a:pt x="1853353" y="26871"/>
                    <a:pt x="1859246" y="41097"/>
                    <a:pt x="1859246" y="55931"/>
                  </a:cubicBezTo>
                  <a:lnTo>
                    <a:pt x="1859246" y="921461"/>
                  </a:lnTo>
                  <a:cubicBezTo>
                    <a:pt x="1859246" y="936295"/>
                    <a:pt x="1853353" y="950522"/>
                    <a:pt x="1842864" y="961011"/>
                  </a:cubicBezTo>
                  <a:cubicBezTo>
                    <a:pt x="1832375" y="971500"/>
                    <a:pt x="1818148" y="977393"/>
                    <a:pt x="1803314" y="977393"/>
                  </a:cubicBezTo>
                  <a:lnTo>
                    <a:pt x="55931" y="977393"/>
                  </a:lnTo>
                  <a:cubicBezTo>
                    <a:pt x="25041" y="977393"/>
                    <a:pt x="0" y="952352"/>
                    <a:pt x="0" y="921461"/>
                  </a:cubicBezTo>
                  <a:lnTo>
                    <a:pt x="0" y="55931"/>
                  </a:lnTo>
                  <a:cubicBezTo>
                    <a:pt x="0" y="25041"/>
                    <a:pt x="25041" y="0"/>
                    <a:pt x="55931" y="0"/>
                  </a:cubicBezTo>
                  <a:close/>
                </a:path>
              </a:pathLst>
            </a:custGeom>
            <a:grpFill/>
            <a:ln>
              <a:noFill/>
            </a:ln>
            <a:effectLst/>
            <a:sp3d>
              <a:bevelT w="139700" h="139700"/>
            </a:sp3d>
          </p:spPr>
        </p:sp>
        <p:sp>
          <p:nvSpPr>
            <p:cNvPr id="17" name="TextBox 5">
              <a:extLst>
                <a:ext uri="{FF2B5EF4-FFF2-40B4-BE49-F238E27FC236}">
                  <a16:creationId xmlns:a16="http://schemas.microsoft.com/office/drawing/2014/main" id="{69FBEDC3-56E2-4151-A291-03BB0AC9572A}"/>
                </a:ext>
              </a:extLst>
            </p:cNvPr>
            <p:cNvSpPr txBox="1"/>
            <p:nvPr/>
          </p:nvSpPr>
          <p:spPr>
            <a:xfrm>
              <a:off x="0" y="-9525"/>
              <a:ext cx="1859246" cy="986918"/>
            </a:xfrm>
            <a:prstGeom prst="rect">
              <a:avLst/>
            </a:prstGeom>
            <a:grpFill/>
            <a:ln>
              <a:noFill/>
            </a:ln>
            <a:effectLst/>
            <a:sp3d>
              <a:bevelT w="139700" h="139700"/>
            </a:sp3d>
          </p:spPr>
          <p:txBody>
            <a:bodyPr lIns="50800" tIns="50800" rIns="50800" bIns="50800" rtlCol="0" anchor="ctr"/>
            <a:lstStyle/>
            <a:p>
              <a:pPr algn="ctr">
                <a:lnSpc>
                  <a:spcPts val="2879"/>
                </a:lnSpc>
              </a:pPr>
              <a:endParaRPr sz="1600"/>
            </a:p>
          </p:txBody>
        </p:sp>
      </p:grpSp>
      <p:grpSp>
        <p:nvGrpSpPr>
          <p:cNvPr id="12" name="Group 3">
            <a:extLst>
              <a:ext uri="{FF2B5EF4-FFF2-40B4-BE49-F238E27FC236}">
                <a16:creationId xmlns:a16="http://schemas.microsoft.com/office/drawing/2014/main" id="{8BA5A8FC-C2D6-46DB-88C0-FB646149806A}"/>
              </a:ext>
            </a:extLst>
          </p:cNvPr>
          <p:cNvGrpSpPr/>
          <p:nvPr/>
        </p:nvGrpSpPr>
        <p:grpSpPr>
          <a:xfrm>
            <a:off x="990283" y="596448"/>
            <a:ext cx="5603066" cy="1429622"/>
            <a:chOff x="0" y="0"/>
            <a:chExt cx="1859246" cy="977393"/>
          </a:xfrm>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p:grpSpPr>
        <p:sp>
          <p:nvSpPr>
            <p:cNvPr id="13" name="Freeform 4">
              <a:extLst>
                <a:ext uri="{FF2B5EF4-FFF2-40B4-BE49-F238E27FC236}">
                  <a16:creationId xmlns:a16="http://schemas.microsoft.com/office/drawing/2014/main" id="{0F2EFCDE-B0B2-4B43-ADEE-C7C0EF6F088B}"/>
                </a:ext>
              </a:extLst>
            </p:cNvPr>
            <p:cNvSpPr/>
            <p:nvPr/>
          </p:nvSpPr>
          <p:spPr>
            <a:xfrm>
              <a:off x="0" y="0"/>
              <a:ext cx="1859246" cy="977393"/>
            </a:xfrm>
            <a:custGeom>
              <a:avLst/>
              <a:gdLst/>
              <a:ahLst/>
              <a:cxnLst/>
              <a:rect l="l" t="t" r="r" b="b"/>
              <a:pathLst>
                <a:path w="1859246" h="977393">
                  <a:moveTo>
                    <a:pt x="55931" y="0"/>
                  </a:moveTo>
                  <a:lnTo>
                    <a:pt x="1803314" y="0"/>
                  </a:lnTo>
                  <a:cubicBezTo>
                    <a:pt x="1818148" y="0"/>
                    <a:pt x="1832375" y="5893"/>
                    <a:pt x="1842864" y="16382"/>
                  </a:cubicBezTo>
                  <a:cubicBezTo>
                    <a:pt x="1853353" y="26871"/>
                    <a:pt x="1859246" y="41097"/>
                    <a:pt x="1859246" y="55931"/>
                  </a:cubicBezTo>
                  <a:lnTo>
                    <a:pt x="1859246" y="921461"/>
                  </a:lnTo>
                  <a:cubicBezTo>
                    <a:pt x="1859246" y="936295"/>
                    <a:pt x="1853353" y="950522"/>
                    <a:pt x="1842864" y="961011"/>
                  </a:cubicBezTo>
                  <a:cubicBezTo>
                    <a:pt x="1832375" y="971500"/>
                    <a:pt x="1818148" y="977393"/>
                    <a:pt x="1803314" y="977393"/>
                  </a:cubicBezTo>
                  <a:lnTo>
                    <a:pt x="55931" y="977393"/>
                  </a:lnTo>
                  <a:cubicBezTo>
                    <a:pt x="25041" y="977393"/>
                    <a:pt x="0" y="952352"/>
                    <a:pt x="0" y="921461"/>
                  </a:cubicBezTo>
                  <a:lnTo>
                    <a:pt x="0" y="55931"/>
                  </a:lnTo>
                  <a:cubicBezTo>
                    <a:pt x="0" y="25041"/>
                    <a:pt x="25041" y="0"/>
                    <a:pt x="55931" y="0"/>
                  </a:cubicBezTo>
                  <a:close/>
                </a:path>
              </a:pathLst>
            </a:custGeom>
            <a:solidFill>
              <a:srgbClr val="EAC179"/>
            </a:solidFill>
            <a:ln>
              <a:noFill/>
            </a:ln>
            <a:effectLst>
              <a:outerShdw blurRad="149987" dist="250190" dir="8460000" algn="ctr">
                <a:srgbClr val="000000">
                  <a:alpha val="28000"/>
                </a:srgbClr>
              </a:outerShdw>
            </a:effectLst>
            <a:sp3d prstMaterial="metal">
              <a:bevelT w="88900" h="88900"/>
            </a:sp3d>
          </p:spPr>
        </p:sp>
        <p:sp>
          <p:nvSpPr>
            <p:cNvPr id="14" name="TextBox 5">
              <a:extLst>
                <a:ext uri="{FF2B5EF4-FFF2-40B4-BE49-F238E27FC236}">
                  <a16:creationId xmlns:a16="http://schemas.microsoft.com/office/drawing/2014/main" id="{B1077AEA-FD84-46C4-A7DD-24F98F562729}"/>
                </a:ext>
              </a:extLst>
            </p:cNvPr>
            <p:cNvSpPr txBox="1"/>
            <p:nvPr/>
          </p:nvSpPr>
          <p:spPr>
            <a:xfrm>
              <a:off x="0" y="-9525"/>
              <a:ext cx="1859246" cy="986918"/>
            </a:xfrm>
            <a:prstGeom prst="rect">
              <a:avLst/>
            </a:prstGeom>
            <a:ln>
              <a:noFill/>
            </a:ln>
            <a:effectLst>
              <a:outerShdw blurRad="149987" dist="250190" dir="8460000" algn="ctr">
                <a:srgbClr val="000000">
                  <a:alpha val="28000"/>
                </a:srgbClr>
              </a:outerShdw>
            </a:effectLst>
            <a:sp3d prstMaterial="metal">
              <a:bevelT w="88900" h="88900"/>
            </a:sp3d>
          </p:spPr>
          <p:txBody>
            <a:bodyPr lIns="50800" tIns="50800" rIns="50800" bIns="50800" rtlCol="0" anchor="ctr"/>
            <a:lstStyle/>
            <a:p>
              <a:pPr algn="ctr">
                <a:lnSpc>
                  <a:spcPts val="2879"/>
                </a:lnSpc>
              </a:pPr>
              <a:endParaRPr sz="1600"/>
            </a:p>
          </p:txBody>
        </p:sp>
      </p:grpSp>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6" name="Freeform 7">
            <a:extLst>
              <a:ext uri="{FF2B5EF4-FFF2-40B4-BE49-F238E27FC236}">
                <a16:creationId xmlns:a16="http://schemas.microsoft.com/office/drawing/2014/main" id="{934EC61E-829F-45DE-AC3E-B46B983D7772}"/>
              </a:ext>
            </a:extLst>
          </p:cNvPr>
          <p:cNvSpPr/>
          <p:nvPr/>
        </p:nvSpPr>
        <p:spPr>
          <a:xfrm>
            <a:off x="-2190238" y="1904300"/>
            <a:ext cx="4562813" cy="4969642"/>
          </a:xfrm>
          <a:custGeom>
            <a:avLst/>
            <a:gdLst/>
            <a:ahLst/>
            <a:cxnLst/>
            <a:rect l="l" t="t" r="r" b="b"/>
            <a:pathLst>
              <a:path w="6433680" h="6516619">
                <a:moveTo>
                  <a:pt x="0" y="0"/>
                </a:moveTo>
                <a:lnTo>
                  <a:pt x="6433680" y="0"/>
                </a:lnTo>
                <a:lnTo>
                  <a:pt x="6433680" y="6516619"/>
                </a:lnTo>
                <a:lnTo>
                  <a:pt x="0" y="65166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dirty="0"/>
          </a:p>
        </p:txBody>
      </p:sp>
      <p:sp>
        <p:nvSpPr>
          <p:cNvPr id="8" name="TextBox 9">
            <a:extLst>
              <a:ext uri="{FF2B5EF4-FFF2-40B4-BE49-F238E27FC236}">
                <a16:creationId xmlns:a16="http://schemas.microsoft.com/office/drawing/2014/main" id="{A1C5C775-425C-4E98-968A-E065FD5080D1}"/>
              </a:ext>
            </a:extLst>
          </p:cNvPr>
          <p:cNvSpPr txBox="1"/>
          <p:nvPr/>
        </p:nvSpPr>
        <p:spPr>
          <a:xfrm>
            <a:off x="2536368" y="2360887"/>
            <a:ext cx="9328428" cy="1956048"/>
          </a:xfrm>
          <a:prstGeom prst="rect">
            <a:avLst/>
          </a:prstGeom>
        </p:spPr>
        <p:txBody>
          <a:bodyPr wrap="square" lIns="0" tIns="0" rIns="0" bIns="0" rtlCol="0" anchor="t">
            <a:spAutoFit/>
          </a:bodyPr>
          <a:lstStyle/>
          <a:p>
            <a:pPr algn="l">
              <a:lnSpc>
                <a:spcPts val="3078"/>
              </a:lnSpc>
            </a:pPr>
            <a:r>
              <a:rPr lang="en-US" sz="2000" b="1" dirty="0">
                <a:solidFill>
                  <a:srgbClr val="000000"/>
                </a:solidFill>
                <a:ea typeface="Rosario Bold Italics"/>
                <a:cs typeface="Rosario Bold Italics"/>
                <a:sym typeface="Rosario Bold Italics"/>
              </a:rPr>
              <a:t>OPTIMIZE-HF:</a:t>
            </a:r>
          </a:p>
          <a:p>
            <a:pPr marL="553882" lvl="1" indent="-276941" algn="l">
              <a:lnSpc>
                <a:spcPts val="3078"/>
              </a:lnSpc>
              <a:buFont typeface="Arial"/>
              <a:buChar char="•"/>
            </a:pPr>
            <a:r>
              <a:rPr lang="en-US" sz="2000" dirty="0">
                <a:solidFill>
                  <a:srgbClr val="000000"/>
                </a:solidFill>
                <a:ea typeface="Rosario Bold Italics"/>
                <a:cs typeface="Rosario Bold Italics"/>
                <a:sym typeface="Rosario Bold Italics"/>
              </a:rPr>
              <a:t>Mortalidad ↑ con PAS &lt;120 mmHg (7,2% intrahospitalaria; 14% post-</a:t>
            </a:r>
            <a:r>
              <a:rPr lang="en-US" sz="2000" dirty="0" err="1">
                <a:solidFill>
                  <a:srgbClr val="000000"/>
                </a:solidFill>
                <a:ea typeface="Rosario Bold Italics"/>
                <a:cs typeface="Rosario Bold Italics"/>
                <a:sym typeface="Rosario Bold Italics"/>
              </a:rPr>
              <a:t>alta</a:t>
            </a:r>
            <a:r>
              <a:rPr lang="en-US" sz="2000" dirty="0">
                <a:solidFill>
                  <a:srgbClr val="000000"/>
                </a:solidFill>
                <a:ea typeface="Rosario Bold Italics"/>
                <a:cs typeface="Rosario Bold Italics"/>
                <a:sym typeface="Rosario Bold Italics"/>
              </a:rPr>
              <a:t>).</a:t>
            </a:r>
          </a:p>
          <a:p>
            <a:pPr marL="553882" lvl="1" indent="-276941" algn="l">
              <a:lnSpc>
                <a:spcPts val="3078"/>
              </a:lnSpc>
              <a:buFont typeface="Arial"/>
              <a:buChar char="•"/>
            </a:pPr>
            <a:r>
              <a:rPr lang="en-US" sz="2000" dirty="0">
                <a:solidFill>
                  <a:srgbClr val="000000"/>
                </a:solidFill>
                <a:ea typeface="Rosario Bold Italics"/>
                <a:cs typeface="Rosario Bold Italics"/>
                <a:sym typeface="Rosario Bold Italics"/>
              </a:rPr>
              <a:t>FEVI preservada: menor mortalidad hospitalaria (2,9% vs 3,9%), pero sin diferencias tras el alta.</a:t>
            </a:r>
          </a:p>
          <a:p>
            <a:pPr algn="l">
              <a:lnSpc>
                <a:spcPts val="3078"/>
              </a:lnSpc>
              <a:spcBef>
                <a:spcPct val="0"/>
              </a:spcBef>
            </a:pPr>
            <a:endParaRPr lang="en-US" sz="2000" b="1" dirty="0">
              <a:solidFill>
                <a:srgbClr val="000000"/>
              </a:solidFill>
              <a:ea typeface="Rosario Bold Italics"/>
              <a:cs typeface="Rosario Bold Italics"/>
              <a:sym typeface="Rosario Bold Italics"/>
            </a:endParaRPr>
          </a:p>
        </p:txBody>
      </p:sp>
      <p:sp>
        <p:nvSpPr>
          <p:cNvPr id="9" name="CuadroTexto 8">
            <a:extLst>
              <a:ext uri="{FF2B5EF4-FFF2-40B4-BE49-F238E27FC236}">
                <a16:creationId xmlns:a16="http://schemas.microsoft.com/office/drawing/2014/main" id="{D9342D44-EDFA-4E94-B1D8-025A80B4EF0F}"/>
              </a:ext>
            </a:extLst>
          </p:cNvPr>
          <p:cNvSpPr txBox="1"/>
          <p:nvPr/>
        </p:nvSpPr>
        <p:spPr>
          <a:xfrm>
            <a:off x="5374433" y="142229"/>
            <a:ext cx="8600347" cy="2123658"/>
          </a:xfrm>
          <a:prstGeom prst="rect">
            <a:avLst/>
          </a:prstGeom>
          <a:noFill/>
        </p:spPr>
        <p:txBody>
          <a:bodyPr wrap="square">
            <a:spAutoFit/>
          </a:bodyPr>
          <a:lstStyle/>
          <a:p>
            <a:pPr algn="ctr" rtl="0">
              <a:spcBef>
                <a:spcPts val="0"/>
              </a:spcBef>
              <a:spcAft>
                <a:spcPts val="0"/>
              </a:spcAft>
            </a:pPr>
            <a:r>
              <a:rPr lang="es-CO" sz="4400" b="1" dirty="0">
                <a:solidFill>
                  <a:schemeClr val="accent6">
                    <a:lumMod val="50000"/>
                  </a:schemeClr>
                </a:solidFill>
              </a:rPr>
              <a:t>Epidemiología</a:t>
            </a:r>
            <a:endParaRPr lang="es-CO" sz="4400" b="1" dirty="0">
              <a:solidFill>
                <a:schemeClr val="accent6">
                  <a:lumMod val="50000"/>
                </a:schemeClr>
              </a:solidFill>
              <a:effectLst/>
            </a:endParaRPr>
          </a:p>
          <a:p>
            <a:br>
              <a:rPr lang="es-CO" sz="4400" b="1" dirty="0">
                <a:solidFill>
                  <a:schemeClr val="accent6">
                    <a:lumMod val="50000"/>
                  </a:schemeClr>
                </a:solidFill>
              </a:rPr>
            </a:br>
            <a:endParaRPr lang="es-CO" sz="4400" b="1" dirty="0">
              <a:solidFill>
                <a:schemeClr val="accent6">
                  <a:lumMod val="50000"/>
                </a:schemeClr>
              </a:solidFill>
            </a:endParaRPr>
          </a:p>
        </p:txBody>
      </p:sp>
      <p:sp>
        <p:nvSpPr>
          <p:cNvPr id="10" name="CuadroTexto 9">
            <a:extLst>
              <a:ext uri="{FF2B5EF4-FFF2-40B4-BE49-F238E27FC236}">
                <a16:creationId xmlns:a16="http://schemas.microsoft.com/office/drawing/2014/main" id="{E9CFBB90-6593-423A-9966-1333BB1724D6}"/>
              </a:ext>
            </a:extLst>
          </p:cNvPr>
          <p:cNvSpPr txBox="1"/>
          <p:nvPr/>
        </p:nvSpPr>
        <p:spPr>
          <a:xfrm>
            <a:off x="990283" y="499434"/>
            <a:ext cx="6406242" cy="1429622"/>
          </a:xfrm>
          <a:prstGeom prst="rect">
            <a:avLst/>
          </a:prstGeom>
          <a:noFill/>
        </p:spPr>
        <p:txBody>
          <a:bodyPr wrap="square">
            <a:spAutoFit/>
          </a:bodyPr>
          <a:lstStyle/>
          <a:p>
            <a:pPr marL="627886" lvl="1" indent="-313943" algn="just">
              <a:lnSpc>
                <a:spcPct val="150000"/>
              </a:lnSpc>
              <a:buFont typeface="Arial"/>
              <a:buChar char="•"/>
            </a:pPr>
            <a:r>
              <a:rPr lang="en-US" sz="2000" dirty="0">
                <a:solidFill>
                  <a:srgbClr val="000000"/>
                </a:solidFill>
                <a:ea typeface="Glacial Indifference"/>
                <a:cs typeface="Glacial Indifference"/>
                <a:sym typeface="Glacial Indifference"/>
              </a:rPr>
              <a:t>Principal causa de hospitalización &gt; 65 años </a:t>
            </a:r>
          </a:p>
          <a:p>
            <a:pPr marL="627886" lvl="1" indent="-313943" algn="just">
              <a:lnSpc>
                <a:spcPct val="150000"/>
              </a:lnSpc>
              <a:buFont typeface="Arial"/>
              <a:buChar char="•"/>
            </a:pPr>
            <a:r>
              <a:rPr lang="en-US" sz="2000" dirty="0">
                <a:solidFill>
                  <a:srgbClr val="000000"/>
                </a:solidFill>
                <a:ea typeface="Glacial Indifference"/>
                <a:cs typeface="Glacial Indifference"/>
                <a:sym typeface="Glacial Indifference"/>
              </a:rPr>
              <a:t>Mortalidad hospitalaria 4-10%</a:t>
            </a:r>
          </a:p>
          <a:p>
            <a:pPr marL="627886" lvl="1" indent="-313943" algn="just">
              <a:lnSpc>
                <a:spcPct val="150000"/>
              </a:lnSpc>
              <a:buFont typeface="Arial"/>
              <a:buChar char="•"/>
            </a:pPr>
            <a:r>
              <a:rPr lang="en-US" sz="2000" dirty="0">
                <a:solidFill>
                  <a:srgbClr val="000000"/>
                </a:solidFill>
                <a:ea typeface="Glacial Indifference"/>
                <a:cs typeface="Glacial Indifference"/>
                <a:sym typeface="Glacial Indifference"/>
              </a:rPr>
              <a:t>Mortalidad al año 25-30% </a:t>
            </a:r>
          </a:p>
        </p:txBody>
      </p:sp>
      <p:sp>
        <p:nvSpPr>
          <p:cNvPr id="11" name="CuadroTexto 10">
            <a:extLst>
              <a:ext uri="{FF2B5EF4-FFF2-40B4-BE49-F238E27FC236}">
                <a16:creationId xmlns:a16="http://schemas.microsoft.com/office/drawing/2014/main" id="{6EA917F1-3741-464D-8AA0-E37131FEC1D3}"/>
              </a:ext>
            </a:extLst>
          </p:cNvPr>
          <p:cNvSpPr txBox="1"/>
          <p:nvPr/>
        </p:nvSpPr>
        <p:spPr>
          <a:xfrm>
            <a:off x="2536368" y="4316935"/>
            <a:ext cx="8712192" cy="2199064"/>
          </a:xfrm>
          <a:prstGeom prst="rect">
            <a:avLst/>
          </a:prstGeom>
          <a:noFill/>
        </p:spPr>
        <p:txBody>
          <a:bodyPr wrap="square">
            <a:spAutoFit/>
          </a:bodyPr>
          <a:lstStyle/>
          <a:p>
            <a:pPr marL="624261" lvl="1" indent="-312130" algn="just">
              <a:buFont typeface="Arial"/>
              <a:buChar char="•"/>
            </a:pPr>
            <a:r>
              <a:rPr lang="en-US" sz="2000" dirty="0">
                <a:solidFill>
                  <a:srgbClr val="000000"/>
                </a:solidFill>
                <a:ea typeface="Rosario Bold"/>
                <a:cs typeface="Rosario Bold"/>
                <a:sym typeface="Rosario Bold"/>
              </a:rPr>
              <a:t>Cardiopatía isquémica: &gt;50% en países de altos ingresos, 30–40% en Latam/Asia-</a:t>
            </a:r>
            <a:r>
              <a:rPr lang="en-US" sz="2000" dirty="0" err="1">
                <a:solidFill>
                  <a:srgbClr val="000000"/>
                </a:solidFill>
                <a:ea typeface="Rosario Bold"/>
                <a:cs typeface="Rosario Bold"/>
                <a:sym typeface="Rosario Bold"/>
              </a:rPr>
              <a:t>Pacífico</a:t>
            </a:r>
            <a:r>
              <a:rPr lang="en-US" sz="2000" dirty="0">
                <a:solidFill>
                  <a:srgbClr val="000000"/>
                </a:solidFill>
                <a:ea typeface="Rosario Bold"/>
                <a:cs typeface="Rosario Bold"/>
                <a:sym typeface="Rosario Bold"/>
              </a:rPr>
              <a:t>, &lt;10% África</a:t>
            </a:r>
          </a:p>
          <a:p>
            <a:pPr marL="624261" lvl="1" indent="-312130" algn="just">
              <a:lnSpc>
                <a:spcPct val="150000"/>
              </a:lnSpc>
              <a:buFont typeface="Arial"/>
              <a:buChar char="•"/>
            </a:pPr>
            <a:r>
              <a:rPr lang="en-US" sz="2000" dirty="0">
                <a:solidFill>
                  <a:srgbClr val="000000"/>
                </a:solidFill>
                <a:ea typeface="Rosario Bold"/>
                <a:cs typeface="Rosario Bold"/>
                <a:sym typeface="Rosario Bold"/>
              </a:rPr>
              <a:t>HTA: factor global (17%).</a:t>
            </a:r>
          </a:p>
          <a:p>
            <a:pPr marL="624261" lvl="1" indent="-312130" algn="just">
              <a:buFont typeface="Arial"/>
              <a:buChar char="•"/>
            </a:pPr>
            <a:r>
              <a:rPr lang="en-US" sz="2000" dirty="0" err="1">
                <a:solidFill>
                  <a:srgbClr val="000000"/>
                </a:solidFill>
                <a:ea typeface="Rosario Bold"/>
                <a:cs typeface="Rosario Bold"/>
                <a:sym typeface="Rosario Bold"/>
              </a:rPr>
              <a:t>Miocardiopatías</a:t>
            </a:r>
            <a:r>
              <a:rPr lang="en-US" sz="2000" dirty="0">
                <a:solidFill>
                  <a:srgbClr val="000000"/>
                </a:solidFill>
                <a:ea typeface="Rosario Bold"/>
                <a:cs typeface="Rosario Bold"/>
                <a:sym typeface="Rosario Bold"/>
              </a:rPr>
              <a:t> (familiares, infecciosas, periparto, VIH, idiopáticas): 25,7% África.</a:t>
            </a:r>
          </a:p>
          <a:p>
            <a:pPr marL="624261" lvl="1" indent="-312130" algn="just">
              <a:lnSpc>
                <a:spcPct val="150000"/>
              </a:lnSpc>
              <a:buFont typeface="Arial"/>
              <a:buChar char="•"/>
            </a:pPr>
            <a:r>
              <a:rPr lang="en-US" sz="2000" dirty="0">
                <a:solidFill>
                  <a:srgbClr val="000000"/>
                </a:solidFill>
                <a:ea typeface="Rosario Bold"/>
                <a:cs typeface="Rosario Bold"/>
                <a:sym typeface="Rosario Bold"/>
              </a:rPr>
              <a:t>Chagas en Latam: 10–28% (RAMADHF, GESICA).</a:t>
            </a:r>
          </a:p>
        </p:txBody>
      </p:sp>
    </p:spTree>
    <p:extLst>
      <p:ext uri="{BB962C8B-B14F-4D97-AF65-F5344CB8AC3E}">
        <p14:creationId xmlns:p14="http://schemas.microsoft.com/office/powerpoint/2010/main" val="621509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3" name="Google Shape;212;g36555848ad4_0_49">
            <a:extLst>
              <a:ext uri="{FF2B5EF4-FFF2-40B4-BE49-F238E27FC236}">
                <a16:creationId xmlns:a16="http://schemas.microsoft.com/office/drawing/2014/main" id="{63E67965-23C9-43B9-8EE4-4EFBF0F14718}"/>
              </a:ext>
            </a:extLst>
          </p:cNvPr>
          <p:cNvSpPr txBox="1"/>
          <p:nvPr/>
        </p:nvSpPr>
        <p:spPr>
          <a:xfrm>
            <a:off x="-381000" y="6180900"/>
            <a:ext cx="137922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CO" sz="800" dirty="0">
                <a:solidFill>
                  <a:srgbClr val="666666"/>
                </a:solidFill>
                <a:latin typeface="Calibri"/>
                <a:ea typeface="Calibri"/>
                <a:cs typeface="Calibri"/>
                <a:sym typeface="Calibri"/>
              </a:rPr>
              <a:t>Actualización 2022 del Consenso Colombiano de Insuficiencia Cardíaca — Asociación Colombiana de Cardiología. netmd.org</a:t>
            </a:r>
            <a:endParaRPr sz="800" dirty="0">
              <a:solidFill>
                <a:srgbClr val="666666"/>
              </a:solidFill>
              <a:latin typeface="Calibri"/>
              <a:ea typeface="Calibri"/>
              <a:cs typeface="Calibri"/>
              <a:sym typeface="Calibri"/>
            </a:endParaRPr>
          </a:p>
          <a:p>
            <a:pPr marL="0" lvl="0" indent="0" algn="ctr" rtl="0">
              <a:spcBef>
                <a:spcPts val="0"/>
              </a:spcBef>
              <a:spcAft>
                <a:spcPts val="0"/>
              </a:spcAft>
              <a:buNone/>
            </a:pPr>
            <a:r>
              <a:rPr lang="es-CO" sz="800" dirty="0">
                <a:solidFill>
                  <a:srgbClr val="666666"/>
                </a:solidFill>
                <a:latin typeface="Calibri"/>
                <a:ea typeface="Calibri"/>
                <a:cs typeface="Calibri"/>
                <a:sym typeface="Calibri"/>
              </a:rPr>
              <a:t>Registro Colombiano de Falla Cardíaca (RECOLFACA) (2021) — datos demográficos, etiología, comorbilidades  BVS Salud</a:t>
            </a:r>
            <a:endParaRPr sz="800" dirty="0">
              <a:solidFill>
                <a:srgbClr val="666666"/>
              </a:solidFill>
              <a:latin typeface="Calibri"/>
              <a:ea typeface="Calibri"/>
              <a:cs typeface="Calibri"/>
              <a:sym typeface="Calibri"/>
            </a:endParaRPr>
          </a:p>
          <a:p>
            <a:pPr marL="0" lvl="0" indent="0" algn="ctr" rtl="0">
              <a:spcBef>
                <a:spcPts val="0"/>
              </a:spcBef>
              <a:spcAft>
                <a:spcPts val="0"/>
              </a:spcAft>
              <a:buNone/>
            </a:pPr>
            <a:r>
              <a:rPr lang="es-CO" sz="800" dirty="0">
                <a:solidFill>
                  <a:srgbClr val="666666"/>
                </a:solidFill>
                <a:latin typeface="Calibri"/>
                <a:ea typeface="Calibri"/>
                <a:cs typeface="Calibri"/>
                <a:sym typeface="Calibri"/>
              </a:rPr>
              <a:t>Revista Colombiana de Cardiología — reportes del sistema de información en salud (RIPS): prevalencia histórica 2,3 %, hospitalizaciones por falla  www.elsevier.com</a:t>
            </a:r>
            <a:endParaRPr sz="800" dirty="0">
              <a:solidFill>
                <a:srgbClr val="666666"/>
              </a:solidFill>
              <a:latin typeface="Calibri"/>
              <a:ea typeface="Calibri"/>
              <a:cs typeface="Calibri"/>
              <a:sym typeface="Calibri"/>
            </a:endParaRPr>
          </a:p>
          <a:p>
            <a:pPr marL="0" lvl="0" indent="0" algn="ctr" rtl="0">
              <a:spcBef>
                <a:spcPts val="0"/>
              </a:spcBef>
              <a:spcAft>
                <a:spcPts val="0"/>
              </a:spcAft>
              <a:buNone/>
            </a:pPr>
            <a:r>
              <a:rPr lang="es-CO" sz="800" dirty="0" err="1">
                <a:solidFill>
                  <a:srgbClr val="666666"/>
                </a:solidFill>
                <a:latin typeface="Calibri"/>
                <a:ea typeface="Calibri"/>
                <a:cs typeface="Calibri"/>
                <a:sym typeface="Calibri"/>
              </a:rPr>
              <a:t>ResearchGate</a:t>
            </a:r>
            <a:r>
              <a:rPr lang="es-CO" sz="800" dirty="0">
                <a:solidFill>
                  <a:srgbClr val="666666"/>
                </a:solidFill>
                <a:latin typeface="Calibri"/>
                <a:ea typeface="Calibri"/>
                <a:cs typeface="Calibri"/>
                <a:sym typeface="Calibri"/>
              </a:rPr>
              <a:t>/Revistas locales — estimaciones de prevalencia e impacto en salud pública</a:t>
            </a:r>
            <a:endParaRPr sz="800" dirty="0">
              <a:solidFill>
                <a:srgbClr val="666666"/>
              </a:solidFill>
              <a:latin typeface="Calibri"/>
              <a:ea typeface="Calibri"/>
              <a:cs typeface="Calibri"/>
              <a:sym typeface="Calibri"/>
            </a:endParaRPr>
          </a:p>
        </p:txBody>
      </p:sp>
      <p:sp>
        <p:nvSpPr>
          <p:cNvPr id="5" name="Freeform 3">
            <a:extLst>
              <a:ext uri="{FF2B5EF4-FFF2-40B4-BE49-F238E27FC236}">
                <a16:creationId xmlns:a16="http://schemas.microsoft.com/office/drawing/2014/main" id="{A13E9BB1-4FFA-4F02-A4EA-2477164F869D}"/>
              </a:ext>
            </a:extLst>
          </p:cNvPr>
          <p:cNvSpPr/>
          <p:nvPr/>
        </p:nvSpPr>
        <p:spPr>
          <a:xfrm rot="3916698">
            <a:off x="-4728666" y="1729336"/>
            <a:ext cx="9424620" cy="3060359"/>
          </a:xfrm>
          <a:custGeom>
            <a:avLst/>
            <a:gdLst/>
            <a:ahLst/>
            <a:cxnLst/>
            <a:rect l="l" t="t" r="r" b="b"/>
            <a:pathLst>
              <a:path w="10704974" h="4255227">
                <a:moveTo>
                  <a:pt x="0" y="0"/>
                </a:moveTo>
                <a:lnTo>
                  <a:pt x="10704974" y="0"/>
                </a:lnTo>
                <a:lnTo>
                  <a:pt x="10704974" y="4255228"/>
                </a:lnTo>
                <a:lnTo>
                  <a:pt x="0" y="4255228"/>
                </a:lnTo>
                <a:lnTo>
                  <a:pt x="0" y="0"/>
                </a:lnTo>
                <a:close/>
              </a:path>
            </a:pathLst>
          </a:custGeom>
          <a:blipFill>
            <a:blip r:embed="rId3"/>
            <a:stretch>
              <a:fillRect/>
            </a:stretch>
          </a:blipFill>
        </p:spPr>
      </p:sp>
      <p:graphicFrame>
        <p:nvGraphicFramePr>
          <p:cNvPr id="4" name="Diagrama 3">
            <a:extLst>
              <a:ext uri="{FF2B5EF4-FFF2-40B4-BE49-F238E27FC236}">
                <a16:creationId xmlns:a16="http://schemas.microsoft.com/office/drawing/2014/main" id="{F0E1F65D-1B6B-4573-8D42-9018E9602781}"/>
              </a:ext>
            </a:extLst>
          </p:cNvPr>
          <p:cNvGraphicFramePr/>
          <p:nvPr>
            <p:extLst>
              <p:ext uri="{D42A27DB-BD31-4B8C-83A1-F6EECF244321}">
                <p14:modId xmlns:p14="http://schemas.microsoft.com/office/powerpoint/2010/main" val="2580340101"/>
              </p:ext>
            </p:extLst>
          </p:nvPr>
        </p:nvGraphicFramePr>
        <p:xfrm>
          <a:off x="2065137" y="1268963"/>
          <a:ext cx="9112936" cy="44600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CuadroTexto 6">
            <a:extLst>
              <a:ext uri="{FF2B5EF4-FFF2-40B4-BE49-F238E27FC236}">
                <a16:creationId xmlns:a16="http://schemas.microsoft.com/office/drawing/2014/main" id="{6F2453A7-9EBD-4E0A-A649-1D08AFC21F55}"/>
              </a:ext>
            </a:extLst>
          </p:cNvPr>
          <p:cNvSpPr txBox="1"/>
          <p:nvPr/>
        </p:nvSpPr>
        <p:spPr>
          <a:xfrm>
            <a:off x="3091834" y="216058"/>
            <a:ext cx="6147028" cy="1938992"/>
          </a:xfrm>
          <a:prstGeom prst="rect">
            <a:avLst/>
          </a:prstGeom>
          <a:noFill/>
        </p:spPr>
        <p:txBody>
          <a:bodyPr wrap="square">
            <a:spAutoFit/>
          </a:bodyPr>
          <a:lstStyle/>
          <a:p>
            <a:pPr algn="ctr" rtl="0">
              <a:spcBef>
                <a:spcPts val="0"/>
              </a:spcBef>
              <a:spcAft>
                <a:spcPts val="0"/>
              </a:spcAft>
            </a:pPr>
            <a:r>
              <a:rPr lang="es-CO" sz="4000" b="1" dirty="0">
                <a:solidFill>
                  <a:schemeClr val="accent6">
                    <a:lumMod val="50000"/>
                  </a:schemeClr>
                </a:solidFill>
              </a:rPr>
              <a:t>Epidemiología</a:t>
            </a:r>
            <a:endParaRPr lang="es-CO" sz="4000" b="1" dirty="0">
              <a:solidFill>
                <a:schemeClr val="accent6">
                  <a:lumMod val="50000"/>
                </a:schemeClr>
              </a:solidFill>
              <a:effectLst/>
            </a:endParaRPr>
          </a:p>
          <a:p>
            <a:br>
              <a:rPr lang="es-CO" sz="4000" b="1" dirty="0">
                <a:solidFill>
                  <a:schemeClr val="accent6">
                    <a:lumMod val="50000"/>
                  </a:schemeClr>
                </a:solidFill>
              </a:rPr>
            </a:br>
            <a:endParaRPr lang="es-CO" sz="4000" b="1" dirty="0">
              <a:solidFill>
                <a:schemeClr val="accent6">
                  <a:lumMod val="50000"/>
                </a:schemeClr>
              </a:solidFill>
            </a:endParaRPr>
          </a:p>
        </p:txBody>
      </p:sp>
    </p:spTree>
    <p:extLst>
      <p:ext uri="{BB962C8B-B14F-4D97-AF65-F5344CB8AC3E}">
        <p14:creationId xmlns:p14="http://schemas.microsoft.com/office/powerpoint/2010/main" val="3898785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pic>
        <p:nvPicPr>
          <p:cNvPr id="8" name="Imagen 7">
            <a:extLst>
              <a:ext uri="{FF2B5EF4-FFF2-40B4-BE49-F238E27FC236}">
                <a16:creationId xmlns:a16="http://schemas.microsoft.com/office/drawing/2014/main" id="{CC8D8B2C-DF26-4110-A2D5-098FB5BFD3F5}"/>
              </a:ext>
            </a:extLst>
          </p:cNvPr>
          <p:cNvPicPr>
            <a:picLocks noChangeAspect="1"/>
          </p:cNvPicPr>
          <p:nvPr/>
        </p:nvPicPr>
        <p:blipFill>
          <a:blip r:embed="rId3"/>
          <a:stretch>
            <a:fillRect/>
          </a:stretch>
        </p:blipFill>
        <p:spPr>
          <a:xfrm>
            <a:off x="3195638" y="165141"/>
            <a:ext cx="7723269" cy="652771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4" name="CuadroTexto 3">
            <a:extLst>
              <a:ext uri="{FF2B5EF4-FFF2-40B4-BE49-F238E27FC236}">
                <a16:creationId xmlns:a16="http://schemas.microsoft.com/office/drawing/2014/main" id="{52A11E3A-B13D-48B3-BEF0-B9DA6D2AAD93}"/>
              </a:ext>
            </a:extLst>
          </p:cNvPr>
          <p:cNvSpPr txBox="1"/>
          <p:nvPr/>
        </p:nvSpPr>
        <p:spPr>
          <a:xfrm>
            <a:off x="-1418749" y="2677114"/>
            <a:ext cx="6147028" cy="1754326"/>
          </a:xfrm>
          <a:prstGeom prst="rect">
            <a:avLst/>
          </a:prstGeom>
          <a:noFill/>
        </p:spPr>
        <p:txBody>
          <a:bodyPr wrap="square">
            <a:spAutoFit/>
          </a:bodyPr>
          <a:lstStyle/>
          <a:p>
            <a:pPr algn="ctr" rtl="0">
              <a:spcBef>
                <a:spcPts val="0"/>
              </a:spcBef>
              <a:spcAft>
                <a:spcPts val="0"/>
              </a:spcAft>
            </a:pPr>
            <a:r>
              <a:rPr lang="es-CO" sz="3600" b="1" dirty="0">
                <a:solidFill>
                  <a:schemeClr val="accent6">
                    <a:lumMod val="50000"/>
                  </a:schemeClr>
                </a:solidFill>
              </a:rPr>
              <a:t>Diagnóstico</a:t>
            </a:r>
            <a:endParaRPr lang="es-CO" sz="3600" b="1" dirty="0">
              <a:solidFill>
                <a:schemeClr val="accent6">
                  <a:lumMod val="50000"/>
                </a:schemeClr>
              </a:solidFill>
              <a:effectLst/>
            </a:endParaRPr>
          </a:p>
          <a:p>
            <a:br>
              <a:rPr lang="es-CO" sz="3600" b="1" dirty="0">
                <a:solidFill>
                  <a:schemeClr val="accent6">
                    <a:lumMod val="50000"/>
                  </a:schemeClr>
                </a:solidFill>
              </a:rPr>
            </a:br>
            <a:endParaRPr lang="es-CO" sz="3600" b="1" dirty="0">
              <a:solidFill>
                <a:schemeClr val="accent6">
                  <a:lumMod val="50000"/>
                </a:schemeClr>
              </a:solidFill>
            </a:endParaRPr>
          </a:p>
        </p:txBody>
      </p:sp>
      <p:sp>
        <p:nvSpPr>
          <p:cNvPr id="10" name="CuadroTexto 9">
            <a:extLst>
              <a:ext uri="{FF2B5EF4-FFF2-40B4-BE49-F238E27FC236}">
                <a16:creationId xmlns:a16="http://schemas.microsoft.com/office/drawing/2014/main" id="{47AA70A1-5AA7-4415-92CE-D36DA5BBB408}"/>
              </a:ext>
            </a:extLst>
          </p:cNvPr>
          <p:cNvSpPr txBox="1"/>
          <p:nvPr/>
        </p:nvSpPr>
        <p:spPr>
          <a:xfrm>
            <a:off x="270197" y="3769721"/>
            <a:ext cx="2769137" cy="1323439"/>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Tree>
    <p:extLst>
      <p:ext uri="{BB962C8B-B14F-4D97-AF65-F5344CB8AC3E}">
        <p14:creationId xmlns:p14="http://schemas.microsoft.com/office/powerpoint/2010/main" val="997717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10" name="CuadroTexto 9">
            <a:extLst>
              <a:ext uri="{FF2B5EF4-FFF2-40B4-BE49-F238E27FC236}">
                <a16:creationId xmlns:a16="http://schemas.microsoft.com/office/drawing/2014/main" id="{96A3BD4A-33CB-4DE8-A2E2-85A883D23A27}"/>
              </a:ext>
            </a:extLst>
          </p:cNvPr>
          <p:cNvSpPr txBox="1"/>
          <p:nvPr/>
        </p:nvSpPr>
        <p:spPr>
          <a:xfrm>
            <a:off x="267041" y="3550756"/>
            <a:ext cx="2133600" cy="1061829"/>
          </a:xfrm>
          <a:prstGeom prst="rect">
            <a:avLst/>
          </a:prstGeom>
          <a:noFill/>
        </p:spPr>
        <p:txBody>
          <a:bodyPr wrap="square">
            <a:spAutoFit/>
          </a:bodyPr>
          <a:lstStyle/>
          <a:p>
            <a:pPr algn="ctr"/>
            <a:r>
              <a:rPr lang="en-US" sz="900" b="0" dirty="0">
                <a:solidFill>
                  <a:schemeClr val="bg2">
                    <a:lumMod val="25000"/>
                  </a:schemeClr>
                </a:solidFill>
                <a:effectLst/>
              </a:rPr>
              <a:t>Mullens W, et al. The use of diuretics in heart failure with congestion – a position statement from the Heart Failure Association of the European Society of Cardiology. Eur J Heart Fail. 2019 Feb;21(2):137–55. </a:t>
            </a:r>
            <a:r>
              <a:rPr lang="en-US" sz="900" b="0" dirty="0" err="1">
                <a:solidFill>
                  <a:schemeClr val="bg2">
                    <a:lumMod val="25000"/>
                  </a:schemeClr>
                </a:solidFill>
                <a:effectLst/>
              </a:rPr>
              <a:t>doi</a:t>
            </a:r>
            <a:r>
              <a:rPr lang="en-US" sz="900" b="0" dirty="0">
                <a:solidFill>
                  <a:schemeClr val="bg2">
                    <a:lumMod val="25000"/>
                  </a:schemeClr>
                </a:solidFill>
                <a:effectLst/>
              </a:rPr>
              <a:t>: 10.1002/ejhf.1369.</a:t>
            </a:r>
            <a:endParaRPr lang="es-CO" sz="900" dirty="0">
              <a:solidFill>
                <a:schemeClr val="bg2">
                  <a:lumMod val="25000"/>
                </a:schemeClr>
              </a:solidFill>
            </a:endParaRPr>
          </a:p>
        </p:txBody>
      </p:sp>
      <p:sp>
        <p:nvSpPr>
          <p:cNvPr id="11" name="CuadroTexto 10">
            <a:extLst>
              <a:ext uri="{FF2B5EF4-FFF2-40B4-BE49-F238E27FC236}">
                <a16:creationId xmlns:a16="http://schemas.microsoft.com/office/drawing/2014/main" id="{C6A01503-CD6D-4849-803F-677F0CB0A64A}"/>
              </a:ext>
            </a:extLst>
          </p:cNvPr>
          <p:cNvSpPr txBox="1"/>
          <p:nvPr/>
        </p:nvSpPr>
        <p:spPr>
          <a:xfrm>
            <a:off x="-270612" y="2044005"/>
            <a:ext cx="3057355" cy="1384995"/>
          </a:xfrm>
          <a:prstGeom prst="rect">
            <a:avLst/>
          </a:prstGeom>
          <a:noFill/>
        </p:spPr>
        <p:txBody>
          <a:bodyPr wrap="square">
            <a:spAutoFit/>
          </a:bodyPr>
          <a:lstStyle/>
          <a:p>
            <a:pPr algn="ctr"/>
            <a:r>
              <a:rPr lang="es-CO" sz="2800" b="1" dirty="0">
                <a:solidFill>
                  <a:schemeClr val="accent6">
                    <a:lumMod val="50000"/>
                  </a:schemeClr>
                </a:solidFill>
              </a:rPr>
              <a:t>Diagnóstico:</a:t>
            </a:r>
          </a:p>
          <a:p>
            <a:pPr algn="ctr"/>
            <a:r>
              <a:rPr lang="es-CO" sz="2800" b="1" dirty="0">
                <a:solidFill>
                  <a:schemeClr val="accent6">
                    <a:lumMod val="50000"/>
                  </a:schemeClr>
                </a:solidFill>
              </a:rPr>
              <a:t>Signos/Síntomas</a:t>
            </a:r>
            <a:br>
              <a:rPr lang="es-CO" sz="2800" b="1" dirty="0">
                <a:solidFill>
                  <a:schemeClr val="accent6">
                    <a:lumMod val="50000"/>
                  </a:schemeClr>
                </a:solidFill>
              </a:rPr>
            </a:br>
            <a:endParaRPr lang="es-CO" sz="2800" b="1" dirty="0">
              <a:solidFill>
                <a:schemeClr val="accent6">
                  <a:lumMod val="50000"/>
                </a:schemeClr>
              </a:solidFill>
            </a:endParaRPr>
          </a:p>
        </p:txBody>
      </p:sp>
      <p:sp>
        <p:nvSpPr>
          <p:cNvPr id="12" name="Freeform 3">
            <a:extLst>
              <a:ext uri="{FF2B5EF4-FFF2-40B4-BE49-F238E27FC236}">
                <a16:creationId xmlns:a16="http://schemas.microsoft.com/office/drawing/2014/main" id="{2F76FADD-16A0-4011-AB25-0430C61216BF}"/>
              </a:ext>
            </a:extLst>
          </p:cNvPr>
          <p:cNvSpPr/>
          <p:nvPr/>
        </p:nvSpPr>
        <p:spPr>
          <a:xfrm>
            <a:off x="2605088" y="88495"/>
            <a:ext cx="8465683" cy="6769505"/>
          </a:xfrm>
          <a:custGeom>
            <a:avLst/>
            <a:gdLst/>
            <a:ahLst/>
            <a:cxnLst/>
            <a:rect l="l" t="t" r="r" b="b"/>
            <a:pathLst>
              <a:path w="12169560" h="8574008">
                <a:moveTo>
                  <a:pt x="0" y="0"/>
                </a:moveTo>
                <a:lnTo>
                  <a:pt x="12169560" y="0"/>
                </a:lnTo>
                <a:lnTo>
                  <a:pt x="12169560" y="8574008"/>
                </a:lnTo>
                <a:lnTo>
                  <a:pt x="0" y="8574008"/>
                </a:lnTo>
                <a:lnTo>
                  <a:pt x="0" y="0"/>
                </a:lnTo>
                <a:close/>
              </a:path>
            </a:pathLst>
          </a:custGeom>
          <a:blipFill>
            <a:blip r:embed="rId3"/>
            <a:stretch>
              <a:fillRect/>
            </a:stretch>
          </a:blipFill>
          <a:ln w="19050" cap="rnd">
            <a:noFill/>
            <a:prstDash val="solid"/>
            <a:rou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es-CO" dirty="0"/>
          </a:p>
        </p:txBody>
      </p:sp>
    </p:spTree>
    <p:extLst>
      <p:ext uri="{BB962C8B-B14F-4D97-AF65-F5344CB8AC3E}">
        <p14:creationId xmlns:p14="http://schemas.microsoft.com/office/powerpoint/2010/main" val="948717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6" name="Freeform 3">
            <a:extLst>
              <a:ext uri="{FF2B5EF4-FFF2-40B4-BE49-F238E27FC236}">
                <a16:creationId xmlns:a16="http://schemas.microsoft.com/office/drawing/2014/main" id="{D5A3AA28-6063-46D8-B808-B5DD467B0DA3}"/>
              </a:ext>
            </a:extLst>
          </p:cNvPr>
          <p:cNvSpPr/>
          <p:nvPr/>
        </p:nvSpPr>
        <p:spPr>
          <a:xfrm>
            <a:off x="354467" y="816429"/>
            <a:ext cx="5839504" cy="5736587"/>
          </a:xfrm>
          <a:custGeom>
            <a:avLst/>
            <a:gdLst/>
            <a:ahLst/>
            <a:cxnLst/>
            <a:rect l="l" t="t" r="r" b="b"/>
            <a:pathLst>
              <a:path w="9019113" h="8577161">
                <a:moveTo>
                  <a:pt x="0" y="0"/>
                </a:moveTo>
                <a:lnTo>
                  <a:pt x="9019114" y="0"/>
                </a:lnTo>
                <a:lnTo>
                  <a:pt x="9019114" y="8577161"/>
                </a:lnTo>
                <a:lnTo>
                  <a:pt x="0" y="8577161"/>
                </a:lnTo>
                <a:lnTo>
                  <a:pt x="0" y="0"/>
                </a:lnTo>
                <a:close/>
              </a:path>
            </a:pathLst>
          </a:custGeom>
          <a:blipFill>
            <a:blip r:embed="rId3"/>
            <a:stretch>
              <a:fillRect/>
            </a:stretch>
          </a:bli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8" name="CuadroTexto 7">
            <a:extLst>
              <a:ext uri="{FF2B5EF4-FFF2-40B4-BE49-F238E27FC236}">
                <a16:creationId xmlns:a16="http://schemas.microsoft.com/office/drawing/2014/main" id="{E4974F7E-1A91-4888-A3E4-9EA980B5E577}"/>
              </a:ext>
            </a:extLst>
          </p:cNvPr>
          <p:cNvSpPr txBox="1"/>
          <p:nvPr/>
        </p:nvSpPr>
        <p:spPr>
          <a:xfrm>
            <a:off x="2862943" y="0"/>
            <a:ext cx="7587385" cy="1200329"/>
          </a:xfrm>
          <a:prstGeom prst="rect">
            <a:avLst/>
          </a:prstGeom>
          <a:noFill/>
        </p:spPr>
        <p:txBody>
          <a:bodyPr wrap="square">
            <a:spAutoFit/>
          </a:bodyPr>
          <a:lstStyle/>
          <a:p>
            <a:r>
              <a:rPr lang="es-CO" sz="3600" b="1" dirty="0">
                <a:solidFill>
                  <a:schemeClr val="accent6">
                    <a:lumMod val="50000"/>
                  </a:schemeClr>
                </a:solidFill>
              </a:rPr>
              <a:t>Diagnóstico: Signos/Síntomas</a:t>
            </a:r>
            <a:br>
              <a:rPr lang="es-CO" sz="3600" b="1" dirty="0">
                <a:solidFill>
                  <a:schemeClr val="accent6">
                    <a:lumMod val="50000"/>
                  </a:schemeClr>
                </a:solidFill>
              </a:rPr>
            </a:br>
            <a:endParaRPr lang="es-CO" sz="3600" b="1" dirty="0">
              <a:solidFill>
                <a:schemeClr val="accent6">
                  <a:lumMod val="50000"/>
                </a:schemeClr>
              </a:solidFill>
            </a:endParaRPr>
          </a:p>
        </p:txBody>
      </p:sp>
      <p:graphicFrame>
        <p:nvGraphicFramePr>
          <p:cNvPr id="9" name="Table 4">
            <a:extLst>
              <a:ext uri="{FF2B5EF4-FFF2-40B4-BE49-F238E27FC236}">
                <a16:creationId xmlns:a16="http://schemas.microsoft.com/office/drawing/2014/main" id="{14D4D048-CE2B-4ED1-9B97-B623720045B4}"/>
              </a:ext>
            </a:extLst>
          </p:cNvPr>
          <p:cNvGraphicFramePr>
            <a:graphicFrameLocks noGrp="1"/>
          </p:cNvGraphicFramePr>
          <p:nvPr>
            <p:extLst>
              <p:ext uri="{D42A27DB-BD31-4B8C-83A1-F6EECF244321}">
                <p14:modId xmlns:p14="http://schemas.microsoft.com/office/powerpoint/2010/main" val="157239343"/>
              </p:ext>
            </p:extLst>
          </p:nvPr>
        </p:nvGraphicFramePr>
        <p:xfrm>
          <a:off x="6391275" y="1790913"/>
          <a:ext cx="4701310" cy="3477724"/>
        </p:xfrm>
        <a:graphic>
          <a:graphicData uri="http://schemas.openxmlformats.org/drawingml/2006/table">
            <a:tbl>
              <a:tblPr>
                <a:effectLst>
                  <a:outerShdw blurRad="50800" dist="38100" dir="8100000" algn="tr" rotWithShape="0">
                    <a:prstClr val="black">
                      <a:alpha val="40000"/>
                    </a:prstClr>
                  </a:outerShdw>
                </a:effectLst>
                <a:tableStyleId>{16D9F66E-5EB9-4882-86FB-DCBF35E3C3E4}</a:tableStyleId>
              </a:tblPr>
              <a:tblGrid>
                <a:gridCol w="4701310">
                  <a:extLst>
                    <a:ext uri="{9D8B030D-6E8A-4147-A177-3AD203B41FA5}">
                      <a16:colId xmlns:a16="http://schemas.microsoft.com/office/drawing/2014/main" val="20000"/>
                    </a:ext>
                  </a:extLst>
                </a:gridCol>
              </a:tblGrid>
              <a:tr h="0">
                <a:tc>
                  <a:txBody>
                    <a:bodyPr/>
                    <a:lstStyle/>
                    <a:p>
                      <a:pPr algn="ctr">
                        <a:lnSpc>
                          <a:spcPct val="100000"/>
                        </a:lnSpc>
                        <a:defRPr/>
                      </a:pPr>
                      <a:r>
                        <a:rPr lang="en-US" sz="2000" b="1" dirty="0">
                          <a:solidFill>
                            <a:srgbClr val="000000"/>
                          </a:solidFill>
                          <a:latin typeface="+mn-lt"/>
                          <a:sym typeface="Glacial Indifference Bold"/>
                        </a:rPr>
                        <a:t>HIPOPERFUSIÓN </a:t>
                      </a:r>
                      <a:endParaRPr lang="en-US" sz="2000" dirty="0">
                        <a:latin typeface="+mn-lt"/>
                      </a:endParaRPr>
                    </a:p>
                  </a:txBody>
                  <a:tcPr marL="183631" marR="183631" marT="183631" marB="183631" anchor="ctr">
                    <a:solidFill>
                      <a:schemeClr val="accent6">
                        <a:lumMod val="40000"/>
                        <a:lumOff val="60000"/>
                      </a:schemeClr>
                    </a:solidFill>
                  </a:tcPr>
                </a:tc>
                <a:extLst>
                  <a:ext uri="{0D108BD9-81ED-4DB2-BD59-A6C34878D82A}">
                    <a16:rowId xmlns:a16="http://schemas.microsoft.com/office/drawing/2014/main" val="10000"/>
                  </a:ext>
                </a:extLst>
              </a:tr>
              <a:tr h="2554249">
                <a:tc>
                  <a:txBody>
                    <a:bodyPr/>
                    <a:lstStyle/>
                    <a:p>
                      <a:pPr marL="493447" lvl="1" indent="-246723" algn="l">
                        <a:lnSpc>
                          <a:spcPct val="100000"/>
                        </a:lnSpc>
                        <a:buFont typeface="Arial"/>
                        <a:buChar char="•"/>
                        <a:defRPr/>
                      </a:pPr>
                      <a:r>
                        <a:rPr lang="en-US" sz="1600" dirty="0">
                          <a:solidFill>
                            <a:srgbClr val="000000"/>
                          </a:solidFill>
                          <a:latin typeface="+mn-lt"/>
                          <a:sym typeface="Glacial Indifference"/>
                        </a:rPr>
                        <a:t>Hipotensión </a:t>
                      </a:r>
                      <a:endParaRPr lang="en-US" sz="1600" dirty="0">
                        <a:latin typeface="+mn-lt"/>
                      </a:endParaRPr>
                    </a:p>
                    <a:p>
                      <a:pPr marL="493447" lvl="1" indent="-246723" algn="l">
                        <a:lnSpc>
                          <a:spcPct val="100000"/>
                        </a:lnSpc>
                        <a:buFont typeface="Arial"/>
                        <a:buChar char="•"/>
                      </a:pPr>
                      <a:r>
                        <a:rPr lang="en-US" sz="1600" dirty="0">
                          <a:solidFill>
                            <a:srgbClr val="000000"/>
                          </a:solidFill>
                          <a:latin typeface="+mn-lt"/>
                          <a:sym typeface="Glacial Indifference"/>
                        </a:rPr>
                        <a:t>Signos de Hipoperfusión: </a:t>
                      </a:r>
                    </a:p>
                    <a:p>
                      <a:pPr marL="986893" lvl="2" indent="-328964" algn="l">
                        <a:lnSpc>
                          <a:spcPct val="100000"/>
                        </a:lnSpc>
                        <a:buFont typeface="Arial"/>
                        <a:buChar char="⚬"/>
                      </a:pPr>
                      <a:r>
                        <a:rPr lang="en-US" sz="1600" dirty="0">
                          <a:solidFill>
                            <a:srgbClr val="000000"/>
                          </a:solidFill>
                          <a:latin typeface="+mn-lt"/>
                          <a:sym typeface="Glacial Indifference"/>
                        </a:rPr>
                        <a:t>Frialdad cutánea</a:t>
                      </a:r>
                    </a:p>
                    <a:p>
                      <a:pPr marL="986893" lvl="2" indent="-328964" algn="l">
                        <a:lnSpc>
                          <a:spcPct val="100000"/>
                        </a:lnSpc>
                        <a:buFont typeface="Arial"/>
                        <a:buChar char="⚬"/>
                      </a:pPr>
                      <a:r>
                        <a:rPr lang="en-US" sz="1600" dirty="0">
                          <a:solidFill>
                            <a:srgbClr val="000000"/>
                          </a:solidFill>
                          <a:latin typeface="+mn-lt"/>
                          <a:sym typeface="Glacial Indifference"/>
                        </a:rPr>
                        <a:t>Llenado capilar prolongado </a:t>
                      </a:r>
                    </a:p>
                    <a:p>
                      <a:pPr marL="986893" lvl="2" indent="-328964" algn="l">
                        <a:lnSpc>
                          <a:spcPct val="100000"/>
                        </a:lnSpc>
                        <a:buFont typeface="Arial"/>
                        <a:buChar char="⚬"/>
                      </a:pPr>
                      <a:r>
                        <a:rPr lang="en-US" sz="1600" dirty="0">
                          <a:solidFill>
                            <a:srgbClr val="000000"/>
                          </a:solidFill>
                          <a:latin typeface="+mn-lt"/>
                          <a:sym typeface="Glacial Indifference"/>
                        </a:rPr>
                        <a:t>Pulsos débiles </a:t>
                      </a:r>
                    </a:p>
                    <a:p>
                      <a:pPr marL="986893" lvl="2" indent="-328964" algn="l">
                        <a:lnSpc>
                          <a:spcPct val="100000"/>
                        </a:lnSpc>
                        <a:buFont typeface="Arial"/>
                        <a:buChar char="⚬"/>
                      </a:pPr>
                      <a:r>
                        <a:rPr lang="en-US" sz="1600" dirty="0">
                          <a:solidFill>
                            <a:srgbClr val="000000"/>
                          </a:solidFill>
                          <a:latin typeface="+mn-lt"/>
                          <a:sym typeface="Glacial Indifference"/>
                        </a:rPr>
                        <a:t>Alteración de estado de conciencia </a:t>
                      </a:r>
                    </a:p>
                    <a:p>
                      <a:pPr marL="986893" lvl="2" indent="-328964" algn="l">
                        <a:lnSpc>
                          <a:spcPct val="100000"/>
                        </a:lnSpc>
                        <a:buFont typeface="Arial"/>
                        <a:buChar char="⚬"/>
                      </a:pPr>
                      <a:r>
                        <a:rPr lang="en-US" sz="1600" dirty="0">
                          <a:solidFill>
                            <a:srgbClr val="000000"/>
                          </a:solidFill>
                          <a:latin typeface="+mn-lt"/>
                          <a:sym typeface="Glacial Indifference"/>
                        </a:rPr>
                        <a:t>Cianosis</a:t>
                      </a:r>
                    </a:p>
                    <a:p>
                      <a:pPr marL="986893" lvl="2" indent="-328964" algn="l">
                        <a:lnSpc>
                          <a:spcPct val="100000"/>
                        </a:lnSpc>
                        <a:buFont typeface="Arial"/>
                        <a:buChar char="⚬"/>
                      </a:pPr>
                      <a:r>
                        <a:rPr lang="en-US" sz="1600" dirty="0">
                          <a:solidFill>
                            <a:srgbClr val="000000"/>
                          </a:solidFill>
                          <a:latin typeface="+mn-lt"/>
                          <a:sym typeface="Glacial Indifference"/>
                        </a:rPr>
                        <a:t>Oliguria </a:t>
                      </a:r>
                    </a:p>
                    <a:p>
                      <a:pPr marL="986893" lvl="2" indent="-328964" algn="l">
                        <a:lnSpc>
                          <a:spcPct val="100000"/>
                        </a:lnSpc>
                        <a:buFont typeface="Arial"/>
                        <a:buChar char="⚬"/>
                      </a:pPr>
                      <a:r>
                        <a:rPr lang="en-US" sz="1600" dirty="0">
                          <a:solidFill>
                            <a:srgbClr val="000000"/>
                          </a:solidFill>
                          <a:latin typeface="+mn-lt"/>
                          <a:sym typeface="Glacial Indifference"/>
                        </a:rPr>
                        <a:t>Hiperbilirrubinemia</a:t>
                      </a:r>
                    </a:p>
                    <a:p>
                      <a:pPr marL="986893" lvl="2" indent="-328964" algn="l">
                        <a:lnSpc>
                          <a:spcPct val="100000"/>
                        </a:lnSpc>
                        <a:buFont typeface="Arial"/>
                        <a:buChar char="⚬"/>
                      </a:pPr>
                      <a:r>
                        <a:rPr lang="en-US" sz="1600" dirty="0">
                          <a:solidFill>
                            <a:srgbClr val="000000"/>
                          </a:solidFill>
                          <a:latin typeface="+mn-lt"/>
                          <a:sym typeface="Glacial Indifference"/>
                        </a:rPr>
                        <a:t>Lactato sérico elevado </a:t>
                      </a:r>
                      <a:endParaRPr lang="en-US" sz="1600" dirty="0">
                        <a:solidFill>
                          <a:srgbClr val="000000"/>
                        </a:solidFill>
                        <a:latin typeface="+mn-lt"/>
                        <a:ea typeface="Glacial Indifference"/>
                        <a:cs typeface="Glacial Indifference"/>
                        <a:sym typeface="Glacial Indifference"/>
                      </a:endParaRPr>
                    </a:p>
                  </a:txBody>
                  <a:tcPr marL="183631" marR="183631" marT="183631" marB="183631" anchor="ctr"/>
                </a:tc>
                <a:extLst>
                  <a:ext uri="{0D108BD9-81ED-4DB2-BD59-A6C34878D82A}">
                    <a16:rowId xmlns:a16="http://schemas.microsoft.com/office/drawing/2014/main" val="10001"/>
                  </a:ext>
                </a:extLst>
              </a:tr>
            </a:tbl>
          </a:graphicData>
        </a:graphic>
      </p:graphicFrame>
      <p:sp>
        <p:nvSpPr>
          <p:cNvPr id="10" name="CuadroTexto 9">
            <a:extLst>
              <a:ext uri="{FF2B5EF4-FFF2-40B4-BE49-F238E27FC236}">
                <a16:creationId xmlns:a16="http://schemas.microsoft.com/office/drawing/2014/main" id="{F91CC0B8-BE01-42B0-BF0B-6872C6103492}"/>
              </a:ext>
            </a:extLst>
          </p:cNvPr>
          <p:cNvSpPr txBox="1"/>
          <p:nvPr/>
        </p:nvSpPr>
        <p:spPr>
          <a:xfrm>
            <a:off x="239486" y="6627168"/>
            <a:ext cx="11201400" cy="230832"/>
          </a:xfrm>
          <a:prstGeom prst="rect">
            <a:avLst/>
          </a:prstGeom>
          <a:noFill/>
        </p:spPr>
        <p:txBody>
          <a:bodyPr wrap="square">
            <a:spAutoFit/>
          </a:bodyPr>
          <a:lstStyle/>
          <a:p>
            <a:pPr algn="ctr"/>
            <a:r>
              <a:rPr lang="en-US" sz="900" b="0" dirty="0">
                <a:solidFill>
                  <a:schemeClr val="bg2">
                    <a:lumMod val="25000"/>
                  </a:schemeClr>
                </a:solidFill>
                <a:effectLst/>
              </a:rPr>
              <a:t>Mullens W, et al. The use of diuretics in heart failure with congestion – a position statement from the Heart Failure Association of the European Society of Cardiology. Eur J Heart Fail. 2019 Feb;21(2):137–55. </a:t>
            </a:r>
            <a:r>
              <a:rPr lang="en-US" sz="900" b="0" dirty="0" err="1">
                <a:solidFill>
                  <a:schemeClr val="bg2">
                    <a:lumMod val="25000"/>
                  </a:schemeClr>
                </a:solidFill>
                <a:effectLst/>
              </a:rPr>
              <a:t>doi</a:t>
            </a:r>
            <a:r>
              <a:rPr lang="en-US" sz="900" b="0" dirty="0">
                <a:solidFill>
                  <a:schemeClr val="bg2">
                    <a:lumMod val="25000"/>
                  </a:schemeClr>
                </a:solidFill>
                <a:effectLst/>
              </a:rPr>
              <a:t>: 10.1002/ejhf.1369.</a:t>
            </a:r>
            <a:endParaRPr lang="es-CO" sz="900" dirty="0">
              <a:solidFill>
                <a:schemeClr val="bg2">
                  <a:lumMod val="25000"/>
                </a:schemeClr>
              </a:solidFill>
            </a:endParaRPr>
          </a:p>
        </p:txBody>
      </p:sp>
    </p:spTree>
    <p:extLst>
      <p:ext uri="{BB962C8B-B14F-4D97-AF65-F5344CB8AC3E}">
        <p14:creationId xmlns:p14="http://schemas.microsoft.com/office/powerpoint/2010/main" val="269025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pic>
        <p:nvPicPr>
          <p:cNvPr id="12290" name="Picture 2" descr="Escala de Stevenson . #cardiology #diagnosis #management ...">
            <a:extLst>
              <a:ext uri="{FF2B5EF4-FFF2-40B4-BE49-F238E27FC236}">
                <a16:creationId xmlns:a16="http://schemas.microsoft.com/office/drawing/2014/main" id="{88AC3309-1F1C-4ACB-BE5D-E8E45AED8C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1800"/>
          <a:stretch/>
        </p:blipFill>
        <p:spPr bwMode="auto">
          <a:xfrm>
            <a:off x="62754" y="1934166"/>
            <a:ext cx="4496550" cy="4032611"/>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52A11E3A-B13D-48B3-BEF0-B9DA6D2AAD93}"/>
              </a:ext>
            </a:extLst>
          </p:cNvPr>
          <p:cNvSpPr txBox="1"/>
          <p:nvPr/>
        </p:nvSpPr>
        <p:spPr>
          <a:xfrm>
            <a:off x="1545873" y="179840"/>
            <a:ext cx="7772883" cy="1754326"/>
          </a:xfrm>
          <a:prstGeom prst="rect">
            <a:avLst/>
          </a:prstGeom>
          <a:noFill/>
        </p:spPr>
        <p:txBody>
          <a:bodyPr wrap="square">
            <a:spAutoFit/>
          </a:bodyPr>
          <a:lstStyle/>
          <a:p>
            <a:pPr algn="ctr" rtl="0">
              <a:spcBef>
                <a:spcPts val="0"/>
              </a:spcBef>
              <a:spcAft>
                <a:spcPts val="0"/>
              </a:spcAft>
            </a:pPr>
            <a:r>
              <a:rPr lang="es-CO" sz="3600" b="1" dirty="0">
                <a:solidFill>
                  <a:schemeClr val="accent6">
                    <a:lumMod val="50000"/>
                  </a:schemeClr>
                </a:solidFill>
              </a:rPr>
              <a:t>Diagnóstico: Signos/Síntomas</a:t>
            </a:r>
            <a:endParaRPr lang="es-CO" sz="3600" b="1" dirty="0">
              <a:solidFill>
                <a:schemeClr val="accent6">
                  <a:lumMod val="50000"/>
                </a:schemeClr>
              </a:solidFill>
              <a:effectLst/>
            </a:endParaRPr>
          </a:p>
          <a:p>
            <a:br>
              <a:rPr lang="es-CO" sz="3600" b="1" dirty="0">
                <a:solidFill>
                  <a:schemeClr val="accent6">
                    <a:lumMod val="50000"/>
                  </a:schemeClr>
                </a:solidFill>
              </a:rPr>
            </a:br>
            <a:endParaRPr lang="es-CO" sz="3600" b="1" dirty="0">
              <a:solidFill>
                <a:schemeClr val="accent6">
                  <a:lumMod val="50000"/>
                </a:schemeClr>
              </a:solidFill>
            </a:endParaRPr>
          </a:p>
        </p:txBody>
      </p:sp>
      <p:graphicFrame>
        <p:nvGraphicFramePr>
          <p:cNvPr id="2" name="Diagrama 1">
            <a:extLst>
              <a:ext uri="{FF2B5EF4-FFF2-40B4-BE49-F238E27FC236}">
                <a16:creationId xmlns:a16="http://schemas.microsoft.com/office/drawing/2014/main" id="{30A89507-E745-4DAB-8B78-BA5DC6FF19EE}"/>
              </a:ext>
            </a:extLst>
          </p:cNvPr>
          <p:cNvGraphicFramePr/>
          <p:nvPr>
            <p:extLst>
              <p:ext uri="{D42A27DB-BD31-4B8C-83A1-F6EECF244321}">
                <p14:modId xmlns:p14="http://schemas.microsoft.com/office/powerpoint/2010/main" val="1640853678"/>
              </p:ext>
            </p:extLst>
          </p:nvPr>
        </p:nvGraphicFramePr>
        <p:xfrm>
          <a:off x="4500033" y="1461248"/>
          <a:ext cx="7629213" cy="44404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CuadroTexto 2">
            <a:extLst>
              <a:ext uri="{FF2B5EF4-FFF2-40B4-BE49-F238E27FC236}">
                <a16:creationId xmlns:a16="http://schemas.microsoft.com/office/drawing/2014/main" id="{4B2C1C0C-1268-4B6F-BD6F-62AB9150AF79}"/>
              </a:ext>
            </a:extLst>
          </p:cNvPr>
          <p:cNvSpPr txBox="1"/>
          <p:nvPr/>
        </p:nvSpPr>
        <p:spPr>
          <a:xfrm>
            <a:off x="1337393" y="1057003"/>
            <a:ext cx="2100943" cy="523220"/>
          </a:xfrm>
          <a:prstGeom prst="rect">
            <a:avLst/>
          </a:prstGeom>
          <a:noFill/>
        </p:spPr>
        <p:txBody>
          <a:bodyPr wrap="square" rtlCol="0">
            <a:spAutoFit/>
          </a:bodyPr>
          <a:lstStyle/>
          <a:p>
            <a:pPr algn="ctr"/>
            <a:r>
              <a:rPr lang="es-CO" sz="2800" b="1" dirty="0">
                <a:solidFill>
                  <a:schemeClr val="accent6">
                    <a:lumMod val="50000"/>
                  </a:schemeClr>
                </a:solidFill>
              </a:rPr>
              <a:t>Stevenson</a:t>
            </a:r>
          </a:p>
        </p:txBody>
      </p:sp>
      <p:sp>
        <p:nvSpPr>
          <p:cNvPr id="8" name="CuadroTexto 7">
            <a:extLst>
              <a:ext uri="{FF2B5EF4-FFF2-40B4-BE49-F238E27FC236}">
                <a16:creationId xmlns:a16="http://schemas.microsoft.com/office/drawing/2014/main" id="{4C5CAD7B-EA70-4CC0-95C7-E8801B37C992}"/>
              </a:ext>
            </a:extLst>
          </p:cNvPr>
          <p:cNvSpPr txBox="1"/>
          <p:nvPr/>
        </p:nvSpPr>
        <p:spPr>
          <a:xfrm>
            <a:off x="7431742" y="951736"/>
            <a:ext cx="3295046" cy="523220"/>
          </a:xfrm>
          <a:prstGeom prst="rect">
            <a:avLst/>
          </a:prstGeom>
          <a:noFill/>
        </p:spPr>
        <p:txBody>
          <a:bodyPr wrap="square" rtlCol="0">
            <a:spAutoFit/>
          </a:bodyPr>
          <a:lstStyle/>
          <a:p>
            <a:pPr algn="ctr"/>
            <a:r>
              <a:rPr lang="es-CO" sz="2800" b="1" dirty="0">
                <a:solidFill>
                  <a:schemeClr val="accent6">
                    <a:lumMod val="50000"/>
                  </a:schemeClr>
                </a:solidFill>
              </a:rPr>
              <a:t>Fenotipos</a:t>
            </a:r>
          </a:p>
        </p:txBody>
      </p:sp>
      <p:sp>
        <p:nvSpPr>
          <p:cNvPr id="7" name="Flecha: a la derecha 6">
            <a:extLst>
              <a:ext uri="{FF2B5EF4-FFF2-40B4-BE49-F238E27FC236}">
                <a16:creationId xmlns:a16="http://schemas.microsoft.com/office/drawing/2014/main" id="{4192FA36-43FE-448A-AEFB-5DBB55588B6D}"/>
              </a:ext>
            </a:extLst>
          </p:cNvPr>
          <p:cNvSpPr/>
          <p:nvPr/>
        </p:nvSpPr>
        <p:spPr>
          <a:xfrm>
            <a:off x="3900287" y="1188884"/>
            <a:ext cx="1719943" cy="259458"/>
          </a:xfrm>
          <a:prstGeom prst="rightArrow">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CuadroTexto 9">
            <a:extLst>
              <a:ext uri="{FF2B5EF4-FFF2-40B4-BE49-F238E27FC236}">
                <a16:creationId xmlns:a16="http://schemas.microsoft.com/office/drawing/2014/main" id="{2E157952-0CD2-4294-9350-921F7A74B716}"/>
              </a:ext>
            </a:extLst>
          </p:cNvPr>
          <p:cNvSpPr txBox="1"/>
          <p:nvPr/>
        </p:nvSpPr>
        <p:spPr>
          <a:xfrm>
            <a:off x="6720" y="6411219"/>
            <a:ext cx="11107272" cy="461665"/>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Tree>
    <p:extLst>
      <p:ext uri="{BB962C8B-B14F-4D97-AF65-F5344CB8AC3E}">
        <p14:creationId xmlns:p14="http://schemas.microsoft.com/office/powerpoint/2010/main" val="1994460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4" name="CuadroTexto 3">
            <a:extLst>
              <a:ext uri="{FF2B5EF4-FFF2-40B4-BE49-F238E27FC236}">
                <a16:creationId xmlns:a16="http://schemas.microsoft.com/office/drawing/2014/main" id="{52A11E3A-B13D-48B3-BEF0-B9DA6D2AAD93}"/>
              </a:ext>
            </a:extLst>
          </p:cNvPr>
          <p:cNvSpPr txBox="1"/>
          <p:nvPr/>
        </p:nvSpPr>
        <p:spPr>
          <a:xfrm>
            <a:off x="2209558" y="124156"/>
            <a:ext cx="7772883" cy="1754326"/>
          </a:xfrm>
          <a:prstGeom prst="rect">
            <a:avLst/>
          </a:prstGeom>
          <a:noFill/>
        </p:spPr>
        <p:txBody>
          <a:bodyPr wrap="square">
            <a:spAutoFit/>
          </a:bodyPr>
          <a:lstStyle/>
          <a:p>
            <a:pPr algn="ctr" rtl="0">
              <a:spcBef>
                <a:spcPts val="0"/>
              </a:spcBef>
              <a:spcAft>
                <a:spcPts val="0"/>
              </a:spcAft>
            </a:pPr>
            <a:r>
              <a:rPr lang="es-CO" sz="3600" b="1" dirty="0">
                <a:solidFill>
                  <a:schemeClr val="accent6">
                    <a:lumMod val="50000"/>
                  </a:schemeClr>
                </a:solidFill>
              </a:rPr>
              <a:t>Diagnóstico: Signos/Síntomas</a:t>
            </a:r>
            <a:endParaRPr lang="es-CO" sz="3600" b="1" dirty="0">
              <a:solidFill>
                <a:schemeClr val="accent6">
                  <a:lumMod val="50000"/>
                </a:schemeClr>
              </a:solidFill>
              <a:effectLst/>
            </a:endParaRPr>
          </a:p>
          <a:p>
            <a:br>
              <a:rPr lang="es-CO" sz="3600" b="1" dirty="0">
                <a:solidFill>
                  <a:schemeClr val="accent6">
                    <a:lumMod val="50000"/>
                  </a:schemeClr>
                </a:solidFill>
              </a:rPr>
            </a:br>
            <a:endParaRPr lang="es-CO" sz="3600" b="1" dirty="0">
              <a:solidFill>
                <a:schemeClr val="accent6">
                  <a:lumMod val="50000"/>
                </a:schemeClr>
              </a:solidFill>
            </a:endParaRPr>
          </a:p>
        </p:txBody>
      </p:sp>
      <p:sp>
        <p:nvSpPr>
          <p:cNvPr id="8" name="CuadroTexto 7">
            <a:extLst>
              <a:ext uri="{FF2B5EF4-FFF2-40B4-BE49-F238E27FC236}">
                <a16:creationId xmlns:a16="http://schemas.microsoft.com/office/drawing/2014/main" id="{4C5CAD7B-EA70-4CC0-95C7-E8801B37C992}"/>
              </a:ext>
            </a:extLst>
          </p:cNvPr>
          <p:cNvSpPr txBox="1"/>
          <p:nvPr/>
        </p:nvSpPr>
        <p:spPr>
          <a:xfrm>
            <a:off x="4509884" y="766533"/>
            <a:ext cx="2100943" cy="52322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s-CO" sz="2800" b="1" dirty="0">
                <a:solidFill>
                  <a:schemeClr val="accent6">
                    <a:lumMod val="50000"/>
                  </a:schemeClr>
                </a:solidFill>
              </a:rPr>
              <a:t>Fenotipos</a:t>
            </a:r>
          </a:p>
        </p:txBody>
      </p:sp>
      <p:sp>
        <p:nvSpPr>
          <p:cNvPr id="10" name="CuadroTexto 9">
            <a:extLst>
              <a:ext uri="{FF2B5EF4-FFF2-40B4-BE49-F238E27FC236}">
                <a16:creationId xmlns:a16="http://schemas.microsoft.com/office/drawing/2014/main" id="{2E157952-0CD2-4294-9350-921F7A74B716}"/>
              </a:ext>
            </a:extLst>
          </p:cNvPr>
          <p:cNvSpPr txBox="1"/>
          <p:nvPr/>
        </p:nvSpPr>
        <p:spPr>
          <a:xfrm>
            <a:off x="6720" y="6411219"/>
            <a:ext cx="11107272" cy="461665"/>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pic>
        <p:nvPicPr>
          <p:cNvPr id="9" name="Imagen 8">
            <a:extLst>
              <a:ext uri="{FF2B5EF4-FFF2-40B4-BE49-F238E27FC236}">
                <a16:creationId xmlns:a16="http://schemas.microsoft.com/office/drawing/2014/main" id="{83DCE358-8639-4D33-A182-48508CAED76D}"/>
              </a:ext>
            </a:extLst>
          </p:cNvPr>
          <p:cNvPicPr>
            <a:picLocks noChangeAspect="1"/>
          </p:cNvPicPr>
          <p:nvPr/>
        </p:nvPicPr>
        <p:blipFill>
          <a:blip r:embed="rId3"/>
          <a:stretch>
            <a:fillRect/>
          </a:stretch>
        </p:blipFill>
        <p:spPr>
          <a:xfrm>
            <a:off x="1140286" y="1402836"/>
            <a:ext cx="9650172" cy="4782217"/>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71717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7" name="CuadroTexto 6">
            <a:extLst>
              <a:ext uri="{FF2B5EF4-FFF2-40B4-BE49-F238E27FC236}">
                <a16:creationId xmlns:a16="http://schemas.microsoft.com/office/drawing/2014/main" id="{4E7FDC9F-8334-424E-B52B-08CA08D2A1BF}"/>
              </a:ext>
            </a:extLst>
          </p:cNvPr>
          <p:cNvSpPr txBox="1"/>
          <p:nvPr/>
        </p:nvSpPr>
        <p:spPr>
          <a:xfrm>
            <a:off x="0" y="4615076"/>
            <a:ext cx="2769137" cy="1323439"/>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
        <p:nvSpPr>
          <p:cNvPr id="9" name="CuadroTexto 8">
            <a:extLst>
              <a:ext uri="{FF2B5EF4-FFF2-40B4-BE49-F238E27FC236}">
                <a16:creationId xmlns:a16="http://schemas.microsoft.com/office/drawing/2014/main" id="{9D0334CF-5463-4E35-9389-6A76174544C4}"/>
              </a:ext>
            </a:extLst>
          </p:cNvPr>
          <p:cNvSpPr txBox="1"/>
          <p:nvPr/>
        </p:nvSpPr>
        <p:spPr>
          <a:xfrm>
            <a:off x="-935430" y="2722250"/>
            <a:ext cx="4639996" cy="2308324"/>
          </a:xfrm>
          <a:prstGeom prst="rect">
            <a:avLst/>
          </a:prstGeom>
          <a:noFill/>
        </p:spPr>
        <p:txBody>
          <a:bodyPr wrap="square">
            <a:spAutoFit/>
          </a:bodyPr>
          <a:lstStyle/>
          <a:p>
            <a:pPr algn="ctr" rtl="0">
              <a:spcBef>
                <a:spcPts val="0"/>
              </a:spcBef>
              <a:spcAft>
                <a:spcPts val="0"/>
              </a:spcAft>
            </a:pPr>
            <a:r>
              <a:rPr lang="es-CO" sz="3600" b="1" dirty="0">
                <a:solidFill>
                  <a:schemeClr val="accent6">
                    <a:lumMod val="50000"/>
                  </a:schemeClr>
                </a:solidFill>
              </a:rPr>
              <a:t>Diagnóstico: Paraclínicos</a:t>
            </a:r>
            <a:endParaRPr lang="es-CO" sz="3600" b="1" dirty="0">
              <a:solidFill>
                <a:schemeClr val="accent6">
                  <a:lumMod val="50000"/>
                </a:schemeClr>
              </a:solidFill>
              <a:effectLst/>
            </a:endParaRPr>
          </a:p>
          <a:p>
            <a:br>
              <a:rPr lang="es-CO" sz="3600" b="1" dirty="0">
                <a:solidFill>
                  <a:schemeClr val="accent6">
                    <a:lumMod val="50000"/>
                  </a:schemeClr>
                </a:solidFill>
              </a:rPr>
            </a:br>
            <a:endParaRPr lang="es-CO" sz="3600" b="1" dirty="0">
              <a:solidFill>
                <a:schemeClr val="accent6">
                  <a:lumMod val="50000"/>
                </a:schemeClr>
              </a:solidFill>
            </a:endParaRPr>
          </a:p>
        </p:txBody>
      </p:sp>
      <p:sp>
        <p:nvSpPr>
          <p:cNvPr id="12" name="TextBox 11">
            <a:extLst>
              <a:ext uri="{FF2B5EF4-FFF2-40B4-BE49-F238E27FC236}">
                <a16:creationId xmlns:a16="http://schemas.microsoft.com/office/drawing/2014/main" id="{C05F8616-F62B-40D9-AB5D-F69CDA5965BD}"/>
              </a:ext>
            </a:extLst>
          </p:cNvPr>
          <p:cNvSpPr txBox="1"/>
          <p:nvPr/>
        </p:nvSpPr>
        <p:spPr>
          <a:xfrm>
            <a:off x="9055454" y="3322414"/>
            <a:ext cx="2980304" cy="553998"/>
          </a:xfrm>
          <a:prstGeom prst="rect">
            <a:avLst/>
          </a:prstGeom>
        </p:spPr>
        <p:style>
          <a:lnRef idx="0">
            <a:schemeClr val="accent5"/>
          </a:lnRef>
          <a:fillRef idx="3">
            <a:schemeClr val="accent5"/>
          </a:fillRef>
          <a:effectRef idx="3">
            <a:schemeClr val="accent5"/>
          </a:effectRef>
          <a:fontRef idx="minor">
            <a:schemeClr val="lt1"/>
          </a:fontRef>
        </p:style>
        <p:txBody>
          <a:bodyPr wrap="square" lIns="0" tIns="0" rIns="0" bIns="0" rtlCol="0" anchor="t">
            <a:spAutoFit/>
          </a:bodyPr>
          <a:lstStyle/>
          <a:p>
            <a:pPr marL="547847" lvl="1" indent="-273924" algn="l">
              <a:buFont typeface="Arial"/>
              <a:buChar char="•"/>
            </a:pPr>
            <a:r>
              <a:rPr lang="en-US" b="1" dirty="0">
                <a:solidFill>
                  <a:srgbClr val="000000"/>
                </a:solidFill>
                <a:ea typeface="Open Sans"/>
                <a:cs typeface="Open Sans"/>
                <a:sym typeface="Open Sans"/>
              </a:rPr>
              <a:t>BNP ≥ 100 pg/ml               </a:t>
            </a:r>
          </a:p>
          <a:p>
            <a:pPr marL="547847" lvl="1" indent="-273924" algn="l">
              <a:spcBef>
                <a:spcPct val="0"/>
              </a:spcBef>
              <a:buFont typeface="Arial"/>
              <a:buChar char="•"/>
            </a:pPr>
            <a:r>
              <a:rPr lang="en-US" b="1" dirty="0">
                <a:solidFill>
                  <a:srgbClr val="000000"/>
                </a:solidFill>
                <a:ea typeface="Open Sans"/>
                <a:cs typeface="Open Sans"/>
                <a:sym typeface="Open Sans"/>
              </a:rPr>
              <a:t>NT - proBNP ≥ 300 pg/ml </a:t>
            </a:r>
          </a:p>
        </p:txBody>
      </p:sp>
      <p:pic>
        <p:nvPicPr>
          <p:cNvPr id="3" name="Imagen 2">
            <a:extLst>
              <a:ext uri="{FF2B5EF4-FFF2-40B4-BE49-F238E27FC236}">
                <a16:creationId xmlns:a16="http://schemas.microsoft.com/office/drawing/2014/main" id="{4413F039-D9F2-4BFA-ACFA-F2B32F4E91BF}"/>
              </a:ext>
            </a:extLst>
          </p:cNvPr>
          <p:cNvPicPr>
            <a:picLocks noChangeAspect="1"/>
          </p:cNvPicPr>
          <p:nvPr/>
        </p:nvPicPr>
        <p:blipFill>
          <a:blip r:embed="rId3"/>
          <a:stretch>
            <a:fillRect/>
          </a:stretch>
        </p:blipFill>
        <p:spPr>
          <a:xfrm>
            <a:off x="2990898" y="0"/>
            <a:ext cx="6210204" cy="685800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1241105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7" name="CuadroTexto 6">
            <a:extLst>
              <a:ext uri="{FF2B5EF4-FFF2-40B4-BE49-F238E27FC236}">
                <a16:creationId xmlns:a16="http://schemas.microsoft.com/office/drawing/2014/main" id="{4E7FDC9F-8334-424E-B52B-08CA08D2A1BF}"/>
              </a:ext>
            </a:extLst>
          </p:cNvPr>
          <p:cNvSpPr txBox="1"/>
          <p:nvPr/>
        </p:nvSpPr>
        <p:spPr>
          <a:xfrm>
            <a:off x="-73365" y="6412130"/>
            <a:ext cx="11839267" cy="338554"/>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
        <p:nvSpPr>
          <p:cNvPr id="9" name="CuadroTexto 8">
            <a:extLst>
              <a:ext uri="{FF2B5EF4-FFF2-40B4-BE49-F238E27FC236}">
                <a16:creationId xmlns:a16="http://schemas.microsoft.com/office/drawing/2014/main" id="{9D0334CF-5463-4E35-9389-6A76174544C4}"/>
              </a:ext>
            </a:extLst>
          </p:cNvPr>
          <p:cNvSpPr txBox="1"/>
          <p:nvPr/>
        </p:nvSpPr>
        <p:spPr>
          <a:xfrm>
            <a:off x="2041849" y="107280"/>
            <a:ext cx="8108302" cy="1754326"/>
          </a:xfrm>
          <a:prstGeom prst="rect">
            <a:avLst/>
          </a:prstGeom>
          <a:noFill/>
        </p:spPr>
        <p:txBody>
          <a:bodyPr wrap="square">
            <a:spAutoFit/>
          </a:bodyPr>
          <a:lstStyle/>
          <a:p>
            <a:pPr algn="ctr" rtl="0">
              <a:spcBef>
                <a:spcPts val="0"/>
              </a:spcBef>
              <a:spcAft>
                <a:spcPts val="0"/>
              </a:spcAft>
            </a:pPr>
            <a:r>
              <a:rPr lang="es-CO" sz="3600" b="1" dirty="0">
                <a:solidFill>
                  <a:schemeClr val="accent6">
                    <a:lumMod val="50000"/>
                  </a:schemeClr>
                </a:solidFill>
              </a:rPr>
              <a:t>Diagnóstico: Paraclínicos</a:t>
            </a:r>
            <a:endParaRPr lang="es-CO" sz="3600" b="1" dirty="0">
              <a:solidFill>
                <a:schemeClr val="accent6">
                  <a:lumMod val="50000"/>
                </a:schemeClr>
              </a:solidFill>
              <a:effectLst/>
            </a:endParaRPr>
          </a:p>
          <a:p>
            <a:br>
              <a:rPr lang="es-CO" sz="3600" b="1" dirty="0">
                <a:solidFill>
                  <a:schemeClr val="accent6">
                    <a:lumMod val="50000"/>
                  </a:schemeClr>
                </a:solidFill>
              </a:rPr>
            </a:br>
            <a:endParaRPr lang="es-CO" sz="3600" b="1" dirty="0">
              <a:solidFill>
                <a:schemeClr val="accent6">
                  <a:lumMod val="50000"/>
                </a:schemeClr>
              </a:solidFill>
            </a:endParaRPr>
          </a:p>
        </p:txBody>
      </p:sp>
      <p:pic>
        <p:nvPicPr>
          <p:cNvPr id="3" name="Imagen 2">
            <a:extLst>
              <a:ext uri="{FF2B5EF4-FFF2-40B4-BE49-F238E27FC236}">
                <a16:creationId xmlns:a16="http://schemas.microsoft.com/office/drawing/2014/main" id="{731A341D-BB88-45B0-8797-FF62F7E4FBEE}"/>
              </a:ext>
            </a:extLst>
          </p:cNvPr>
          <p:cNvPicPr>
            <a:picLocks noChangeAspect="1"/>
          </p:cNvPicPr>
          <p:nvPr/>
        </p:nvPicPr>
        <p:blipFill rotWithShape="1">
          <a:blip r:embed="rId3"/>
          <a:srcRect r="2312"/>
          <a:stretch/>
        </p:blipFill>
        <p:spPr>
          <a:xfrm>
            <a:off x="543424" y="1415117"/>
            <a:ext cx="3992715" cy="493352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4" name="CuadroTexto 3">
            <a:extLst>
              <a:ext uri="{FF2B5EF4-FFF2-40B4-BE49-F238E27FC236}">
                <a16:creationId xmlns:a16="http://schemas.microsoft.com/office/drawing/2014/main" id="{815B79ED-B052-42BD-A234-FDF8AA5A47A3}"/>
              </a:ext>
            </a:extLst>
          </p:cNvPr>
          <p:cNvSpPr txBox="1"/>
          <p:nvPr/>
        </p:nvSpPr>
        <p:spPr>
          <a:xfrm>
            <a:off x="372109" y="1045785"/>
            <a:ext cx="5880847" cy="369332"/>
          </a:xfrm>
          <a:prstGeom prst="rect">
            <a:avLst/>
          </a:prstGeom>
          <a:noFill/>
        </p:spPr>
        <p:txBody>
          <a:bodyPr wrap="square" rtlCol="0">
            <a:spAutoFit/>
          </a:bodyPr>
          <a:lstStyle/>
          <a:p>
            <a:r>
              <a:rPr lang="es-CO" b="1" dirty="0"/>
              <a:t>Otras causas elevación péptidos natriuréticos</a:t>
            </a:r>
          </a:p>
        </p:txBody>
      </p:sp>
      <p:sp>
        <p:nvSpPr>
          <p:cNvPr id="14" name="Freeform 5">
            <a:extLst>
              <a:ext uri="{FF2B5EF4-FFF2-40B4-BE49-F238E27FC236}">
                <a16:creationId xmlns:a16="http://schemas.microsoft.com/office/drawing/2014/main" id="{30231F4C-0FD0-440F-9808-EF92BB26AF53}"/>
              </a:ext>
            </a:extLst>
          </p:cNvPr>
          <p:cNvSpPr/>
          <p:nvPr/>
        </p:nvSpPr>
        <p:spPr>
          <a:xfrm>
            <a:off x="4854600" y="1750750"/>
            <a:ext cx="6351465" cy="3245645"/>
          </a:xfrm>
          <a:custGeom>
            <a:avLst/>
            <a:gdLst/>
            <a:ahLst/>
            <a:cxnLst/>
            <a:rect l="l" t="t" r="r" b="b"/>
            <a:pathLst>
              <a:path w="11109185" h="6332236">
                <a:moveTo>
                  <a:pt x="0" y="0"/>
                </a:moveTo>
                <a:lnTo>
                  <a:pt x="11109185" y="0"/>
                </a:lnTo>
                <a:lnTo>
                  <a:pt x="11109185" y="6332236"/>
                </a:lnTo>
                <a:lnTo>
                  <a:pt x="0" y="6332236"/>
                </a:lnTo>
                <a:lnTo>
                  <a:pt x="0" y="0"/>
                </a:lnTo>
                <a:close/>
              </a:path>
            </a:pathLst>
          </a:custGeom>
          <a:blipFill>
            <a:blip r:embed="rId4"/>
            <a:stretch>
              <a:fillRect/>
            </a:stretch>
          </a:blipFill>
          <a:ln w="38100" cap="rnd">
            <a:solidFill>
              <a:srgbClr val="000000"/>
            </a:solidFill>
            <a:prstDash val="solid"/>
            <a:round/>
          </a:ln>
          <a:effectLst>
            <a:outerShdw blurRad="63500" sx="102000" sy="102000" algn="ctr" rotWithShape="0">
              <a:prstClr val="black">
                <a:alpha val="40000"/>
              </a:prstClr>
            </a:outerShdw>
          </a:effectLst>
        </p:spPr>
      </p:sp>
      <p:sp>
        <p:nvSpPr>
          <p:cNvPr id="8" name="CuadroTexto 7">
            <a:extLst>
              <a:ext uri="{FF2B5EF4-FFF2-40B4-BE49-F238E27FC236}">
                <a16:creationId xmlns:a16="http://schemas.microsoft.com/office/drawing/2014/main" id="{6905ED1B-F743-4A33-806D-F4BAF0399D1F}"/>
              </a:ext>
            </a:extLst>
          </p:cNvPr>
          <p:cNvSpPr txBox="1"/>
          <p:nvPr/>
        </p:nvSpPr>
        <p:spPr>
          <a:xfrm>
            <a:off x="5230980" y="5209209"/>
            <a:ext cx="5880847" cy="369332"/>
          </a:xfrm>
          <a:prstGeom prst="rect">
            <a:avLst/>
          </a:prstGeom>
          <a:noFill/>
        </p:spPr>
        <p:txBody>
          <a:bodyPr wrap="square" rtlCol="0">
            <a:spAutoFit/>
          </a:bodyPr>
          <a:lstStyle/>
          <a:p>
            <a:r>
              <a:rPr lang="es-CO" b="1" dirty="0"/>
              <a:t>Congestión y edema pulmonar en Radiografía y ecografía </a:t>
            </a:r>
          </a:p>
        </p:txBody>
      </p:sp>
    </p:spTree>
    <p:extLst>
      <p:ext uri="{BB962C8B-B14F-4D97-AF65-F5344CB8AC3E}">
        <p14:creationId xmlns:p14="http://schemas.microsoft.com/office/powerpoint/2010/main" val="1312870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7" name="CuadroTexto 6">
            <a:extLst>
              <a:ext uri="{FF2B5EF4-FFF2-40B4-BE49-F238E27FC236}">
                <a16:creationId xmlns:a16="http://schemas.microsoft.com/office/drawing/2014/main" id="{4E7FDC9F-8334-424E-B52B-08CA08D2A1BF}"/>
              </a:ext>
            </a:extLst>
          </p:cNvPr>
          <p:cNvSpPr txBox="1"/>
          <p:nvPr/>
        </p:nvSpPr>
        <p:spPr>
          <a:xfrm>
            <a:off x="1038003" y="6106656"/>
            <a:ext cx="8688703" cy="461665"/>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
        <p:nvSpPr>
          <p:cNvPr id="9" name="CuadroTexto 8">
            <a:extLst>
              <a:ext uri="{FF2B5EF4-FFF2-40B4-BE49-F238E27FC236}">
                <a16:creationId xmlns:a16="http://schemas.microsoft.com/office/drawing/2014/main" id="{9D0334CF-5463-4E35-9389-6A76174544C4}"/>
              </a:ext>
            </a:extLst>
          </p:cNvPr>
          <p:cNvSpPr txBox="1"/>
          <p:nvPr/>
        </p:nvSpPr>
        <p:spPr>
          <a:xfrm>
            <a:off x="277906" y="2182505"/>
            <a:ext cx="3195638" cy="2862322"/>
          </a:xfrm>
          <a:prstGeom prst="rect">
            <a:avLst/>
          </a:prstGeom>
          <a:noFill/>
        </p:spPr>
        <p:txBody>
          <a:bodyPr wrap="square">
            <a:spAutoFit/>
          </a:bodyPr>
          <a:lstStyle/>
          <a:p>
            <a:pPr algn="ctr" rtl="0">
              <a:spcBef>
                <a:spcPts val="0"/>
              </a:spcBef>
              <a:spcAft>
                <a:spcPts val="0"/>
              </a:spcAft>
            </a:pPr>
            <a:r>
              <a:rPr lang="es-CO" sz="3600" b="1" dirty="0">
                <a:solidFill>
                  <a:schemeClr val="accent6">
                    <a:lumMod val="50000"/>
                  </a:schemeClr>
                </a:solidFill>
                <a:effectLst/>
              </a:rPr>
              <a:t>Diagnóstico:</a:t>
            </a:r>
          </a:p>
          <a:p>
            <a:pPr algn="ctr" rtl="0">
              <a:spcBef>
                <a:spcPts val="0"/>
              </a:spcBef>
              <a:spcAft>
                <a:spcPts val="0"/>
              </a:spcAft>
            </a:pPr>
            <a:r>
              <a:rPr lang="es-CO" sz="3600" b="1" dirty="0">
                <a:solidFill>
                  <a:schemeClr val="accent6">
                    <a:lumMod val="50000"/>
                  </a:schemeClr>
                </a:solidFill>
                <a:effectLst/>
              </a:rPr>
              <a:t>Identificar etiología</a:t>
            </a:r>
          </a:p>
          <a:p>
            <a:br>
              <a:rPr lang="es-CO" sz="3600" b="1" dirty="0">
                <a:solidFill>
                  <a:schemeClr val="accent6">
                    <a:lumMod val="50000"/>
                  </a:schemeClr>
                </a:solidFill>
              </a:rPr>
            </a:br>
            <a:endParaRPr lang="es-CO" sz="3600" b="1" dirty="0">
              <a:solidFill>
                <a:schemeClr val="accent6">
                  <a:lumMod val="50000"/>
                </a:schemeClr>
              </a:solidFill>
            </a:endParaRPr>
          </a:p>
        </p:txBody>
      </p:sp>
      <p:pic>
        <p:nvPicPr>
          <p:cNvPr id="3" name="Imagen 2">
            <a:extLst>
              <a:ext uri="{FF2B5EF4-FFF2-40B4-BE49-F238E27FC236}">
                <a16:creationId xmlns:a16="http://schemas.microsoft.com/office/drawing/2014/main" id="{FBB222DF-B990-4522-8DCA-F4025DAFD7CC}"/>
              </a:ext>
            </a:extLst>
          </p:cNvPr>
          <p:cNvPicPr>
            <a:picLocks noChangeAspect="1"/>
          </p:cNvPicPr>
          <p:nvPr/>
        </p:nvPicPr>
        <p:blipFill>
          <a:blip r:embed="rId3"/>
          <a:stretch>
            <a:fillRect/>
          </a:stretch>
        </p:blipFill>
        <p:spPr>
          <a:xfrm>
            <a:off x="3538431" y="402319"/>
            <a:ext cx="5860222" cy="5526220"/>
          </a:xfrm>
          <a:prstGeom prst="rect">
            <a:avLst/>
          </a:prstGeom>
          <a:ln>
            <a:solidFill>
              <a:srgbClr val="7030A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694102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6BACDC70-05F8-4518-BD0F-D20F3B1E24ED}"/>
              </a:ext>
            </a:extLst>
          </p:cNvPr>
          <p:cNvSpPr/>
          <p:nvPr/>
        </p:nvSpPr>
        <p:spPr>
          <a:xfrm>
            <a:off x="0" y="2194560"/>
            <a:ext cx="2255520" cy="330708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s-CO"/>
          </a:p>
        </p:txBody>
      </p:sp>
      <p:sp>
        <p:nvSpPr>
          <p:cNvPr id="4" name="CuadroTexto 3">
            <a:extLst>
              <a:ext uri="{FF2B5EF4-FFF2-40B4-BE49-F238E27FC236}">
                <a16:creationId xmlns:a16="http://schemas.microsoft.com/office/drawing/2014/main" id="{8738DB3B-0396-488E-AAD3-A151732C52EB}"/>
              </a:ext>
            </a:extLst>
          </p:cNvPr>
          <p:cNvSpPr txBox="1"/>
          <p:nvPr/>
        </p:nvSpPr>
        <p:spPr>
          <a:xfrm>
            <a:off x="114748" y="2482327"/>
            <a:ext cx="1866452" cy="2585323"/>
          </a:xfrm>
          <a:prstGeom prst="rect">
            <a:avLst/>
          </a:prstGeom>
          <a:noFill/>
        </p:spPr>
        <p:txBody>
          <a:bodyPr wrap="square" rtlCol="0">
            <a:spAutoFit/>
          </a:bodyPr>
          <a:lstStyle/>
          <a:p>
            <a:r>
              <a:rPr lang="es-CO" dirty="0">
                <a:solidFill>
                  <a:srgbClr val="002060"/>
                </a:solidFill>
              </a:rPr>
              <a:t>FUROSEMIDA: </a:t>
            </a:r>
          </a:p>
          <a:p>
            <a:pPr marL="285750" indent="-285750">
              <a:buFontTx/>
              <a:buChar char="-"/>
            </a:pPr>
            <a:r>
              <a:rPr lang="es-CO" dirty="0">
                <a:solidFill>
                  <a:srgbClr val="002060"/>
                </a:solidFill>
              </a:rPr>
              <a:t>20-40 mg IV- infusión continua o 2-3 bolos / </a:t>
            </a:r>
            <a:r>
              <a:rPr lang="es-CO" dirty="0" err="1">
                <a:solidFill>
                  <a:srgbClr val="002060"/>
                </a:solidFill>
              </a:rPr>
              <a:t>dia</a:t>
            </a:r>
            <a:r>
              <a:rPr lang="es-CO" dirty="0">
                <a:solidFill>
                  <a:srgbClr val="002060"/>
                </a:solidFill>
              </a:rPr>
              <a:t> </a:t>
            </a:r>
          </a:p>
          <a:p>
            <a:pPr marL="285750" indent="-285750">
              <a:buFontTx/>
              <a:buChar char="-"/>
            </a:pPr>
            <a:r>
              <a:rPr lang="es-CO" dirty="0" err="1">
                <a:solidFill>
                  <a:srgbClr val="002060"/>
                </a:solidFill>
              </a:rPr>
              <a:t>NaU</a:t>
            </a:r>
            <a:r>
              <a:rPr lang="es-CO" dirty="0">
                <a:solidFill>
                  <a:srgbClr val="002060"/>
                </a:solidFill>
              </a:rPr>
              <a:t> &gt;50-70 / 2h</a:t>
            </a:r>
          </a:p>
          <a:p>
            <a:pPr marL="285750" indent="-285750">
              <a:buFontTx/>
              <a:buChar char="-"/>
            </a:pPr>
            <a:r>
              <a:rPr lang="es-CO" dirty="0">
                <a:solidFill>
                  <a:srgbClr val="002060"/>
                </a:solidFill>
              </a:rPr>
              <a:t>Diuresis &gt; 100-150 ml / 6h</a:t>
            </a:r>
          </a:p>
        </p:txBody>
      </p:sp>
      <p:sp>
        <p:nvSpPr>
          <p:cNvPr id="3" name="Freeform 3">
            <a:extLst>
              <a:ext uri="{FF2B5EF4-FFF2-40B4-BE49-F238E27FC236}">
                <a16:creationId xmlns:a16="http://schemas.microsoft.com/office/drawing/2014/main" id="{D8500284-AEC1-4019-BB42-5BA61F5395AB}"/>
              </a:ext>
            </a:extLst>
          </p:cNvPr>
          <p:cNvSpPr/>
          <p:nvPr/>
        </p:nvSpPr>
        <p:spPr>
          <a:xfrm>
            <a:off x="2483761" y="1192339"/>
            <a:ext cx="9150890" cy="4996542"/>
          </a:xfrm>
          <a:custGeom>
            <a:avLst/>
            <a:gdLst/>
            <a:ahLst/>
            <a:cxnLst/>
            <a:rect l="l" t="t" r="r" b="b"/>
            <a:pathLst>
              <a:path w="14426731" h="7916669">
                <a:moveTo>
                  <a:pt x="0" y="0"/>
                </a:moveTo>
                <a:lnTo>
                  <a:pt x="14426732" y="0"/>
                </a:lnTo>
                <a:lnTo>
                  <a:pt x="14426732" y="7916669"/>
                </a:lnTo>
                <a:lnTo>
                  <a:pt x="0" y="7916669"/>
                </a:lnTo>
                <a:lnTo>
                  <a:pt x="0" y="0"/>
                </a:lnTo>
                <a:close/>
              </a:path>
            </a:pathLst>
          </a:custGeom>
          <a:blipFill>
            <a:blip r:embed="rId3"/>
            <a:stretch>
              <a:fillRect/>
            </a:stretch>
          </a:blip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p>
      <p:sp>
        <p:nvSpPr>
          <p:cNvPr id="5" name="CuadroTexto 4">
            <a:extLst>
              <a:ext uri="{FF2B5EF4-FFF2-40B4-BE49-F238E27FC236}">
                <a16:creationId xmlns:a16="http://schemas.microsoft.com/office/drawing/2014/main" id="{721EC968-5FF5-48ED-ABEA-57307C05B272}"/>
              </a:ext>
            </a:extLst>
          </p:cNvPr>
          <p:cNvSpPr txBox="1"/>
          <p:nvPr/>
        </p:nvSpPr>
        <p:spPr>
          <a:xfrm>
            <a:off x="854529" y="6399021"/>
            <a:ext cx="10190475" cy="430887"/>
          </a:xfrm>
          <a:prstGeom prst="rect">
            <a:avLst/>
          </a:prstGeom>
          <a:noFill/>
        </p:spPr>
        <p:txBody>
          <a:bodyPr wrap="square">
            <a:spAutoFit/>
          </a:bodyPr>
          <a:lstStyle/>
          <a:p>
            <a:pPr algn="ctr"/>
            <a:r>
              <a:rPr lang="en-US" sz="1100" b="0" dirty="0">
                <a:solidFill>
                  <a:schemeClr val="bg2">
                    <a:lumMod val="25000"/>
                  </a:schemeClr>
                </a:solidFill>
                <a:effectLst/>
              </a:rPr>
              <a:t>TOMADO DE: Mullens W, et al. The use of diuretics in heart failure with congestion – a position statement from the Heart Failure Association of the European Society of Cardiology. Eur J Heart Fail. 2019 Feb;21(2):137–55. </a:t>
            </a:r>
            <a:r>
              <a:rPr lang="en-US" sz="1100" b="0" dirty="0" err="1">
                <a:solidFill>
                  <a:schemeClr val="bg2">
                    <a:lumMod val="25000"/>
                  </a:schemeClr>
                </a:solidFill>
                <a:effectLst/>
              </a:rPr>
              <a:t>doi</a:t>
            </a:r>
            <a:r>
              <a:rPr lang="en-US" sz="1100" b="0" dirty="0">
                <a:solidFill>
                  <a:schemeClr val="bg2">
                    <a:lumMod val="25000"/>
                  </a:schemeClr>
                </a:solidFill>
                <a:effectLst/>
              </a:rPr>
              <a:t>: 10.1002/ejhf.1369.</a:t>
            </a:r>
            <a:endParaRPr lang="es-CO" sz="1100" dirty="0">
              <a:solidFill>
                <a:schemeClr val="bg2">
                  <a:lumMod val="25000"/>
                </a:schemeClr>
              </a:solidFill>
            </a:endParaRPr>
          </a:p>
        </p:txBody>
      </p:sp>
      <p:sp>
        <p:nvSpPr>
          <p:cNvPr id="6" name="CuadroTexto 5">
            <a:extLst>
              <a:ext uri="{FF2B5EF4-FFF2-40B4-BE49-F238E27FC236}">
                <a16:creationId xmlns:a16="http://schemas.microsoft.com/office/drawing/2014/main" id="{EC04B464-8BFE-47BA-9D4B-0C9F31B11956}"/>
              </a:ext>
            </a:extLst>
          </p:cNvPr>
          <p:cNvSpPr txBox="1"/>
          <p:nvPr/>
        </p:nvSpPr>
        <p:spPr>
          <a:xfrm>
            <a:off x="2879772" y="302439"/>
            <a:ext cx="8358867" cy="523220"/>
          </a:xfrm>
          <a:prstGeom prst="rect">
            <a:avLst/>
          </a:prstGeom>
          <a:noFill/>
        </p:spPr>
        <p:txBody>
          <a:bodyPr wrap="square" rtlCol="0">
            <a:spAutoFit/>
          </a:bodyPr>
          <a:lstStyle/>
          <a:p>
            <a:pPr algn="ctr"/>
            <a:r>
              <a:rPr lang="en-US" sz="2800" b="1" dirty="0">
                <a:solidFill>
                  <a:schemeClr val="accent6">
                    <a:lumMod val="50000"/>
                  </a:schemeClr>
                </a:solidFill>
                <a:latin typeface="Glacial Indifference Bold"/>
                <a:ea typeface="Glacial Indifference Bold"/>
                <a:cs typeface="Glacial Indifference Bold"/>
                <a:sym typeface="Glacial Indifference Bold"/>
              </a:rPr>
              <a:t>Base del Tratamiento: Diuréticos de </a:t>
            </a:r>
            <a:r>
              <a:rPr lang="en-US" sz="2800" b="1" dirty="0" err="1">
                <a:solidFill>
                  <a:schemeClr val="accent6">
                    <a:lumMod val="50000"/>
                  </a:schemeClr>
                </a:solidFill>
                <a:latin typeface="Glacial Indifference Bold"/>
                <a:ea typeface="Glacial Indifference Bold"/>
                <a:cs typeface="Glacial Indifference Bold"/>
                <a:sym typeface="Glacial Indifference Bold"/>
              </a:rPr>
              <a:t>asa</a:t>
            </a:r>
            <a:endParaRPr lang="en-US" sz="2800" b="1" dirty="0">
              <a:solidFill>
                <a:schemeClr val="accent6">
                  <a:lumMod val="50000"/>
                </a:schemeClr>
              </a:solidFill>
              <a:latin typeface="Glacial Indifference Bold"/>
              <a:ea typeface="Glacial Indifference Bold"/>
              <a:cs typeface="Glacial Indifference Bold"/>
              <a:sym typeface="Glacial Indifference Bold"/>
            </a:endParaRPr>
          </a:p>
        </p:txBody>
      </p:sp>
    </p:spTree>
    <p:extLst>
      <p:ext uri="{BB962C8B-B14F-4D97-AF65-F5344CB8AC3E}">
        <p14:creationId xmlns:p14="http://schemas.microsoft.com/office/powerpoint/2010/main" val="1937892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pic>
        <p:nvPicPr>
          <p:cNvPr id="7" name="Image 0" descr="preencoded.png">
            <a:extLst>
              <a:ext uri="{FF2B5EF4-FFF2-40B4-BE49-F238E27FC236}">
                <a16:creationId xmlns:a16="http://schemas.microsoft.com/office/drawing/2014/main" id="{2346CD35-908E-4182-BB90-F502C7ED8109}"/>
              </a:ext>
            </a:extLst>
          </p:cNvPr>
          <p:cNvPicPr>
            <a:picLocks noChangeAspect="1"/>
          </p:cNvPicPr>
          <p:nvPr/>
        </p:nvPicPr>
        <p:blipFill>
          <a:blip r:embed="rId3"/>
          <a:srcRect/>
          <a:stretch/>
        </p:blipFill>
        <p:spPr>
          <a:xfrm>
            <a:off x="5810098" y="809244"/>
            <a:ext cx="571500" cy="571500"/>
          </a:xfrm>
          <a:prstGeom prst="rect">
            <a:avLst/>
          </a:prstGeom>
        </p:spPr>
      </p:pic>
      <p:sp>
        <p:nvSpPr>
          <p:cNvPr id="8" name="Text 5">
            <a:extLst>
              <a:ext uri="{FF2B5EF4-FFF2-40B4-BE49-F238E27FC236}">
                <a16:creationId xmlns:a16="http://schemas.microsoft.com/office/drawing/2014/main" id="{67841C3E-27AE-4B6B-A3B4-9206EAF8A1F3}"/>
              </a:ext>
            </a:extLst>
          </p:cNvPr>
          <p:cNvSpPr txBox="1"/>
          <p:nvPr/>
        </p:nvSpPr>
        <p:spPr>
          <a:xfrm>
            <a:off x="2617013" y="1561795"/>
            <a:ext cx="7306056" cy="1467612"/>
          </a:xfrm>
          <a:prstGeom prst="rect">
            <a:avLst/>
          </a:prstGeom>
          <a:noFill/>
          <a:ln/>
        </p:spPr>
        <p:txBody>
          <a:bodyPr wrap="square" lIns="0" tIns="0" rIns="0" bIns="0" rtlCol="0" anchor="ctr"/>
          <a:lstStyle/>
          <a:p>
            <a:pPr marL="0" indent="0" algn="ctr">
              <a:buNone/>
            </a:pPr>
            <a:r>
              <a:rPr lang="en-US" sz="3600" b="1" dirty="0">
                <a:solidFill>
                  <a:srgbClr val="003366"/>
                </a:solidFill>
                <a:latin typeface="Montserrat" pitchFamily="34" charset="0"/>
                <a:ea typeface="Montserrat" pitchFamily="34" charset="-122"/>
                <a:cs typeface="Montserrat" pitchFamily="34" charset="-120"/>
              </a:rPr>
              <a:t>Estudio DOSE: Estrategias de Diuréticos en Insuficiencia Cardíaca Aguda</a:t>
            </a:r>
            <a:endParaRPr lang="en-US" sz="3600" dirty="0"/>
          </a:p>
        </p:txBody>
      </p:sp>
      <p:sp>
        <p:nvSpPr>
          <p:cNvPr id="9" name="Text 6">
            <a:extLst>
              <a:ext uri="{FF2B5EF4-FFF2-40B4-BE49-F238E27FC236}">
                <a16:creationId xmlns:a16="http://schemas.microsoft.com/office/drawing/2014/main" id="{07A0E910-3CF2-47B7-A380-07E5D63CADBD}"/>
              </a:ext>
            </a:extLst>
          </p:cNvPr>
          <p:cNvSpPr txBox="1"/>
          <p:nvPr/>
        </p:nvSpPr>
        <p:spPr>
          <a:xfrm>
            <a:off x="3582619" y="3143707"/>
            <a:ext cx="5201107" cy="277063"/>
          </a:xfrm>
          <a:prstGeom prst="rect">
            <a:avLst/>
          </a:prstGeom>
          <a:noFill/>
          <a:ln/>
        </p:spPr>
        <p:txBody>
          <a:bodyPr wrap="square" lIns="0" tIns="0" rIns="0" bIns="0" rtlCol="0" anchor="ctr"/>
          <a:lstStyle/>
          <a:p>
            <a:pPr marL="0" indent="0" algn="ctr">
              <a:buNone/>
            </a:pPr>
            <a:r>
              <a:rPr lang="en-US" sz="1800" dirty="0">
                <a:solidFill>
                  <a:srgbClr val="0055A4"/>
                </a:solidFill>
                <a:latin typeface="Montserrat" pitchFamily="34" charset="0"/>
                <a:ea typeface="Montserrat" pitchFamily="34" charset="-122"/>
                <a:cs typeface="Montserrat" pitchFamily="34" charset="-120"/>
              </a:rPr>
              <a:t>Diuretic Optimization Strategies Evaluation</a:t>
            </a:r>
            <a:endParaRPr lang="en-US" sz="1800" dirty="0"/>
          </a:p>
        </p:txBody>
      </p:sp>
      <p:sp>
        <p:nvSpPr>
          <p:cNvPr id="10" name="Text 8">
            <a:extLst>
              <a:ext uri="{FF2B5EF4-FFF2-40B4-BE49-F238E27FC236}">
                <a16:creationId xmlns:a16="http://schemas.microsoft.com/office/drawing/2014/main" id="{140A83C6-9128-412E-B4BC-02BE96B4737B}"/>
              </a:ext>
            </a:extLst>
          </p:cNvPr>
          <p:cNvSpPr txBox="1"/>
          <p:nvPr/>
        </p:nvSpPr>
        <p:spPr>
          <a:xfrm>
            <a:off x="4292194" y="4000500"/>
            <a:ext cx="3753612" cy="228600"/>
          </a:xfrm>
          <a:prstGeom prst="rect">
            <a:avLst/>
          </a:prstGeom>
          <a:noFill/>
          <a:ln/>
        </p:spPr>
        <p:txBody>
          <a:bodyPr wrap="square" lIns="0" tIns="0" rIns="0" bIns="0" rtlCol="0" anchor="ctr"/>
          <a:lstStyle/>
          <a:p>
            <a:pPr marL="0" indent="0" algn="ctr">
              <a:buNone/>
            </a:pPr>
            <a:r>
              <a:rPr lang="en-US" sz="1500" dirty="0">
                <a:solidFill>
                  <a:srgbClr val="003366"/>
                </a:solidFill>
                <a:latin typeface="Roboto" pitchFamily="34" charset="0"/>
                <a:ea typeface="Roboto" pitchFamily="34" charset="-122"/>
                <a:cs typeface="Roboto" pitchFamily="34" charset="-120"/>
              </a:rPr>
              <a:t>Felker GM, et al. NEJM 2011;364:797–805</a:t>
            </a:r>
            <a:endParaRPr lang="en-US" sz="1500" dirty="0"/>
          </a:p>
        </p:txBody>
      </p:sp>
    </p:spTree>
    <p:extLst>
      <p:ext uri="{BB962C8B-B14F-4D97-AF65-F5344CB8AC3E}">
        <p14:creationId xmlns:p14="http://schemas.microsoft.com/office/powerpoint/2010/main" val="403510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12191695" cy="609905"/>
          </a:xfrm>
          <a:prstGeom prst="rect">
            <a:avLst/>
          </a:prstGeom>
          <a:solidFill>
            <a:schemeClr val="accent6"/>
          </a:solidFill>
          <a:ln/>
        </p:spPr>
      </p:sp>
      <p:sp>
        <p:nvSpPr>
          <p:cNvPr id="4" name="Text 2"/>
          <p:cNvSpPr txBox="1"/>
          <p:nvPr/>
        </p:nvSpPr>
        <p:spPr>
          <a:xfrm>
            <a:off x="304495" y="161849"/>
            <a:ext cx="1295705" cy="277063"/>
          </a:xfrm>
          <a:prstGeom prst="rect">
            <a:avLst/>
          </a:prstGeom>
          <a:noFill/>
          <a:ln/>
        </p:spPr>
        <p:txBody>
          <a:bodyPr wrap="square" lIns="0" tIns="0" rIns="0" bIns="0" rtlCol="0" anchor="ctr"/>
          <a:lstStyle/>
          <a:p>
            <a:pPr marL="0" indent="0" algn="l">
              <a:buNone/>
            </a:pPr>
            <a:r>
              <a:rPr lang="en-US" sz="1800" b="1" dirty="0">
                <a:solidFill>
                  <a:srgbClr val="FFFFFF"/>
                </a:solidFill>
                <a:latin typeface="Montserrat" pitchFamily="34" charset="0"/>
                <a:ea typeface="Montserrat" pitchFamily="34" charset="-122"/>
                <a:cs typeface="Montserrat" pitchFamily="34" charset="-120"/>
              </a:rPr>
              <a:t>Objetivos</a:t>
            </a:r>
            <a:endParaRPr lang="en-US" sz="1800" dirty="0"/>
          </a:p>
        </p:txBody>
      </p:sp>
      <p:sp>
        <p:nvSpPr>
          <p:cNvPr id="6" name="Shape 4"/>
          <p:cNvSpPr/>
          <p:nvPr/>
        </p:nvSpPr>
        <p:spPr>
          <a:xfrm>
            <a:off x="0" y="6385255"/>
            <a:ext cx="12191695" cy="476402"/>
          </a:xfrm>
          <a:prstGeom prst="rect">
            <a:avLst/>
          </a:prstGeom>
          <a:solidFill>
            <a:srgbClr val="F2F2F2"/>
          </a:solidFill>
          <a:ln/>
        </p:spPr>
      </p:sp>
      <p:sp>
        <p:nvSpPr>
          <p:cNvPr id="7" name="Shape 5"/>
          <p:cNvSpPr/>
          <p:nvPr/>
        </p:nvSpPr>
        <p:spPr>
          <a:xfrm>
            <a:off x="0" y="6385255"/>
            <a:ext cx="12191695" cy="38405"/>
          </a:xfrm>
          <a:prstGeom prst="rect">
            <a:avLst/>
          </a:prstGeom>
          <a:solidFill>
            <a:srgbClr val="D9230F"/>
          </a:solidFill>
          <a:ln/>
        </p:spPr>
      </p:sp>
      <p:sp>
        <p:nvSpPr>
          <p:cNvPr id="8" name="Text 6"/>
          <p:cNvSpPr txBox="1"/>
          <p:nvPr/>
        </p:nvSpPr>
        <p:spPr>
          <a:xfrm>
            <a:off x="304495" y="6557162"/>
            <a:ext cx="2876702" cy="162763"/>
          </a:xfrm>
          <a:prstGeom prst="rect">
            <a:avLst/>
          </a:prstGeom>
          <a:noFill/>
          <a:ln/>
        </p:spPr>
        <p:txBody>
          <a:bodyPr wrap="square" lIns="0" tIns="0" rIns="0" bIns="0" rtlCol="0" anchor="ctr"/>
          <a:lstStyle/>
          <a:p>
            <a:pPr marL="0" indent="0" algn="l">
              <a:buNone/>
            </a:pPr>
            <a:r>
              <a:rPr lang="en-US" sz="1100" dirty="0">
                <a:solidFill>
                  <a:srgbClr val="555555"/>
                </a:solidFill>
                <a:latin typeface="Roboto" pitchFamily="34" charset="0"/>
                <a:ea typeface="Roboto" pitchFamily="34" charset="-122"/>
                <a:cs typeface="Roboto" pitchFamily="34" charset="-120"/>
              </a:rPr>
              <a:t>Estudio DOSE: Estrategias de Diuréticos en IC</a:t>
            </a:r>
            <a:endParaRPr lang="en-US" sz="1100" dirty="0"/>
          </a:p>
        </p:txBody>
      </p:sp>
      <p:sp>
        <p:nvSpPr>
          <p:cNvPr id="9" name="Text 7"/>
          <p:cNvSpPr txBox="1"/>
          <p:nvPr/>
        </p:nvSpPr>
        <p:spPr>
          <a:xfrm>
            <a:off x="10328148" y="6557162"/>
            <a:ext cx="1666951" cy="162763"/>
          </a:xfrm>
          <a:prstGeom prst="rect">
            <a:avLst/>
          </a:prstGeom>
          <a:noFill/>
          <a:ln/>
        </p:spPr>
        <p:txBody>
          <a:bodyPr wrap="square" lIns="0" tIns="0" rIns="0" bIns="0" rtlCol="0" anchor="ctr"/>
          <a:lstStyle/>
          <a:p>
            <a:pPr marL="0" indent="0" algn="l">
              <a:buNone/>
            </a:pPr>
            <a:r>
              <a:rPr lang="en-US" sz="1100" dirty="0">
                <a:solidFill>
                  <a:srgbClr val="555555"/>
                </a:solidFill>
                <a:latin typeface="Roboto" pitchFamily="34" charset="0"/>
                <a:ea typeface="Roboto" pitchFamily="34" charset="-122"/>
                <a:cs typeface="Roboto" pitchFamily="34" charset="-120"/>
              </a:rPr>
              <a:t>NEJM 2011;364:797–805</a:t>
            </a:r>
            <a:endParaRPr lang="en-US" sz="1100" dirty="0"/>
          </a:p>
        </p:txBody>
      </p:sp>
      <p:sp>
        <p:nvSpPr>
          <p:cNvPr id="10" name="Text 8"/>
          <p:cNvSpPr txBox="1"/>
          <p:nvPr/>
        </p:nvSpPr>
        <p:spPr>
          <a:xfrm>
            <a:off x="457200" y="1086307"/>
            <a:ext cx="3248863" cy="228600"/>
          </a:xfrm>
          <a:prstGeom prst="rect">
            <a:avLst/>
          </a:prstGeom>
          <a:noFill/>
          <a:ln/>
        </p:spPr>
        <p:txBody>
          <a:bodyPr wrap="square" lIns="0" tIns="0" rIns="0" bIns="0" rtlCol="0" anchor="ctr"/>
          <a:lstStyle/>
          <a:p>
            <a:pPr marL="0" indent="0" algn="l">
              <a:buNone/>
            </a:pPr>
            <a:r>
              <a:rPr lang="en-US" sz="1500" dirty="0">
                <a:solidFill>
                  <a:srgbClr val="333333"/>
                </a:solidFill>
                <a:latin typeface="Roboto" pitchFamily="34" charset="0"/>
                <a:ea typeface="Roboto" pitchFamily="34" charset="-122"/>
                <a:cs typeface="Roboto" pitchFamily="34" charset="-120"/>
              </a:rPr>
              <a:t>Comparar la eficacia y seguridad de:</a:t>
            </a:r>
            <a:endParaRPr lang="en-US" sz="1500" dirty="0"/>
          </a:p>
        </p:txBody>
      </p:sp>
      <p:sp>
        <p:nvSpPr>
          <p:cNvPr id="11" name="Shape 9"/>
          <p:cNvSpPr/>
          <p:nvPr/>
        </p:nvSpPr>
        <p:spPr>
          <a:xfrm>
            <a:off x="457200" y="1524305"/>
            <a:ext cx="11277295" cy="1104595"/>
          </a:xfrm>
          <a:prstGeom prst="rect">
            <a:avLst/>
          </a:prstGeom>
          <a:solidFill>
            <a:srgbClr val="F7F9FC"/>
          </a:solidFill>
          <a:ln/>
        </p:spPr>
      </p:sp>
      <p:sp>
        <p:nvSpPr>
          <p:cNvPr id="12" name="Shape 10"/>
          <p:cNvSpPr/>
          <p:nvPr/>
        </p:nvSpPr>
        <p:spPr>
          <a:xfrm>
            <a:off x="457200" y="1524305"/>
            <a:ext cx="38405" cy="1104595"/>
          </a:xfrm>
          <a:prstGeom prst="rect">
            <a:avLst/>
          </a:prstGeom>
          <a:solidFill>
            <a:srgbClr val="003366"/>
          </a:solidFill>
          <a:ln/>
        </p:spPr>
      </p:sp>
      <p:sp>
        <p:nvSpPr>
          <p:cNvPr id="13" name="Text 11"/>
          <p:cNvSpPr txBox="1"/>
          <p:nvPr/>
        </p:nvSpPr>
        <p:spPr>
          <a:xfrm>
            <a:off x="724205" y="1705356"/>
            <a:ext cx="3353105"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Comparación #1: Modo de administración</a:t>
            </a:r>
            <a:endParaRPr lang="en-US" sz="1400" dirty="0"/>
          </a:p>
        </p:txBody>
      </p:sp>
      <p:pic>
        <p:nvPicPr>
          <p:cNvPr id="14" name="Image 0" descr="preencoded.png"/>
          <p:cNvPicPr>
            <a:picLocks noChangeAspect="1"/>
          </p:cNvPicPr>
          <p:nvPr/>
        </p:nvPicPr>
        <p:blipFill>
          <a:blip r:embed="rId3"/>
          <a:srcRect/>
          <a:stretch/>
        </p:blipFill>
        <p:spPr>
          <a:xfrm>
            <a:off x="724205" y="2057400"/>
            <a:ext cx="171907" cy="171907"/>
          </a:xfrm>
          <a:prstGeom prst="rect">
            <a:avLst/>
          </a:prstGeom>
        </p:spPr>
      </p:pic>
      <p:sp>
        <p:nvSpPr>
          <p:cNvPr id="15" name="Shape 12"/>
          <p:cNvSpPr/>
          <p:nvPr/>
        </p:nvSpPr>
        <p:spPr>
          <a:xfrm>
            <a:off x="457200" y="2850185"/>
            <a:ext cx="11277295" cy="1104595"/>
          </a:xfrm>
          <a:prstGeom prst="rect">
            <a:avLst/>
          </a:prstGeom>
          <a:solidFill>
            <a:srgbClr val="F7F9FC"/>
          </a:solidFill>
          <a:ln/>
        </p:spPr>
      </p:sp>
      <p:sp>
        <p:nvSpPr>
          <p:cNvPr id="16" name="Shape 13"/>
          <p:cNvSpPr/>
          <p:nvPr/>
        </p:nvSpPr>
        <p:spPr>
          <a:xfrm>
            <a:off x="457200" y="2850185"/>
            <a:ext cx="38405" cy="1104595"/>
          </a:xfrm>
          <a:prstGeom prst="rect">
            <a:avLst/>
          </a:prstGeom>
          <a:solidFill>
            <a:srgbClr val="003366"/>
          </a:solidFill>
          <a:ln/>
        </p:spPr>
      </p:sp>
      <p:sp>
        <p:nvSpPr>
          <p:cNvPr id="17" name="Text 14"/>
          <p:cNvSpPr txBox="1"/>
          <p:nvPr/>
        </p:nvSpPr>
        <p:spPr>
          <a:xfrm>
            <a:off x="724205" y="3030322"/>
            <a:ext cx="3477463"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Comparación #2: Estrategia de dosificación</a:t>
            </a:r>
            <a:endParaRPr lang="en-US" sz="1400" dirty="0"/>
          </a:p>
        </p:txBody>
      </p:sp>
      <p:sp>
        <p:nvSpPr>
          <p:cNvPr id="18" name="Text 15"/>
          <p:cNvSpPr txBox="1"/>
          <p:nvPr/>
        </p:nvSpPr>
        <p:spPr>
          <a:xfrm>
            <a:off x="1047902" y="2048256"/>
            <a:ext cx="1467612"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Furosemida IV en</a:t>
            </a:r>
            <a:endParaRPr lang="en-US" sz="1400" dirty="0"/>
          </a:p>
        </p:txBody>
      </p:sp>
      <p:sp>
        <p:nvSpPr>
          <p:cNvPr id="19" name="Text 16"/>
          <p:cNvSpPr txBox="1"/>
          <p:nvPr/>
        </p:nvSpPr>
        <p:spPr>
          <a:xfrm>
            <a:off x="1806854" y="3373222"/>
            <a:ext cx="1638605"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 dosis oral previa)</a:t>
            </a:r>
            <a:endParaRPr lang="en-US" sz="1400" dirty="0"/>
          </a:p>
        </p:txBody>
      </p:sp>
      <p:sp>
        <p:nvSpPr>
          <p:cNvPr id="20" name="Text 17"/>
          <p:cNvSpPr txBox="1"/>
          <p:nvPr/>
        </p:nvSpPr>
        <p:spPr>
          <a:xfrm>
            <a:off x="4239158" y="3373222"/>
            <a:ext cx="1877263"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(2.5× dosis oral previa)</a:t>
            </a:r>
            <a:endParaRPr lang="en-US" sz="1400" dirty="0"/>
          </a:p>
        </p:txBody>
      </p:sp>
      <p:sp>
        <p:nvSpPr>
          <p:cNvPr id="21" name="Text 18"/>
          <p:cNvSpPr txBox="1"/>
          <p:nvPr/>
        </p:nvSpPr>
        <p:spPr>
          <a:xfrm>
            <a:off x="2377440" y="2048256"/>
            <a:ext cx="1219810" cy="200254"/>
          </a:xfrm>
          <a:prstGeom prst="rect">
            <a:avLst/>
          </a:prstGeom>
          <a:noFill/>
          <a:ln/>
        </p:spPr>
        <p:txBody>
          <a:bodyPr wrap="square" lIns="0" tIns="0" rIns="0" bIns="0" rtlCol="0" anchor="ctr"/>
          <a:lstStyle/>
          <a:p>
            <a:pPr marL="0" indent="0" algn="l">
              <a:buNone/>
            </a:pPr>
            <a:r>
              <a:rPr lang="en-US" sz="1400" b="1" dirty="0">
                <a:solidFill>
                  <a:srgbClr val="333333"/>
                </a:solidFill>
                <a:latin typeface="Roboto" pitchFamily="34" charset="0"/>
                <a:ea typeface="Roboto" pitchFamily="34" charset="-122"/>
                <a:cs typeface="Roboto" pitchFamily="34" charset="-120"/>
              </a:rPr>
              <a:t>bolo cada 12h</a:t>
            </a:r>
            <a:endParaRPr lang="en-US" sz="1400" dirty="0"/>
          </a:p>
        </p:txBody>
      </p:sp>
      <p:sp>
        <p:nvSpPr>
          <p:cNvPr id="22" name="Text 19"/>
          <p:cNvSpPr txBox="1"/>
          <p:nvPr/>
        </p:nvSpPr>
        <p:spPr>
          <a:xfrm>
            <a:off x="3631997" y="2048256"/>
            <a:ext cx="1476756" cy="200254"/>
          </a:xfrm>
          <a:prstGeom prst="rect">
            <a:avLst/>
          </a:prstGeom>
          <a:noFill/>
          <a:ln/>
        </p:spPr>
        <p:txBody>
          <a:bodyPr wrap="square" lIns="0" tIns="0" rIns="0" bIns="0" rtlCol="0" anchor="ctr"/>
          <a:lstStyle/>
          <a:p>
            <a:pPr marL="0" indent="0" algn="l">
              <a:buNone/>
            </a:pPr>
            <a:r>
              <a:rPr lang="en-US" sz="1400" b="1" dirty="0">
                <a:solidFill>
                  <a:srgbClr val="333333"/>
                </a:solidFill>
                <a:latin typeface="Roboto" pitchFamily="34" charset="0"/>
                <a:ea typeface="Roboto" pitchFamily="34" charset="-122"/>
                <a:cs typeface="Roboto" pitchFamily="34" charset="-120"/>
              </a:rPr>
              <a:t>infusión continua</a:t>
            </a:r>
            <a:endParaRPr lang="en-US" sz="1400" dirty="0"/>
          </a:p>
        </p:txBody>
      </p:sp>
      <p:sp>
        <p:nvSpPr>
          <p:cNvPr id="23" name="Text 20"/>
          <p:cNvSpPr txBox="1"/>
          <p:nvPr/>
        </p:nvSpPr>
        <p:spPr>
          <a:xfrm>
            <a:off x="1009498" y="3373222"/>
            <a:ext cx="933602" cy="200254"/>
          </a:xfrm>
          <a:prstGeom prst="rect">
            <a:avLst/>
          </a:prstGeom>
          <a:noFill/>
          <a:ln/>
        </p:spPr>
        <p:txBody>
          <a:bodyPr wrap="square" lIns="0" tIns="0" rIns="0" bIns="0" rtlCol="0" anchor="ctr"/>
          <a:lstStyle/>
          <a:p>
            <a:pPr marL="0" indent="0" algn="l">
              <a:buNone/>
            </a:pPr>
            <a:r>
              <a:rPr lang="en-US" sz="1400" b="1" dirty="0">
                <a:solidFill>
                  <a:srgbClr val="333333"/>
                </a:solidFill>
                <a:latin typeface="Roboto" pitchFamily="34" charset="0"/>
                <a:ea typeface="Roboto" pitchFamily="34" charset="-122"/>
                <a:cs typeface="Roboto" pitchFamily="34" charset="-120"/>
              </a:rPr>
              <a:t>Dosis baja</a:t>
            </a:r>
            <a:endParaRPr lang="en-US" sz="1400" dirty="0"/>
          </a:p>
        </p:txBody>
      </p:sp>
      <p:sp>
        <p:nvSpPr>
          <p:cNvPr id="24" name="Text 21"/>
          <p:cNvSpPr txBox="1"/>
          <p:nvPr/>
        </p:nvSpPr>
        <p:spPr>
          <a:xfrm>
            <a:off x="3479292" y="3373222"/>
            <a:ext cx="896112" cy="200254"/>
          </a:xfrm>
          <a:prstGeom prst="rect">
            <a:avLst/>
          </a:prstGeom>
          <a:noFill/>
          <a:ln/>
        </p:spPr>
        <p:txBody>
          <a:bodyPr wrap="square" lIns="0" tIns="0" rIns="0" bIns="0" rtlCol="0" anchor="ctr"/>
          <a:lstStyle/>
          <a:p>
            <a:pPr marL="0" indent="0" algn="l">
              <a:buNone/>
            </a:pPr>
            <a:r>
              <a:rPr lang="en-US" sz="1400" b="1" dirty="0">
                <a:solidFill>
                  <a:srgbClr val="333333"/>
                </a:solidFill>
                <a:latin typeface="Roboto" pitchFamily="34" charset="0"/>
                <a:ea typeface="Roboto" pitchFamily="34" charset="-122"/>
                <a:cs typeface="Roboto" pitchFamily="34" charset="-120"/>
              </a:rPr>
              <a:t>Dosis alta</a:t>
            </a:r>
            <a:endParaRPr lang="en-US" sz="1400" dirty="0"/>
          </a:p>
        </p:txBody>
      </p:sp>
      <p:sp>
        <p:nvSpPr>
          <p:cNvPr id="25" name="Text 22"/>
          <p:cNvSpPr txBox="1"/>
          <p:nvPr/>
        </p:nvSpPr>
        <p:spPr>
          <a:xfrm>
            <a:off x="3460090" y="2048256"/>
            <a:ext cx="314554" cy="200254"/>
          </a:xfrm>
          <a:prstGeom prst="rect">
            <a:avLst/>
          </a:prstGeom>
          <a:noFill/>
          <a:ln/>
        </p:spPr>
        <p:txBody>
          <a:bodyPr wrap="square" lIns="0" tIns="0" rIns="0" bIns="0" rtlCol="0" anchor="ctr"/>
          <a:lstStyle/>
          <a:p>
            <a:pPr marL="0" indent="0" algn="l">
              <a:buNone/>
            </a:pPr>
            <a:r>
              <a:rPr lang="en-US" sz="1400" dirty="0">
                <a:solidFill>
                  <a:srgbClr val="6B7280"/>
                </a:solidFill>
                <a:latin typeface="Roboto" pitchFamily="34" charset="0"/>
                <a:ea typeface="Roboto" pitchFamily="34" charset="-122"/>
                <a:cs typeface="Roboto" pitchFamily="34" charset="-120"/>
              </a:rPr>
              <a:t>vs</a:t>
            </a:r>
            <a:endParaRPr lang="en-US" sz="1400" dirty="0"/>
          </a:p>
        </p:txBody>
      </p:sp>
      <p:pic>
        <p:nvPicPr>
          <p:cNvPr id="26" name="Image 1" descr="preencoded.png"/>
          <p:cNvPicPr>
            <a:picLocks noChangeAspect="1"/>
          </p:cNvPicPr>
          <p:nvPr/>
        </p:nvPicPr>
        <p:blipFill>
          <a:blip r:embed="rId4"/>
          <a:srcRect l="-1773" r="-1773"/>
          <a:stretch/>
        </p:blipFill>
        <p:spPr>
          <a:xfrm>
            <a:off x="724205" y="3383280"/>
            <a:ext cx="133502" cy="171907"/>
          </a:xfrm>
          <a:prstGeom prst="rect">
            <a:avLst/>
          </a:prstGeom>
        </p:spPr>
      </p:pic>
      <p:sp>
        <p:nvSpPr>
          <p:cNvPr id="27" name="Text 23"/>
          <p:cNvSpPr txBox="1"/>
          <p:nvPr/>
        </p:nvSpPr>
        <p:spPr>
          <a:xfrm>
            <a:off x="3308299" y="3373222"/>
            <a:ext cx="314554" cy="200254"/>
          </a:xfrm>
          <a:prstGeom prst="rect">
            <a:avLst/>
          </a:prstGeom>
          <a:noFill/>
          <a:ln/>
        </p:spPr>
        <p:txBody>
          <a:bodyPr wrap="square" lIns="0" tIns="0" rIns="0" bIns="0" rtlCol="0" anchor="ctr"/>
          <a:lstStyle/>
          <a:p>
            <a:pPr marL="0" indent="0" algn="l">
              <a:buNone/>
            </a:pPr>
            <a:r>
              <a:rPr lang="en-US" sz="1400" dirty="0">
                <a:solidFill>
                  <a:srgbClr val="6B7280"/>
                </a:solidFill>
                <a:latin typeface="Roboto" pitchFamily="34" charset="0"/>
                <a:ea typeface="Roboto" pitchFamily="34" charset="-122"/>
                <a:cs typeface="Roboto" pitchFamily="34" charset="-120"/>
              </a:rPr>
              <a:t>vs</a:t>
            </a:r>
            <a:endParaRPr lang="en-US" sz="1400" dirty="0"/>
          </a:p>
        </p:txBody>
      </p:sp>
      <p:sp>
        <p:nvSpPr>
          <p:cNvPr id="28" name="Text 24"/>
          <p:cNvSpPr txBox="1"/>
          <p:nvPr/>
        </p:nvSpPr>
        <p:spPr>
          <a:xfrm>
            <a:off x="457200" y="4194353"/>
            <a:ext cx="2876702" cy="228600"/>
          </a:xfrm>
          <a:prstGeom prst="rect">
            <a:avLst/>
          </a:prstGeom>
          <a:noFill/>
          <a:ln/>
        </p:spPr>
        <p:txBody>
          <a:bodyPr wrap="square" lIns="0" tIns="0" rIns="0" bIns="0" rtlCol="0" anchor="ctr"/>
          <a:lstStyle/>
          <a:p>
            <a:pPr marL="0" indent="0" algn="l">
              <a:buNone/>
            </a:pPr>
            <a:r>
              <a:rPr lang="en-US" sz="1500" dirty="0">
                <a:solidFill>
                  <a:srgbClr val="333333"/>
                </a:solidFill>
                <a:latin typeface="Roboto" pitchFamily="34" charset="0"/>
                <a:ea typeface="Roboto" pitchFamily="34" charset="-122"/>
                <a:cs typeface="Roboto" pitchFamily="34" charset="-120"/>
              </a:rPr>
              <a:t>Puntos de evaluación primarios:</a:t>
            </a:r>
            <a:endParaRPr lang="en-US" sz="1500" dirty="0"/>
          </a:p>
        </p:txBody>
      </p:sp>
      <p:sp>
        <p:nvSpPr>
          <p:cNvPr id="29" name="Shape 25"/>
          <p:cNvSpPr/>
          <p:nvPr/>
        </p:nvSpPr>
        <p:spPr>
          <a:xfrm>
            <a:off x="457200" y="4746650"/>
            <a:ext cx="5524805" cy="1200607"/>
          </a:xfrm>
          <a:prstGeom prst="roundRect">
            <a:avLst>
              <a:gd name="adj" fmla="val 2418"/>
            </a:avLst>
          </a:prstGeom>
          <a:solidFill>
            <a:srgbClr val="E8F0F9"/>
          </a:solidFill>
          <a:ln w="12700">
            <a:solidFill>
              <a:srgbClr val="ADC6E0"/>
            </a:solidFill>
            <a:prstDash val="solid"/>
          </a:ln>
        </p:spPr>
      </p:sp>
      <p:pic>
        <p:nvPicPr>
          <p:cNvPr id="30" name="Image 2" descr="preencoded.png"/>
          <p:cNvPicPr>
            <a:picLocks noChangeAspect="1"/>
          </p:cNvPicPr>
          <p:nvPr/>
        </p:nvPicPr>
        <p:blipFill>
          <a:blip r:embed="rId5"/>
          <a:srcRect/>
          <a:stretch/>
        </p:blipFill>
        <p:spPr>
          <a:xfrm>
            <a:off x="619049" y="4956962"/>
            <a:ext cx="171907" cy="171907"/>
          </a:xfrm>
          <a:prstGeom prst="rect">
            <a:avLst/>
          </a:prstGeom>
        </p:spPr>
      </p:pic>
      <p:sp>
        <p:nvSpPr>
          <p:cNvPr id="31" name="Shape 26"/>
          <p:cNvSpPr/>
          <p:nvPr/>
        </p:nvSpPr>
        <p:spPr>
          <a:xfrm>
            <a:off x="6210605" y="4746650"/>
            <a:ext cx="5524805" cy="1200607"/>
          </a:xfrm>
          <a:prstGeom prst="roundRect">
            <a:avLst>
              <a:gd name="adj" fmla="val 2418"/>
            </a:avLst>
          </a:prstGeom>
          <a:solidFill>
            <a:srgbClr val="E8F0F9"/>
          </a:solidFill>
          <a:ln w="12700">
            <a:solidFill>
              <a:srgbClr val="ADC6E0"/>
            </a:solidFill>
            <a:prstDash val="solid"/>
          </a:ln>
        </p:spPr>
      </p:sp>
      <p:sp>
        <p:nvSpPr>
          <p:cNvPr id="32" name="Text 27"/>
          <p:cNvSpPr txBox="1"/>
          <p:nvPr/>
        </p:nvSpPr>
        <p:spPr>
          <a:xfrm>
            <a:off x="905256" y="4937760"/>
            <a:ext cx="743407"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Eficacia</a:t>
            </a:r>
            <a:endParaRPr lang="en-US" sz="1400" dirty="0"/>
          </a:p>
        </p:txBody>
      </p:sp>
      <p:sp>
        <p:nvSpPr>
          <p:cNvPr id="33" name="Text 28"/>
          <p:cNvSpPr txBox="1"/>
          <p:nvPr/>
        </p:nvSpPr>
        <p:spPr>
          <a:xfrm>
            <a:off x="6486754" y="4937760"/>
            <a:ext cx="914400"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Seguridad</a:t>
            </a:r>
            <a:endParaRPr lang="en-US" sz="1400" dirty="0"/>
          </a:p>
        </p:txBody>
      </p:sp>
      <p:sp>
        <p:nvSpPr>
          <p:cNvPr id="34" name="Text 29"/>
          <p:cNvSpPr txBox="1"/>
          <p:nvPr/>
        </p:nvSpPr>
        <p:spPr>
          <a:xfrm>
            <a:off x="619049" y="5280660"/>
            <a:ext cx="5306263" cy="467258"/>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Evaluación global de síntomas por el paciente (AUC de escala visual analógica 0-72h)</a:t>
            </a:r>
            <a:endParaRPr lang="en-US" sz="1400" dirty="0"/>
          </a:p>
        </p:txBody>
      </p:sp>
      <p:sp>
        <p:nvSpPr>
          <p:cNvPr id="35" name="Text 30"/>
          <p:cNvSpPr txBox="1"/>
          <p:nvPr/>
        </p:nvSpPr>
        <p:spPr>
          <a:xfrm>
            <a:off x="6372454" y="5280660"/>
            <a:ext cx="4934102" cy="467258"/>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Cambio en la creatinina sérica desde el nivel basal hasta las 72 horas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609905"/>
          </a:xfrm>
          <a:prstGeom prst="rect">
            <a:avLst/>
          </a:prstGeom>
          <a:solidFill>
            <a:schemeClr val="accent6"/>
          </a:solidFill>
          <a:ln/>
        </p:spPr>
      </p:sp>
      <p:sp>
        <p:nvSpPr>
          <p:cNvPr id="4" name="Text 2"/>
          <p:cNvSpPr txBox="1"/>
          <p:nvPr/>
        </p:nvSpPr>
        <p:spPr>
          <a:xfrm>
            <a:off x="304495" y="161849"/>
            <a:ext cx="4038905" cy="277063"/>
          </a:xfrm>
          <a:prstGeom prst="rect">
            <a:avLst/>
          </a:prstGeom>
          <a:noFill/>
          <a:ln/>
        </p:spPr>
        <p:txBody>
          <a:bodyPr wrap="square" lIns="0" tIns="0" rIns="0" bIns="0" rtlCol="0" anchor="ctr"/>
          <a:lstStyle/>
          <a:p>
            <a:pPr marL="0" indent="0" algn="l">
              <a:buNone/>
            </a:pPr>
            <a:r>
              <a:rPr lang="en-US" sz="1800" b="1" dirty="0">
                <a:solidFill>
                  <a:srgbClr val="FFFFFF"/>
                </a:solidFill>
                <a:latin typeface="Montserrat" pitchFamily="34" charset="0"/>
                <a:ea typeface="Montserrat" pitchFamily="34" charset="-122"/>
                <a:cs typeface="Montserrat" pitchFamily="34" charset="-120"/>
              </a:rPr>
              <a:t>Criterios de Inclusión y Exclusión</a:t>
            </a:r>
            <a:endParaRPr lang="en-US" sz="1800" dirty="0"/>
          </a:p>
        </p:txBody>
      </p:sp>
      <p:sp>
        <p:nvSpPr>
          <p:cNvPr id="5" name="Shape 3"/>
          <p:cNvSpPr/>
          <p:nvPr/>
        </p:nvSpPr>
        <p:spPr>
          <a:xfrm>
            <a:off x="9334195" y="4000500"/>
            <a:ext cx="2857500" cy="2857500"/>
          </a:xfrm>
          <a:prstGeom prst="rect">
            <a:avLst/>
          </a:prstGeom>
          <a:solidFill>
            <a:srgbClr val="003366">
              <a:alpha val="7000"/>
            </a:srgbClr>
          </a:solidFill>
          <a:ln/>
        </p:spPr>
      </p:sp>
      <p:sp>
        <p:nvSpPr>
          <p:cNvPr id="6" name="Shape 4"/>
          <p:cNvSpPr/>
          <p:nvPr/>
        </p:nvSpPr>
        <p:spPr>
          <a:xfrm>
            <a:off x="0" y="6385255"/>
            <a:ext cx="12191695" cy="476402"/>
          </a:xfrm>
          <a:prstGeom prst="rect">
            <a:avLst/>
          </a:prstGeom>
          <a:solidFill>
            <a:srgbClr val="F2F2F2"/>
          </a:solidFill>
          <a:ln/>
        </p:spPr>
      </p:sp>
      <p:sp>
        <p:nvSpPr>
          <p:cNvPr id="7" name="Shape 5"/>
          <p:cNvSpPr/>
          <p:nvPr/>
        </p:nvSpPr>
        <p:spPr>
          <a:xfrm>
            <a:off x="0" y="6385255"/>
            <a:ext cx="12191695" cy="38405"/>
          </a:xfrm>
          <a:prstGeom prst="rect">
            <a:avLst/>
          </a:prstGeom>
          <a:solidFill>
            <a:srgbClr val="D9230F"/>
          </a:solidFill>
          <a:ln/>
        </p:spPr>
      </p:sp>
      <p:sp>
        <p:nvSpPr>
          <p:cNvPr id="8" name="Text 6"/>
          <p:cNvSpPr txBox="1"/>
          <p:nvPr/>
        </p:nvSpPr>
        <p:spPr>
          <a:xfrm>
            <a:off x="304495" y="6557162"/>
            <a:ext cx="2876702" cy="162763"/>
          </a:xfrm>
          <a:prstGeom prst="rect">
            <a:avLst/>
          </a:prstGeom>
          <a:noFill/>
          <a:ln/>
        </p:spPr>
        <p:txBody>
          <a:bodyPr wrap="square" lIns="0" tIns="0" rIns="0" bIns="0" rtlCol="0" anchor="ctr"/>
          <a:lstStyle/>
          <a:p>
            <a:pPr marL="0" indent="0" algn="l">
              <a:buNone/>
            </a:pPr>
            <a:r>
              <a:rPr lang="en-US" sz="1100" dirty="0">
                <a:solidFill>
                  <a:srgbClr val="555555"/>
                </a:solidFill>
                <a:latin typeface="Roboto" pitchFamily="34" charset="0"/>
                <a:ea typeface="Roboto" pitchFamily="34" charset="-122"/>
                <a:cs typeface="Roboto" pitchFamily="34" charset="-120"/>
              </a:rPr>
              <a:t>Estudio DOSE: Estrategias de Diuréticos en IC</a:t>
            </a:r>
            <a:endParaRPr lang="en-US" sz="1100" dirty="0"/>
          </a:p>
        </p:txBody>
      </p:sp>
      <p:sp>
        <p:nvSpPr>
          <p:cNvPr id="9" name="Text 7"/>
          <p:cNvSpPr txBox="1"/>
          <p:nvPr/>
        </p:nvSpPr>
        <p:spPr>
          <a:xfrm>
            <a:off x="10328148" y="6557162"/>
            <a:ext cx="1666951" cy="162763"/>
          </a:xfrm>
          <a:prstGeom prst="rect">
            <a:avLst/>
          </a:prstGeom>
          <a:noFill/>
          <a:ln/>
        </p:spPr>
        <p:txBody>
          <a:bodyPr wrap="square" lIns="0" tIns="0" rIns="0" bIns="0" rtlCol="0" anchor="ctr"/>
          <a:lstStyle/>
          <a:p>
            <a:pPr marL="0" indent="0" algn="l">
              <a:buNone/>
            </a:pPr>
            <a:r>
              <a:rPr lang="en-US" sz="1100" dirty="0">
                <a:solidFill>
                  <a:srgbClr val="555555"/>
                </a:solidFill>
                <a:latin typeface="Roboto" pitchFamily="34" charset="0"/>
                <a:ea typeface="Roboto" pitchFamily="34" charset="-122"/>
                <a:cs typeface="Roboto" pitchFamily="34" charset="-120"/>
              </a:rPr>
              <a:t>NEJM 2011;364:797–805</a:t>
            </a:r>
            <a:endParaRPr lang="en-US" sz="1100" dirty="0"/>
          </a:p>
        </p:txBody>
      </p:sp>
      <p:sp>
        <p:nvSpPr>
          <p:cNvPr id="10" name="Shape 8"/>
          <p:cNvSpPr/>
          <p:nvPr/>
        </p:nvSpPr>
        <p:spPr>
          <a:xfrm>
            <a:off x="457200" y="914400"/>
            <a:ext cx="5562295" cy="3238805"/>
          </a:xfrm>
          <a:prstGeom prst="roundRect">
            <a:avLst>
              <a:gd name="adj" fmla="val 664"/>
            </a:avLst>
          </a:prstGeom>
          <a:solidFill>
            <a:srgbClr val="008000">
              <a:alpha val="10000"/>
            </a:srgbClr>
          </a:solidFill>
          <a:ln/>
        </p:spPr>
      </p:sp>
      <p:sp>
        <p:nvSpPr>
          <p:cNvPr id="11" name="Shape 9"/>
          <p:cNvSpPr/>
          <p:nvPr/>
        </p:nvSpPr>
        <p:spPr>
          <a:xfrm>
            <a:off x="457200" y="914400"/>
            <a:ext cx="47549" cy="3238805"/>
          </a:xfrm>
          <a:prstGeom prst="rect">
            <a:avLst/>
          </a:prstGeom>
          <a:solidFill>
            <a:srgbClr val="006400"/>
          </a:solidFill>
          <a:ln/>
        </p:spPr>
      </p:sp>
      <p:sp>
        <p:nvSpPr>
          <p:cNvPr id="12" name="Text 10"/>
          <p:cNvSpPr txBox="1"/>
          <p:nvPr/>
        </p:nvSpPr>
        <p:spPr>
          <a:xfrm>
            <a:off x="657454" y="1086307"/>
            <a:ext cx="2220163" cy="228600"/>
          </a:xfrm>
          <a:prstGeom prst="rect">
            <a:avLst/>
          </a:prstGeom>
          <a:noFill/>
          <a:ln/>
        </p:spPr>
        <p:txBody>
          <a:bodyPr wrap="square" lIns="0" tIns="0" rIns="0" bIns="0" rtlCol="0" anchor="ctr"/>
          <a:lstStyle/>
          <a:p>
            <a:pPr marL="0" indent="0" algn="l">
              <a:buNone/>
            </a:pPr>
            <a:r>
              <a:rPr lang="en-US" sz="1500" b="1" dirty="0">
                <a:solidFill>
                  <a:srgbClr val="003366"/>
                </a:solidFill>
                <a:latin typeface="Montserrat" pitchFamily="34" charset="0"/>
                <a:ea typeface="Montserrat" pitchFamily="34" charset="-122"/>
                <a:cs typeface="Montserrat" pitchFamily="34" charset="-120"/>
              </a:rPr>
              <a:t>Criterios de Inclusión</a:t>
            </a:r>
            <a:endParaRPr lang="en-US" sz="1500" dirty="0"/>
          </a:p>
        </p:txBody>
      </p:sp>
      <p:pic>
        <p:nvPicPr>
          <p:cNvPr id="13" name="Image 0" descr="preencoded.png"/>
          <p:cNvPicPr>
            <a:picLocks noChangeAspect="1"/>
          </p:cNvPicPr>
          <p:nvPr/>
        </p:nvPicPr>
        <p:blipFill>
          <a:blip r:embed="rId3"/>
          <a:srcRect/>
          <a:stretch/>
        </p:blipFill>
        <p:spPr>
          <a:xfrm>
            <a:off x="657454" y="1524305"/>
            <a:ext cx="152705" cy="152705"/>
          </a:xfrm>
          <a:prstGeom prst="rect">
            <a:avLst/>
          </a:prstGeom>
        </p:spPr>
      </p:pic>
      <p:sp>
        <p:nvSpPr>
          <p:cNvPr id="14" name="Text 11"/>
          <p:cNvSpPr txBox="1"/>
          <p:nvPr/>
        </p:nvSpPr>
        <p:spPr>
          <a:xfrm>
            <a:off x="961949" y="1505102"/>
            <a:ext cx="3143707"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IC aguda descompensada (&lt;24 h de ingreso)</a:t>
            </a:r>
            <a:endParaRPr lang="en-US" sz="1200" dirty="0"/>
          </a:p>
        </p:txBody>
      </p:sp>
      <p:pic>
        <p:nvPicPr>
          <p:cNvPr id="15" name="Image 1" descr="preencoded.png"/>
          <p:cNvPicPr>
            <a:picLocks noChangeAspect="1"/>
          </p:cNvPicPr>
          <p:nvPr/>
        </p:nvPicPr>
        <p:blipFill>
          <a:blip r:embed="rId3"/>
          <a:srcRect/>
          <a:stretch/>
        </p:blipFill>
        <p:spPr>
          <a:xfrm>
            <a:off x="657454" y="1935785"/>
            <a:ext cx="152705" cy="152705"/>
          </a:xfrm>
          <a:prstGeom prst="rect">
            <a:avLst/>
          </a:prstGeom>
        </p:spPr>
      </p:pic>
      <p:sp>
        <p:nvSpPr>
          <p:cNvPr id="16" name="Text 12"/>
          <p:cNvSpPr txBox="1"/>
          <p:nvPr/>
        </p:nvSpPr>
        <p:spPr>
          <a:xfrm>
            <a:off x="961949" y="1916582"/>
            <a:ext cx="2677363"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≥1 síntoma (disnea, ortopnea, edema)</a:t>
            </a:r>
            <a:endParaRPr lang="en-US" sz="1200" dirty="0"/>
          </a:p>
        </p:txBody>
      </p:sp>
      <p:pic>
        <p:nvPicPr>
          <p:cNvPr id="17" name="Image 2" descr="preencoded.png"/>
          <p:cNvPicPr>
            <a:picLocks noChangeAspect="1"/>
          </p:cNvPicPr>
          <p:nvPr/>
        </p:nvPicPr>
        <p:blipFill>
          <a:blip r:embed="rId3"/>
          <a:srcRect/>
          <a:stretch/>
        </p:blipFill>
        <p:spPr>
          <a:xfrm>
            <a:off x="657454" y="2346350"/>
            <a:ext cx="152705" cy="152705"/>
          </a:xfrm>
          <a:prstGeom prst="rect">
            <a:avLst/>
          </a:prstGeom>
        </p:spPr>
      </p:pic>
      <p:sp>
        <p:nvSpPr>
          <p:cNvPr id="18" name="Text 13"/>
          <p:cNvSpPr txBox="1"/>
          <p:nvPr/>
        </p:nvSpPr>
        <p:spPr>
          <a:xfrm>
            <a:off x="961949" y="2328062"/>
            <a:ext cx="4905756"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≥1 signo (estertores, edema periférico, ascitis, congestión pulmonar en radiografía)</a:t>
            </a:r>
            <a:endParaRPr lang="en-US" sz="1200" dirty="0"/>
          </a:p>
        </p:txBody>
      </p:sp>
      <p:pic>
        <p:nvPicPr>
          <p:cNvPr id="19" name="Image 3" descr="preencoded.png"/>
          <p:cNvPicPr>
            <a:picLocks noChangeAspect="1"/>
          </p:cNvPicPr>
          <p:nvPr/>
        </p:nvPicPr>
        <p:blipFill>
          <a:blip r:embed="rId3"/>
          <a:srcRect/>
          <a:stretch/>
        </p:blipFill>
        <p:spPr>
          <a:xfrm>
            <a:off x="657454" y="2986430"/>
            <a:ext cx="152705" cy="152705"/>
          </a:xfrm>
          <a:prstGeom prst="rect">
            <a:avLst/>
          </a:prstGeom>
        </p:spPr>
      </p:pic>
      <p:sp>
        <p:nvSpPr>
          <p:cNvPr id="20" name="Text 14"/>
          <p:cNvSpPr txBox="1"/>
          <p:nvPr/>
        </p:nvSpPr>
        <p:spPr>
          <a:xfrm>
            <a:off x="961949" y="2967228"/>
            <a:ext cx="1571854"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Historia de IC crónica</a:t>
            </a:r>
            <a:endParaRPr lang="en-US" sz="1200" dirty="0"/>
          </a:p>
        </p:txBody>
      </p:sp>
      <p:pic>
        <p:nvPicPr>
          <p:cNvPr id="21" name="Image 4" descr="preencoded.png"/>
          <p:cNvPicPr>
            <a:picLocks noChangeAspect="1"/>
          </p:cNvPicPr>
          <p:nvPr/>
        </p:nvPicPr>
        <p:blipFill>
          <a:blip r:embed="rId3"/>
          <a:srcRect/>
          <a:stretch/>
        </p:blipFill>
        <p:spPr>
          <a:xfrm>
            <a:off x="657454" y="3397910"/>
            <a:ext cx="152705" cy="152705"/>
          </a:xfrm>
          <a:prstGeom prst="rect">
            <a:avLst/>
          </a:prstGeom>
        </p:spPr>
      </p:pic>
      <p:sp>
        <p:nvSpPr>
          <p:cNvPr id="22" name="Text 15"/>
          <p:cNvSpPr txBox="1"/>
          <p:nvPr/>
        </p:nvSpPr>
        <p:spPr>
          <a:xfrm>
            <a:off x="961949" y="3378708"/>
            <a:ext cx="3991356"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Tratamiento con diurético de asa oral ≥1 mes (80-240 mg furosemida/día o equivalente)</a:t>
            </a:r>
            <a:endParaRPr lang="en-US" sz="1200" dirty="0"/>
          </a:p>
        </p:txBody>
      </p:sp>
      <p:sp>
        <p:nvSpPr>
          <p:cNvPr id="23" name="Shape 16"/>
          <p:cNvSpPr/>
          <p:nvPr/>
        </p:nvSpPr>
        <p:spPr>
          <a:xfrm>
            <a:off x="6172200" y="914400"/>
            <a:ext cx="5562295" cy="2190902"/>
          </a:xfrm>
          <a:prstGeom prst="roundRect">
            <a:avLst>
              <a:gd name="adj" fmla="val 1452"/>
            </a:avLst>
          </a:prstGeom>
          <a:solidFill>
            <a:schemeClr val="accent6">
              <a:lumMod val="60000"/>
              <a:lumOff val="40000"/>
              <a:alpha val="10000"/>
            </a:schemeClr>
          </a:solidFill>
          <a:ln/>
        </p:spPr>
      </p:sp>
      <p:sp>
        <p:nvSpPr>
          <p:cNvPr id="24" name="Shape 17"/>
          <p:cNvSpPr/>
          <p:nvPr/>
        </p:nvSpPr>
        <p:spPr>
          <a:xfrm>
            <a:off x="6172200" y="914400"/>
            <a:ext cx="47549" cy="2190902"/>
          </a:xfrm>
          <a:prstGeom prst="rect">
            <a:avLst/>
          </a:prstGeom>
          <a:solidFill>
            <a:srgbClr val="8B0000"/>
          </a:solidFill>
          <a:ln/>
        </p:spPr>
      </p:sp>
      <p:sp>
        <p:nvSpPr>
          <p:cNvPr id="25" name="Text 18"/>
          <p:cNvSpPr txBox="1"/>
          <p:nvPr/>
        </p:nvSpPr>
        <p:spPr>
          <a:xfrm>
            <a:off x="6372454" y="1086307"/>
            <a:ext cx="2257654" cy="228600"/>
          </a:xfrm>
          <a:prstGeom prst="rect">
            <a:avLst/>
          </a:prstGeom>
          <a:noFill/>
          <a:ln/>
        </p:spPr>
        <p:txBody>
          <a:bodyPr wrap="square" lIns="0" tIns="0" rIns="0" bIns="0" rtlCol="0" anchor="ctr"/>
          <a:lstStyle/>
          <a:p>
            <a:pPr marL="0" indent="0" algn="l">
              <a:buNone/>
            </a:pPr>
            <a:r>
              <a:rPr lang="en-US" sz="1500" b="1" dirty="0">
                <a:solidFill>
                  <a:srgbClr val="003366"/>
                </a:solidFill>
                <a:latin typeface="Montserrat" pitchFamily="34" charset="0"/>
                <a:ea typeface="Montserrat" pitchFamily="34" charset="-122"/>
                <a:cs typeface="Montserrat" pitchFamily="34" charset="-120"/>
              </a:rPr>
              <a:t>Criterios de Exclusión</a:t>
            </a:r>
            <a:endParaRPr lang="en-US" sz="1500" dirty="0"/>
          </a:p>
        </p:txBody>
      </p:sp>
      <p:pic>
        <p:nvPicPr>
          <p:cNvPr id="26" name="Image 5" descr="preencoded.png"/>
          <p:cNvPicPr>
            <a:picLocks noChangeAspect="1"/>
          </p:cNvPicPr>
          <p:nvPr/>
        </p:nvPicPr>
        <p:blipFill>
          <a:blip r:embed="rId4"/>
          <a:srcRect/>
          <a:stretch/>
        </p:blipFill>
        <p:spPr>
          <a:xfrm>
            <a:off x="6372454" y="1524305"/>
            <a:ext cx="152705" cy="152705"/>
          </a:xfrm>
          <a:prstGeom prst="rect">
            <a:avLst/>
          </a:prstGeom>
        </p:spPr>
      </p:pic>
      <p:sp>
        <p:nvSpPr>
          <p:cNvPr id="27" name="Text 19"/>
          <p:cNvSpPr txBox="1"/>
          <p:nvPr/>
        </p:nvSpPr>
        <p:spPr>
          <a:xfrm>
            <a:off x="6676949" y="1505102"/>
            <a:ext cx="2543861"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Presión arterial sistólica &lt;90 mmHg</a:t>
            </a:r>
            <a:endParaRPr lang="en-US" sz="1200" dirty="0"/>
          </a:p>
        </p:txBody>
      </p:sp>
      <p:pic>
        <p:nvPicPr>
          <p:cNvPr id="28" name="Image 6" descr="preencoded.png"/>
          <p:cNvPicPr>
            <a:picLocks noChangeAspect="1"/>
          </p:cNvPicPr>
          <p:nvPr/>
        </p:nvPicPr>
        <p:blipFill>
          <a:blip r:embed="rId4"/>
          <a:srcRect/>
          <a:stretch/>
        </p:blipFill>
        <p:spPr>
          <a:xfrm>
            <a:off x="6372454" y="1935785"/>
            <a:ext cx="152705" cy="152705"/>
          </a:xfrm>
          <a:prstGeom prst="rect">
            <a:avLst/>
          </a:prstGeom>
        </p:spPr>
      </p:pic>
      <p:sp>
        <p:nvSpPr>
          <p:cNvPr id="29" name="Text 20"/>
          <p:cNvSpPr txBox="1"/>
          <p:nvPr/>
        </p:nvSpPr>
        <p:spPr>
          <a:xfrm>
            <a:off x="6676949" y="1916582"/>
            <a:ext cx="3210458"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Creatinina sérica &gt;3.0 mg/dL (&gt;265.2 μmol/L)</a:t>
            </a:r>
            <a:endParaRPr lang="en-US" sz="1200" dirty="0"/>
          </a:p>
        </p:txBody>
      </p:sp>
      <p:pic>
        <p:nvPicPr>
          <p:cNvPr id="30" name="Image 7" descr="preencoded.png"/>
          <p:cNvPicPr>
            <a:picLocks noChangeAspect="1"/>
          </p:cNvPicPr>
          <p:nvPr/>
        </p:nvPicPr>
        <p:blipFill>
          <a:blip r:embed="rId4"/>
          <a:srcRect/>
          <a:stretch/>
        </p:blipFill>
        <p:spPr>
          <a:xfrm>
            <a:off x="6372454" y="2346350"/>
            <a:ext cx="152705" cy="152705"/>
          </a:xfrm>
          <a:prstGeom prst="rect">
            <a:avLst/>
          </a:prstGeom>
        </p:spPr>
      </p:pic>
      <p:sp>
        <p:nvSpPr>
          <p:cNvPr id="31" name="Text 21"/>
          <p:cNvSpPr txBox="1"/>
          <p:nvPr/>
        </p:nvSpPr>
        <p:spPr>
          <a:xfrm>
            <a:off x="6676949" y="2328062"/>
            <a:ext cx="4829861"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Pacientes que requieren vasodilatadores o inotrópicos IV (otro que no sea digoxina)</a:t>
            </a:r>
            <a:endParaRPr lang="en-US" sz="1200" dirty="0"/>
          </a:p>
        </p:txBody>
      </p:sp>
      <p:sp>
        <p:nvSpPr>
          <p:cNvPr id="32" name="Shape 22"/>
          <p:cNvSpPr/>
          <p:nvPr/>
        </p:nvSpPr>
        <p:spPr>
          <a:xfrm>
            <a:off x="6172200" y="3329330"/>
            <a:ext cx="5562295" cy="990295"/>
          </a:xfrm>
          <a:prstGeom prst="roundRect">
            <a:avLst>
              <a:gd name="adj" fmla="val 3551"/>
            </a:avLst>
          </a:prstGeom>
          <a:solidFill>
            <a:srgbClr val="EFF6FF"/>
          </a:solidFill>
          <a:ln/>
        </p:spPr>
      </p:sp>
      <p:sp>
        <p:nvSpPr>
          <p:cNvPr id="33" name="Shape 23"/>
          <p:cNvSpPr/>
          <p:nvPr/>
        </p:nvSpPr>
        <p:spPr>
          <a:xfrm>
            <a:off x="6172200" y="3329330"/>
            <a:ext cx="38405" cy="990295"/>
          </a:xfrm>
          <a:prstGeom prst="rect">
            <a:avLst/>
          </a:prstGeom>
          <a:solidFill>
            <a:srgbClr val="1E40AF"/>
          </a:solidFill>
          <a:ln/>
        </p:spPr>
      </p:sp>
      <p:sp>
        <p:nvSpPr>
          <p:cNvPr id="34" name="Text 24"/>
          <p:cNvSpPr txBox="1"/>
          <p:nvPr/>
        </p:nvSpPr>
        <p:spPr>
          <a:xfrm>
            <a:off x="6362395" y="3501238"/>
            <a:ext cx="1381658" cy="181051"/>
          </a:xfrm>
          <a:prstGeom prst="rect">
            <a:avLst/>
          </a:prstGeom>
          <a:noFill/>
          <a:ln/>
        </p:spPr>
        <p:txBody>
          <a:bodyPr wrap="square" lIns="0" tIns="0" rIns="0" bIns="0" rtlCol="0" anchor="ctr"/>
          <a:lstStyle/>
          <a:p>
            <a:pPr marL="0" indent="0" algn="l">
              <a:buNone/>
            </a:pPr>
            <a:r>
              <a:rPr lang="en-US" sz="1200" dirty="0">
                <a:solidFill>
                  <a:srgbClr val="1E3A8A"/>
                </a:solidFill>
                <a:latin typeface="Roboto" pitchFamily="34" charset="0"/>
                <a:ea typeface="Roboto" pitchFamily="34" charset="-122"/>
                <a:cs typeface="Roboto" pitchFamily="34" charset="-120"/>
              </a:rPr>
              <a:t>Notas adicionales:</a:t>
            </a:r>
            <a:endParaRPr lang="en-US" sz="1200" dirty="0"/>
          </a:p>
        </p:txBody>
      </p:sp>
      <p:sp>
        <p:nvSpPr>
          <p:cNvPr id="35" name="Text 25"/>
          <p:cNvSpPr txBox="1"/>
          <p:nvPr/>
        </p:nvSpPr>
        <p:spPr>
          <a:xfrm>
            <a:off x="6362395" y="3729838"/>
            <a:ext cx="5181905" cy="409651"/>
          </a:xfrm>
          <a:prstGeom prst="rect">
            <a:avLst/>
          </a:prstGeom>
          <a:noFill/>
          <a:ln/>
        </p:spPr>
        <p:txBody>
          <a:bodyPr wrap="square" lIns="0" tIns="0" rIns="0" bIns="0" rtlCol="0" anchor="ctr"/>
          <a:lstStyle/>
          <a:p>
            <a:pPr marL="0" indent="0" algn="l">
              <a:buNone/>
            </a:pPr>
            <a:r>
              <a:rPr lang="en-US" sz="1200" dirty="0">
                <a:solidFill>
                  <a:srgbClr val="1E40AF"/>
                </a:solidFill>
                <a:latin typeface="Roboto" pitchFamily="34" charset="0"/>
                <a:ea typeface="Roboto" pitchFamily="34" charset="-122"/>
                <a:cs typeface="Roboto" pitchFamily="34" charset="-120"/>
              </a:rPr>
              <a:t>No hubo criterio específico de inclusión respecto a fracción de eyección (el 27% de los pacientes tenían FE ≥50%).</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963156"/>
          </a:xfrm>
          <a:prstGeom prst="rect">
            <a:avLst/>
          </a:prstGeom>
          <a:solidFill>
            <a:srgbClr val="FFFFFF"/>
          </a:solidFill>
          <a:ln/>
        </p:spPr>
      </p:sp>
      <p:sp>
        <p:nvSpPr>
          <p:cNvPr id="3" name="Shape 1"/>
          <p:cNvSpPr/>
          <p:nvPr/>
        </p:nvSpPr>
        <p:spPr>
          <a:xfrm>
            <a:off x="0" y="0"/>
            <a:ext cx="12191695" cy="609905"/>
          </a:xfrm>
          <a:prstGeom prst="rect">
            <a:avLst/>
          </a:prstGeom>
          <a:solidFill>
            <a:schemeClr val="accent6"/>
          </a:solidFill>
          <a:ln/>
        </p:spPr>
      </p:sp>
      <p:sp>
        <p:nvSpPr>
          <p:cNvPr id="4" name="Text 2"/>
          <p:cNvSpPr txBox="1"/>
          <p:nvPr/>
        </p:nvSpPr>
        <p:spPr>
          <a:xfrm>
            <a:off x="304495" y="161849"/>
            <a:ext cx="4620463" cy="277063"/>
          </a:xfrm>
          <a:prstGeom prst="rect">
            <a:avLst/>
          </a:prstGeom>
          <a:noFill/>
          <a:ln/>
        </p:spPr>
        <p:txBody>
          <a:bodyPr wrap="square" lIns="0" tIns="0" rIns="0" bIns="0" rtlCol="0" anchor="ctr"/>
          <a:lstStyle/>
          <a:p>
            <a:pPr marL="0" indent="0" algn="l">
              <a:buNone/>
            </a:pPr>
            <a:r>
              <a:rPr lang="en-US" sz="1800" b="1" dirty="0">
                <a:solidFill>
                  <a:srgbClr val="FFFFFF"/>
                </a:solidFill>
                <a:latin typeface="Montserrat" pitchFamily="34" charset="0"/>
                <a:ea typeface="Montserrat" pitchFamily="34" charset="-122"/>
                <a:cs typeface="Montserrat" pitchFamily="34" charset="-120"/>
              </a:rPr>
              <a:t>Conclusiones e Implicaciones Clínicas</a:t>
            </a:r>
            <a:endParaRPr lang="en-US" sz="1800" dirty="0"/>
          </a:p>
        </p:txBody>
      </p:sp>
      <p:sp>
        <p:nvSpPr>
          <p:cNvPr id="6" name="Shape 4"/>
          <p:cNvSpPr/>
          <p:nvPr/>
        </p:nvSpPr>
        <p:spPr>
          <a:xfrm>
            <a:off x="0" y="6487668"/>
            <a:ext cx="12191695" cy="476402"/>
          </a:xfrm>
          <a:prstGeom prst="rect">
            <a:avLst/>
          </a:prstGeom>
          <a:solidFill>
            <a:srgbClr val="F2F2F2"/>
          </a:solidFill>
          <a:ln/>
        </p:spPr>
      </p:sp>
      <p:sp>
        <p:nvSpPr>
          <p:cNvPr id="7" name="Shape 5"/>
          <p:cNvSpPr/>
          <p:nvPr/>
        </p:nvSpPr>
        <p:spPr>
          <a:xfrm>
            <a:off x="0" y="6487668"/>
            <a:ext cx="12191695" cy="38405"/>
          </a:xfrm>
          <a:prstGeom prst="rect">
            <a:avLst/>
          </a:prstGeom>
          <a:solidFill>
            <a:srgbClr val="D9230F"/>
          </a:solidFill>
          <a:ln/>
        </p:spPr>
      </p:sp>
      <p:sp>
        <p:nvSpPr>
          <p:cNvPr id="8" name="Text 6"/>
          <p:cNvSpPr txBox="1"/>
          <p:nvPr/>
        </p:nvSpPr>
        <p:spPr>
          <a:xfrm>
            <a:off x="304495" y="6659575"/>
            <a:ext cx="2876702" cy="162763"/>
          </a:xfrm>
          <a:prstGeom prst="rect">
            <a:avLst/>
          </a:prstGeom>
          <a:noFill/>
          <a:ln/>
        </p:spPr>
        <p:txBody>
          <a:bodyPr wrap="square" lIns="0" tIns="0" rIns="0" bIns="0" rtlCol="0" anchor="ctr"/>
          <a:lstStyle/>
          <a:p>
            <a:pPr marL="0" indent="0" algn="l">
              <a:buNone/>
            </a:pPr>
            <a:r>
              <a:rPr lang="en-US" sz="1100" dirty="0">
                <a:solidFill>
                  <a:srgbClr val="555555"/>
                </a:solidFill>
                <a:latin typeface="Roboto" pitchFamily="34" charset="0"/>
                <a:ea typeface="Roboto" pitchFamily="34" charset="-122"/>
                <a:cs typeface="Roboto" pitchFamily="34" charset="-120"/>
              </a:rPr>
              <a:t>Estudio DOSE: Estrategias de Diuréticos en IC</a:t>
            </a:r>
            <a:endParaRPr lang="en-US" sz="1100" dirty="0"/>
          </a:p>
        </p:txBody>
      </p:sp>
      <p:sp>
        <p:nvSpPr>
          <p:cNvPr id="9" name="Text 7"/>
          <p:cNvSpPr txBox="1"/>
          <p:nvPr/>
        </p:nvSpPr>
        <p:spPr>
          <a:xfrm>
            <a:off x="10328148" y="6659575"/>
            <a:ext cx="1666951" cy="162763"/>
          </a:xfrm>
          <a:prstGeom prst="rect">
            <a:avLst/>
          </a:prstGeom>
          <a:noFill/>
          <a:ln/>
        </p:spPr>
        <p:txBody>
          <a:bodyPr wrap="square" lIns="0" tIns="0" rIns="0" bIns="0" rtlCol="0" anchor="ctr"/>
          <a:lstStyle/>
          <a:p>
            <a:pPr marL="0" indent="0" algn="l">
              <a:buNone/>
            </a:pPr>
            <a:r>
              <a:rPr lang="en-US" sz="1100" dirty="0">
                <a:solidFill>
                  <a:srgbClr val="555555"/>
                </a:solidFill>
                <a:latin typeface="Roboto" pitchFamily="34" charset="0"/>
                <a:ea typeface="Roboto" pitchFamily="34" charset="-122"/>
                <a:cs typeface="Roboto" pitchFamily="34" charset="-120"/>
              </a:rPr>
              <a:t>NEJM 2011;364:797–805</a:t>
            </a:r>
            <a:endParaRPr lang="en-US" sz="1100" dirty="0"/>
          </a:p>
        </p:txBody>
      </p:sp>
      <p:sp>
        <p:nvSpPr>
          <p:cNvPr id="10" name="Shape 8"/>
          <p:cNvSpPr/>
          <p:nvPr/>
        </p:nvSpPr>
        <p:spPr>
          <a:xfrm>
            <a:off x="457200" y="1218895"/>
            <a:ext cx="2447849" cy="19202"/>
          </a:xfrm>
          <a:prstGeom prst="rect">
            <a:avLst/>
          </a:prstGeom>
          <a:solidFill>
            <a:srgbClr val="D9230F"/>
          </a:solidFill>
          <a:ln/>
        </p:spPr>
      </p:sp>
      <p:sp>
        <p:nvSpPr>
          <p:cNvPr id="11" name="Text 9"/>
          <p:cNvSpPr txBox="1"/>
          <p:nvPr/>
        </p:nvSpPr>
        <p:spPr>
          <a:xfrm>
            <a:off x="457200" y="933602"/>
            <a:ext cx="2591410" cy="228600"/>
          </a:xfrm>
          <a:prstGeom prst="rect">
            <a:avLst/>
          </a:prstGeom>
          <a:noFill/>
          <a:ln/>
        </p:spPr>
        <p:txBody>
          <a:bodyPr wrap="square" lIns="0" tIns="0" rIns="0" bIns="0" rtlCol="0" anchor="ctr"/>
          <a:lstStyle/>
          <a:p>
            <a:pPr marL="0" indent="0" algn="l">
              <a:buNone/>
            </a:pPr>
            <a:r>
              <a:rPr lang="en-US" sz="1500" b="1" dirty="0">
                <a:solidFill>
                  <a:srgbClr val="003366"/>
                </a:solidFill>
                <a:latin typeface="Montserrat" pitchFamily="34" charset="0"/>
                <a:ea typeface="Montserrat" pitchFamily="34" charset="-122"/>
                <a:cs typeface="Montserrat" pitchFamily="34" charset="-120"/>
              </a:rPr>
              <a:t>Conclusiones Principales</a:t>
            </a:r>
            <a:endParaRPr lang="en-US" sz="1500" dirty="0"/>
          </a:p>
        </p:txBody>
      </p:sp>
      <p:pic>
        <p:nvPicPr>
          <p:cNvPr id="12" name="Image 0" descr="preencoded.png"/>
          <p:cNvPicPr>
            <a:picLocks noChangeAspect="1"/>
          </p:cNvPicPr>
          <p:nvPr/>
        </p:nvPicPr>
        <p:blipFill>
          <a:blip r:embed="rId3"/>
          <a:srcRect/>
          <a:stretch/>
        </p:blipFill>
        <p:spPr>
          <a:xfrm>
            <a:off x="457200" y="1580998"/>
            <a:ext cx="152705" cy="152705"/>
          </a:xfrm>
          <a:prstGeom prst="rect">
            <a:avLst/>
          </a:prstGeom>
        </p:spPr>
      </p:pic>
      <p:sp>
        <p:nvSpPr>
          <p:cNvPr id="13" name="Text 10"/>
          <p:cNvSpPr txBox="1"/>
          <p:nvPr/>
        </p:nvSpPr>
        <p:spPr>
          <a:xfrm>
            <a:off x="761695" y="1571854"/>
            <a:ext cx="2048256" cy="200254"/>
          </a:xfrm>
          <a:prstGeom prst="rect">
            <a:avLst/>
          </a:prstGeom>
          <a:noFill/>
          <a:ln/>
        </p:spPr>
        <p:txBody>
          <a:bodyPr wrap="square" lIns="0" tIns="0" rIns="0" bIns="0" rtlCol="0" anchor="ctr"/>
          <a:lstStyle/>
          <a:p>
            <a:pPr marL="0" indent="0" algn="l">
              <a:buNone/>
            </a:pPr>
            <a:r>
              <a:rPr lang="en-US" sz="1400" b="1" dirty="0">
                <a:solidFill>
                  <a:srgbClr val="333333"/>
                </a:solidFill>
                <a:latin typeface="Roboto" pitchFamily="34" charset="0"/>
                <a:ea typeface="Roboto" pitchFamily="34" charset="-122"/>
                <a:cs typeface="Roboto" pitchFamily="34" charset="-120"/>
              </a:rPr>
              <a:t>Modo de administración:</a:t>
            </a:r>
            <a:endParaRPr lang="en-US" sz="1400" dirty="0"/>
          </a:p>
        </p:txBody>
      </p:sp>
      <p:sp>
        <p:nvSpPr>
          <p:cNvPr id="14" name="Text 11"/>
          <p:cNvSpPr txBox="1"/>
          <p:nvPr/>
        </p:nvSpPr>
        <p:spPr>
          <a:xfrm>
            <a:off x="2905049" y="1625804"/>
            <a:ext cx="8268005"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No hay diferencias significativas entre bolo vs infusión continua en evaluación de síntomas o función renal.</a:t>
            </a:r>
            <a:endParaRPr lang="en-US" sz="1400" dirty="0"/>
          </a:p>
        </p:txBody>
      </p:sp>
      <p:pic>
        <p:nvPicPr>
          <p:cNvPr id="15" name="Image 1" descr="preencoded.png"/>
          <p:cNvPicPr>
            <a:picLocks noChangeAspect="1"/>
          </p:cNvPicPr>
          <p:nvPr/>
        </p:nvPicPr>
        <p:blipFill>
          <a:blip r:embed="rId3"/>
          <a:srcRect/>
          <a:stretch/>
        </p:blipFill>
        <p:spPr>
          <a:xfrm>
            <a:off x="457200" y="2030882"/>
            <a:ext cx="152705" cy="152705"/>
          </a:xfrm>
          <a:prstGeom prst="rect">
            <a:avLst/>
          </a:prstGeom>
        </p:spPr>
      </p:pic>
      <p:sp>
        <p:nvSpPr>
          <p:cNvPr id="16" name="Text 12"/>
          <p:cNvSpPr txBox="1"/>
          <p:nvPr/>
        </p:nvSpPr>
        <p:spPr>
          <a:xfrm>
            <a:off x="761695" y="2020824"/>
            <a:ext cx="2181758" cy="200254"/>
          </a:xfrm>
          <a:prstGeom prst="rect">
            <a:avLst/>
          </a:prstGeom>
          <a:noFill/>
          <a:ln/>
        </p:spPr>
        <p:txBody>
          <a:bodyPr wrap="square" lIns="0" tIns="0" rIns="0" bIns="0" rtlCol="0" anchor="ctr"/>
          <a:lstStyle/>
          <a:p>
            <a:pPr marL="0" indent="0" algn="l">
              <a:buNone/>
            </a:pPr>
            <a:r>
              <a:rPr lang="en-US" sz="1400" b="1" dirty="0">
                <a:solidFill>
                  <a:srgbClr val="333333"/>
                </a:solidFill>
                <a:latin typeface="Roboto" pitchFamily="34" charset="0"/>
                <a:ea typeface="Roboto" pitchFamily="34" charset="-122"/>
                <a:cs typeface="Roboto" pitchFamily="34" charset="-120"/>
              </a:rPr>
              <a:t>Estrategia de dosificación:</a:t>
            </a:r>
            <a:endParaRPr lang="en-US" sz="1400" dirty="0"/>
          </a:p>
        </p:txBody>
      </p:sp>
      <p:sp>
        <p:nvSpPr>
          <p:cNvPr id="17" name="Text 13"/>
          <p:cNvSpPr txBox="1"/>
          <p:nvPr/>
        </p:nvSpPr>
        <p:spPr>
          <a:xfrm>
            <a:off x="2943453" y="2001247"/>
            <a:ext cx="9179375" cy="467258"/>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Dosis alta proporcionó mayor alivio de disnea, pérdida de peso y diuresis sin diferencias en punto primario de seguridad.</a:t>
            </a:r>
            <a:endParaRPr lang="en-US" sz="1400" dirty="0"/>
          </a:p>
        </p:txBody>
      </p:sp>
      <p:pic>
        <p:nvPicPr>
          <p:cNvPr id="18" name="Image 2" descr="preencoded.png"/>
          <p:cNvPicPr>
            <a:picLocks noChangeAspect="1"/>
          </p:cNvPicPr>
          <p:nvPr/>
        </p:nvPicPr>
        <p:blipFill>
          <a:blip r:embed="rId3"/>
          <a:srcRect/>
          <a:stretch/>
        </p:blipFill>
        <p:spPr>
          <a:xfrm>
            <a:off x="457200" y="2746858"/>
            <a:ext cx="152705" cy="152705"/>
          </a:xfrm>
          <a:prstGeom prst="rect">
            <a:avLst/>
          </a:prstGeom>
        </p:spPr>
      </p:pic>
      <p:sp>
        <p:nvSpPr>
          <p:cNvPr id="19" name="Text 14"/>
          <p:cNvSpPr txBox="1"/>
          <p:nvPr/>
        </p:nvSpPr>
        <p:spPr>
          <a:xfrm>
            <a:off x="761695" y="2736799"/>
            <a:ext cx="1228954" cy="200254"/>
          </a:xfrm>
          <a:prstGeom prst="rect">
            <a:avLst/>
          </a:prstGeom>
          <a:noFill/>
          <a:ln/>
        </p:spPr>
        <p:txBody>
          <a:bodyPr wrap="square" lIns="0" tIns="0" rIns="0" bIns="0" rtlCol="0" anchor="ctr"/>
          <a:lstStyle/>
          <a:p>
            <a:pPr marL="0" indent="0" algn="l">
              <a:buNone/>
            </a:pPr>
            <a:r>
              <a:rPr lang="en-US" sz="1400" b="1" dirty="0">
                <a:solidFill>
                  <a:srgbClr val="333333"/>
                </a:solidFill>
                <a:latin typeface="Roboto" pitchFamily="34" charset="0"/>
                <a:ea typeface="Roboto" pitchFamily="34" charset="-122"/>
                <a:cs typeface="Roboto" pitchFamily="34" charset="-120"/>
              </a:rPr>
              <a:t>Función renal:</a:t>
            </a:r>
            <a:endParaRPr lang="en-US" sz="1400" dirty="0"/>
          </a:p>
        </p:txBody>
      </p:sp>
      <p:sp>
        <p:nvSpPr>
          <p:cNvPr id="20" name="Text 15"/>
          <p:cNvSpPr txBox="1"/>
          <p:nvPr/>
        </p:nvSpPr>
        <p:spPr>
          <a:xfrm>
            <a:off x="1982248" y="2755088"/>
            <a:ext cx="9179375" cy="226771"/>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El deterioro renal transitorio con dosis altas no se asoció a peores resultados clínicos a 60 días.</a:t>
            </a:r>
            <a:endParaRPr lang="en-US" sz="1400" dirty="0"/>
          </a:p>
        </p:txBody>
      </p:sp>
      <p:sp>
        <p:nvSpPr>
          <p:cNvPr id="21" name="Shape 16"/>
          <p:cNvSpPr/>
          <p:nvPr/>
        </p:nvSpPr>
        <p:spPr>
          <a:xfrm>
            <a:off x="457200" y="3279953"/>
            <a:ext cx="11277295" cy="2905049"/>
          </a:xfrm>
          <a:prstGeom prst="roundRect">
            <a:avLst>
              <a:gd name="adj" fmla="val 413"/>
            </a:avLst>
          </a:prstGeom>
          <a:solidFill>
            <a:srgbClr val="E6F0FA"/>
          </a:solidFill>
          <a:ln/>
        </p:spPr>
      </p:sp>
      <p:sp>
        <p:nvSpPr>
          <p:cNvPr id="22" name="Shape 17"/>
          <p:cNvSpPr/>
          <p:nvPr/>
        </p:nvSpPr>
        <p:spPr>
          <a:xfrm>
            <a:off x="457200" y="3279953"/>
            <a:ext cx="47549" cy="2905049"/>
          </a:xfrm>
          <a:prstGeom prst="rect">
            <a:avLst/>
          </a:prstGeom>
          <a:solidFill>
            <a:srgbClr val="003366"/>
          </a:solidFill>
          <a:ln/>
        </p:spPr>
      </p:sp>
      <p:sp>
        <p:nvSpPr>
          <p:cNvPr id="23" name="Text 18"/>
          <p:cNvSpPr txBox="1"/>
          <p:nvPr/>
        </p:nvSpPr>
        <p:spPr>
          <a:xfrm>
            <a:off x="733349" y="3527755"/>
            <a:ext cx="3353105" cy="228600"/>
          </a:xfrm>
          <a:prstGeom prst="rect">
            <a:avLst/>
          </a:prstGeom>
          <a:noFill/>
          <a:ln/>
        </p:spPr>
        <p:txBody>
          <a:bodyPr wrap="square" lIns="0" tIns="0" rIns="0" bIns="0" rtlCol="0" anchor="ctr"/>
          <a:lstStyle/>
          <a:p>
            <a:pPr marL="0" indent="0" algn="l">
              <a:buNone/>
            </a:pPr>
            <a:r>
              <a:rPr lang="en-US" sz="1500" b="1" dirty="0">
                <a:solidFill>
                  <a:srgbClr val="1E3A8A"/>
                </a:solidFill>
                <a:latin typeface="Roboto" pitchFamily="34" charset="0"/>
                <a:ea typeface="Roboto" pitchFamily="34" charset="-122"/>
                <a:cs typeface="Roboto" pitchFamily="34" charset="-120"/>
              </a:rPr>
              <a:t>Implicaciones para la Práctica Clínica</a:t>
            </a:r>
            <a:endParaRPr lang="en-US" sz="1500" dirty="0"/>
          </a:p>
        </p:txBody>
      </p:sp>
      <p:pic>
        <p:nvPicPr>
          <p:cNvPr id="24" name="Image 3" descr="preencoded.png"/>
          <p:cNvPicPr>
            <a:picLocks noChangeAspect="1"/>
          </p:cNvPicPr>
          <p:nvPr/>
        </p:nvPicPr>
        <p:blipFill>
          <a:blip r:embed="rId4"/>
          <a:srcRect t="-841" b="-841"/>
          <a:stretch/>
        </p:blipFill>
        <p:spPr>
          <a:xfrm>
            <a:off x="733349" y="3928262"/>
            <a:ext cx="190195" cy="171907"/>
          </a:xfrm>
          <a:prstGeom prst="rect">
            <a:avLst/>
          </a:prstGeom>
        </p:spPr>
      </p:pic>
      <p:sp>
        <p:nvSpPr>
          <p:cNvPr id="25" name="Text 19"/>
          <p:cNvSpPr txBox="1"/>
          <p:nvPr/>
        </p:nvSpPr>
        <p:spPr>
          <a:xfrm>
            <a:off x="1076249" y="3918204"/>
            <a:ext cx="8373161"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Tanto bolo como infusión continua son estrategias válidas - elección basada en preferencias institucionales.</a:t>
            </a:r>
            <a:endParaRPr lang="en-US" sz="1400" dirty="0"/>
          </a:p>
        </p:txBody>
      </p:sp>
      <p:pic>
        <p:nvPicPr>
          <p:cNvPr id="26" name="Image 4" descr="preencoded.png"/>
          <p:cNvPicPr>
            <a:picLocks noChangeAspect="1"/>
          </p:cNvPicPr>
          <p:nvPr/>
        </p:nvPicPr>
        <p:blipFill>
          <a:blip r:embed="rId4"/>
          <a:srcRect t="-841" b="-841"/>
          <a:stretch/>
        </p:blipFill>
        <p:spPr>
          <a:xfrm>
            <a:off x="733349" y="4377233"/>
            <a:ext cx="190195" cy="171907"/>
          </a:xfrm>
          <a:prstGeom prst="rect">
            <a:avLst/>
          </a:prstGeom>
        </p:spPr>
      </p:pic>
      <p:sp>
        <p:nvSpPr>
          <p:cNvPr id="27" name="Text 20"/>
          <p:cNvSpPr txBox="1"/>
          <p:nvPr/>
        </p:nvSpPr>
        <p:spPr>
          <a:xfrm>
            <a:off x="1076249" y="4368089"/>
            <a:ext cx="9401861"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Dosis más altas pueden proporcionar mejor descongestión y alivio sintomático sin comprometer resultados a largo plazo.</a:t>
            </a:r>
            <a:endParaRPr lang="en-US" sz="1400" dirty="0"/>
          </a:p>
        </p:txBody>
      </p:sp>
      <p:pic>
        <p:nvPicPr>
          <p:cNvPr id="28" name="Image 5" descr="preencoded.png"/>
          <p:cNvPicPr>
            <a:picLocks noChangeAspect="1"/>
          </p:cNvPicPr>
          <p:nvPr/>
        </p:nvPicPr>
        <p:blipFill>
          <a:blip r:embed="rId4"/>
          <a:srcRect t="-841" b="-841"/>
          <a:stretch/>
        </p:blipFill>
        <p:spPr>
          <a:xfrm>
            <a:off x="733349" y="4827118"/>
            <a:ext cx="190195" cy="171907"/>
          </a:xfrm>
          <a:prstGeom prst="rect">
            <a:avLst/>
          </a:prstGeom>
        </p:spPr>
      </p:pic>
      <p:sp>
        <p:nvSpPr>
          <p:cNvPr id="29" name="Text 21"/>
          <p:cNvSpPr txBox="1"/>
          <p:nvPr/>
        </p:nvSpPr>
        <p:spPr>
          <a:xfrm>
            <a:off x="1076249" y="4817059"/>
            <a:ext cx="8239658"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El empeoramiento transitorio de función renal puede ser aceptable si se logra mejor descongestión clínica.</a:t>
            </a:r>
            <a:endParaRPr lang="en-US" sz="1400" dirty="0"/>
          </a:p>
        </p:txBody>
      </p:sp>
      <p:pic>
        <p:nvPicPr>
          <p:cNvPr id="30" name="Image 6" descr="preencoded.png"/>
          <p:cNvPicPr>
            <a:picLocks noChangeAspect="1"/>
          </p:cNvPicPr>
          <p:nvPr/>
        </p:nvPicPr>
        <p:blipFill>
          <a:blip r:embed="rId5"/>
          <a:srcRect l="-1773" r="-1773"/>
          <a:stretch/>
        </p:blipFill>
        <p:spPr>
          <a:xfrm>
            <a:off x="733349" y="5276088"/>
            <a:ext cx="133502" cy="171907"/>
          </a:xfrm>
          <a:prstGeom prst="rect">
            <a:avLst/>
          </a:prstGeom>
        </p:spPr>
      </p:pic>
      <p:sp>
        <p:nvSpPr>
          <p:cNvPr id="31" name="Text 22"/>
          <p:cNvSpPr txBox="1"/>
          <p:nvPr/>
        </p:nvSpPr>
        <p:spPr>
          <a:xfrm>
            <a:off x="1075792" y="5502581"/>
            <a:ext cx="10353751" cy="467258"/>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Las observaciones previas que asocian dosis altas con peores resultados probablemente reflejan mayor gravedad de la enfermedad, no efecto nocivo del tratamiento.</a:t>
            </a:r>
            <a:endParaRPr lang="en-US" sz="1400" dirty="0"/>
          </a:p>
        </p:txBody>
      </p:sp>
      <p:sp>
        <p:nvSpPr>
          <p:cNvPr id="32" name="Text 23"/>
          <p:cNvSpPr txBox="1"/>
          <p:nvPr/>
        </p:nvSpPr>
        <p:spPr>
          <a:xfrm>
            <a:off x="1019556" y="5266944"/>
            <a:ext cx="1286561" cy="200254"/>
          </a:xfrm>
          <a:prstGeom prst="rect">
            <a:avLst/>
          </a:prstGeom>
          <a:noFill/>
          <a:ln/>
        </p:spPr>
        <p:txBody>
          <a:bodyPr wrap="square" lIns="0" tIns="0" rIns="0" bIns="0" rtlCol="0" anchor="ctr"/>
          <a:lstStyle/>
          <a:p>
            <a:pPr marL="0" indent="0" algn="l">
              <a:buNone/>
            </a:pPr>
            <a:r>
              <a:rPr lang="en-US" sz="1400" b="1" dirty="0">
                <a:solidFill>
                  <a:srgbClr val="333333"/>
                </a:solidFill>
                <a:latin typeface="Roboto" pitchFamily="34" charset="0"/>
                <a:ea typeface="Roboto" pitchFamily="34" charset="-122"/>
                <a:cs typeface="Roboto" pitchFamily="34" charset="-120"/>
              </a:rPr>
              <a:t>Mensaje clave: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9BF4658A-54A5-49D8-AFB0-1738DD386915}"/>
              </a:ext>
            </a:extLst>
          </p:cNvPr>
          <p:cNvSpPr txBox="1"/>
          <p:nvPr/>
        </p:nvSpPr>
        <p:spPr>
          <a:xfrm>
            <a:off x="4255618" y="1476756"/>
            <a:ext cx="3943807" cy="400507"/>
          </a:xfrm>
          <a:prstGeom prst="rect">
            <a:avLst/>
          </a:prstGeom>
          <a:noFill/>
          <a:ln/>
        </p:spPr>
        <p:txBody>
          <a:bodyPr wrap="square" lIns="0" tIns="0" rIns="0" bIns="0" rtlCol="0" anchor="ctr"/>
          <a:lstStyle/>
          <a:p>
            <a:pPr marL="0" indent="0" algn="ctr">
              <a:buNone/>
            </a:pPr>
            <a:r>
              <a:rPr lang="en-US" sz="2700" b="1" dirty="0">
                <a:solidFill>
                  <a:srgbClr val="0F3B5F"/>
                </a:solidFill>
                <a:latin typeface="Roboto" pitchFamily="34" charset="0"/>
                <a:ea typeface="Roboto" pitchFamily="34" charset="-122"/>
                <a:cs typeface="Roboto" pitchFamily="34" charset="-120"/>
              </a:rPr>
              <a:t>SHOCK CARDIOGÉNICO</a:t>
            </a:r>
            <a:endParaRPr lang="en-US" sz="2700" dirty="0"/>
          </a:p>
        </p:txBody>
      </p:sp>
      <p:sp>
        <p:nvSpPr>
          <p:cNvPr id="11" name="Text 4">
            <a:extLst>
              <a:ext uri="{FF2B5EF4-FFF2-40B4-BE49-F238E27FC236}">
                <a16:creationId xmlns:a16="http://schemas.microsoft.com/office/drawing/2014/main" id="{110102E7-75F3-400A-A0F3-A514139ABEC0}"/>
              </a:ext>
            </a:extLst>
          </p:cNvPr>
          <p:cNvSpPr txBox="1"/>
          <p:nvPr/>
        </p:nvSpPr>
        <p:spPr>
          <a:xfrm>
            <a:off x="3497580" y="1962302"/>
            <a:ext cx="5372100" cy="267005"/>
          </a:xfrm>
          <a:prstGeom prst="rect">
            <a:avLst/>
          </a:prstGeom>
          <a:noFill/>
          <a:ln/>
        </p:spPr>
        <p:txBody>
          <a:bodyPr wrap="square" lIns="0" tIns="0" rIns="0" bIns="0" rtlCol="0" anchor="ctr"/>
          <a:lstStyle/>
          <a:p>
            <a:pPr marL="0" indent="0" algn="ctr">
              <a:buNone/>
            </a:pPr>
            <a:r>
              <a:rPr lang="en-US" sz="1800" dirty="0">
                <a:solidFill>
                  <a:srgbClr val="0F3B5F"/>
                </a:solidFill>
                <a:latin typeface="Roboto" pitchFamily="34" charset="0"/>
                <a:ea typeface="Roboto" pitchFamily="34" charset="-122"/>
                <a:cs typeface="Roboto" pitchFamily="34" charset="-120"/>
              </a:rPr>
              <a:t>Uso contemporáneo de vasopresores e inotrópicos</a:t>
            </a:r>
            <a:endParaRPr lang="en-US" sz="1800" dirty="0"/>
          </a:p>
        </p:txBody>
      </p:sp>
      <p:sp>
        <p:nvSpPr>
          <p:cNvPr id="12" name="Shape 5">
            <a:extLst>
              <a:ext uri="{FF2B5EF4-FFF2-40B4-BE49-F238E27FC236}">
                <a16:creationId xmlns:a16="http://schemas.microsoft.com/office/drawing/2014/main" id="{9E7DCB23-0913-49D1-B56E-B14034AD18D7}"/>
              </a:ext>
            </a:extLst>
          </p:cNvPr>
          <p:cNvSpPr/>
          <p:nvPr/>
        </p:nvSpPr>
        <p:spPr>
          <a:xfrm>
            <a:off x="1218895" y="2743200"/>
            <a:ext cx="9753905" cy="19202"/>
          </a:xfrm>
          <a:prstGeom prst="rect">
            <a:avLst/>
          </a:prstGeom>
          <a:solidFill>
            <a:srgbClr val="0F3B5F"/>
          </a:solidFill>
          <a:ln/>
        </p:spPr>
      </p:sp>
      <p:sp>
        <p:nvSpPr>
          <p:cNvPr id="13" name="Text 6">
            <a:extLst>
              <a:ext uri="{FF2B5EF4-FFF2-40B4-BE49-F238E27FC236}">
                <a16:creationId xmlns:a16="http://schemas.microsoft.com/office/drawing/2014/main" id="{4E1148D9-4630-49E7-BBB8-4B6CD39F2A8D}"/>
              </a:ext>
            </a:extLst>
          </p:cNvPr>
          <p:cNvSpPr txBox="1"/>
          <p:nvPr/>
        </p:nvSpPr>
        <p:spPr>
          <a:xfrm>
            <a:off x="5672938" y="3286354"/>
            <a:ext cx="981151" cy="200254"/>
          </a:xfrm>
          <a:prstGeom prst="rect">
            <a:avLst/>
          </a:prstGeom>
          <a:noFill/>
          <a:ln/>
        </p:spPr>
        <p:txBody>
          <a:bodyPr wrap="square" lIns="0" tIns="0" rIns="0" bIns="0" rtlCol="0" anchor="ctr"/>
          <a:lstStyle/>
          <a:p>
            <a:pPr marL="0" indent="0" algn="ctr">
              <a:buNone/>
            </a:pPr>
            <a:r>
              <a:rPr lang="en-US" sz="1400" i="1" dirty="0">
                <a:solidFill>
                  <a:srgbClr val="444444"/>
                </a:solidFill>
                <a:latin typeface="Roboto" pitchFamily="34" charset="0"/>
                <a:ea typeface="Roboto" pitchFamily="34" charset="-122"/>
                <a:cs typeface="Roboto" pitchFamily="34" charset="-120"/>
              </a:rPr>
              <a:t>Basado en:</a:t>
            </a:r>
            <a:endParaRPr lang="en-US" sz="1400" dirty="0"/>
          </a:p>
        </p:txBody>
      </p:sp>
      <p:sp>
        <p:nvSpPr>
          <p:cNvPr id="14" name="Text 7">
            <a:extLst>
              <a:ext uri="{FF2B5EF4-FFF2-40B4-BE49-F238E27FC236}">
                <a16:creationId xmlns:a16="http://schemas.microsoft.com/office/drawing/2014/main" id="{0E124BD7-82D1-4E63-8B73-35FE27214DFC}"/>
              </a:ext>
            </a:extLst>
          </p:cNvPr>
          <p:cNvSpPr txBox="1"/>
          <p:nvPr/>
        </p:nvSpPr>
        <p:spPr>
          <a:xfrm>
            <a:off x="1625803" y="3629254"/>
            <a:ext cx="9078163" cy="200254"/>
          </a:xfrm>
          <a:prstGeom prst="rect">
            <a:avLst/>
          </a:prstGeom>
          <a:noFill/>
          <a:ln/>
        </p:spPr>
        <p:txBody>
          <a:bodyPr wrap="square" lIns="0" tIns="0" rIns="0" bIns="0" rtlCol="0" anchor="ctr"/>
          <a:lstStyle/>
          <a:p>
            <a:pPr marL="0" indent="0" algn="ctr">
              <a:buNone/>
            </a:pPr>
            <a:r>
              <a:rPr lang="en-US" sz="1400" b="1" i="1" dirty="0">
                <a:solidFill>
                  <a:srgbClr val="444444"/>
                </a:solidFill>
                <a:latin typeface="Roboto" pitchFamily="34" charset="0"/>
                <a:ea typeface="Roboto" pitchFamily="34" charset="-122"/>
                <a:cs typeface="Roboto" pitchFamily="34" charset="-120"/>
              </a:rPr>
              <a:t>Bloom JE, Kanji HD, Finn J, et al. State of Shock: Contemporary Vasopressor and Inotrope Use in Cardiogenic Shock.</a:t>
            </a:r>
            <a:endParaRPr lang="en-US" sz="1400" dirty="0"/>
          </a:p>
        </p:txBody>
      </p:sp>
      <p:sp>
        <p:nvSpPr>
          <p:cNvPr id="15" name="Text 8">
            <a:extLst>
              <a:ext uri="{FF2B5EF4-FFF2-40B4-BE49-F238E27FC236}">
                <a16:creationId xmlns:a16="http://schemas.microsoft.com/office/drawing/2014/main" id="{F5309345-B907-441C-A528-BD053EB60558}"/>
              </a:ext>
            </a:extLst>
          </p:cNvPr>
          <p:cNvSpPr txBox="1"/>
          <p:nvPr/>
        </p:nvSpPr>
        <p:spPr>
          <a:xfrm>
            <a:off x="5459882" y="3972154"/>
            <a:ext cx="1028700" cy="200254"/>
          </a:xfrm>
          <a:prstGeom prst="rect">
            <a:avLst/>
          </a:prstGeom>
          <a:noFill/>
          <a:ln/>
        </p:spPr>
        <p:txBody>
          <a:bodyPr wrap="square" lIns="0" tIns="0" rIns="0" bIns="0" rtlCol="0" anchor="ctr"/>
          <a:lstStyle/>
          <a:p>
            <a:pPr marL="0" indent="0" algn="ctr">
              <a:buNone/>
            </a:pPr>
            <a:r>
              <a:rPr lang="en-US" sz="1400" b="1" i="1" dirty="0">
                <a:solidFill>
                  <a:srgbClr val="444444"/>
                </a:solidFill>
                <a:latin typeface="Roboto" pitchFamily="34" charset="0"/>
                <a:ea typeface="Roboto" pitchFamily="34" charset="-122"/>
                <a:cs typeface="Roboto" pitchFamily="34" charset="-120"/>
              </a:rPr>
              <a:t>Circulation.</a:t>
            </a:r>
            <a:endParaRPr lang="en-US" sz="1400" dirty="0"/>
          </a:p>
        </p:txBody>
      </p:sp>
      <p:sp>
        <p:nvSpPr>
          <p:cNvPr id="16" name="Text 9">
            <a:extLst>
              <a:ext uri="{FF2B5EF4-FFF2-40B4-BE49-F238E27FC236}">
                <a16:creationId xmlns:a16="http://schemas.microsoft.com/office/drawing/2014/main" id="{E2B405AB-6B9B-4529-AA4F-E0629D436F5D}"/>
              </a:ext>
            </a:extLst>
          </p:cNvPr>
          <p:cNvSpPr txBox="1"/>
          <p:nvPr/>
        </p:nvSpPr>
        <p:spPr>
          <a:xfrm>
            <a:off x="6346850" y="3972154"/>
            <a:ext cx="523951" cy="200254"/>
          </a:xfrm>
          <a:prstGeom prst="rect">
            <a:avLst/>
          </a:prstGeom>
          <a:noFill/>
          <a:ln/>
        </p:spPr>
        <p:txBody>
          <a:bodyPr wrap="square" lIns="0" tIns="0" rIns="0" bIns="0" rtlCol="0" anchor="ctr"/>
          <a:lstStyle/>
          <a:p>
            <a:pPr marL="0" indent="0" algn="ctr">
              <a:buNone/>
            </a:pPr>
            <a:r>
              <a:rPr lang="en-US" sz="1400" i="1" dirty="0">
                <a:solidFill>
                  <a:srgbClr val="444444"/>
                </a:solidFill>
                <a:latin typeface="Roboto" pitchFamily="34" charset="0"/>
                <a:ea typeface="Roboto" pitchFamily="34" charset="-122"/>
                <a:cs typeface="Roboto" pitchFamily="34" charset="-120"/>
              </a:rPr>
              <a:t>2023</a:t>
            </a:r>
            <a:endParaRPr lang="en-US" sz="1400" dirty="0"/>
          </a:p>
        </p:txBody>
      </p:sp>
      <p:sp>
        <p:nvSpPr>
          <p:cNvPr id="17" name="Shape 10">
            <a:extLst>
              <a:ext uri="{FF2B5EF4-FFF2-40B4-BE49-F238E27FC236}">
                <a16:creationId xmlns:a16="http://schemas.microsoft.com/office/drawing/2014/main" id="{5C890E71-D60F-4563-996E-17133031ABDF}"/>
              </a:ext>
            </a:extLst>
          </p:cNvPr>
          <p:cNvSpPr/>
          <p:nvPr/>
        </p:nvSpPr>
        <p:spPr>
          <a:xfrm>
            <a:off x="1218895" y="4705502"/>
            <a:ext cx="9753905" cy="19202"/>
          </a:xfrm>
          <a:prstGeom prst="rect">
            <a:avLst/>
          </a:prstGeom>
          <a:solidFill>
            <a:srgbClr val="0F3B5F"/>
          </a:solidFill>
          <a:ln/>
        </p:spPr>
      </p:sp>
      <p:sp>
        <p:nvSpPr>
          <p:cNvPr id="18" name="Text 11">
            <a:extLst>
              <a:ext uri="{FF2B5EF4-FFF2-40B4-BE49-F238E27FC236}">
                <a16:creationId xmlns:a16="http://schemas.microsoft.com/office/drawing/2014/main" id="{755A4600-53A3-49C6-8C9D-7320621FF312}"/>
              </a:ext>
            </a:extLst>
          </p:cNvPr>
          <p:cNvSpPr txBox="1"/>
          <p:nvPr/>
        </p:nvSpPr>
        <p:spPr>
          <a:xfrm>
            <a:off x="4108399" y="5238598"/>
            <a:ext cx="4096512" cy="181051"/>
          </a:xfrm>
          <a:prstGeom prst="rect">
            <a:avLst/>
          </a:prstGeom>
          <a:noFill/>
          <a:ln/>
        </p:spPr>
        <p:txBody>
          <a:bodyPr wrap="square" lIns="0" tIns="0" rIns="0" bIns="0" rtlCol="0" anchor="ctr"/>
          <a:lstStyle/>
          <a:p>
            <a:pPr marL="0" indent="0" algn="ctr">
              <a:buNone/>
            </a:pPr>
            <a:r>
              <a:rPr lang="en-US" sz="1200" dirty="0">
                <a:solidFill>
                  <a:srgbClr val="4B5563"/>
                </a:solidFill>
                <a:latin typeface="Roboto" pitchFamily="34" charset="0"/>
                <a:ea typeface="Roboto" pitchFamily="34" charset="-122"/>
                <a:cs typeface="Roboto" pitchFamily="34" charset="-120"/>
              </a:rPr>
              <a:t>Presentación educativa dirigida a profesionales de la salud</a:t>
            </a:r>
            <a:endParaRPr lang="en-US" sz="1200" dirty="0"/>
          </a:p>
        </p:txBody>
      </p:sp>
    </p:spTree>
    <p:extLst>
      <p:ext uri="{BB962C8B-B14F-4D97-AF65-F5344CB8AC3E}">
        <p14:creationId xmlns:p14="http://schemas.microsoft.com/office/powerpoint/2010/main" val="55679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372807"/>
          </a:xfrm>
          <a:prstGeom prst="rect">
            <a:avLst/>
          </a:prstGeom>
          <a:solidFill>
            <a:srgbClr val="FFFFFF"/>
          </a:solidFill>
          <a:ln/>
        </p:spPr>
      </p:sp>
      <p:sp>
        <p:nvSpPr>
          <p:cNvPr id="3" name="Shape 1"/>
          <p:cNvSpPr/>
          <p:nvPr/>
        </p:nvSpPr>
        <p:spPr>
          <a:xfrm>
            <a:off x="0" y="0"/>
            <a:ext cx="12191695" cy="7372807"/>
          </a:xfrm>
          <a:prstGeom prst="rect">
            <a:avLst/>
          </a:prstGeom>
          <a:solidFill>
            <a:srgbClr val="FFFFFF"/>
          </a:solidFill>
          <a:ln/>
        </p:spPr>
      </p:sp>
      <p:sp>
        <p:nvSpPr>
          <p:cNvPr id="4" name="Shape 2"/>
          <p:cNvSpPr/>
          <p:nvPr/>
        </p:nvSpPr>
        <p:spPr>
          <a:xfrm>
            <a:off x="0" y="0"/>
            <a:ext cx="12191695" cy="114300"/>
          </a:xfrm>
          <a:prstGeom prst="rect">
            <a:avLst/>
          </a:prstGeom>
          <a:solidFill>
            <a:schemeClr val="accent6"/>
          </a:solidFill>
          <a:ln/>
        </p:spPr>
      </p:sp>
      <p:sp>
        <p:nvSpPr>
          <p:cNvPr id="5" name="Shape 3"/>
          <p:cNvSpPr/>
          <p:nvPr/>
        </p:nvSpPr>
        <p:spPr>
          <a:xfrm>
            <a:off x="609905" y="915314"/>
            <a:ext cx="10972800" cy="28346"/>
          </a:xfrm>
          <a:prstGeom prst="rect">
            <a:avLst/>
          </a:prstGeom>
          <a:solidFill>
            <a:srgbClr val="0F3B5F"/>
          </a:solidFill>
          <a:ln/>
        </p:spPr>
      </p:sp>
      <p:sp>
        <p:nvSpPr>
          <p:cNvPr id="6" name="Text 4"/>
          <p:cNvSpPr txBox="1"/>
          <p:nvPr/>
        </p:nvSpPr>
        <p:spPr>
          <a:xfrm>
            <a:off x="609905" y="495605"/>
            <a:ext cx="5287061" cy="333756"/>
          </a:xfrm>
          <a:prstGeom prst="rect">
            <a:avLst/>
          </a:prstGeom>
          <a:noFill/>
          <a:ln/>
        </p:spPr>
        <p:txBody>
          <a:bodyPr wrap="square" lIns="0" tIns="0" rIns="0" bIns="0" rtlCol="0" anchor="ctr"/>
          <a:lstStyle/>
          <a:p>
            <a:pPr marL="0" indent="0" algn="l">
              <a:buNone/>
            </a:pPr>
            <a:r>
              <a:rPr lang="en-US" sz="2300" b="1" dirty="0">
                <a:solidFill>
                  <a:srgbClr val="0F3B5F"/>
                </a:solidFill>
                <a:latin typeface="Roboto" pitchFamily="34" charset="0"/>
                <a:ea typeface="Roboto" pitchFamily="34" charset="-122"/>
                <a:cs typeface="Roboto" pitchFamily="34" charset="-120"/>
              </a:rPr>
              <a:t>Evidencia Clínica y Estudios Relevantes</a:t>
            </a:r>
            <a:endParaRPr lang="en-US" sz="2300" dirty="0"/>
          </a:p>
        </p:txBody>
      </p:sp>
      <p:sp>
        <p:nvSpPr>
          <p:cNvPr id="7" name="Shape 5"/>
          <p:cNvSpPr/>
          <p:nvPr/>
        </p:nvSpPr>
        <p:spPr>
          <a:xfrm>
            <a:off x="609905" y="1133856"/>
            <a:ext cx="3562502" cy="3972154"/>
          </a:xfrm>
          <a:prstGeom prst="rect">
            <a:avLst/>
          </a:prstGeom>
          <a:solidFill>
            <a:schemeClr val="accent6">
              <a:lumMod val="20000"/>
              <a:lumOff val="80000"/>
            </a:schemeClr>
          </a:solidFill>
          <a:ln/>
          <a:effectLst>
            <a:outerShdw blurRad="38100" dist="25400" dir="5400000" algn="bl" rotWithShape="0">
              <a:srgbClr val="000000">
                <a:alpha val="10000"/>
              </a:srgbClr>
            </a:outerShdw>
          </a:effectLst>
        </p:spPr>
      </p:sp>
      <p:sp>
        <p:nvSpPr>
          <p:cNvPr id="8" name="Shape 6"/>
          <p:cNvSpPr/>
          <p:nvPr/>
        </p:nvSpPr>
        <p:spPr>
          <a:xfrm>
            <a:off x="609905" y="1133856"/>
            <a:ext cx="38405" cy="3972154"/>
          </a:xfrm>
          <a:prstGeom prst="rect">
            <a:avLst/>
          </a:prstGeom>
          <a:solidFill>
            <a:srgbClr val="0F3B5F"/>
          </a:solidFill>
          <a:ln/>
        </p:spPr>
      </p:sp>
      <p:pic>
        <p:nvPicPr>
          <p:cNvPr id="9" name="Image 0" descr="preencoded.png"/>
          <p:cNvPicPr>
            <a:picLocks noChangeAspect="1"/>
          </p:cNvPicPr>
          <p:nvPr/>
        </p:nvPicPr>
        <p:blipFill>
          <a:blip r:embed="rId3"/>
          <a:srcRect l="-57" r="-57"/>
          <a:stretch/>
        </p:blipFill>
        <p:spPr>
          <a:xfrm>
            <a:off x="790956" y="1299362"/>
            <a:ext cx="200254" cy="228600"/>
          </a:xfrm>
          <a:prstGeom prst="rect">
            <a:avLst/>
          </a:prstGeom>
        </p:spPr>
      </p:pic>
      <p:sp>
        <p:nvSpPr>
          <p:cNvPr id="10" name="Shape 7"/>
          <p:cNvSpPr/>
          <p:nvPr/>
        </p:nvSpPr>
        <p:spPr>
          <a:xfrm>
            <a:off x="4317797" y="1133856"/>
            <a:ext cx="3562502" cy="3972154"/>
          </a:xfrm>
          <a:prstGeom prst="rect">
            <a:avLst/>
          </a:prstGeom>
          <a:solidFill>
            <a:srgbClr val="F8F9FA"/>
          </a:solidFill>
          <a:ln/>
          <a:effectLst>
            <a:outerShdw blurRad="38100" dist="25400" dir="5400000" algn="bl" rotWithShape="0">
              <a:srgbClr val="000000">
                <a:alpha val="10000"/>
              </a:srgbClr>
            </a:outerShdw>
          </a:effectLst>
        </p:spPr>
      </p:sp>
      <p:sp>
        <p:nvSpPr>
          <p:cNvPr id="11" name="Shape 8"/>
          <p:cNvSpPr/>
          <p:nvPr/>
        </p:nvSpPr>
        <p:spPr>
          <a:xfrm>
            <a:off x="4317797" y="1133856"/>
            <a:ext cx="38405" cy="3972154"/>
          </a:xfrm>
          <a:prstGeom prst="rect">
            <a:avLst/>
          </a:prstGeom>
          <a:solidFill>
            <a:srgbClr val="0F3B5F"/>
          </a:solidFill>
          <a:ln/>
        </p:spPr>
      </p:sp>
      <p:sp>
        <p:nvSpPr>
          <p:cNvPr id="12" name="Text 9"/>
          <p:cNvSpPr txBox="1"/>
          <p:nvPr/>
        </p:nvSpPr>
        <p:spPr>
          <a:xfrm>
            <a:off x="1086307" y="1295705"/>
            <a:ext cx="790956" cy="219456"/>
          </a:xfrm>
          <a:prstGeom prst="rect">
            <a:avLst/>
          </a:prstGeom>
          <a:noFill/>
          <a:ln/>
        </p:spPr>
        <p:txBody>
          <a:bodyPr wrap="square" lIns="0" tIns="0" rIns="0" bIns="0" rtlCol="0" anchor="ctr"/>
          <a:lstStyle/>
          <a:p>
            <a:pPr marL="0" indent="0" algn="l">
              <a:buNone/>
            </a:pPr>
            <a:r>
              <a:rPr lang="en-US" sz="1400" b="1" dirty="0">
                <a:solidFill>
                  <a:srgbClr val="0F3B5F"/>
                </a:solidFill>
                <a:latin typeface="Roboto" pitchFamily="34" charset="0"/>
                <a:ea typeface="Roboto" pitchFamily="34" charset="-122"/>
                <a:cs typeface="Roboto" pitchFamily="34" charset="-120"/>
              </a:rPr>
              <a:t>SOAP-II</a:t>
            </a:r>
            <a:endParaRPr lang="en-US" sz="1400" dirty="0"/>
          </a:p>
        </p:txBody>
      </p:sp>
      <p:pic>
        <p:nvPicPr>
          <p:cNvPr id="13" name="Image 1" descr="preencoded.png"/>
          <p:cNvPicPr>
            <a:picLocks noChangeAspect="1"/>
          </p:cNvPicPr>
          <p:nvPr/>
        </p:nvPicPr>
        <p:blipFill>
          <a:blip r:embed="rId4"/>
          <a:srcRect/>
          <a:stretch/>
        </p:blipFill>
        <p:spPr>
          <a:xfrm>
            <a:off x="790956" y="1684325"/>
            <a:ext cx="152705" cy="152705"/>
          </a:xfrm>
          <a:prstGeom prst="rect">
            <a:avLst/>
          </a:prstGeom>
        </p:spPr>
      </p:pic>
      <p:sp>
        <p:nvSpPr>
          <p:cNvPr id="14" name="Text 10"/>
          <p:cNvSpPr txBox="1"/>
          <p:nvPr/>
        </p:nvSpPr>
        <p:spPr>
          <a:xfrm>
            <a:off x="4822546" y="1295705"/>
            <a:ext cx="1143000" cy="219456"/>
          </a:xfrm>
          <a:prstGeom prst="rect">
            <a:avLst/>
          </a:prstGeom>
          <a:noFill/>
          <a:ln/>
        </p:spPr>
        <p:txBody>
          <a:bodyPr wrap="square" lIns="0" tIns="0" rIns="0" bIns="0" rtlCol="0" anchor="ctr"/>
          <a:lstStyle/>
          <a:p>
            <a:pPr marL="0" indent="0" algn="l">
              <a:buNone/>
            </a:pPr>
            <a:r>
              <a:rPr lang="en-US" sz="1400" b="1" dirty="0">
                <a:solidFill>
                  <a:srgbClr val="0F3B5F"/>
                </a:solidFill>
                <a:latin typeface="Roboto" pitchFamily="34" charset="0"/>
                <a:ea typeface="Roboto" pitchFamily="34" charset="-122"/>
                <a:cs typeface="Roboto" pitchFamily="34" charset="-120"/>
              </a:rPr>
              <a:t>OPTIMA-CC</a:t>
            </a:r>
            <a:endParaRPr lang="en-US" sz="1400" dirty="0"/>
          </a:p>
        </p:txBody>
      </p:sp>
      <p:sp>
        <p:nvSpPr>
          <p:cNvPr id="15" name="Text 11"/>
          <p:cNvSpPr txBox="1"/>
          <p:nvPr/>
        </p:nvSpPr>
        <p:spPr>
          <a:xfrm>
            <a:off x="1037844" y="1665122"/>
            <a:ext cx="743407"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Comparó</a:t>
            </a:r>
            <a:endParaRPr lang="en-US" sz="1200" dirty="0"/>
          </a:p>
        </p:txBody>
      </p:sp>
      <p:sp>
        <p:nvSpPr>
          <p:cNvPr id="16" name="Text 12"/>
          <p:cNvSpPr txBox="1"/>
          <p:nvPr/>
        </p:nvSpPr>
        <p:spPr>
          <a:xfrm>
            <a:off x="2341778" y="1665122"/>
            <a:ext cx="277063"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vs</a:t>
            </a:r>
            <a:endParaRPr lang="en-US" sz="1200" dirty="0"/>
          </a:p>
        </p:txBody>
      </p:sp>
      <p:sp>
        <p:nvSpPr>
          <p:cNvPr id="17" name="Text 13"/>
          <p:cNvSpPr txBox="1"/>
          <p:nvPr/>
        </p:nvSpPr>
        <p:spPr>
          <a:xfrm>
            <a:off x="1037844" y="1969618"/>
            <a:ext cx="2886761"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Dopamina: mayor incidencia de arritmias</a:t>
            </a:r>
            <a:endParaRPr lang="en-US" sz="1200" dirty="0"/>
          </a:p>
        </p:txBody>
      </p:sp>
      <p:sp>
        <p:nvSpPr>
          <p:cNvPr id="18" name="Text 14"/>
          <p:cNvSpPr txBox="1"/>
          <p:nvPr/>
        </p:nvSpPr>
        <p:spPr>
          <a:xfrm>
            <a:off x="1037844" y="2274113"/>
            <a:ext cx="2086661"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En subgrupo con SC (n=280):</a:t>
            </a:r>
            <a:endParaRPr lang="en-US" sz="1200" dirty="0"/>
          </a:p>
        </p:txBody>
      </p:sp>
      <p:sp>
        <p:nvSpPr>
          <p:cNvPr id="19" name="Text 15"/>
          <p:cNvSpPr txBox="1"/>
          <p:nvPr/>
        </p:nvSpPr>
        <p:spPr>
          <a:xfrm>
            <a:off x="1037844" y="2502713"/>
            <a:ext cx="2486254"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con dopamina (P=0.03)</a:t>
            </a:r>
            <a:endParaRPr lang="en-US" sz="1200" dirty="0"/>
          </a:p>
        </p:txBody>
      </p:sp>
      <p:sp>
        <p:nvSpPr>
          <p:cNvPr id="20" name="Text 16"/>
          <p:cNvSpPr txBox="1"/>
          <p:nvPr/>
        </p:nvSpPr>
        <p:spPr>
          <a:xfrm>
            <a:off x="4746650" y="2198218"/>
            <a:ext cx="743407"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Comparó</a:t>
            </a:r>
            <a:endParaRPr lang="en-US" sz="1200" dirty="0"/>
          </a:p>
        </p:txBody>
      </p:sp>
      <p:sp>
        <p:nvSpPr>
          <p:cNvPr id="21" name="Text 17"/>
          <p:cNvSpPr txBox="1"/>
          <p:nvPr/>
        </p:nvSpPr>
        <p:spPr>
          <a:xfrm>
            <a:off x="6066130" y="2198218"/>
            <a:ext cx="277063"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vs</a:t>
            </a:r>
            <a:endParaRPr lang="en-US" sz="1200" dirty="0"/>
          </a:p>
        </p:txBody>
      </p:sp>
      <p:sp>
        <p:nvSpPr>
          <p:cNvPr id="22" name="Text 18"/>
          <p:cNvSpPr txBox="1"/>
          <p:nvPr/>
        </p:nvSpPr>
        <p:spPr>
          <a:xfrm>
            <a:off x="1663294" y="1665122"/>
            <a:ext cx="800100"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dopamina</a:t>
            </a:r>
            <a:endParaRPr lang="en-US" sz="1200" dirty="0"/>
          </a:p>
        </p:txBody>
      </p:sp>
      <p:sp>
        <p:nvSpPr>
          <p:cNvPr id="23" name="Text 19"/>
          <p:cNvSpPr txBox="1"/>
          <p:nvPr/>
        </p:nvSpPr>
        <p:spPr>
          <a:xfrm>
            <a:off x="2494483" y="1665122"/>
            <a:ext cx="1067105"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noradrenalina</a:t>
            </a:r>
            <a:endParaRPr lang="en-US" sz="1200" dirty="0"/>
          </a:p>
        </p:txBody>
      </p:sp>
      <p:pic>
        <p:nvPicPr>
          <p:cNvPr id="24" name="Image 2" descr="preencoded.png"/>
          <p:cNvPicPr>
            <a:picLocks noChangeAspect="1"/>
          </p:cNvPicPr>
          <p:nvPr/>
        </p:nvPicPr>
        <p:blipFill>
          <a:blip r:embed="rId5"/>
          <a:srcRect/>
          <a:stretch/>
        </p:blipFill>
        <p:spPr>
          <a:xfrm>
            <a:off x="790956" y="1988820"/>
            <a:ext cx="152705" cy="152705"/>
          </a:xfrm>
          <a:prstGeom prst="rect">
            <a:avLst/>
          </a:prstGeom>
        </p:spPr>
      </p:pic>
      <p:pic>
        <p:nvPicPr>
          <p:cNvPr id="25" name="Image 3" descr="preencoded.png"/>
          <p:cNvPicPr>
            <a:picLocks noChangeAspect="1"/>
          </p:cNvPicPr>
          <p:nvPr/>
        </p:nvPicPr>
        <p:blipFill>
          <a:blip r:embed="rId6"/>
          <a:srcRect/>
          <a:stretch/>
        </p:blipFill>
        <p:spPr>
          <a:xfrm>
            <a:off x="790956" y="2293315"/>
            <a:ext cx="152705" cy="152705"/>
          </a:xfrm>
          <a:prstGeom prst="rect">
            <a:avLst/>
          </a:prstGeom>
        </p:spPr>
      </p:pic>
      <p:sp>
        <p:nvSpPr>
          <p:cNvPr id="26" name="Text 20"/>
          <p:cNvSpPr txBox="1"/>
          <p:nvPr/>
        </p:nvSpPr>
        <p:spPr>
          <a:xfrm>
            <a:off x="4746650" y="1665122"/>
            <a:ext cx="2343607"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Estudio prospectivo, doble ciego, aleatorizado</a:t>
            </a:r>
            <a:endParaRPr lang="en-US" sz="1200" dirty="0"/>
          </a:p>
        </p:txBody>
      </p:sp>
      <p:sp>
        <p:nvSpPr>
          <p:cNvPr id="27" name="Text 21"/>
          <p:cNvSpPr txBox="1"/>
          <p:nvPr/>
        </p:nvSpPr>
        <p:spPr>
          <a:xfrm>
            <a:off x="1037844" y="2274113"/>
            <a:ext cx="2524658" cy="409651"/>
          </a:xfrm>
          <a:prstGeom prst="rect">
            <a:avLst/>
          </a:prstGeom>
          <a:noFill/>
          <a:ln/>
        </p:spPr>
        <p:txBody>
          <a:bodyPr wrap="square" lIns="0" tIns="0" rIns="0" bIns="0" rtlCol="0" anchor="ctr"/>
          <a:lstStyle/>
          <a:p>
            <a:pPr marL="0" indent="0" algn="l">
              <a:buNone/>
            </a:pPr>
            <a:r>
              <a:rPr lang="en-US" sz="1200" b="1" dirty="0">
                <a:solidFill>
                  <a:srgbClr val="DC2626"/>
                </a:solidFill>
                <a:latin typeface="Roboto" pitchFamily="34" charset="0"/>
                <a:ea typeface="Roboto" pitchFamily="34" charset="-122"/>
                <a:cs typeface="Roboto" pitchFamily="34" charset="-120"/>
              </a:rPr>
              <a:t>mayor mortalidad a 28 días</a:t>
            </a:r>
            <a:endParaRPr lang="en-US" sz="1200" dirty="0"/>
          </a:p>
        </p:txBody>
      </p:sp>
      <p:sp>
        <p:nvSpPr>
          <p:cNvPr id="28" name="Shape 22"/>
          <p:cNvSpPr/>
          <p:nvPr/>
        </p:nvSpPr>
        <p:spPr>
          <a:xfrm>
            <a:off x="790956" y="3036722"/>
            <a:ext cx="3238805" cy="933602"/>
          </a:xfrm>
          <a:prstGeom prst="roundRect">
            <a:avLst>
              <a:gd name="adj" fmla="val 5997"/>
            </a:avLst>
          </a:prstGeom>
          <a:solidFill>
            <a:srgbClr val="E6F7FF"/>
          </a:solidFill>
          <a:ln w="12700">
            <a:solidFill>
              <a:srgbClr val="91D5FF"/>
            </a:solidFill>
            <a:prstDash val="solid"/>
          </a:ln>
        </p:spPr>
      </p:sp>
      <p:sp>
        <p:nvSpPr>
          <p:cNvPr id="29" name="Text 23"/>
          <p:cNvSpPr txBox="1"/>
          <p:nvPr/>
        </p:nvSpPr>
        <p:spPr>
          <a:xfrm>
            <a:off x="914400" y="3179369"/>
            <a:ext cx="924458"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Conclusión:</a:t>
            </a:r>
            <a:endParaRPr lang="en-US" sz="1200" dirty="0"/>
          </a:p>
        </p:txBody>
      </p:sp>
      <p:sp>
        <p:nvSpPr>
          <p:cNvPr id="30" name="Text 24"/>
          <p:cNvSpPr txBox="1"/>
          <p:nvPr/>
        </p:nvSpPr>
        <p:spPr>
          <a:xfrm>
            <a:off x="914400" y="3407969"/>
            <a:ext cx="3086100"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Noradrenalina preferible sobre dopamina en SC con hipotensión</a:t>
            </a:r>
            <a:endParaRPr lang="en-US" sz="1200" dirty="0"/>
          </a:p>
        </p:txBody>
      </p:sp>
      <p:pic>
        <p:nvPicPr>
          <p:cNvPr id="31" name="Image 4" descr="preencoded.png"/>
          <p:cNvPicPr>
            <a:picLocks noChangeAspect="1"/>
          </p:cNvPicPr>
          <p:nvPr/>
        </p:nvPicPr>
        <p:blipFill>
          <a:blip r:embed="rId7"/>
          <a:srcRect/>
          <a:stretch/>
        </p:blipFill>
        <p:spPr>
          <a:xfrm>
            <a:off x="4498848" y="1299362"/>
            <a:ext cx="228600" cy="228600"/>
          </a:xfrm>
          <a:prstGeom prst="rect">
            <a:avLst/>
          </a:prstGeom>
        </p:spPr>
      </p:pic>
      <p:pic>
        <p:nvPicPr>
          <p:cNvPr id="32" name="Image 5" descr="preencoded.png"/>
          <p:cNvPicPr>
            <a:picLocks noChangeAspect="1"/>
          </p:cNvPicPr>
          <p:nvPr/>
        </p:nvPicPr>
        <p:blipFill>
          <a:blip r:embed="rId8"/>
          <a:srcRect/>
          <a:stretch/>
        </p:blipFill>
        <p:spPr>
          <a:xfrm>
            <a:off x="4498848" y="1684325"/>
            <a:ext cx="152705" cy="152705"/>
          </a:xfrm>
          <a:prstGeom prst="rect">
            <a:avLst/>
          </a:prstGeom>
        </p:spPr>
      </p:pic>
      <p:pic>
        <p:nvPicPr>
          <p:cNvPr id="33" name="Image 6" descr="preencoded.png"/>
          <p:cNvPicPr>
            <a:picLocks noChangeAspect="1"/>
          </p:cNvPicPr>
          <p:nvPr/>
        </p:nvPicPr>
        <p:blipFill>
          <a:blip r:embed="rId9"/>
          <a:srcRect/>
          <a:stretch/>
        </p:blipFill>
        <p:spPr>
          <a:xfrm>
            <a:off x="4498848" y="2217420"/>
            <a:ext cx="152705" cy="152705"/>
          </a:xfrm>
          <a:prstGeom prst="rect">
            <a:avLst/>
          </a:prstGeom>
        </p:spPr>
      </p:pic>
      <p:sp>
        <p:nvSpPr>
          <p:cNvPr id="34" name="Text 25"/>
          <p:cNvSpPr txBox="1"/>
          <p:nvPr/>
        </p:nvSpPr>
        <p:spPr>
          <a:xfrm>
            <a:off x="4746650" y="2198218"/>
            <a:ext cx="3057754"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en IAM-SC</a:t>
            </a:r>
            <a:endParaRPr lang="en-US" sz="1200" dirty="0"/>
          </a:p>
        </p:txBody>
      </p:sp>
      <p:sp>
        <p:nvSpPr>
          <p:cNvPr id="35" name="Text 26"/>
          <p:cNvSpPr txBox="1"/>
          <p:nvPr/>
        </p:nvSpPr>
        <p:spPr>
          <a:xfrm>
            <a:off x="6217920" y="2198218"/>
            <a:ext cx="1067105"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noradrenalina</a:t>
            </a:r>
            <a:endParaRPr lang="en-US" sz="1200" dirty="0"/>
          </a:p>
        </p:txBody>
      </p:sp>
      <p:pic>
        <p:nvPicPr>
          <p:cNvPr id="36" name="Image 7" descr="preencoded.png"/>
          <p:cNvPicPr>
            <a:picLocks noChangeAspect="1"/>
          </p:cNvPicPr>
          <p:nvPr/>
        </p:nvPicPr>
        <p:blipFill>
          <a:blip r:embed="rId10"/>
          <a:srcRect t="-100" b="-100"/>
          <a:stretch/>
        </p:blipFill>
        <p:spPr>
          <a:xfrm>
            <a:off x="4498848" y="2750515"/>
            <a:ext cx="114300" cy="152705"/>
          </a:xfrm>
          <a:prstGeom prst="rect">
            <a:avLst/>
          </a:prstGeom>
        </p:spPr>
      </p:pic>
      <p:sp>
        <p:nvSpPr>
          <p:cNvPr id="37" name="Text 27"/>
          <p:cNvSpPr txBox="1"/>
          <p:nvPr/>
        </p:nvSpPr>
        <p:spPr>
          <a:xfrm>
            <a:off x="4708246" y="2731313"/>
            <a:ext cx="2820010" cy="6382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Epinefrina: peor acidosis metabólica (P=0.0004) y mayores niveles de lactato (P&lt;0.0001)</a:t>
            </a:r>
            <a:endParaRPr lang="en-US" sz="1200" dirty="0"/>
          </a:p>
        </p:txBody>
      </p:sp>
      <p:pic>
        <p:nvPicPr>
          <p:cNvPr id="38" name="Image 8" descr="preencoded.png"/>
          <p:cNvPicPr>
            <a:picLocks noChangeAspect="1"/>
          </p:cNvPicPr>
          <p:nvPr/>
        </p:nvPicPr>
        <p:blipFill>
          <a:blip r:embed="rId11"/>
          <a:srcRect/>
          <a:stretch/>
        </p:blipFill>
        <p:spPr>
          <a:xfrm>
            <a:off x="4498848" y="3513125"/>
            <a:ext cx="152705" cy="152705"/>
          </a:xfrm>
          <a:prstGeom prst="rect">
            <a:avLst/>
          </a:prstGeom>
        </p:spPr>
      </p:pic>
      <p:sp>
        <p:nvSpPr>
          <p:cNvPr id="39" name="Shape 28"/>
          <p:cNvSpPr/>
          <p:nvPr/>
        </p:nvSpPr>
        <p:spPr>
          <a:xfrm>
            <a:off x="8026603" y="1133856"/>
            <a:ext cx="3562502" cy="3972154"/>
          </a:xfrm>
          <a:prstGeom prst="rect">
            <a:avLst/>
          </a:prstGeom>
          <a:solidFill>
            <a:srgbClr val="F8F9FA"/>
          </a:solidFill>
          <a:ln/>
          <a:effectLst>
            <a:outerShdw blurRad="38100" dist="25400" dir="5400000" algn="bl" rotWithShape="0">
              <a:srgbClr val="000000">
                <a:alpha val="10000"/>
              </a:srgbClr>
            </a:outerShdw>
          </a:effectLst>
        </p:spPr>
      </p:sp>
      <p:sp>
        <p:nvSpPr>
          <p:cNvPr id="40" name="Shape 29"/>
          <p:cNvSpPr/>
          <p:nvPr/>
        </p:nvSpPr>
        <p:spPr>
          <a:xfrm>
            <a:off x="8026603" y="1133856"/>
            <a:ext cx="38405" cy="3972154"/>
          </a:xfrm>
          <a:prstGeom prst="rect">
            <a:avLst/>
          </a:prstGeom>
          <a:solidFill>
            <a:srgbClr val="0F3B5F"/>
          </a:solidFill>
          <a:ln/>
        </p:spPr>
      </p:sp>
      <p:sp>
        <p:nvSpPr>
          <p:cNvPr id="41" name="Text 30"/>
          <p:cNvSpPr txBox="1"/>
          <p:nvPr/>
        </p:nvSpPr>
        <p:spPr>
          <a:xfrm>
            <a:off x="8473745" y="1295705"/>
            <a:ext cx="1600200" cy="219456"/>
          </a:xfrm>
          <a:prstGeom prst="rect">
            <a:avLst/>
          </a:prstGeom>
          <a:noFill/>
          <a:ln/>
        </p:spPr>
        <p:txBody>
          <a:bodyPr wrap="square" lIns="0" tIns="0" rIns="0" bIns="0" rtlCol="0" anchor="ctr"/>
          <a:lstStyle/>
          <a:p>
            <a:pPr marL="0" indent="0" algn="l">
              <a:buNone/>
            </a:pPr>
            <a:r>
              <a:rPr lang="en-US" sz="1400" b="1" dirty="0">
                <a:solidFill>
                  <a:srgbClr val="0F3B5F"/>
                </a:solidFill>
                <a:latin typeface="Roboto" pitchFamily="34" charset="0"/>
                <a:ea typeface="Roboto" pitchFamily="34" charset="-122"/>
                <a:cs typeface="Roboto" pitchFamily="34" charset="-120"/>
              </a:rPr>
              <a:t>CAPITAL DOREMI</a:t>
            </a:r>
            <a:endParaRPr lang="en-US" sz="1400" dirty="0"/>
          </a:p>
        </p:txBody>
      </p:sp>
      <p:sp>
        <p:nvSpPr>
          <p:cNvPr id="42" name="Text 31"/>
          <p:cNvSpPr txBox="1"/>
          <p:nvPr/>
        </p:nvSpPr>
        <p:spPr>
          <a:xfrm>
            <a:off x="4746650" y="3493922"/>
            <a:ext cx="2895905"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Epinefrina: mayor aumento de frecuencia cardíaca (P&lt;0.001)</a:t>
            </a:r>
            <a:endParaRPr lang="en-US" sz="1200" dirty="0"/>
          </a:p>
        </p:txBody>
      </p:sp>
      <p:sp>
        <p:nvSpPr>
          <p:cNvPr id="43" name="Text 32"/>
          <p:cNvSpPr txBox="1"/>
          <p:nvPr/>
        </p:nvSpPr>
        <p:spPr>
          <a:xfrm>
            <a:off x="8492947" y="1665122"/>
            <a:ext cx="743407"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Comparó</a:t>
            </a:r>
            <a:endParaRPr lang="en-US" sz="1200" dirty="0"/>
          </a:p>
        </p:txBody>
      </p:sp>
      <p:sp>
        <p:nvSpPr>
          <p:cNvPr id="44" name="Text 33"/>
          <p:cNvSpPr txBox="1"/>
          <p:nvPr/>
        </p:nvSpPr>
        <p:spPr>
          <a:xfrm>
            <a:off x="9765792" y="1665122"/>
            <a:ext cx="277063"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vs</a:t>
            </a:r>
            <a:endParaRPr lang="en-US" sz="1200" dirty="0"/>
          </a:p>
        </p:txBody>
      </p:sp>
      <p:sp>
        <p:nvSpPr>
          <p:cNvPr id="45" name="Text 34"/>
          <p:cNvSpPr txBox="1"/>
          <p:nvPr/>
        </p:nvSpPr>
        <p:spPr>
          <a:xfrm>
            <a:off x="8436254" y="1969618"/>
            <a:ext cx="2800807" cy="6382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Sin diferencias en resultado compuesto primario: mortalidad hospitalaria, paro cardíaco resucitado</a:t>
            </a:r>
            <a:endParaRPr lang="en-US" sz="1200" dirty="0"/>
          </a:p>
        </p:txBody>
      </p:sp>
      <p:sp>
        <p:nvSpPr>
          <p:cNvPr id="46" name="Text 35"/>
          <p:cNvSpPr txBox="1"/>
          <p:nvPr/>
        </p:nvSpPr>
        <p:spPr>
          <a:xfrm>
            <a:off x="5372100" y="2198218"/>
            <a:ext cx="810158"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epinefrina</a:t>
            </a:r>
            <a:endParaRPr lang="en-US" sz="1200" dirty="0"/>
          </a:p>
        </p:txBody>
      </p:sp>
      <p:sp>
        <p:nvSpPr>
          <p:cNvPr id="47" name="Text 36"/>
          <p:cNvSpPr txBox="1"/>
          <p:nvPr/>
        </p:nvSpPr>
        <p:spPr>
          <a:xfrm>
            <a:off x="9118397" y="1665122"/>
            <a:ext cx="762610"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milrinona</a:t>
            </a:r>
            <a:endParaRPr lang="en-US" sz="1200" dirty="0"/>
          </a:p>
        </p:txBody>
      </p:sp>
      <p:sp>
        <p:nvSpPr>
          <p:cNvPr id="48" name="Text 37"/>
          <p:cNvSpPr txBox="1"/>
          <p:nvPr/>
        </p:nvSpPr>
        <p:spPr>
          <a:xfrm>
            <a:off x="9918497" y="1665122"/>
            <a:ext cx="933602"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dobutamina</a:t>
            </a:r>
            <a:endParaRPr lang="en-US" sz="1200" dirty="0"/>
          </a:p>
        </p:txBody>
      </p:sp>
      <p:sp>
        <p:nvSpPr>
          <p:cNvPr id="49" name="Shape 38"/>
          <p:cNvSpPr/>
          <p:nvPr/>
        </p:nvSpPr>
        <p:spPr>
          <a:xfrm>
            <a:off x="4498848" y="4027018"/>
            <a:ext cx="3238805" cy="933602"/>
          </a:xfrm>
          <a:prstGeom prst="roundRect">
            <a:avLst>
              <a:gd name="adj" fmla="val 5997"/>
            </a:avLst>
          </a:prstGeom>
          <a:solidFill>
            <a:srgbClr val="E6F7FF"/>
          </a:solidFill>
          <a:ln w="12700">
            <a:solidFill>
              <a:srgbClr val="91D5FF"/>
            </a:solidFill>
            <a:prstDash val="solid"/>
          </a:ln>
        </p:spPr>
      </p:sp>
      <p:sp>
        <p:nvSpPr>
          <p:cNvPr id="50" name="Text 39"/>
          <p:cNvSpPr txBox="1"/>
          <p:nvPr/>
        </p:nvSpPr>
        <p:spPr>
          <a:xfrm>
            <a:off x="4623206" y="4169664"/>
            <a:ext cx="1762963"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Terminación prematura:</a:t>
            </a:r>
            <a:endParaRPr lang="en-US" sz="1200" dirty="0"/>
          </a:p>
        </p:txBody>
      </p:sp>
      <p:sp>
        <p:nvSpPr>
          <p:cNvPr id="51" name="Text 40"/>
          <p:cNvSpPr txBox="1"/>
          <p:nvPr/>
        </p:nvSpPr>
        <p:spPr>
          <a:xfrm>
            <a:off x="4623206" y="4398264"/>
            <a:ext cx="2800807"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Mayor incidencia de SC refractario en el grupo de epinefrina</a:t>
            </a:r>
            <a:endParaRPr lang="en-US" sz="1200" dirty="0"/>
          </a:p>
        </p:txBody>
      </p:sp>
      <p:pic>
        <p:nvPicPr>
          <p:cNvPr id="52" name="Image 9" descr="preencoded.png"/>
          <p:cNvPicPr>
            <a:picLocks noChangeAspect="1"/>
          </p:cNvPicPr>
          <p:nvPr/>
        </p:nvPicPr>
        <p:blipFill>
          <a:blip r:embed="rId12"/>
          <a:srcRect l="-133" r="-133"/>
          <a:stretch/>
        </p:blipFill>
        <p:spPr>
          <a:xfrm>
            <a:off x="8207654" y="1299362"/>
            <a:ext cx="171907" cy="228600"/>
          </a:xfrm>
          <a:prstGeom prst="rect">
            <a:avLst/>
          </a:prstGeom>
        </p:spPr>
      </p:pic>
      <p:pic>
        <p:nvPicPr>
          <p:cNvPr id="53" name="Image 10" descr="preencoded.png"/>
          <p:cNvPicPr>
            <a:picLocks noChangeAspect="1"/>
          </p:cNvPicPr>
          <p:nvPr/>
        </p:nvPicPr>
        <p:blipFill>
          <a:blip r:embed="rId13"/>
          <a:srcRect t="-180" b="-180"/>
          <a:stretch/>
        </p:blipFill>
        <p:spPr>
          <a:xfrm>
            <a:off x="8207654" y="1684325"/>
            <a:ext cx="190195" cy="152705"/>
          </a:xfrm>
          <a:prstGeom prst="rect">
            <a:avLst/>
          </a:prstGeom>
        </p:spPr>
      </p:pic>
      <p:pic>
        <p:nvPicPr>
          <p:cNvPr id="54" name="Image 11" descr="preencoded.png"/>
          <p:cNvPicPr>
            <a:picLocks noChangeAspect="1"/>
          </p:cNvPicPr>
          <p:nvPr/>
        </p:nvPicPr>
        <p:blipFill>
          <a:blip r:embed="rId14"/>
          <a:srcRect t="-43" b="-43"/>
          <a:stretch/>
        </p:blipFill>
        <p:spPr>
          <a:xfrm>
            <a:off x="8207654" y="1988820"/>
            <a:ext cx="133502" cy="152705"/>
          </a:xfrm>
          <a:prstGeom prst="rect">
            <a:avLst/>
          </a:prstGeom>
        </p:spPr>
      </p:pic>
      <p:pic>
        <p:nvPicPr>
          <p:cNvPr id="55" name="Image 12" descr="preencoded.png"/>
          <p:cNvPicPr>
            <a:picLocks noChangeAspect="1"/>
          </p:cNvPicPr>
          <p:nvPr/>
        </p:nvPicPr>
        <p:blipFill>
          <a:blip r:embed="rId15"/>
          <a:srcRect t="-100" b="-100"/>
          <a:stretch/>
        </p:blipFill>
        <p:spPr>
          <a:xfrm>
            <a:off x="8207654" y="2750515"/>
            <a:ext cx="114300" cy="152705"/>
          </a:xfrm>
          <a:prstGeom prst="rect">
            <a:avLst/>
          </a:prstGeom>
        </p:spPr>
      </p:pic>
      <p:sp>
        <p:nvSpPr>
          <p:cNvPr id="56" name="Text 41"/>
          <p:cNvSpPr txBox="1"/>
          <p:nvPr/>
        </p:nvSpPr>
        <p:spPr>
          <a:xfrm>
            <a:off x="8417052" y="2731313"/>
            <a:ext cx="1877263"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RR: 0.9 [IC 95%, 0.69-1.19]</a:t>
            </a:r>
            <a:endParaRPr lang="en-US" sz="1200" dirty="0"/>
          </a:p>
        </p:txBody>
      </p:sp>
      <p:pic>
        <p:nvPicPr>
          <p:cNvPr id="57" name="Image 13" descr="preencoded.png"/>
          <p:cNvPicPr>
            <a:picLocks noChangeAspect="1"/>
          </p:cNvPicPr>
          <p:nvPr/>
        </p:nvPicPr>
        <p:blipFill>
          <a:blip r:embed="rId16"/>
          <a:srcRect l="-33" r="-33"/>
          <a:stretch/>
        </p:blipFill>
        <p:spPr>
          <a:xfrm>
            <a:off x="8207654" y="3055925"/>
            <a:ext cx="171907" cy="152705"/>
          </a:xfrm>
          <a:prstGeom prst="rect">
            <a:avLst/>
          </a:prstGeom>
        </p:spPr>
      </p:pic>
      <p:sp>
        <p:nvSpPr>
          <p:cNvPr id="58" name="Text 42"/>
          <p:cNvSpPr txBox="1"/>
          <p:nvPr/>
        </p:nvSpPr>
        <p:spPr>
          <a:xfrm>
            <a:off x="8473745" y="3036722"/>
            <a:ext cx="2677363"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Análisis de subgrupos: sin diferencias significativas</a:t>
            </a:r>
            <a:endParaRPr lang="en-US" sz="1200" dirty="0"/>
          </a:p>
        </p:txBody>
      </p:sp>
      <p:sp>
        <p:nvSpPr>
          <p:cNvPr id="59" name="Shape 43"/>
          <p:cNvSpPr/>
          <p:nvPr/>
        </p:nvSpPr>
        <p:spPr>
          <a:xfrm>
            <a:off x="8207654" y="3569818"/>
            <a:ext cx="3238805" cy="933602"/>
          </a:xfrm>
          <a:prstGeom prst="roundRect">
            <a:avLst>
              <a:gd name="adj" fmla="val 5997"/>
            </a:avLst>
          </a:prstGeom>
          <a:solidFill>
            <a:srgbClr val="E6F7FF"/>
          </a:solidFill>
          <a:ln w="12700">
            <a:solidFill>
              <a:srgbClr val="91D5FF"/>
            </a:solidFill>
            <a:prstDash val="solid"/>
          </a:ln>
        </p:spPr>
      </p:sp>
      <p:sp>
        <p:nvSpPr>
          <p:cNvPr id="60" name="Text 44"/>
          <p:cNvSpPr txBox="1"/>
          <p:nvPr/>
        </p:nvSpPr>
        <p:spPr>
          <a:xfrm>
            <a:off x="8331098" y="3712464"/>
            <a:ext cx="924458"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Conclusión:</a:t>
            </a:r>
            <a:endParaRPr lang="en-US" sz="1200" dirty="0"/>
          </a:p>
        </p:txBody>
      </p:sp>
      <p:sp>
        <p:nvSpPr>
          <p:cNvPr id="61" name="Text 45"/>
          <p:cNvSpPr txBox="1"/>
          <p:nvPr/>
        </p:nvSpPr>
        <p:spPr>
          <a:xfrm>
            <a:off x="8331098" y="3941064"/>
            <a:ext cx="2686507"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Ambos inotrópicos presentan eficacia similar</a:t>
            </a:r>
            <a:endParaRPr lang="en-US" sz="1200" dirty="0"/>
          </a:p>
        </p:txBody>
      </p:sp>
      <p:sp>
        <p:nvSpPr>
          <p:cNvPr id="62" name="Shape 46"/>
          <p:cNvSpPr/>
          <p:nvPr/>
        </p:nvSpPr>
        <p:spPr>
          <a:xfrm>
            <a:off x="609905" y="5522976"/>
            <a:ext cx="10972800" cy="1086307"/>
          </a:xfrm>
          <a:prstGeom prst="rect">
            <a:avLst/>
          </a:prstGeom>
          <a:solidFill>
            <a:srgbClr val="F8F9FA"/>
          </a:solidFill>
          <a:ln/>
          <a:effectLst>
            <a:outerShdw blurRad="38100" dist="25400" dir="5400000" algn="bl" rotWithShape="0">
              <a:srgbClr val="000000">
                <a:alpha val="10000"/>
              </a:srgbClr>
            </a:outerShdw>
          </a:effectLst>
        </p:spPr>
      </p:sp>
      <p:sp>
        <p:nvSpPr>
          <p:cNvPr id="63" name="Shape 47"/>
          <p:cNvSpPr/>
          <p:nvPr/>
        </p:nvSpPr>
        <p:spPr>
          <a:xfrm>
            <a:off x="609905" y="5522976"/>
            <a:ext cx="38405" cy="1086307"/>
          </a:xfrm>
          <a:prstGeom prst="rect">
            <a:avLst/>
          </a:prstGeom>
          <a:solidFill>
            <a:srgbClr val="0F3B5F"/>
          </a:solidFill>
          <a:ln/>
        </p:spPr>
      </p:sp>
      <p:pic>
        <p:nvPicPr>
          <p:cNvPr id="64" name="Image 14" descr="preencoded.png"/>
          <p:cNvPicPr>
            <a:picLocks noChangeAspect="1"/>
          </p:cNvPicPr>
          <p:nvPr/>
        </p:nvPicPr>
        <p:blipFill>
          <a:blip r:embed="rId17"/>
          <a:srcRect/>
          <a:stretch/>
        </p:blipFill>
        <p:spPr>
          <a:xfrm>
            <a:off x="790956" y="5684825"/>
            <a:ext cx="228600" cy="228600"/>
          </a:xfrm>
          <a:prstGeom prst="rect">
            <a:avLst/>
          </a:prstGeom>
        </p:spPr>
      </p:pic>
      <p:sp>
        <p:nvSpPr>
          <p:cNvPr id="65" name="Text 48"/>
          <p:cNvSpPr txBox="1"/>
          <p:nvPr/>
        </p:nvSpPr>
        <p:spPr>
          <a:xfrm>
            <a:off x="1133856" y="5684825"/>
            <a:ext cx="2391156" cy="228600"/>
          </a:xfrm>
          <a:prstGeom prst="rect">
            <a:avLst/>
          </a:prstGeom>
          <a:noFill/>
          <a:ln/>
        </p:spPr>
        <p:txBody>
          <a:bodyPr wrap="square" lIns="0" tIns="0" rIns="0" bIns="0" rtlCol="0" anchor="ctr"/>
          <a:lstStyle/>
          <a:p>
            <a:pPr marL="0" indent="0" algn="l">
              <a:buNone/>
            </a:pPr>
            <a:r>
              <a:rPr lang="en-US" sz="1500" b="1" dirty="0">
                <a:solidFill>
                  <a:srgbClr val="1E40AF"/>
                </a:solidFill>
                <a:latin typeface="Roboto" pitchFamily="34" charset="0"/>
                <a:ea typeface="Roboto" pitchFamily="34" charset="-122"/>
                <a:cs typeface="Roboto" pitchFamily="34" charset="-120"/>
              </a:rPr>
              <a:t>Meta-análisis adicionales:</a:t>
            </a:r>
            <a:endParaRPr lang="en-US" sz="1500" dirty="0"/>
          </a:p>
        </p:txBody>
      </p:sp>
      <p:sp>
        <p:nvSpPr>
          <p:cNvPr id="66" name="Text 49"/>
          <p:cNvSpPr txBox="1"/>
          <p:nvPr/>
        </p:nvSpPr>
        <p:spPr>
          <a:xfrm>
            <a:off x="790956" y="6027725"/>
            <a:ext cx="10668305"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Pacientes tratados con epinefrina mostraron un riesgo ajustado significativamente mayor de mortalidad (OR ajustado, 4.7 [IC 95%, 3.4–6.4]) comparado con otros vasopresores.</a:t>
            </a:r>
            <a:endParaRPr lang="en-US" sz="1200" dirty="0"/>
          </a:p>
        </p:txBody>
      </p:sp>
      <p:sp>
        <p:nvSpPr>
          <p:cNvPr id="67" name="Text 50"/>
          <p:cNvSpPr txBox="1"/>
          <p:nvPr/>
        </p:nvSpPr>
        <p:spPr>
          <a:xfrm>
            <a:off x="609905" y="6817766"/>
            <a:ext cx="8144561" cy="152705"/>
          </a:xfrm>
          <a:prstGeom prst="rect">
            <a:avLst/>
          </a:prstGeom>
          <a:noFill/>
          <a:ln/>
        </p:spPr>
        <p:txBody>
          <a:bodyPr wrap="square" lIns="0" tIns="0" rIns="0" bIns="0" rtlCol="0" anchor="ctr"/>
          <a:lstStyle/>
          <a:p>
            <a:pPr marL="0" indent="0" algn="l">
              <a:buNone/>
            </a:pPr>
            <a:r>
              <a:rPr lang="en-US" sz="1100" i="1" dirty="0">
                <a:solidFill>
                  <a:srgbClr val="4B5563"/>
                </a:solidFill>
                <a:latin typeface="Roboto" pitchFamily="34" charset="0"/>
                <a:ea typeface="Roboto" pitchFamily="34" charset="-122"/>
                <a:cs typeface="Roboto" pitchFamily="34" charset="-120"/>
              </a:rPr>
              <a:t>Datos extraídos de Bloom JE, et al. State of Shock: Contemporary Vasopressor and Inotrope Use in Cardiogenic Shock. Circulation. 2023</a:t>
            </a:r>
            <a:endParaRPr lang="en-US" sz="1100" dirty="0"/>
          </a:p>
        </p:txBody>
      </p:sp>
      <p:sp>
        <p:nvSpPr>
          <p:cNvPr id="68" name="Shape 51"/>
          <p:cNvSpPr/>
          <p:nvPr/>
        </p:nvSpPr>
        <p:spPr>
          <a:xfrm>
            <a:off x="0" y="7294169"/>
            <a:ext cx="12191695" cy="75895"/>
          </a:xfrm>
          <a:prstGeom prst="rect">
            <a:avLst/>
          </a:prstGeom>
          <a:solidFill>
            <a:schemeClr val="accent6"/>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7981798"/>
          </a:xfrm>
          <a:prstGeom prst="rect">
            <a:avLst/>
          </a:prstGeom>
          <a:solidFill>
            <a:srgbClr val="FFFFFF"/>
          </a:solidFill>
          <a:ln/>
        </p:spPr>
      </p:sp>
      <p:sp>
        <p:nvSpPr>
          <p:cNvPr id="3" name="Shape 1"/>
          <p:cNvSpPr/>
          <p:nvPr/>
        </p:nvSpPr>
        <p:spPr>
          <a:xfrm>
            <a:off x="0" y="0"/>
            <a:ext cx="12191695" cy="7981798"/>
          </a:xfrm>
          <a:prstGeom prst="rect">
            <a:avLst/>
          </a:prstGeom>
          <a:solidFill>
            <a:srgbClr val="FFFFFF"/>
          </a:solidFill>
          <a:ln/>
        </p:spPr>
      </p:sp>
      <p:sp>
        <p:nvSpPr>
          <p:cNvPr id="4" name="Shape 2"/>
          <p:cNvSpPr/>
          <p:nvPr/>
        </p:nvSpPr>
        <p:spPr>
          <a:xfrm>
            <a:off x="0" y="0"/>
            <a:ext cx="12191695" cy="114300"/>
          </a:xfrm>
          <a:prstGeom prst="rect">
            <a:avLst/>
          </a:prstGeom>
          <a:solidFill>
            <a:schemeClr val="accent6"/>
          </a:solidFill>
          <a:ln/>
        </p:spPr>
      </p:sp>
      <p:sp>
        <p:nvSpPr>
          <p:cNvPr id="5" name="Shape 3"/>
          <p:cNvSpPr/>
          <p:nvPr/>
        </p:nvSpPr>
        <p:spPr>
          <a:xfrm>
            <a:off x="609905" y="915314"/>
            <a:ext cx="10972800" cy="28346"/>
          </a:xfrm>
          <a:prstGeom prst="rect">
            <a:avLst/>
          </a:prstGeom>
          <a:solidFill>
            <a:srgbClr val="0F3B5F"/>
          </a:solidFill>
          <a:ln/>
        </p:spPr>
      </p:sp>
      <p:sp>
        <p:nvSpPr>
          <p:cNvPr id="6" name="Text 4"/>
          <p:cNvSpPr txBox="1"/>
          <p:nvPr/>
        </p:nvSpPr>
        <p:spPr>
          <a:xfrm>
            <a:off x="609905" y="495605"/>
            <a:ext cx="5505602" cy="333756"/>
          </a:xfrm>
          <a:prstGeom prst="rect">
            <a:avLst/>
          </a:prstGeom>
          <a:noFill/>
          <a:ln/>
        </p:spPr>
        <p:txBody>
          <a:bodyPr wrap="square" lIns="0" tIns="0" rIns="0" bIns="0" rtlCol="0" anchor="ctr"/>
          <a:lstStyle/>
          <a:p>
            <a:pPr marL="0" indent="0" algn="l">
              <a:buNone/>
            </a:pPr>
            <a:r>
              <a:rPr lang="en-US" sz="2300" b="1" dirty="0">
                <a:solidFill>
                  <a:srgbClr val="0F3B5F"/>
                </a:solidFill>
                <a:latin typeface="Roboto" pitchFamily="34" charset="0"/>
                <a:ea typeface="Roboto" pitchFamily="34" charset="-122"/>
                <a:cs typeface="Roboto" pitchFamily="34" charset="-120"/>
              </a:rPr>
              <a:t>Recomendaciones de Tratamiento Actual</a:t>
            </a:r>
            <a:endParaRPr lang="en-US" sz="2300" dirty="0"/>
          </a:p>
        </p:txBody>
      </p:sp>
      <p:sp>
        <p:nvSpPr>
          <p:cNvPr id="7" name="Text 5"/>
          <p:cNvSpPr txBox="1"/>
          <p:nvPr/>
        </p:nvSpPr>
        <p:spPr>
          <a:xfrm>
            <a:off x="609905" y="1152144"/>
            <a:ext cx="3001061" cy="267005"/>
          </a:xfrm>
          <a:prstGeom prst="rect">
            <a:avLst/>
          </a:prstGeom>
          <a:noFill/>
          <a:ln/>
        </p:spPr>
        <p:txBody>
          <a:bodyPr wrap="square" lIns="0" tIns="0" rIns="0" bIns="0" rtlCol="0" anchor="ctr"/>
          <a:lstStyle/>
          <a:p>
            <a:pPr marL="0" indent="0" algn="l">
              <a:buNone/>
            </a:pPr>
            <a:r>
              <a:rPr lang="en-US" sz="1800" dirty="0">
                <a:solidFill>
                  <a:srgbClr val="1E40AF"/>
                </a:solidFill>
                <a:latin typeface="Roboto" pitchFamily="34" charset="0"/>
                <a:ea typeface="Roboto" pitchFamily="34" charset="-122"/>
                <a:cs typeface="Roboto" pitchFamily="34" charset="-120"/>
              </a:rPr>
              <a:t>Recomendaciones de Guías</a:t>
            </a:r>
            <a:endParaRPr lang="en-US" sz="1800" dirty="0"/>
          </a:p>
        </p:txBody>
      </p:sp>
      <p:sp>
        <p:nvSpPr>
          <p:cNvPr id="8" name="Text 6"/>
          <p:cNvSpPr txBox="1"/>
          <p:nvPr/>
        </p:nvSpPr>
        <p:spPr>
          <a:xfrm>
            <a:off x="6248095" y="1152144"/>
            <a:ext cx="2296058" cy="267005"/>
          </a:xfrm>
          <a:prstGeom prst="rect">
            <a:avLst/>
          </a:prstGeom>
          <a:noFill/>
          <a:ln/>
        </p:spPr>
        <p:txBody>
          <a:bodyPr wrap="square" lIns="0" tIns="0" rIns="0" bIns="0" rtlCol="0" anchor="ctr"/>
          <a:lstStyle/>
          <a:p>
            <a:pPr marL="0" indent="0" algn="l">
              <a:buNone/>
            </a:pPr>
            <a:r>
              <a:rPr lang="en-US" sz="1800" dirty="0">
                <a:solidFill>
                  <a:srgbClr val="1E40AF"/>
                </a:solidFill>
                <a:latin typeface="Roboto" pitchFamily="34" charset="0"/>
                <a:ea typeface="Roboto" pitchFamily="34" charset="-122"/>
                <a:cs typeface="Roboto" pitchFamily="34" charset="-120"/>
              </a:rPr>
              <a:t>Algoritmo de Manejo</a:t>
            </a:r>
            <a:endParaRPr lang="en-US" sz="1800" dirty="0"/>
          </a:p>
        </p:txBody>
      </p:sp>
      <p:sp>
        <p:nvSpPr>
          <p:cNvPr id="9" name="Shape 7"/>
          <p:cNvSpPr/>
          <p:nvPr/>
        </p:nvSpPr>
        <p:spPr>
          <a:xfrm>
            <a:off x="609905" y="1591056"/>
            <a:ext cx="5333695" cy="1990649"/>
          </a:xfrm>
          <a:prstGeom prst="rect">
            <a:avLst/>
          </a:prstGeom>
          <a:solidFill>
            <a:srgbClr val="F8F9FA"/>
          </a:solidFill>
          <a:ln/>
          <a:effectLst>
            <a:outerShdw blurRad="38100" dist="25400" dir="5400000" algn="bl" rotWithShape="0">
              <a:srgbClr val="000000">
                <a:alpha val="10000"/>
              </a:srgbClr>
            </a:outerShdw>
          </a:effectLst>
        </p:spPr>
      </p:sp>
      <p:sp>
        <p:nvSpPr>
          <p:cNvPr id="10" name="Shape 8"/>
          <p:cNvSpPr/>
          <p:nvPr/>
        </p:nvSpPr>
        <p:spPr>
          <a:xfrm>
            <a:off x="609905" y="1591056"/>
            <a:ext cx="38405" cy="1990649"/>
          </a:xfrm>
          <a:prstGeom prst="rect">
            <a:avLst/>
          </a:prstGeom>
          <a:solidFill>
            <a:srgbClr val="0F3B5F"/>
          </a:solidFill>
          <a:ln/>
        </p:spPr>
      </p:sp>
      <p:sp>
        <p:nvSpPr>
          <p:cNvPr id="11" name="Shape 9"/>
          <p:cNvSpPr/>
          <p:nvPr/>
        </p:nvSpPr>
        <p:spPr>
          <a:xfrm>
            <a:off x="790956" y="1733702"/>
            <a:ext cx="381305" cy="247802"/>
          </a:xfrm>
          <a:prstGeom prst="roundRect">
            <a:avLst>
              <a:gd name="adj" fmla="val 56770"/>
            </a:avLst>
          </a:prstGeom>
          <a:solidFill>
            <a:srgbClr val="0F3B5F"/>
          </a:solidFill>
          <a:ln/>
        </p:spPr>
      </p:sp>
      <p:sp>
        <p:nvSpPr>
          <p:cNvPr id="12" name="Shape 10"/>
          <p:cNvSpPr/>
          <p:nvPr/>
        </p:nvSpPr>
        <p:spPr>
          <a:xfrm>
            <a:off x="790956" y="2659075"/>
            <a:ext cx="400507" cy="247802"/>
          </a:xfrm>
          <a:prstGeom prst="roundRect">
            <a:avLst>
              <a:gd name="adj" fmla="val 56770"/>
            </a:avLst>
          </a:prstGeom>
          <a:solidFill>
            <a:srgbClr val="0F3B5F"/>
          </a:solidFill>
          <a:ln/>
        </p:spPr>
      </p:sp>
      <p:sp>
        <p:nvSpPr>
          <p:cNvPr id="13" name="Text 11"/>
          <p:cNvSpPr txBox="1"/>
          <p:nvPr/>
        </p:nvSpPr>
        <p:spPr>
          <a:xfrm>
            <a:off x="866851" y="1781251"/>
            <a:ext cx="324612" cy="143561"/>
          </a:xfrm>
          <a:prstGeom prst="rect">
            <a:avLst/>
          </a:prstGeom>
          <a:noFill/>
          <a:ln/>
        </p:spPr>
        <p:txBody>
          <a:bodyPr wrap="square" lIns="0" tIns="0" rIns="0" bIns="0" rtlCol="0" anchor="ctr"/>
          <a:lstStyle/>
          <a:p>
            <a:pPr marL="0" indent="0" algn="l">
              <a:buNone/>
            </a:pPr>
            <a:r>
              <a:rPr lang="en-US" sz="1000" dirty="0">
                <a:solidFill>
                  <a:srgbClr val="FFFFFF"/>
                </a:solidFill>
                <a:latin typeface="Roboto" pitchFamily="34" charset="0"/>
                <a:ea typeface="Roboto" pitchFamily="34" charset="-122"/>
                <a:cs typeface="Roboto" pitchFamily="34" charset="-120"/>
              </a:rPr>
              <a:t>ESC</a:t>
            </a:r>
            <a:endParaRPr lang="en-US" sz="1000" dirty="0"/>
          </a:p>
        </p:txBody>
      </p:sp>
      <p:sp>
        <p:nvSpPr>
          <p:cNvPr id="14" name="Text 12"/>
          <p:cNvSpPr txBox="1"/>
          <p:nvPr/>
        </p:nvSpPr>
        <p:spPr>
          <a:xfrm>
            <a:off x="866851" y="2706624"/>
            <a:ext cx="342900" cy="143561"/>
          </a:xfrm>
          <a:prstGeom prst="rect">
            <a:avLst/>
          </a:prstGeom>
          <a:noFill/>
          <a:ln/>
        </p:spPr>
        <p:txBody>
          <a:bodyPr wrap="square" lIns="0" tIns="0" rIns="0" bIns="0" rtlCol="0" anchor="ctr"/>
          <a:lstStyle/>
          <a:p>
            <a:pPr marL="0" indent="0" algn="l">
              <a:buNone/>
            </a:pPr>
            <a:r>
              <a:rPr lang="en-US" sz="1000" dirty="0">
                <a:solidFill>
                  <a:srgbClr val="FFFFFF"/>
                </a:solidFill>
                <a:latin typeface="Roboto" pitchFamily="34" charset="0"/>
                <a:ea typeface="Roboto" pitchFamily="34" charset="-122"/>
                <a:cs typeface="Roboto" pitchFamily="34" charset="-120"/>
              </a:rPr>
              <a:t>AHA</a:t>
            </a:r>
            <a:endParaRPr lang="en-US" sz="1000" dirty="0"/>
          </a:p>
        </p:txBody>
      </p:sp>
      <p:sp>
        <p:nvSpPr>
          <p:cNvPr id="15" name="Text 13"/>
          <p:cNvSpPr txBox="1"/>
          <p:nvPr/>
        </p:nvSpPr>
        <p:spPr>
          <a:xfrm>
            <a:off x="1211580" y="1752905"/>
            <a:ext cx="2267712"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European Society of Cardiology</a:t>
            </a:r>
            <a:endParaRPr lang="en-US" sz="1200" dirty="0"/>
          </a:p>
        </p:txBody>
      </p:sp>
      <p:sp>
        <p:nvSpPr>
          <p:cNvPr id="16" name="Text 14"/>
          <p:cNvSpPr txBox="1"/>
          <p:nvPr/>
        </p:nvSpPr>
        <p:spPr>
          <a:xfrm>
            <a:off x="1238098" y="2678278"/>
            <a:ext cx="2048256"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American Heart Association</a:t>
            </a:r>
            <a:endParaRPr lang="en-US" sz="1200" dirty="0"/>
          </a:p>
        </p:txBody>
      </p:sp>
      <p:sp>
        <p:nvSpPr>
          <p:cNvPr id="17" name="Text 15"/>
          <p:cNvSpPr txBox="1"/>
          <p:nvPr/>
        </p:nvSpPr>
        <p:spPr>
          <a:xfrm>
            <a:off x="790956" y="2069287"/>
            <a:ext cx="4315054"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Recomienda noradrenalina o dobutamina como medicaciones vasoactivas de primera línea en shock cardiogénico</a:t>
            </a:r>
            <a:endParaRPr lang="en-US" sz="1200" dirty="0"/>
          </a:p>
        </p:txBody>
      </p:sp>
      <p:sp>
        <p:nvSpPr>
          <p:cNvPr id="18" name="Text 16"/>
          <p:cNvSpPr txBox="1"/>
          <p:nvPr/>
        </p:nvSpPr>
        <p:spPr>
          <a:xfrm>
            <a:off x="790956" y="2994660"/>
            <a:ext cx="5095951" cy="4096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Sugiere noradrenalina para soporte de presión arterial en el período inicial de estabilización</a:t>
            </a:r>
            <a:endParaRPr lang="en-US" sz="1200" dirty="0"/>
          </a:p>
        </p:txBody>
      </p:sp>
      <p:sp>
        <p:nvSpPr>
          <p:cNvPr id="19" name="Text 17"/>
          <p:cNvSpPr txBox="1"/>
          <p:nvPr/>
        </p:nvSpPr>
        <p:spPr>
          <a:xfrm>
            <a:off x="609905" y="3823106"/>
            <a:ext cx="2267712" cy="228600"/>
          </a:xfrm>
          <a:prstGeom prst="rect">
            <a:avLst/>
          </a:prstGeom>
          <a:noFill/>
          <a:ln/>
        </p:spPr>
        <p:txBody>
          <a:bodyPr wrap="square" lIns="0" tIns="0" rIns="0" bIns="0" rtlCol="0" anchor="ctr"/>
          <a:lstStyle/>
          <a:p>
            <a:pPr marL="0" indent="0" algn="l">
              <a:buNone/>
            </a:pPr>
            <a:r>
              <a:rPr lang="en-US" sz="1500" dirty="0">
                <a:solidFill>
                  <a:srgbClr val="1E40AF"/>
                </a:solidFill>
                <a:latin typeface="Roboto" pitchFamily="34" charset="0"/>
                <a:ea typeface="Roboto" pitchFamily="34" charset="-122"/>
                <a:cs typeface="Roboto" pitchFamily="34" charset="-120"/>
              </a:rPr>
              <a:t>Objetivos de Tratamiento</a:t>
            </a:r>
            <a:endParaRPr lang="en-US" sz="1500" dirty="0"/>
          </a:p>
        </p:txBody>
      </p:sp>
      <p:pic>
        <p:nvPicPr>
          <p:cNvPr id="20" name="Image 0" descr="preencoded.png"/>
          <p:cNvPicPr>
            <a:picLocks noChangeAspect="1"/>
          </p:cNvPicPr>
          <p:nvPr/>
        </p:nvPicPr>
        <p:blipFill>
          <a:blip r:embed="rId3"/>
          <a:srcRect/>
          <a:stretch/>
        </p:blipFill>
        <p:spPr>
          <a:xfrm>
            <a:off x="609905" y="4223614"/>
            <a:ext cx="190195" cy="190195"/>
          </a:xfrm>
          <a:prstGeom prst="rect">
            <a:avLst/>
          </a:prstGeom>
        </p:spPr>
      </p:pic>
      <p:sp>
        <p:nvSpPr>
          <p:cNvPr id="21" name="Text 18"/>
          <p:cNvSpPr txBox="1"/>
          <p:nvPr/>
        </p:nvSpPr>
        <p:spPr>
          <a:xfrm>
            <a:off x="895198" y="4213555"/>
            <a:ext cx="2429561" cy="200254"/>
          </a:xfrm>
          <a:prstGeom prst="rect">
            <a:avLst/>
          </a:prstGeom>
          <a:noFill/>
          <a:ln/>
        </p:spPr>
        <p:txBody>
          <a:bodyPr wrap="square" lIns="0" tIns="0" rIns="0" bIns="0" rtlCol="0" anchor="ctr"/>
          <a:lstStyle/>
          <a:p>
            <a:pPr marL="0" indent="0" algn="l">
              <a:buNone/>
            </a:pPr>
            <a:r>
              <a:rPr lang="en-US" sz="1400" b="1" dirty="0">
                <a:solidFill>
                  <a:srgbClr val="333333"/>
                </a:solidFill>
                <a:latin typeface="Roboto" pitchFamily="34" charset="0"/>
                <a:ea typeface="Roboto" pitchFamily="34" charset="-122"/>
                <a:cs typeface="Roboto" pitchFamily="34" charset="-120"/>
              </a:rPr>
              <a:t>Presión arterial media (MAP):</a:t>
            </a:r>
            <a:endParaRPr lang="en-US" sz="1400" dirty="0"/>
          </a:p>
        </p:txBody>
      </p:sp>
      <p:sp>
        <p:nvSpPr>
          <p:cNvPr id="22" name="Text 19"/>
          <p:cNvSpPr txBox="1"/>
          <p:nvPr/>
        </p:nvSpPr>
        <p:spPr>
          <a:xfrm>
            <a:off x="875995" y="4594860"/>
            <a:ext cx="1324051" cy="200254"/>
          </a:xfrm>
          <a:prstGeom prst="rect">
            <a:avLst/>
          </a:prstGeom>
          <a:noFill/>
          <a:ln/>
        </p:spPr>
        <p:txBody>
          <a:bodyPr wrap="square" lIns="0" tIns="0" rIns="0" bIns="0" rtlCol="0" anchor="ctr"/>
          <a:lstStyle/>
          <a:p>
            <a:pPr marL="0" indent="0" algn="l">
              <a:buNone/>
            </a:pPr>
            <a:r>
              <a:rPr lang="en-US" sz="1400" b="1" dirty="0">
                <a:solidFill>
                  <a:srgbClr val="333333"/>
                </a:solidFill>
                <a:latin typeface="Roboto" pitchFamily="34" charset="0"/>
                <a:ea typeface="Roboto" pitchFamily="34" charset="-122"/>
                <a:cs typeface="Roboto" pitchFamily="34" charset="-120"/>
              </a:rPr>
              <a:t>Principio clave:</a:t>
            </a:r>
            <a:endParaRPr lang="en-US" sz="1400" dirty="0"/>
          </a:p>
        </p:txBody>
      </p:sp>
      <p:sp>
        <p:nvSpPr>
          <p:cNvPr id="23" name="Text 20"/>
          <p:cNvSpPr txBox="1"/>
          <p:nvPr/>
        </p:nvSpPr>
        <p:spPr>
          <a:xfrm>
            <a:off x="3403666" y="4213555"/>
            <a:ext cx="981151" cy="200254"/>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≥65 mmHg</a:t>
            </a:r>
            <a:endParaRPr lang="en-US" sz="1400" dirty="0"/>
          </a:p>
        </p:txBody>
      </p:sp>
      <p:pic>
        <p:nvPicPr>
          <p:cNvPr id="24" name="Image 1" descr="preencoded.png"/>
          <p:cNvPicPr>
            <a:picLocks noChangeAspect="1"/>
          </p:cNvPicPr>
          <p:nvPr/>
        </p:nvPicPr>
        <p:blipFill>
          <a:blip r:embed="rId4"/>
          <a:srcRect l="-1648" r="-1648"/>
          <a:stretch/>
        </p:blipFill>
        <p:spPr>
          <a:xfrm>
            <a:off x="609905" y="4604004"/>
            <a:ext cx="171907" cy="190195"/>
          </a:xfrm>
          <a:prstGeom prst="rect">
            <a:avLst/>
          </a:prstGeom>
        </p:spPr>
      </p:pic>
      <p:sp>
        <p:nvSpPr>
          <p:cNvPr id="25" name="Text 21"/>
          <p:cNvSpPr txBox="1"/>
          <p:nvPr/>
        </p:nvSpPr>
        <p:spPr>
          <a:xfrm>
            <a:off x="875995" y="4801048"/>
            <a:ext cx="4734763" cy="467258"/>
          </a:xfrm>
          <a:prstGeom prst="rect">
            <a:avLst/>
          </a:prstGeom>
          <a:noFill/>
          <a:ln/>
        </p:spPr>
        <p:txBody>
          <a:bodyPr wrap="square" lIns="0" tIns="0" rIns="0" bIns="0" rtlCol="0" anchor="ctr"/>
          <a:lstStyle/>
          <a:p>
            <a:pPr marL="0" indent="0" algn="l">
              <a:buNone/>
            </a:pPr>
            <a:r>
              <a:rPr lang="en-US" sz="1400" dirty="0">
                <a:solidFill>
                  <a:srgbClr val="333333"/>
                </a:solidFill>
                <a:latin typeface="Roboto" pitchFamily="34" charset="0"/>
                <a:ea typeface="Roboto" pitchFamily="34" charset="-122"/>
                <a:cs typeface="Roboto" pitchFamily="34" charset="-120"/>
              </a:rPr>
              <a:t>Individualizar el tratamiento según respuesta hemodinámica</a:t>
            </a:r>
            <a:endParaRPr lang="en-US" sz="1400" dirty="0"/>
          </a:p>
        </p:txBody>
      </p:sp>
      <p:sp>
        <p:nvSpPr>
          <p:cNvPr id="26" name="Shape 22"/>
          <p:cNvSpPr/>
          <p:nvPr/>
        </p:nvSpPr>
        <p:spPr>
          <a:xfrm>
            <a:off x="609905" y="5680074"/>
            <a:ext cx="5333695" cy="1009498"/>
          </a:xfrm>
          <a:prstGeom prst="roundRect">
            <a:avLst>
              <a:gd name="adj" fmla="val 5127"/>
            </a:avLst>
          </a:prstGeom>
          <a:solidFill>
            <a:srgbClr val="E6F7FF"/>
          </a:solidFill>
          <a:ln w="12700">
            <a:solidFill>
              <a:srgbClr val="91D5FF"/>
            </a:solidFill>
            <a:prstDash val="solid"/>
          </a:ln>
        </p:spPr>
      </p:sp>
      <p:sp>
        <p:nvSpPr>
          <p:cNvPr id="27" name="Text 23"/>
          <p:cNvSpPr txBox="1"/>
          <p:nvPr/>
        </p:nvSpPr>
        <p:spPr>
          <a:xfrm>
            <a:off x="2300630" y="5768933"/>
            <a:ext cx="2067458" cy="181051"/>
          </a:xfrm>
          <a:prstGeom prst="rect">
            <a:avLst/>
          </a:prstGeom>
          <a:noFill/>
          <a:ln/>
        </p:spPr>
        <p:txBody>
          <a:bodyPr wrap="square" lIns="0" tIns="0" rIns="0" bIns="0" rtlCol="0" anchor="ctr"/>
          <a:lstStyle/>
          <a:p>
            <a:pPr marL="0" indent="0" algn="ctr">
              <a:buNone/>
            </a:pPr>
            <a:r>
              <a:rPr lang="en-US" sz="1200" b="1" dirty="0">
                <a:solidFill>
                  <a:srgbClr val="333333"/>
                </a:solidFill>
                <a:latin typeface="Roboto" pitchFamily="34" charset="0"/>
                <a:ea typeface="Roboto" pitchFamily="34" charset="-122"/>
                <a:cs typeface="Roboto" pitchFamily="34" charset="-120"/>
              </a:rPr>
              <a:t>Recomendación de Expertos</a:t>
            </a:r>
            <a:endParaRPr lang="en-US" sz="1200" dirty="0"/>
          </a:p>
        </p:txBody>
      </p:sp>
      <p:sp>
        <p:nvSpPr>
          <p:cNvPr id="28" name="Text 24"/>
          <p:cNvSpPr txBox="1"/>
          <p:nvPr/>
        </p:nvSpPr>
        <p:spPr>
          <a:xfrm>
            <a:off x="733349" y="6074343"/>
            <a:ext cx="4763110" cy="409651"/>
          </a:xfrm>
          <a:prstGeom prst="rect">
            <a:avLst/>
          </a:prstGeom>
          <a:noFill/>
          <a:ln/>
        </p:spPr>
        <p:txBody>
          <a:bodyPr wrap="square" lIns="0" tIns="0" rIns="0" bIns="0" rtlCol="0" anchor="ctr"/>
          <a:lstStyle/>
          <a:p>
            <a:pPr marL="0" indent="0" algn="l">
              <a:buNone/>
            </a:pPr>
            <a:r>
              <a:rPr lang="en-US" sz="1200" i="1" dirty="0">
                <a:solidFill>
                  <a:srgbClr val="333333"/>
                </a:solidFill>
                <a:latin typeface="Roboto" pitchFamily="34" charset="0"/>
                <a:ea typeface="Roboto" pitchFamily="34" charset="-122"/>
                <a:cs typeface="Roboto" pitchFamily="34" charset="-120"/>
              </a:rPr>
              <a:t>"La noradrenalina debe utilizarse con preferencia a la dopamina en el soporte hemodinámico de pacientes con SC e hipotensión."</a:t>
            </a:r>
            <a:endParaRPr lang="en-US" sz="1200" dirty="0"/>
          </a:p>
        </p:txBody>
      </p:sp>
      <p:sp>
        <p:nvSpPr>
          <p:cNvPr id="29" name="Shape 25"/>
          <p:cNvSpPr/>
          <p:nvPr/>
        </p:nvSpPr>
        <p:spPr>
          <a:xfrm>
            <a:off x="6248095" y="1591056"/>
            <a:ext cx="5333695" cy="5514746"/>
          </a:xfrm>
          <a:prstGeom prst="roundRect">
            <a:avLst>
              <a:gd name="adj" fmla="val 245"/>
            </a:avLst>
          </a:prstGeom>
          <a:solidFill>
            <a:srgbClr val="FFFFFF"/>
          </a:solidFill>
          <a:ln w="25400">
            <a:solidFill>
              <a:srgbClr val="0F3B5F"/>
            </a:solidFill>
            <a:prstDash val="solid"/>
          </a:ln>
          <a:effectLst>
            <a:outerShdw blurRad="63500" dist="25400" dir="5400000" algn="bl" rotWithShape="0">
              <a:srgbClr val="000000">
                <a:alpha val="10000"/>
              </a:srgbClr>
            </a:outerShdw>
          </a:effectLst>
        </p:spPr>
      </p:sp>
      <p:sp>
        <p:nvSpPr>
          <p:cNvPr id="30" name="Shape 26"/>
          <p:cNvSpPr/>
          <p:nvPr/>
        </p:nvSpPr>
        <p:spPr>
          <a:xfrm>
            <a:off x="6409944" y="1752905"/>
            <a:ext cx="5009998" cy="705002"/>
          </a:xfrm>
          <a:prstGeom prst="roundRect">
            <a:avLst>
              <a:gd name="adj" fmla="val 7011"/>
            </a:avLst>
          </a:prstGeom>
          <a:solidFill>
            <a:srgbClr val="F9F9F9"/>
          </a:solidFill>
          <a:ln w="12700">
            <a:solidFill>
              <a:srgbClr val="D9D9D9"/>
            </a:solidFill>
            <a:prstDash val="solid"/>
          </a:ln>
        </p:spPr>
      </p:sp>
      <p:sp>
        <p:nvSpPr>
          <p:cNvPr id="31" name="Shape 27"/>
          <p:cNvSpPr/>
          <p:nvPr/>
        </p:nvSpPr>
        <p:spPr>
          <a:xfrm>
            <a:off x="6409944" y="2885846"/>
            <a:ext cx="5009998" cy="972007"/>
          </a:xfrm>
          <a:prstGeom prst="roundRect">
            <a:avLst>
              <a:gd name="adj" fmla="val 3689"/>
            </a:avLst>
          </a:prstGeom>
          <a:solidFill>
            <a:srgbClr val="F9F9F9"/>
          </a:solidFill>
          <a:ln w="12700">
            <a:solidFill>
              <a:srgbClr val="D9D9D9"/>
            </a:solidFill>
            <a:prstDash val="solid"/>
          </a:ln>
        </p:spPr>
      </p:sp>
      <p:sp>
        <p:nvSpPr>
          <p:cNvPr id="32" name="Shape 28"/>
          <p:cNvSpPr/>
          <p:nvPr/>
        </p:nvSpPr>
        <p:spPr>
          <a:xfrm>
            <a:off x="6409944" y="4286707"/>
            <a:ext cx="5009998" cy="1162202"/>
          </a:xfrm>
          <a:prstGeom prst="roundRect">
            <a:avLst>
              <a:gd name="adj" fmla="val 2580"/>
            </a:avLst>
          </a:prstGeom>
          <a:solidFill>
            <a:srgbClr val="F9F9F9"/>
          </a:solidFill>
          <a:ln w="12700">
            <a:solidFill>
              <a:srgbClr val="D9D9D9"/>
            </a:solidFill>
            <a:prstDash val="solid"/>
          </a:ln>
        </p:spPr>
      </p:sp>
      <p:sp>
        <p:nvSpPr>
          <p:cNvPr id="33" name="Text 29"/>
          <p:cNvSpPr txBox="1"/>
          <p:nvPr/>
        </p:nvSpPr>
        <p:spPr>
          <a:xfrm>
            <a:off x="6515100" y="1876349"/>
            <a:ext cx="1305763"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Evaluación inicial</a:t>
            </a:r>
            <a:endParaRPr lang="en-US" sz="1200" dirty="0"/>
          </a:p>
        </p:txBody>
      </p:sp>
      <p:sp>
        <p:nvSpPr>
          <p:cNvPr id="34" name="Text 30"/>
          <p:cNvSpPr txBox="1"/>
          <p:nvPr/>
        </p:nvSpPr>
        <p:spPr>
          <a:xfrm>
            <a:off x="6515100" y="2143354"/>
            <a:ext cx="4429354"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Diagnóstico de shock cardiogénico + Evaluación hemodinámica</a:t>
            </a:r>
            <a:endParaRPr lang="en-US" sz="1200" dirty="0"/>
          </a:p>
        </p:txBody>
      </p:sp>
      <p:pic>
        <p:nvPicPr>
          <p:cNvPr id="35" name="Image 2" descr="preencoded.png"/>
          <p:cNvPicPr>
            <a:picLocks noChangeAspect="1"/>
          </p:cNvPicPr>
          <p:nvPr/>
        </p:nvPicPr>
        <p:blipFill>
          <a:blip r:embed="rId5"/>
          <a:srcRect/>
          <a:stretch/>
        </p:blipFill>
        <p:spPr>
          <a:xfrm>
            <a:off x="8820302" y="2595982"/>
            <a:ext cx="190195" cy="190195"/>
          </a:xfrm>
          <a:prstGeom prst="rect">
            <a:avLst/>
          </a:prstGeom>
        </p:spPr>
      </p:pic>
      <p:sp>
        <p:nvSpPr>
          <p:cNvPr id="36" name="Text 31"/>
          <p:cNvSpPr txBox="1"/>
          <p:nvPr/>
        </p:nvSpPr>
        <p:spPr>
          <a:xfrm>
            <a:off x="6515100" y="3010205"/>
            <a:ext cx="2667305"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Shock cardiogénico CON hipotensión</a:t>
            </a:r>
            <a:endParaRPr lang="en-US" sz="1200" dirty="0"/>
          </a:p>
        </p:txBody>
      </p:sp>
      <p:sp>
        <p:nvSpPr>
          <p:cNvPr id="37" name="Text 32"/>
          <p:cNvSpPr txBox="1"/>
          <p:nvPr/>
        </p:nvSpPr>
        <p:spPr>
          <a:xfrm>
            <a:off x="6667805" y="3314700"/>
            <a:ext cx="685800" cy="181051"/>
          </a:xfrm>
          <a:prstGeom prst="rect">
            <a:avLst/>
          </a:prstGeom>
          <a:noFill/>
          <a:ln/>
        </p:spPr>
        <p:txBody>
          <a:bodyPr wrap="square" lIns="0" tIns="0" rIns="0" bIns="0" rtlCol="0" anchor="ctr"/>
          <a:lstStyle/>
          <a:p>
            <a:pPr marL="0" indent="0" algn="l">
              <a:buNone/>
            </a:pPr>
            <a:r>
              <a:rPr lang="en-US" sz="1200" b="1" dirty="0">
                <a:solidFill>
                  <a:srgbClr val="1E40AF"/>
                </a:solidFill>
                <a:latin typeface="Roboto" pitchFamily="34" charset="0"/>
                <a:ea typeface="Roboto" pitchFamily="34" charset="-122"/>
                <a:cs typeface="Roboto" pitchFamily="34" charset="-120"/>
              </a:rPr>
              <a:t>1ª línea:</a:t>
            </a:r>
            <a:endParaRPr lang="en-US" sz="1200" dirty="0"/>
          </a:p>
        </p:txBody>
      </p:sp>
      <p:sp>
        <p:nvSpPr>
          <p:cNvPr id="38" name="Text 33"/>
          <p:cNvSpPr txBox="1"/>
          <p:nvPr/>
        </p:nvSpPr>
        <p:spPr>
          <a:xfrm>
            <a:off x="6667805" y="3543300"/>
            <a:ext cx="2781605"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Noradrenalina (vasopresor de elección)</a:t>
            </a:r>
            <a:endParaRPr lang="en-US" sz="1200" dirty="0"/>
          </a:p>
        </p:txBody>
      </p:sp>
      <p:pic>
        <p:nvPicPr>
          <p:cNvPr id="39" name="Image 3" descr="preencoded.png"/>
          <p:cNvPicPr>
            <a:picLocks noChangeAspect="1"/>
          </p:cNvPicPr>
          <p:nvPr/>
        </p:nvPicPr>
        <p:blipFill>
          <a:blip r:embed="rId5"/>
          <a:srcRect/>
          <a:stretch/>
        </p:blipFill>
        <p:spPr>
          <a:xfrm>
            <a:off x="8820302" y="3995928"/>
            <a:ext cx="190195" cy="190195"/>
          </a:xfrm>
          <a:prstGeom prst="rect">
            <a:avLst/>
          </a:prstGeom>
        </p:spPr>
      </p:pic>
      <p:sp>
        <p:nvSpPr>
          <p:cNvPr id="40" name="Text 34"/>
          <p:cNvSpPr txBox="1"/>
          <p:nvPr/>
        </p:nvSpPr>
        <p:spPr>
          <a:xfrm>
            <a:off x="6515100" y="4410151"/>
            <a:ext cx="3381451"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Shock cardiogénico normotenso con bajo gasto</a:t>
            </a:r>
            <a:endParaRPr lang="en-US" sz="1200" dirty="0"/>
          </a:p>
        </p:txBody>
      </p:sp>
      <p:sp>
        <p:nvSpPr>
          <p:cNvPr id="41" name="Text 35"/>
          <p:cNvSpPr txBox="1"/>
          <p:nvPr/>
        </p:nvSpPr>
        <p:spPr>
          <a:xfrm>
            <a:off x="6667805" y="4714646"/>
            <a:ext cx="685800" cy="181051"/>
          </a:xfrm>
          <a:prstGeom prst="rect">
            <a:avLst/>
          </a:prstGeom>
          <a:noFill/>
          <a:ln/>
        </p:spPr>
        <p:txBody>
          <a:bodyPr wrap="square" lIns="0" tIns="0" rIns="0" bIns="0" rtlCol="0" anchor="ctr"/>
          <a:lstStyle/>
          <a:p>
            <a:pPr marL="0" indent="0" algn="l">
              <a:buNone/>
            </a:pPr>
            <a:r>
              <a:rPr lang="en-US" sz="1200" b="1" dirty="0">
                <a:solidFill>
                  <a:srgbClr val="1E40AF"/>
                </a:solidFill>
                <a:latin typeface="Roboto" pitchFamily="34" charset="0"/>
                <a:ea typeface="Roboto" pitchFamily="34" charset="-122"/>
                <a:cs typeface="Roboto" pitchFamily="34" charset="-120"/>
              </a:rPr>
              <a:t>1ª línea:</a:t>
            </a:r>
            <a:endParaRPr lang="en-US" sz="1200" dirty="0"/>
          </a:p>
        </p:txBody>
      </p:sp>
      <p:sp>
        <p:nvSpPr>
          <p:cNvPr id="42" name="Text 36"/>
          <p:cNvSpPr txBox="1"/>
          <p:nvPr/>
        </p:nvSpPr>
        <p:spPr>
          <a:xfrm>
            <a:off x="6667805" y="4943246"/>
            <a:ext cx="1743761"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Dobutamina o Milrinona</a:t>
            </a:r>
            <a:endParaRPr lang="en-US" sz="1200" dirty="0"/>
          </a:p>
        </p:txBody>
      </p:sp>
      <p:sp>
        <p:nvSpPr>
          <p:cNvPr id="43" name="Text 37"/>
          <p:cNvSpPr txBox="1"/>
          <p:nvPr/>
        </p:nvSpPr>
        <p:spPr>
          <a:xfrm>
            <a:off x="6667805" y="5171846"/>
            <a:ext cx="3086100" cy="152705"/>
          </a:xfrm>
          <a:prstGeom prst="rect">
            <a:avLst/>
          </a:prstGeom>
          <a:noFill/>
          <a:ln/>
        </p:spPr>
        <p:txBody>
          <a:bodyPr wrap="square" lIns="0" tIns="0" rIns="0" bIns="0" rtlCol="0" anchor="ctr"/>
          <a:lstStyle/>
          <a:p>
            <a:pPr marL="0" indent="0" algn="l">
              <a:buNone/>
            </a:pPr>
            <a:r>
              <a:rPr lang="en-US" sz="1100" i="1" dirty="0">
                <a:solidFill>
                  <a:srgbClr val="333333"/>
                </a:solidFill>
                <a:latin typeface="Roboto" pitchFamily="34" charset="0"/>
                <a:ea typeface="Roboto" pitchFamily="34" charset="-122"/>
                <a:cs typeface="Roboto" pitchFamily="34" charset="-120"/>
              </a:rPr>
              <a:t>(Preferir dobutamina en insuficiencia renal severa)</a:t>
            </a:r>
            <a:endParaRPr lang="en-US" sz="1100" dirty="0"/>
          </a:p>
        </p:txBody>
      </p:sp>
      <p:pic>
        <p:nvPicPr>
          <p:cNvPr id="44" name="Image 4" descr="preencoded.png"/>
          <p:cNvPicPr>
            <a:picLocks noChangeAspect="1"/>
          </p:cNvPicPr>
          <p:nvPr/>
        </p:nvPicPr>
        <p:blipFill>
          <a:blip r:embed="rId5"/>
          <a:srcRect/>
          <a:stretch/>
        </p:blipFill>
        <p:spPr>
          <a:xfrm>
            <a:off x="8820302" y="5586070"/>
            <a:ext cx="190195" cy="190195"/>
          </a:xfrm>
          <a:prstGeom prst="rect">
            <a:avLst/>
          </a:prstGeom>
        </p:spPr>
      </p:pic>
      <p:sp>
        <p:nvSpPr>
          <p:cNvPr id="45" name="Shape 38"/>
          <p:cNvSpPr/>
          <p:nvPr/>
        </p:nvSpPr>
        <p:spPr>
          <a:xfrm>
            <a:off x="6409944" y="5876849"/>
            <a:ext cx="5009998" cy="972007"/>
          </a:xfrm>
          <a:prstGeom prst="roundRect">
            <a:avLst>
              <a:gd name="adj" fmla="val 3689"/>
            </a:avLst>
          </a:prstGeom>
          <a:solidFill>
            <a:srgbClr val="F9F9F9"/>
          </a:solidFill>
          <a:ln w="12700">
            <a:solidFill>
              <a:srgbClr val="D9D9D9"/>
            </a:solidFill>
            <a:prstDash val="solid"/>
          </a:ln>
        </p:spPr>
      </p:sp>
      <p:sp>
        <p:nvSpPr>
          <p:cNvPr id="46" name="Text 39"/>
          <p:cNvSpPr txBox="1"/>
          <p:nvPr/>
        </p:nvSpPr>
        <p:spPr>
          <a:xfrm>
            <a:off x="6515100" y="6001207"/>
            <a:ext cx="1705356" cy="181051"/>
          </a:xfrm>
          <a:prstGeom prst="rect">
            <a:avLst/>
          </a:prstGeom>
          <a:noFill/>
          <a:ln/>
        </p:spPr>
        <p:txBody>
          <a:bodyPr wrap="square" lIns="0" tIns="0" rIns="0" bIns="0" rtlCol="0" anchor="ctr"/>
          <a:lstStyle/>
          <a:p>
            <a:pPr marL="0" indent="0" algn="l">
              <a:buNone/>
            </a:pPr>
            <a:r>
              <a:rPr lang="en-US" sz="1200" b="1" dirty="0">
                <a:solidFill>
                  <a:srgbClr val="333333"/>
                </a:solidFill>
                <a:latin typeface="Roboto" pitchFamily="34" charset="0"/>
                <a:ea typeface="Roboto" pitchFamily="34" charset="-122"/>
                <a:cs typeface="Roboto" pitchFamily="34" charset="-120"/>
              </a:rPr>
              <a:t>Hipotensión refractaria</a:t>
            </a:r>
            <a:endParaRPr lang="en-US" sz="1200" dirty="0"/>
          </a:p>
        </p:txBody>
      </p:sp>
      <p:sp>
        <p:nvSpPr>
          <p:cNvPr id="47" name="Text 40"/>
          <p:cNvSpPr txBox="1"/>
          <p:nvPr/>
        </p:nvSpPr>
        <p:spPr>
          <a:xfrm>
            <a:off x="6667805" y="6305702"/>
            <a:ext cx="1429207" cy="181051"/>
          </a:xfrm>
          <a:prstGeom prst="rect">
            <a:avLst/>
          </a:prstGeom>
          <a:noFill/>
          <a:ln/>
        </p:spPr>
        <p:txBody>
          <a:bodyPr wrap="square" lIns="0" tIns="0" rIns="0" bIns="0" rtlCol="0" anchor="ctr"/>
          <a:lstStyle/>
          <a:p>
            <a:pPr marL="0" indent="0" algn="l">
              <a:buNone/>
            </a:pPr>
            <a:r>
              <a:rPr lang="en-US" sz="1200" b="1" dirty="0">
                <a:solidFill>
                  <a:srgbClr val="1E40AF"/>
                </a:solidFill>
                <a:latin typeface="Roboto" pitchFamily="34" charset="0"/>
                <a:ea typeface="Roboto" pitchFamily="34" charset="-122"/>
                <a:cs typeface="Roboto" pitchFamily="34" charset="-120"/>
              </a:rPr>
              <a:t>Terapia de rescate:</a:t>
            </a:r>
            <a:endParaRPr lang="en-US" sz="1200" dirty="0"/>
          </a:p>
        </p:txBody>
      </p:sp>
      <p:sp>
        <p:nvSpPr>
          <p:cNvPr id="48" name="Text 41"/>
          <p:cNvSpPr txBox="1"/>
          <p:nvPr/>
        </p:nvSpPr>
        <p:spPr>
          <a:xfrm>
            <a:off x="6667805" y="6534302"/>
            <a:ext cx="2371954" cy="181051"/>
          </a:xfrm>
          <a:prstGeom prst="rect">
            <a:avLst/>
          </a:prstGeom>
          <a:noFill/>
          <a:ln/>
        </p:spPr>
        <p:txBody>
          <a:bodyPr wrap="square" lIns="0" tIns="0" rIns="0" bIns="0" rtlCol="0" anchor="ctr"/>
          <a:lstStyle/>
          <a:p>
            <a:pPr marL="0" indent="0" algn="l">
              <a:buNone/>
            </a:pPr>
            <a:r>
              <a:rPr lang="en-US" sz="1200" dirty="0">
                <a:solidFill>
                  <a:srgbClr val="333333"/>
                </a:solidFill>
                <a:latin typeface="Roboto" pitchFamily="34" charset="0"/>
                <a:ea typeface="Roboto" pitchFamily="34" charset="-122"/>
                <a:cs typeface="Roboto" pitchFamily="34" charset="-120"/>
              </a:rPr>
              <a:t>Vasopresina y/o azul de metileno</a:t>
            </a:r>
            <a:endParaRPr lang="en-US" sz="1200" dirty="0"/>
          </a:p>
        </p:txBody>
      </p:sp>
      <p:sp>
        <p:nvSpPr>
          <p:cNvPr id="49" name="Text 42"/>
          <p:cNvSpPr txBox="1"/>
          <p:nvPr/>
        </p:nvSpPr>
        <p:spPr>
          <a:xfrm>
            <a:off x="609905" y="7429500"/>
            <a:ext cx="7696505" cy="152705"/>
          </a:xfrm>
          <a:prstGeom prst="rect">
            <a:avLst/>
          </a:prstGeom>
          <a:noFill/>
          <a:ln/>
        </p:spPr>
        <p:txBody>
          <a:bodyPr wrap="square" lIns="0" tIns="0" rIns="0" bIns="0" rtlCol="0" anchor="ctr"/>
          <a:lstStyle/>
          <a:p>
            <a:pPr marL="0" indent="0" algn="l">
              <a:buNone/>
            </a:pPr>
            <a:r>
              <a:rPr lang="en-US" sz="1100" i="1" dirty="0">
                <a:solidFill>
                  <a:srgbClr val="4B5563"/>
                </a:solidFill>
                <a:latin typeface="Roboto" pitchFamily="34" charset="0"/>
                <a:ea typeface="Roboto" pitchFamily="34" charset="-122"/>
                <a:cs typeface="Roboto" pitchFamily="34" charset="-120"/>
              </a:rPr>
              <a:t>Basado en: Bloom JE, et al. State of Shock: Contemporary Vasopressor and Inotrope Use in Cardiogenic Shock. Circulation. 2023</a:t>
            </a:r>
            <a:endParaRPr lang="en-US" sz="1100" dirty="0"/>
          </a:p>
        </p:txBody>
      </p:sp>
      <p:sp>
        <p:nvSpPr>
          <p:cNvPr id="50" name="Shape 43"/>
          <p:cNvSpPr/>
          <p:nvPr/>
        </p:nvSpPr>
        <p:spPr>
          <a:xfrm>
            <a:off x="0" y="7905902"/>
            <a:ext cx="12191695" cy="75895"/>
          </a:xfrm>
          <a:prstGeom prst="rect">
            <a:avLst/>
          </a:prstGeom>
          <a:solidFill>
            <a:schemeClr val="accent6"/>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6" name="CuadroTexto 5">
            <a:extLst>
              <a:ext uri="{FF2B5EF4-FFF2-40B4-BE49-F238E27FC236}">
                <a16:creationId xmlns:a16="http://schemas.microsoft.com/office/drawing/2014/main" id="{AA702D80-7E1F-4C34-8066-1CE62F0D461D}"/>
              </a:ext>
            </a:extLst>
          </p:cNvPr>
          <p:cNvSpPr txBox="1"/>
          <p:nvPr/>
        </p:nvSpPr>
        <p:spPr>
          <a:xfrm>
            <a:off x="7904808" y="119742"/>
            <a:ext cx="4831478" cy="1200329"/>
          </a:xfrm>
          <a:prstGeom prst="rect">
            <a:avLst/>
          </a:prstGeom>
          <a:noFill/>
        </p:spPr>
        <p:txBody>
          <a:bodyPr wrap="square">
            <a:spAutoFit/>
          </a:bodyPr>
          <a:lstStyle/>
          <a:p>
            <a:pPr algn="ctr" rtl="0">
              <a:spcBef>
                <a:spcPts val="0"/>
              </a:spcBef>
              <a:spcAft>
                <a:spcPts val="0"/>
              </a:spcAft>
            </a:pPr>
            <a:r>
              <a:rPr lang="es-CO" sz="2400" b="1" dirty="0">
                <a:solidFill>
                  <a:schemeClr val="accent6">
                    <a:lumMod val="50000"/>
                  </a:schemeClr>
                </a:solidFill>
              </a:rPr>
              <a:t>Tratamiento por fenotipos</a:t>
            </a:r>
            <a:endParaRPr lang="es-CO" sz="2400" b="1" dirty="0">
              <a:solidFill>
                <a:schemeClr val="accent6">
                  <a:lumMod val="50000"/>
                </a:schemeClr>
              </a:solidFill>
              <a:effectLst/>
            </a:endParaRPr>
          </a:p>
          <a:p>
            <a:br>
              <a:rPr lang="es-CO" sz="2400" b="1" dirty="0">
                <a:solidFill>
                  <a:schemeClr val="accent6">
                    <a:lumMod val="50000"/>
                  </a:schemeClr>
                </a:solidFill>
              </a:rPr>
            </a:br>
            <a:endParaRPr lang="es-CO" sz="2400" b="1" dirty="0">
              <a:solidFill>
                <a:schemeClr val="accent6">
                  <a:lumMod val="50000"/>
                </a:schemeClr>
              </a:solidFill>
            </a:endParaRPr>
          </a:p>
        </p:txBody>
      </p:sp>
      <p:sp>
        <p:nvSpPr>
          <p:cNvPr id="7" name="CuadroTexto 6">
            <a:extLst>
              <a:ext uri="{FF2B5EF4-FFF2-40B4-BE49-F238E27FC236}">
                <a16:creationId xmlns:a16="http://schemas.microsoft.com/office/drawing/2014/main" id="{1697DB49-E63B-427A-B529-9B921BDC062B}"/>
              </a:ext>
            </a:extLst>
          </p:cNvPr>
          <p:cNvSpPr txBox="1"/>
          <p:nvPr/>
        </p:nvSpPr>
        <p:spPr>
          <a:xfrm>
            <a:off x="9204850" y="719907"/>
            <a:ext cx="2769137" cy="1323439"/>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pic>
        <p:nvPicPr>
          <p:cNvPr id="10" name="Imagen 9">
            <a:extLst>
              <a:ext uri="{FF2B5EF4-FFF2-40B4-BE49-F238E27FC236}">
                <a16:creationId xmlns:a16="http://schemas.microsoft.com/office/drawing/2014/main" id="{C5E973FF-49C5-4ABD-BAA5-B23C41B10008}"/>
              </a:ext>
            </a:extLst>
          </p:cNvPr>
          <p:cNvPicPr>
            <a:picLocks noChangeAspect="1"/>
          </p:cNvPicPr>
          <p:nvPr/>
        </p:nvPicPr>
        <p:blipFill>
          <a:blip r:embed="rId3"/>
          <a:stretch>
            <a:fillRect/>
          </a:stretch>
        </p:blipFill>
        <p:spPr>
          <a:xfrm>
            <a:off x="1210511" y="570342"/>
            <a:ext cx="7748431" cy="6086648"/>
          </a:xfrm>
          <a:prstGeom prst="rect">
            <a:avLst/>
          </a:prstGeom>
        </p:spPr>
      </p:pic>
    </p:spTree>
    <p:extLst>
      <p:ext uri="{BB962C8B-B14F-4D97-AF65-F5344CB8AC3E}">
        <p14:creationId xmlns:p14="http://schemas.microsoft.com/office/powerpoint/2010/main" val="1329417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6" name="CuadroTexto 5">
            <a:extLst>
              <a:ext uri="{FF2B5EF4-FFF2-40B4-BE49-F238E27FC236}">
                <a16:creationId xmlns:a16="http://schemas.microsoft.com/office/drawing/2014/main" id="{AA702D80-7E1F-4C34-8066-1CE62F0D461D}"/>
              </a:ext>
            </a:extLst>
          </p:cNvPr>
          <p:cNvSpPr txBox="1"/>
          <p:nvPr/>
        </p:nvSpPr>
        <p:spPr>
          <a:xfrm>
            <a:off x="7785065" y="119743"/>
            <a:ext cx="4831478" cy="1200329"/>
          </a:xfrm>
          <a:prstGeom prst="rect">
            <a:avLst/>
          </a:prstGeom>
          <a:noFill/>
        </p:spPr>
        <p:txBody>
          <a:bodyPr wrap="square">
            <a:spAutoFit/>
          </a:bodyPr>
          <a:lstStyle/>
          <a:p>
            <a:pPr algn="ctr" rtl="0">
              <a:spcBef>
                <a:spcPts val="0"/>
              </a:spcBef>
              <a:spcAft>
                <a:spcPts val="0"/>
              </a:spcAft>
            </a:pPr>
            <a:r>
              <a:rPr lang="es-CO" sz="2400" b="1" dirty="0">
                <a:solidFill>
                  <a:schemeClr val="accent6">
                    <a:lumMod val="50000"/>
                  </a:schemeClr>
                </a:solidFill>
              </a:rPr>
              <a:t>Tratamiento por fenotipos</a:t>
            </a:r>
            <a:endParaRPr lang="es-CO" sz="2400" b="1" dirty="0">
              <a:solidFill>
                <a:schemeClr val="accent6">
                  <a:lumMod val="50000"/>
                </a:schemeClr>
              </a:solidFill>
              <a:effectLst/>
            </a:endParaRPr>
          </a:p>
          <a:p>
            <a:br>
              <a:rPr lang="es-CO" sz="2400" b="1" dirty="0">
                <a:solidFill>
                  <a:schemeClr val="accent6">
                    <a:lumMod val="50000"/>
                  </a:schemeClr>
                </a:solidFill>
              </a:rPr>
            </a:br>
            <a:endParaRPr lang="es-CO" sz="2400" b="1" dirty="0">
              <a:solidFill>
                <a:schemeClr val="accent6">
                  <a:lumMod val="50000"/>
                </a:schemeClr>
              </a:solidFill>
            </a:endParaRPr>
          </a:p>
        </p:txBody>
      </p:sp>
      <p:pic>
        <p:nvPicPr>
          <p:cNvPr id="4" name="Imagen 3">
            <a:extLst>
              <a:ext uri="{FF2B5EF4-FFF2-40B4-BE49-F238E27FC236}">
                <a16:creationId xmlns:a16="http://schemas.microsoft.com/office/drawing/2014/main" id="{23E7572D-57EF-4E44-9892-FCF1B623D7E1}"/>
              </a:ext>
            </a:extLst>
          </p:cNvPr>
          <p:cNvPicPr>
            <a:picLocks noChangeAspect="1"/>
          </p:cNvPicPr>
          <p:nvPr/>
        </p:nvPicPr>
        <p:blipFill>
          <a:blip r:embed="rId3"/>
          <a:stretch>
            <a:fillRect/>
          </a:stretch>
        </p:blipFill>
        <p:spPr>
          <a:xfrm>
            <a:off x="1237737" y="511629"/>
            <a:ext cx="7968175" cy="6202500"/>
          </a:xfrm>
          <a:prstGeom prst="rect">
            <a:avLst/>
          </a:prstGeom>
        </p:spPr>
      </p:pic>
      <p:sp>
        <p:nvSpPr>
          <p:cNvPr id="7" name="Rectángulo 6">
            <a:extLst>
              <a:ext uri="{FF2B5EF4-FFF2-40B4-BE49-F238E27FC236}">
                <a16:creationId xmlns:a16="http://schemas.microsoft.com/office/drawing/2014/main" id="{B18BECA5-E663-42AF-9444-D960E8E5C146}"/>
              </a:ext>
            </a:extLst>
          </p:cNvPr>
          <p:cNvSpPr/>
          <p:nvPr/>
        </p:nvSpPr>
        <p:spPr>
          <a:xfrm>
            <a:off x="1237737" y="398778"/>
            <a:ext cx="870857" cy="6422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8" name="CuadroTexto 7">
            <a:extLst>
              <a:ext uri="{FF2B5EF4-FFF2-40B4-BE49-F238E27FC236}">
                <a16:creationId xmlns:a16="http://schemas.microsoft.com/office/drawing/2014/main" id="{8742ECE6-9883-465D-8964-487FAD67AD92}"/>
              </a:ext>
            </a:extLst>
          </p:cNvPr>
          <p:cNvSpPr txBox="1"/>
          <p:nvPr/>
        </p:nvSpPr>
        <p:spPr>
          <a:xfrm>
            <a:off x="8816235" y="719907"/>
            <a:ext cx="2769137" cy="1323439"/>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Tree>
    <p:extLst>
      <p:ext uri="{BB962C8B-B14F-4D97-AF65-F5344CB8AC3E}">
        <p14:creationId xmlns:p14="http://schemas.microsoft.com/office/powerpoint/2010/main" val="4166283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6" name="CuadroTexto 5">
            <a:extLst>
              <a:ext uri="{FF2B5EF4-FFF2-40B4-BE49-F238E27FC236}">
                <a16:creationId xmlns:a16="http://schemas.microsoft.com/office/drawing/2014/main" id="{AA702D80-7E1F-4C34-8066-1CE62F0D461D}"/>
              </a:ext>
            </a:extLst>
          </p:cNvPr>
          <p:cNvSpPr txBox="1"/>
          <p:nvPr/>
        </p:nvSpPr>
        <p:spPr>
          <a:xfrm>
            <a:off x="7785065" y="119743"/>
            <a:ext cx="4831478" cy="1200329"/>
          </a:xfrm>
          <a:prstGeom prst="rect">
            <a:avLst/>
          </a:prstGeom>
          <a:noFill/>
        </p:spPr>
        <p:txBody>
          <a:bodyPr wrap="square">
            <a:spAutoFit/>
          </a:bodyPr>
          <a:lstStyle/>
          <a:p>
            <a:pPr algn="ctr" rtl="0">
              <a:spcBef>
                <a:spcPts val="0"/>
              </a:spcBef>
              <a:spcAft>
                <a:spcPts val="0"/>
              </a:spcAft>
            </a:pPr>
            <a:r>
              <a:rPr lang="es-CO" sz="2400" b="1" dirty="0">
                <a:solidFill>
                  <a:schemeClr val="accent6">
                    <a:lumMod val="50000"/>
                  </a:schemeClr>
                </a:solidFill>
              </a:rPr>
              <a:t>Tratamiento por fenotipos</a:t>
            </a:r>
            <a:endParaRPr lang="es-CO" sz="2400" b="1" dirty="0">
              <a:solidFill>
                <a:schemeClr val="accent6">
                  <a:lumMod val="50000"/>
                </a:schemeClr>
              </a:solidFill>
              <a:effectLst/>
            </a:endParaRPr>
          </a:p>
          <a:p>
            <a:br>
              <a:rPr lang="es-CO" sz="2400" b="1" dirty="0">
                <a:solidFill>
                  <a:schemeClr val="accent6">
                    <a:lumMod val="50000"/>
                  </a:schemeClr>
                </a:solidFill>
              </a:rPr>
            </a:br>
            <a:endParaRPr lang="es-CO" sz="2400" b="1" dirty="0">
              <a:solidFill>
                <a:schemeClr val="accent6">
                  <a:lumMod val="50000"/>
                </a:schemeClr>
              </a:solidFill>
            </a:endParaRPr>
          </a:p>
        </p:txBody>
      </p:sp>
      <p:sp>
        <p:nvSpPr>
          <p:cNvPr id="7" name="CuadroTexto 6">
            <a:extLst>
              <a:ext uri="{FF2B5EF4-FFF2-40B4-BE49-F238E27FC236}">
                <a16:creationId xmlns:a16="http://schemas.microsoft.com/office/drawing/2014/main" id="{AB5B0AB3-6188-4767-B52E-90BC6F8D8C5F}"/>
              </a:ext>
            </a:extLst>
          </p:cNvPr>
          <p:cNvSpPr txBox="1"/>
          <p:nvPr/>
        </p:nvSpPr>
        <p:spPr>
          <a:xfrm>
            <a:off x="9128650" y="958763"/>
            <a:ext cx="2769137" cy="1323439"/>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pic>
        <p:nvPicPr>
          <p:cNvPr id="9" name="Imagen 8">
            <a:extLst>
              <a:ext uri="{FF2B5EF4-FFF2-40B4-BE49-F238E27FC236}">
                <a16:creationId xmlns:a16="http://schemas.microsoft.com/office/drawing/2014/main" id="{77B6B373-8431-4CE0-9A04-FB509885F861}"/>
              </a:ext>
            </a:extLst>
          </p:cNvPr>
          <p:cNvPicPr>
            <a:picLocks noChangeAspect="1"/>
          </p:cNvPicPr>
          <p:nvPr/>
        </p:nvPicPr>
        <p:blipFill>
          <a:blip r:embed="rId3"/>
          <a:stretch>
            <a:fillRect/>
          </a:stretch>
        </p:blipFill>
        <p:spPr>
          <a:xfrm>
            <a:off x="1674110" y="499653"/>
            <a:ext cx="6782747" cy="5858693"/>
          </a:xfrm>
          <a:prstGeom prst="rect">
            <a:avLst/>
          </a:prstGeom>
        </p:spPr>
      </p:pic>
    </p:spTree>
    <p:extLst>
      <p:ext uri="{BB962C8B-B14F-4D97-AF65-F5344CB8AC3E}">
        <p14:creationId xmlns:p14="http://schemas.microsoft.com/office/powerpoint/2010/main" val="7786264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6" name="CuadroTexto 5">
            <a:extLst>
              <a:ext uri="{FF2B5EF4-FFF2-40B4-BE49-F238E27FC236}">
                <a16:creationId xmlns:a16="http://schemas.microsoft.com/office/drawing/2014/main" id="{AA702D80-7E1F-4C34-8066-1CE62F0D461D}"/>
              </a:ext>
            </a:extLst>
          </p:cNvPr>
          <p:cNvSpPr txBox="1"/>
          <p:nvPr/>
        </p:nvSpPr>
        <p:spPr>
          <a:xfrm>
            <a:off x="7785065" y="119743"/>
            <a:ext cx="4831478" cy="1200329"/>
          </a:xfrm>
          <a:prstGeom prst="rect">
            <a:avLst/>
          </a:prstGeom>
          <a:noFill/>
        </p:spPr>
        <p:txBody>
          <a:bodyPr wrap="square">
            <a:spAutoFit/>
          </a:bodyPr>
          <a:lstStyle/>
          <a:p>
            <a:pPr algn="ctr" rtl="0">
              <a:spcBef>
                <a:spcPts val="0"/>
              </a:spcBef>
              <a:spcAft>
                <a:spcPts val="0"/>
              </a:spcAft>
            </a:pPr>
            <a:r>
              <a:rPr lang="es-CO" sz="2400" b="1" dirty="0">
                <a:solidFill>
                  <a:schemeClr val="accent6">
                    <a:lumMod val="50000"/>
                  </a:schemeClr>
                </a:solidFill>
              </a:rPr>
              <a:t>Tratamiento por fenotipos</a:t>
            </a:r>
            <a:endParaRPr lang="es-CO" sz="2400" b="1" dirty="0">
              <a:solidFill>
                <a:schemeClr val="accent6">
                  <a:lumMod val="50000"/>
                </a:schemeClr>
              </a:solidFill>
              <a:effectLst/>
            </a:endParaRPr>
          </a:p>
          <a:p>
            <a:br>
              <a:rPr lang="es-CO" sz="2400" b="1" dirty="0">
                <a:solidFill>
                  <a:schemeClr val="accent6">
                    <a:lumMod val="50000"/>
                  </a:schemeClr>
                </a:solidFill>
              </a:rPr>
            </a:br>
            <a:endParaRPr lang="es-CO" sz="2400" b="1" dirty="0">
              <a:solidFill>
                <a:schemeClr val="accent6">
                  <a:lumMod val="50000"/>
                </a:schemeClr>
              </a:solidFill>
            </a:endParaRPr>
          </a:p>
        </p:txBody>
      </p:sp>
      <p:pic>
        <p:nvPicPr>
          <p:cNvPr id="4" name="Imagen 3">
            <a:extLst>
              <a:ext uri="{FF2B5EF4-FFF2-40B4-BE49-F238E27FC236}">
                <a16:creationId xmlns:a16="http://schemas.microsoft.com/office/drawing/2014/main" id="{4745988E-59F0-45C6-BFE9-339EDB2B34AF}"/>
              </a:ext>
            </a:extLst>
          </p:cNvPr>
          <p:cNvPicPr>
            <a:picLocks noChangeAspect="1"/>
          </p:cNvPicPr>
          <p:nvPr/>
        </p:nvPicPr>
        <p:blipFill>
          <a:blip r:embed="rId3"/>
          <a:stretch>
            <a:fillRect/>
          </a:stretch>
        </p:blipFill>
        <p:spPr>
          <a:xfrm>
            <a:off x="1163015" y="784346"/>
            <a:ext cx="8118969" cy="5953911"/>
          </a:xfrm>
          <a:prstGeom prst="rect">
            <a:avLst/>
          </a:prstGeom>
        </p:spPr>
      </p:pic>
      <p:sp>
        <p:nvSpPr>
          <p:cNvPr id="7" name="CuadroTexto 6">
            <a:extLst>
              <a:ext uri="{FF2B5EF4-FFF2-40B4-BE49-F238E27FC236}">
                <a16:creationId xmlns:a16="http://schemas.microsoft.com/office/drawing/2014/main" id="{1EAD6DB4-E9F1-46AA-87BE-49B48BD365E8}"/>
              </a:ext>
            </a:extLst>
          </p:cNvPr>
          <p:cNvSpPr txBox="1"/>
          <p:nvPr/>
        </p:nvSpPr>
        <p:spPr>
          <a:xfrm>
            <a:off x="9128650" y="958763"/>
            <a:ext cx="2769137" cy="1323439"/>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Tree>
    <p:extLst>
      <p:ext uri="{BB962C8B-B14F-4D97-AF65-F5344CB8AC3E}">
        <p14:creationId xmlns:p14="http://schemas.microsoft.com/office/powerpoint/2010/main" val="9345919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sp>
        <p:nvSpPr>
          <p:cNvPr id="4" name="TextBox 8">
            <a:extLst>
              <a:ext uri="{FF2B5EF4-FFF2-40B4-BE49-F238E27FC236}">
                <a16:creationId xmlns:a16="http://schemas.microsoft.com/office/drawing/2014/main" id="{A37801AE-6D6A-4836-B28B-E752FB755858}"/>
              </a:ext>
            </a:extLst>
          </p:cNvPr>
          <p:cNvSpPr txBox="1"/>
          <p:nvPr/>
        </p:nvSpPr>
        <p:spPr>
          <a:xfrm>
            <a:off x="319087" y="1536174"/>
            <a:ext cx="8326802" cy="4154984"/>
          </a:xfrm>
          <a:prstGeom prst="rect">
            <a:avLst/>
          </a:prstGeom>
        </p:spPr>
        <p:txBody>
          <a:bodyPr lIns="0" tIns="0" rIns="0" bIns="0" rtlCol="0" anchor="t">
            <a:spAutoFit/>
          </a:bodyPr>
          <a:lstStyle/>
          <a:p>
            <a:pPr marL="536503" lvl="1" indent="-268252" algn="l">
              <a:buFont typeface="Arial"/>
              <a:buChar char="•"/>
            </a:pPr>
            <a:r>
              <a:rPr lang="en-US" dirty="0">
                <a:solidFill>
                  <a:srgbClr val="000000"/>
                </a:solidFill>
                <a:ea typeface="Glacial Indifference"/>
                <a:cs typeface="Glacial Indifference"/>
                <a:sym typeface="Glacial Indifference"/>
              </a:rPr>
              <a:t>Consulta de seguimiento temprana (1–2 semanas).</a:t>
            </a:r>
          </a:p>
          <a:p>
            <a:pPr marL="536503" lvl="1" indent="-268252" algn="l">
              <a:buFont typeface="Arial"/>
              <a:buChar char="•"/>
            </a:pPr>
            <a:r>
              <a:rPr lang="en-US" dirty="0">
                <a:solidFill>
                  <a:srgbClr val="000000"/>
                </a:solidFill>
                <a:ea typeface="Glacial Indifference"/>
                <a:cs typeface="Glacial Indifference"/>
                <a:sym typeface="Glacial Indifference"/>
              </a:rPr>
              <a:t>Evaluación clínica:</a:t>
            </a:r>
          </a:p>
          <a:p>
            <a:pPr marL="1073007" lvl="2" indent="-357669" algn="l">
              <a:buFont typeface="Arial"/>
              <a:buChar char="⚬"/>
            </a:pPr>
            <a:r>
              <a:rPr lang="en-US" dirty="0">
                <a:solidFill>
                  <a:srgbClr val="000000"/>
                </a:solidFill>
                <a:ea typeface="Glacial Indifference"/>
                <a:cs typeface="Glacial Indifference"/>
                <a:sym typeface="Glacial Indifference"/>
              </a:rPr>
              <a:t>Signos y síntomas de IC.</a:t>
            </a:r>
          </a:p>
          <a:p>
            <a:pPr marL="1073007" lvl="2" indent="-357669" algn="l">
              <a:buFont typeface="Arial"/>
              <a:buChar char="⚬"/>
            </a:pPr>
            <a:r>
              <a:rPr lang="en-US" dirty="0">
                <a:solidFill>
                  <a:srgbClr val="000000"/>
                </a:solidFill>
                <a:ea typeface="Glacial Indifference"/>
                <a:cs typeface="Glacial Indifference"/>
                <a:sym typeface="Glacial Indifference"/>
              </a:rPr>
              <a:t>Estado volémico.</a:t>
            </a:r>
          </a:p>
          <a:p>
            <a:pPr marL="1073007" lvl="2" indent="-357669" algn="l">
              <a:buFont typeface="Arial"/>
              <a:buChar char="⚬"/>
            </a:pPr>
            <a:r>
              <a:rPr lang="en-US" dirty="0">
                <a:solidFill>
                  <a:srgbClr val="000000"/>
                </a:solidFill>
                <a:ea typeface="Glacial Indifference"/>
                <a:cs typeface="Glacial Indifference"/>
                <a:sym typeface="Glacial Indifference"/>
              </a:rPr>
              <a:t>Presión arterial y frecuencia cardíaca.</a:t>
            </a:r>
          </a:p>
          <a:p>
            <a:pPr marL="536503" lvl="1" indent="-268252" algn="l">
              <a:buFont typeface="Arial"/>
              <a:buChar char="•"/>
            </a:pPr>
            <a:r>
              <a:rPr lang="en-US" dirty="0">
                <a:solidFill>
                  <a:srgbClr val="000000"/>
                </a:solidFill>
                <a:ea typeface="Glacial Indifference"/>
                <a:cs typeface="Glacial Indifference"/>
                <a:sym typeface="Glacial Indifference"/>
              </a:rPr>
              <a:t>Pruebas de laboratorio:</a:t>
            </a:r>
          </a:p>
          <a:p>
            <a:pPr marL="1073007" lvl="2" indent="-357669" algn="l">
              <a:buFont typeface="Arial"/>
              <a:buChar char="⚬"/>
            </a:pPr>
            <a:r>
              <a:rPr lang="en-US" dirty="0">
                <a:solidFill>
                  <a:srgbClr val="000000"/>
                </a:solidFill>
                <a:ea typeface="Glacial Indifference"/>
                <a:cs typeface="Glacial Indifference"/>
                <a:sym typeface="Glacial Indifference"/>
              </a:rPr>
              <a:t>Función renal.</a:t>
            </a:r>
          </a:p>
          <a:p>
            <a:pPr marL="1073007" lvl="2" indent="-357669" algn="l">
              <a:buFont typeface="Arial"/>
              <a:buChar char="⚬"/>
            </a:pPr>
            <a:r>
              <a:rPr lang="en-US" dirty="0">
                <a:solidFill>
                  <a:srgbClr val="000000"/>
                </a:solidFill>
                <a:ea typeface="Glacial Indifference"/>
                <a:cs typeface="Glacial Indifference"/>
                <a:sym typeface="Glacial Indifference"/>
              </a:rPr>
              <a:t>Electrolitos.</a:t>
            </a:r>
          </a:p>
          <a:p>
            <a:pPr marL="1073007" lvl="2" indent="-357669" algn="l">
              <a:buFont typeface="Arial"/>
              <a:buChar char="⚬"/>
            </a:pPr>
            <a:r>
              <a:rPr lang="en-US" dirty="0">
                <a:solidFill>
                  <a:srgbClr val="000000"/>
                </a:solidFill>
                <a:ea typeface="Glacial Indifference"/>
                <a:cs typeface="Glacial Indifference"/>
                <a:sym typeface="Glacial Indifference"/>
              </a:rPr>
              <a:t>Péptidos natriuréticos (PN) si procede.</a:t>
            </a:r>
          </a:p>
          <a:p>
            <a:pPr marL="1073007" lvl="2" indent="-357669" algn="l">
              <a:buFont typeface="Arial"/>
              <a:buChar char="⚬"/>
            </a:pPr>
            <a:r>
              <a:rPr lang="en-US" dirty="0">
                <a:solidFill>
                  <a:srgbClr val="000000"/>
                </a:solidFill>
                <a:ea typeface="Glacial Indifference"/>
                <a:cs typeface="Glacial Indifference"/>
                <a:sym typeface="Glacial Indifference"/>
              </a:rPr>
              <a:t>Estado del hierro y función hepática si no se evaluó antes del alta.</a:t>
            </a:r>
          </a:p>
          <a:p>
            <a:pPr marL="536503" lvl="1" indent="-268252" algn="l">
              <a:buFont typeface="Arial"/>
              <a:buChar char="•"/>
            </a:pPr>
            <a:r>
              <a:rPr lang="en-US" dirty="0">
                <a:solidFill>
                  <a:srgbClr val="000000"/>
                </a:solidFill>
                <a:ea typeface="Glacial Indifference"/>
                <a:cs typeface="Glacial Indifference"/>
                <a:sym typeface="Glacial Indifference"/>
              </a:rPr>
              <a:t>Ajuste de tratamiento modificador de la IC-</a:t>
            </a:r>
            <a:r>
              <a:rPr lang="en-US" dirty="0" err="1">
                <a:solidFill>
                  <a:srgbClr val="000000"/>
                </a:solidFill>
                <a:ea typeface="Glacial Indifference"/>
                <a:cs typeface="Glacial Indifference"/>
                <a:sym typeface="Glacial Indifference"/>
              </a:rPr>
              <a:t>FEr</a:t>
            </a:r>
            <a:r>
              <a:rPr lang="en-US" dirty="0">
                <a:solidFill>
                  <a:srgbClr val="000000"/>
                </a:solidFill>
                <a:ea typeface="Glacial Indifference"/>
                <a:cs typeface="Glacial Indifference"/>
                <a:sym typeface="Glacial Indifference"/>
              </a:rPr>
              <a:t> según resultados de la evaluación o instauración si no se hizo al alta. </a:t>
            </a:r>
          </a:p>
          <a:p>
            <a:pPr marL="536503" lvl="1" indent="-268252" algn="l">
              <a:buFont typeface="Arial"/>
              <a:buChar char="•"/>
            </a:pPr>
            <a:r>
              <a:rPr lang="en-US" dirty="0">
                <a:solidFill>
                  <a:srgbClr val="000000"/>
                </a:solidFill>
                <a:ea typeface="Glacial Indifference"/>
                <a:cs typeface="Glacial Indifference"/>
                <a:sym typeface="Glacial Indifference"/>
              </a:rPr>
              <a:t>Educación al paciente y familiares sobre:</a:t>
            </a:r>
          </a:p>
          <a:p>
            <a:pPr marL="1073007" lvl="2" indent="-357669" algn="l">
              <a:buFont typeface="Arial"/>
              <a:buChar char="⚬"/>
            </a:pPr>
            <a:r>
              <a:rPr lang="en-US" dirty="0">
                <a:solidFill>
                  <a:srgbClr val="000000"/>
                </a:solidFill>
                <a:ea typeface="Glacial Indifference"/>
                <a:cs typeface="Glacial Indifference"/>
                <a:sym typeface="Glacial Indifference"/>
              </a:rPr>
              <a:t>Adherencia al tratamiento.</a:t>
            </a:r>
          </a:p>
          <a:p>
            <a:pPr marL="1073007" lvl="2" indent="-357669" algn="l">
              <a:buFont typeface="Arial"/>
              <a:buChar char="⚬"/>
            </a:pPr>
            <a:r>
              <a:rPr lang="en-US" dirty="0">
                <a:solidFill>
                  <a:srgbClr val="000000"/>
                </a:solidFill>
                <a:ea typeface="Glacial Indifference"/>
                <a:cs typeface="Glacial Indifference"/>
                <a:sym typeface="Glacial Indifference"/>
              </a:rPr>
              <a:t>Signos de alerta de descompensación.</a:t>
            </a:r>
          </a:p>
        </p:txBody>
      </p:sp>
      <p:sp>
        <p:nvSpPr>
          <p:cNvPr id="6" name="Freeform 5">
            <a:extLst>
              <a:ext uri="{FF2B5EF4-FFF2-40B4-BE49-F238E27FC236}">
                <a16:creationId xmlns:a16="http://schemas.microsoft.com/office/drawing/2014/main" id="{604C765C-DD7C-423F-A2EA-28D92F054608}"/>
              </a:ext>
            </a:extLst>
          </p:cNvPr>
          <p:cNvSpPr/>
          <p:nvPr/>
        </p:nvSpPr>
        <p:spPr>
          <a:xfrm>
            <a:off x="7986711" y="162424"/>
            <a:ext cx="3886202" cy="3429000"/>
          </a:xfrm>
          <a:custGeom>
            <a:avLst/>
            <a:gdLst/>
            <a:ahLst/>
            <a:cxnLst/>
            <a:rect l="l" t="t" r="r" b="b"/>
            <a:pathLst>
              <a:path w="4884036" h="4114800">
                <a:moveTo>
                  <a:pt x="0" y="0"/>
                </a:moveTo>
                <a:lnTo>
                  <a:pt x="4884036" y="0"/>
                </a:lnTo>
                <a:lnTo>
                  <a:pt x="4884036"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CuadroTexto 7">
            <a:extLst>
              <a:ext uri="{FF2B5EF4-FFF2-40B4-BE49-F238E27FC236}">
                <a16:creationId xmlns:a16="http://schemas.microsoft.com/office/drawing/2014/main" id="{80007FFE-5238-4847-9415-C89CDF7E1E48}"/>
              </a:ext>
            </a:extLst>
          </p:cNvPr>
          <p:cNvSpPr txBox="1"/>
          <p:nvPr/>
        </p:nvSpPr>
        <p:spPr>
          <a:xfrm>
            <a:off x="4015286" y="162424"/>
            <a:ext cx="5756463" cy="523220"/>
          </a:xfrm>
          <a:prstGeom prst="rect">
            <a:avLst/>
          </a:prstGeom>
          <a:noFill/>
        </p:spPr>
        <p:txBody>
          <a:bodyPr wrap="square" rtlCol="0">
            <a:spAutoFit/>
          </a:bodyPr>
          <a:lstStyle/>
          <a:p>
            <a:r>
              <a:rPr lang="es-CO" sz="2800" b="1" dirty="0">
                <a:solidFill>
                  <a:schemeClr val="accent6">
                    <a:lumMod val="50000"/>
                  </a:schemeClr>
                </a:solidFill>
              </a:rPr>
              <a:t>Egreso Hospitalización</a:t>
            </a:r>
          </a:p>
        </p:txBody>
      </p:sp>
    </p:spTree>
    <p:extLst>
      <p:ext uri="{BB962C8B-B14F-4D97-AF65-F5344CB8AC3E}">
        <p14:creationId xmlns:p14="http://schemas.microsoft.com/office/powerpoint/2010/main" val="2634492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pic>
        <p:nvPicPr>
          <p:cNvPr id="21506" name="Picture 2">
            <a:extLst>
              <a:ext uri="{FF2B5EF4-FFF2-40B4-BE49-F238E27FC236}">
                <a16:creationId xmlns:a16="http://schemas.microsoft.com/office/drawing/2014/main" id="{6CEE2C33-C7E8-4583-8F4B-46DCBA9C1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5013" y="94949"/>
            <a:ext cx="4519388" cy="1541182"/>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C6486081-48A7-4156-824B-B4F2F54346D2}"/>
              </a:ext>
            </a:extLst>
          </p:cNvPr>
          <p:cNvPicPr>
            <a:picLocks noChangeAspect="1"/>
          </p:cNvPicPr>
          <p:nvPr/>
        </p:nvPicPr>
        <p:blipFill>
          <a:blip r:embed="rId4"/>
          <a:stretch>
            <a:fillRect/>
          </a:stretch>
        </p:blipFill>
        <p:spPr>
          <a:xfrm>
            <a:off x="3648722" y="1658471"/>
            <a:ext cx="5103242" cy="5199529"/>
          </a:xfrm>
          <a:prstGeom prst="rect">
            <a:avLst/>
          </a:prstGeom>
        </p:spPr>
      </p:pic>
    </p:spTree>
    <p:extLst>
      <p:ext uri="{BB962C8B-B14F-4D97-AF65-F5344CB8AC3E}">
        <p14:creationId xmlns:p14="http://schemas.microsoft.com/office/powerpoint/2010/main" val="8660810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738DB3B-0396-488E-AAD3-A151732C52EB}"/>
              </a:ext>
            </a:extLst>
          </p:cNvPr>
          <p:cNvSpPr txBox="1"/>
          <p:nvPr/>
        </p:nvSpPr>
        <p:spPr>
          <a:xfrm>
            <a:off x="3666943" y="314824"/>
            <a:ext cx="5756463" cy="523220"/>
          </a:xfrm>
          <a:prstGeom prst="rect">
            <a:avLst/>
          </a:prstGeom>
          <a:noFill/>
        </p:spPr>
        <p:txBody>
          <a:bodyPr wrap="square" rtlCol="0">
            <a:spAutoFit/>
          </a:bodyPr>
          <a:lstStyle/>
          <a:p>
            <a:r>
              <a:rPr lang="es-CO" sz="2800" b="1" dirty="0">
                <a:solidFill>
                  <a:schemeClr val="accent6">
                    <a:lumMod val="50000"/>
                  </a:schemeClr>
                </a:solidFill>
              </a:rPr>
              <a:t>Insuficiencia Cardíaca Crónica (ICC)</a:t>
            </a:r>
          </a:p>
        </p:txBody>
      </p:sp>
      <p:sp>
        <p:nvSpPr>
          <p:cNvPr id="8" name="Google Shape;123;p3">
            <a:extLst>
              <a:ext uri="{FF2B5EF4-FFF2-40B4-BE49-F238E27FC236}">
                <a16:creationId xmlns:a16="http://schemas.microsoft.com/office/drawing/2014/main" id="{47416382-48C7-466A-A0E3-2BD7FDD986F9}"/>
              </a:ext>
            </a:extLst>
          </p:cNvPr>
          <p:cNvSpPr txBox="1"/>
          <p:nvPr/>
        </p:nvSpPr>
        <p:spPr>
          <a:xfrm>
            <a:off x="-39593" y="6471940"/>
            <a:ext cx="11161801"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CO" sz="700" i="1" dirty="0" err="1">
                <a:solidFill>
                  <a:schemeClr val="bg2">
                    <a:lumMod val="10000"/>
                  </a:schemeClr>
                </a:solidFill>
              </a:rPr>
              <a:t>McDonagh</a:t>
            </a:r>
            <a:r>
              <a:rPr lang="es-CO" sz="700" i="1" dirty="0">
                <a:solidFill>
                  <a:schemeClr val="bg2">
                    <a:lumMod val="10000"/>
                  </a:schemeClr>
                </a:solidFill>
              </a:rPr>
              <a:t>, T. A., Metra, M., Adamo, M., Gardner, R. S., </a:t>
            </a:r>
            <a:r>
              <a:rPr lang="es-CO" sz="700" i="1" dirty="0" err="1">
                <a:solidFill>
                  <a:schemeClr val="bg2">
                    <a:lumMod val="10000"/>
                  </a:schemeClr>
                </a:solidFill>
              </a:rPr>
              <a:t>Baumbach</a:t>
            </a:r>
            <a:r>
              <a:rPr lang="es-CO" sz="700" i="1" dirty="0">
                <a:solidFill>
                  <a:schemeClr val="bg2">
                    <a:lumMod val="10000"/>
                  </a:schemeClr>
                </a:solidFill>
              </a:rPr>
              <a:t>, A., </a:t>
            </a:r>
            <a:r>
              <a:rPr lang="es-CO" sz="700" i="1" dirty="0" err="1">
                <a:solidFill>
                  <a:schemeClr val="bg2">
                    <a:lumMod val="10000"/>
                  </a:schemeClr>
                </a:solidFill>
              </a:rPr>
              <a:t>Böhm</a:t>
            </a:r>
            <a:r>
              <a:rPr lang="es-CO" sz="700" i="1" dirty="0">
                <a:solidFill>
                  <a:schemeClr val="bg2">
                    <a:lumMod val="10000"/>
                  </a:schemeClr>
                </a:solidFill>
              </a:rPr>
              <a:t>, M., … &amp; </a:t>
            </a:r>
            <a:r>
              <a:rPr lang="es-CO" sz="700" i="1" dirty="0" err="1">
                <a:solidFill>
                  <a:schemeClr val="bg2">
                    <a:lumMod val="10000"/>
                  </a:schemeClr>
                </a:solidFill>
              </a:rPr>
              <a:t>Coats</a:t>
            </a:r>
            <a:r>
              <a:rPr lang="es-CO" sz="700" i="1" dirty="0">
                <a:solidFill>
                  <a:schemeClr val="bg2">
                    <a:lumMod val="10000"/>
                  </a:schemeClr>
                </a:solidFill>
              </a:rPr>
              <a:t>, A. J. S. (2021). 2021 ESC Guidelines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Developed</a:t>
            </a:r>
            <a:r>
              <a:rPr lang="es-CO" sz="700" i="1" dirty="0">
                <a:solidFill>
                  <a:schemeClr val="bg2">
                    <a:lumMod val="10000"/>
                  </a:schemeClr>
                </a:solidFill>
              </a:rPr>
              <a:t> </a:t>
            </a:r>
            <a:r>
              <a:rPr lang="es-CO" sz="700" i="1" dirty="0" err="1">
                <a:solidFill>
                  <a:schemeClr val="bg2">
                    <a:lumMod val="10000"/>
                  </a:schemeClr>
                </a:solidFill>
              </a:rPr>
              <a:t>by</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Task</a:t>
            </a:r>
            <a:r>
              <a:rPr lang="es-CO" sz="700" i="1" dirty="0">
                <a:solidFill>
                  <a:schemeClr val="bg2">
                    <a:lumMod val="10000"/>
                  </a:schemeClr>
                </a:solidFill>
              </a:rPr>
              <a:t> </a:t>
            </a:r>
            <a:r>
              <a:rPr lang="es-CO" sz="700" i="1" dirty="0" err="1">
                <a:solidFill>
                  <a:schemeClr val="bg2">
                    <a:lumMod val="10000"/>
                  </a:schemeClr>
                </a:solidFill>
              </a:rPr>
              <a:t>Force</a:t>
            </a:r>
            <a:r>
              <a:rPr lang="es-CO" sz="700" i="1" dirty="0">
                <a:solidFill>
                  <a:schemeClr val="bg2">
                    <a:lumMod val="10000"/>
                  </a:schemeClr>
                </a:solidFill>
              </a:rPr>
              <a:t>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European</a:t>
            </a:r>
            <a:r>
              <a:rPr lang="es-CO" sz="700" i="1" dirty="0">
                <a:solidFill>
                  <a:schemeClr val="bg2">
                    <a:lumMod val="10000"/>
                  </a:schemeClr>
                </a:solidFill>
              </a:rPr>
              <a:t> </a:t>
            </a:r>
            <a:r>
              <a:rPr lang="es-CO" sz="700" i="1" dirty="0" err="1">
                <a:solidFill>
                  <a:schemeClr val="bg2">
                    <a:lumMod val="10000"/>
                  </a:schemeClr>
                </a:solidFill>
              </a:rPr>
              <a:t>Society</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Cardiology</a:t>
            </a:r>
            <a:r>
              <a:rPr lang="es-CO" sz="700" i="1" dirty="0">
                <a:solidFill>
                  <a:schemeClr val="bg2">
                    <a:lumMod val="10000"/>
                  </a:schemeClr>
                </a:solidFill>
              </a:rPr>
              <a:t> (ESC) </a:t>
            </a:r>
            <a:r>
              <a:rPr lang="es-CO" sz="700" i="1" dirty="0" err="1">
                <a:solidFill>
                  <a:schemeClr val="bg2">
                    <a:lumMod val="10000"/>
                  </a:schemeClr>
                </a:solidFill>
              </a:rPr>
              <a:t>with</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special</a:t>
            </a:r>
            <a:r>
              <a:rPr lang="es-CO" sz="700" i="1" dirty="0">
                <a:solidFill>
                  <a:schemeClr val="bg2">
                    <a:lumMod val="10000"/>
                  </a:schemeClr>
                </a:solidFill>
              </a:rPr>
              <a:t> </a:t>
            </a:r>
            <a:r>
              <a:rPr lang="es-CO" sz="700" i="1" dirty="0" err="1">
                <a:solidFill>
                  <a:schemeClr val="bg2">
                    <a:lumMod val="10000"/>
                  </a:schemeClr>
                </a:solidFill>
              </a:rPr>
              <a:t>contribution</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Heart Failure </a:t>
            </a:r>
            <a:r>
              <a:rPr lang="es-CO" sz="700" i="1" dirty="0" err="1">
                <a:solidFill>
                  <a:schemeClr val="bg2">
                    <a:lumMod val="10000"/>
                  </a:schemeClr>
                </a:solidFill>
              </a:rPr>
              <a:t>Association</a:t>
            </a:r>
            <a:r>
              <a:rPr lang="es-CO" sz="700" i="1" dirty="0">
                <a:solidFill>
                  <a:schemeClr val="bg2">
                    <a:lumMod val="10000"/>
                  </a:schemeClr>
                </a:solidFill>
              </a:rPr>
              <a:t> (HFA)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ESC. </a:t>
            </a:r>
            <a:r>
              <a:rPr lang="es-CO" sz="700" i="1" dirty="0" err="1">
                <a:solidFill>
                  <a:schemeClr val="bg2">
                    <a:lumMod val="10000"/>
                  </a:schemeClr>
                </a:solidFill>
              </a:rPr>
              <a:t>European</a:t>
            </a:r>
            <a:r>
              <a:rPr lang="es-CO" sz="700" i="1" dirty="0">
                <a:solidFill>
                  <a:schemeClr val="bg2">
                    <a:lumMod val="10000"/>
                  </a:schemeClr>
                </a:solidFill>
              </a:rPr>
              <a:t> Heart </a:t>
            </a:r>
            <a:r>
              <a:rPr lang="es-CO" sz="700" i="1" dirty="0" err="1">
                <a:solidFill>
                  <a:schemeClr val="bg2">
                    <a:lumMod val="10000"/>
                  </a:schemeClr>
                </a:solidFill>
              </a:rPr>
              <a:t>Journal</a:t>
            </a:r>
            <a:r>
              <a:rPr lang="es-CO" sz="700" i="1" dirty="0">
                <a:solidFill>
                  <a:schemeClr val="bg2">
                    <a:lumMod val="10000"/>
                  </a:schemeClr>
                </a:solidFill>
              </a:rPr>
              <a:t>, 42(36), 3599–3726. https://doi.org/10.1093/eurheartj/ehab368</a:t>
            </a:r>
            <a:endParaRPr sz="700" i="1" dirty="0">
              <a:solidFill>
                <a:schemeClr val="bg2">
                  <a:lumMod val="10000"/>
                </a:schemeClr>
              </a:solidFill>
            </a:endParaRPr>
          </a:p>
        </p:txBody>
      </p:sp>
      <p:pic>
        <p:nvPicPr>
          <p:cNvPr id="9" name="Google Shape;97;p2">
            <a:extLst>
              <a:ext uri="{FF2B5EF4-FFF2-40B4-BE49-F238E27FC236}">
                <a16:creationId xmlns:a16="http://schemas.microsoft.com/office/drawing/2014/main" id="{6A22A97F-0E94-477F-9DA5-EB8D707A4942}"/>
              </a:ext>
            </a:extLst>
          </p:cNvPr>
          <p:cNvPicPr preferRelativeResize="0"/>
          <p:nvPr/>
        </p:nvPicPr>
        <p:blipFill rotWithShape="1">
          <a:blip r:embed="rId3">
            <a:alphaModFix/>
          </a:blip>
          <a:srcRect r="3873" b="960"/>
          <a:stretch/>
        </p:blipFill>
        <p:spPr>
          <a:xfrm>
            <a:off x="6075363" y="1078733"/>
            <a:ext cx="4724400" cy="5007742"/>
          </a:xfrm>
          <a:prstGeom prst="rect">
            <a:avLst/>
          </a:prstGeom>
          <a:noFill/>
          <a:ln>
            <a:noFill/>
          </a:ln>
        </p:spPr>
      </p:pic>
      <p:sp>
        <p:nvSpPr>
          <p:cNvPr id="2" name="CuadroTexto 1">
            <a:extLst>
              <a:ext uri="{FF2B5EF4-FFF2-40B4-BE49-F238E27FC236}">
                <a16:creationId xmlns:a16="http://schemas.microsoft.com/office/drawing/2014/main" id="{320177CB-8EA3-421C-A54B-1BCD9315DD4D}"/>
              </a:ext>
            </a:extLst>
          </p:cNvPr>
          <p:cNvSpPr txBox="1"/>
          <p:nvPr/>
        </p:nvSpPr>
        <p:spPr>
          <a:xfrm>
            <a:off x="658811" y="1311302"/>
            <a:ext cx="4398963" cy="1128514"/>
          </a:xfrm>
          <a:prstGeom prst="rect">
            <a:avLst/>
          </a:prstGeom>
          <a:solidFill>
            <a:schemeClr val="accent6">
              <a:lumMod val="40000"/>
              <a:lumOff val="60000"/>
            </a:schemeClr>
          </a:solidFill>
        </p:spPr>
        <p:txBody>
          <a:bodyPr wrap="square" rtlCol="0">
            <a:spAutoFit/>
          </a:bodyPr>
          <a:lstStyle/>
          <a:p>
            <a:pPr marL="0" lvl="0" indent="0" algn="l" rtl="0">
              <a:spcBef>
                <a:spcPts val="1400"/>
              </a:spcBef>
              <a:spcAft>
                <a:spcPts val="0"/>
              </a:spcAft>
              <a:buNone/>
            </a:pPr>
            <a:r>
              <a:rPr lang="es-CO" sz="1600" b="1" dirty="0">
                <a:solidFill>
                  <a:schemeClr val="accent6">
                    <a:lumMod val="50000"/>
                  </a:schemeClr>
                </a:solidFill>
                <a:ea typeface="Calibri"/>
                <a:cs typeface="Calibri"/>
                <a:sym typeface="Calibri"/>
              </a:rPr>
              <a:t>La ICC es un síndrome clínico caracterizado por:</a:t>
            </a:r>
          </a:p>
          <a:p>
            <a:pPr marL="400050" lvl="0" indent="-285750" algn="l" rtl="0">
              <a:spcBef>
                <a:spcPts val="400"/>
              </a:spcBef>
              <a:spcAft>
                <a:spcPts val="0"/>
              </a:spcAft>
              <a:buClr>
                <a:schemeClr val="dk1"/>
              </a:buClr>
              <a:buSzPts val="1800"/>
              <a:buFont typeface="Wingdings" panose="05000000000000000000" pitchFamily="2" charset="2"/>
              <a:buChar char="ü"/>
            </a:pPr>
            <a:r>
              <a:rPr lang="es-CO" sz="1600" b="1" dirty="0">
                <a:solidFill>
                  <a:schemeClr val="accent6">
                    <a:lumMod val="50000"/>
                  </a:schemeClr>
                </a:solidFill>
                <a:ea typeface="Calibri"/>
                <a:cs typeface="Calibri"/>
                <a:sym typeface="Calibri"/>
              </a:rPr>
              <a:t>Síntomas típicos </a:t>
            </a:r>
          </a:p>
          <a:p>
            <a:pPr marL="400050" lvl="0" indent="-285750" algn="l" rtl="0">
              <a:spcBef>
                <a:spcPts val="0"/>
              </a:spcBef>
              <a:spcAft>
                <a:spcPts val="0"/>
              </a:spcAft>
              <a:buClr>
                <a:schemeClr val="dk1"/>
              </a:buClr>
              <a:buSzPts val="1800"/>
              <a:buFont typeface="Wingdings" panose="05000000000000000000" pitchFamily="2" charset="2"/>
              <a:buChar char="ü"/>
            </a:pPr>
            <a:r>
              <a:rPr lang="es-CO" sz="1600" b="1" dirty="0">
                <a:solidFill>
                  <a:schemeClr val="accent6">
                    <a:lumMod val="50000"/>
                  </a:schemeClr>
                </a:solidFill>
                <a:ea typeface="Calibri"/>
                <a:cs typeface="Calibri"/>
                <a:sym typeface="Calibri"/>
              </a:rPr>
              <a:t>Pueden estar acompañados de signos (específicos)</a:t>
            </a:r>
            <a:endParaRPr lang="es-CO" sz="1600" dirty="0">
              <a:solidFill>
                <a:schemeClr val="accent6">
                  <a:lumMod val="50000"/>
                </a:schemeClr>
              </a:solidFill>
            </a:endParaRPr>
          </a:p>
        </p:txBody>
      </p:sp>
      <p:sp>
        <p:nvSpPr>
          <p:cNvPr id="11" name="CuadroTexto 10">
            <a:extLst>
              <a:ext uri="{FF2B5EF4-FFF2-40B4-BE49-F238E27FC236}">
                <a16:creationId xmlns:a16="http://schemas.microsoft.com/office/drawing/2014/main" id="{80A74D0F-1193-47FF-A1EA-BBEA78683035}"/>
              </a:ext>
            </a:extLst>
          </p:cNvPr>
          <p:cNvSpPr txBox="1"/>
          <p:nvPr/>
        </p:nvSpPr>
        <p:spPr>
          <a:xfrm>
            <a:off x="459576" y="3132438"/>
            <a:ext cx="4894263" cy="1323439"/>
          </a:xfrm>
          <a:prstGeom prst="rect">
            <a:avLst/>
          </a:prstGeom>
          <a:solidFill>
            <a:schemeClr val="accent6">
              <a:lumMod val="40000"/>
              <a:lumOff val="60000"/>
            </a:schemeClr>
          </a:solidFill>
        </p:spPr>
        <p:txBody>
          <a:bodyPr wrap="square" rtlCol="0">
            <a:spAutoFit/>
          </a:bodyPr>
          <a:lstStyle/>
          <a:p>
            <a:pPr marL="457200" lvl="0" indent="-342900" algn="l" rtl="0">
              <a:spcBef>
                <a:spcPts val="0"/>
              </a:spcBef>
              <a:spcAft>
                <a:spcPts val="0"/>
              </a:spcAft>
              <a:buClr>
                <a:schemeClr val="dk1"/>
              </a:buClr>
              <a:buSzPts val="1800"/>
              <a:buFont typeface="Wingdings" panose="05000000000000000000" pitchFamily="2" charset="2"/>
              <a:buChar char="ü"/>
            </a:pPr>
            <a:r>
              <a:rPr lang="es-MX" sz="1600" b="1" dirty="0">
                <a:solidFill>
                  <a:schemeClr val="accent6">
                    <a:lumMod val="50000"/>
                  </a:schemeClr>
                </a:solidFill>
                <a:ea typeface="Calibri"/>
                <a:cs typeface="Calibri"/>
                <a:sym typeface="Calibri"/>
              </a:rPr>
              <a:t>Debe demostrarse alteraciones cardiacas objetivas (estructurales o funcionales).</a:t>
            </a:r>
          </a:p>
          <a:p>
            <a:pPr marL="457200" lvl="0" indent="-342900" algn="l" rtl="0">
              <a:spcBef>
                <a:spcPts val="0"/>
              </a:spcBef>
              <a:spcAft>
                <a:spcPts val="0"/>
              </a:spcAft>
              <a:buClr>
                <a:schemeClr val="dk1"/>
              </a:buClr>
              <a:buSzPts val="1800"/>
              <a:buFont typeface="Wingdings" panose="05000000000000000000" pitchFamily="2" charset="2"/>
              <a:buChar char="ü"/>
            </a:pPr>
            <a:r>
              <a:rPr lang="es-MX" sz="1600" b="1" dirty="0">
                <a:solidFill>
                  <a:schemeClr val="accent6">
                    <a:lumMod val="50000"/>
                  </a:schemeClr>
                </a:solidFill>
                <a:ea typeface="Calibri"/>
                <a:cs typeface="Calibri"/>
                <a:sym typeface="Calibri"/>
              </a:rPr>
              <a:t>Puede presentarse con IC-</a:t>
            </a:r>
            <a:r>
              <a:rPr lang="es-MX" sz="1600" b="1" dirty="0" err="1">
                <a:solidFill>
                  <a:schemeClr val="accent6">
                    <a:lumMod val="50000"/>
                  </a:schemeClr>
                </a:solidFill>
                <a:ea typeface="Calibri"/>
                <a:cs typeface="Calibri"/>
                <a:sym typeface="Calibri"/>
              </a:rPr>
              <a:t>FEr</a:t>
            </a:r>
            <a:r>
              <a:rPr lang="es-MX" sz="1600" b="1" dirty="0">
                <a:solidFill>
                  <a:schemeClr val="accent6">
                    <a:lumMod val="50000"/>
                  </a:schemeClr>
                </a:solidFill>
                <a:ea typeface="Calibri"/>
                <a:cs typeface="Calibri"/>
                <a:sym typeface="Calibri"/>
              </a:rPr>
              <a:t>, IC-</a:t>
            </a:r>
            <a:r>
              <a:rPr lang="es-MX" sz="1600" b="1" dirty="0" err="1">
                <a:solidFill>
                  <a:schemeClr val="accent6">
                    <a:lumMod val="50000"/>
                  </a:schemeClr>
                </a:solidFill>
                <a:ea typeface="Calibri"/>
                <a:cs typeface="Calibri"/>
                <a:sym typeface="Calibri"/>
              </a:rPr>
              <a:t>FElr</a:t>
            </a:r>
            <a:r>
              <a:rPr lang="es-MX" sz="1600" b="1" dirty="0">
                <a:solidFill>
                  <a:schemeClr val="accent6">
                    <a:lumMod val="50000"/>
                  </a:schemeClr>
                </a:solidFill>
                <a:ea typeface="Calibri"/>
                <a:cs typeface="Calibri"/>
                <a:sym typeface="Calibri"/>
              </a:rPr>
              <a:t> o IC-</a:t>
            </a:r>
            <a:r>
              <a:rPr lang="es-MX" sz="1600" b="1" dirty="0" err="1">
                <a:solidFill>
                  <a:schemeClr val="accent6">
                    <a:lumMod val="50000"/>
                  </a:schemeClr>
                </a:solidFill>
                <a:ea typeface="Calibri"/>
                <a:cs typeface="Calibri"/>
                <a:sym typeface="Calibri"/>
              </a:rPr>
              <a:t>FEc</a:t>
            </a:r>
            <a:endParaRPr lang="es-MX" sz="1600" b="1" dirty="0">
              <a:solidFill>
                <a:schemeClr val="accent6">
                  <a:lumMod val="50000"/>
                </a:schemeClr>
              </a:solidFill>
              <a:ea typeface="Calibri"/>
              <a:cs typeface="Calibri"/>
              <a:sym typeface="Calibri"/>
            </a:endParaRPr>
          </a:p>
          <a:p>
            <a:pPr marL="457200" lvl="0" indent="-342900" algn="l" rtl="0">
              <a:spcBef>
                <a:spcPts val="0"/>
              </a:spcBef>
              <a:spcAft>
                <a:spcPts val="0"/>
              </a:spcAft>
              <a:buClr>
                <a:schemeClr val="dk1"/>
              </a:buClr>
              <a:buSzPts val="1800"/>
              <a:buFont typeface="Wingdings" panose="05000000000000000000" pitchFamily="2" charset="2"/>
              <a:buChar char="ü"/>
            </a:pPr>
            <a:r>
              <a:rPr lang="es-MX" sz="1600" b="1" dirty="0">
                <a:solidFill>
                  <a:schemeClr val="accent6">
                    <a:lumMod val="50000"/>
                  </a:schemeClr>
                </a:solidFill>
                <a:ea typeface="Calibri"/>
                <a:cs typeface="Calibri"/>
                <a:sym typeface="Calibri"/>
              </a:rPr>
              <a:t>Es un síndrome progresivo y crónico, con fases de descompensación aguda.</a:t>
            </a:r>
            <a:endParaRPr lang="es-CO" sz="1600" b="1" dirty="0">
              <a:solidFill>
                <a:schemeClr val="accent6">
                  <a:lumMod val="50000"/>
                </a:schemeClr>
              </a:solidFill>
            </a:endParaRPr>
          </a:p>
        </p:txBody>
      </p:sp>
      <p:sp>
        <p:nvSpPr>
          <p:cNvPr id="12" name="Flecha: hacia abajo 11">
            <a:extLst>
              <a:ext uri="{FF2B5EF4-FFF2-40B4-BE49-F238E27FC236}">
                <a16:creationId xmlns:a16="http://schemas.microsoft.com/office/drawing/2014/main" id="{41868658-E74F-454D-9767-FF3324ED329E}"/>
              </a:ext>
            </a:extLst>
          </p:cNvPr>
          <p:cNvSpPr/>
          <p:nvPr/>
        </p:nvSpPr>
        <p:spPr>
          <a:xfrm>
            <a:off x="2673625" y="2543742"/>
            <a:ext cx="233083" cy="369332"/>
          </a:xfrm>
          <a:prstGeom prst="downArrow">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9748814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738DB3B-0396-488E-AAD3-A151732C52EB}"/>
              </a:ext>
            </a:extLst>
          </p:cNvPr>
          <p:cNvSpPr txBox="1"/>
          <p:nvPr/>
        </p:nvSpPr>
        <p:spPr>
          <a:xfrm>
            <a:off x="3666943" y="314824"/>
            <a:ext cx="5756463" cy="523220"/>
          </a:xfrm>
          <a:prstGeom prst="rect">
            <a:avLst/>
          </a:prstGeom>
          <a:noFill/>
        </p:spPr>
        <p:txBody>
          <a:bodyPr wrap="square" rtlCol="0">
            <a:spAutoFit/>
          </a:bodyPr>
          <a:lstStyle/>
          <a:p>
            <a:r>
              <a:rPr lang="es-CO" sz="2800" b="1" dirty="0">
                <a:solidFill>
                  <a:schemeClr val="accent6">
                    <a:lumMod val="50000"/>
                  </a:schemeClr>
                </a:solidFill>
              </a:rPr>
              <a:t>Insuficiencia Cardíaca Crónica (ICC)</a:t>
            </a:r>
          </a:p>
        </p:txBody>
      </p:sp>
      <p:sp>
        <p:nvSpPr>
          <p:cNvPr id="8" name="Google Shape;123;p3">
            <a:extLst>
              <a:ext uri="{FF2B5EF4-FFF2-40B4-BE49-F238E27FC236}">
                <a16:creationId xmlns:a16="http://schemas.microsoft.com/office/drawing/2014/main" id="{47416382-48C7-466A-A0E3-2BD7FDD986F9}"/>
              </a:ext>
            </a:extLst>
          </p:cNvPr>
          <p:cNvSpPr txBox="1"/>
          <p:nvPr/>
        </p:nvSpPr>
        <p:spPr>
          <a:xfrm>
            <a:off x="-39593" y="6471940"/>
            <a:ext cx="11161801"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CO" sz="700" i="1" dirty="0" err="1">
                <a:solidFill>
                  <a:schemeClr val="bg2">
                    <a:lumMod val="10000"/>
                  </a:schemeClr>
                </a:solidFill>
              </a:rPr>
              <a:t>McDonagh</a:t>
            </a:r>
            <a:r>
              <a:rPr lang="es-CO" sz="700" i="1" dirty="0">
                <a:solidFill>
                  <a:schemeClr val="bg2">
                    <a:lumMod val="10000"/>
                  </a:schemeClr>
                </a:solidFill>
              </a:rPr>
              <a:t>, T. A., Metra, M., Adamo, M., Gardner, R. S., </a:t>
            </a:r>
            <a:r>
              <a:rPr lang="es-CO" sz="700" i="1" dirty="0" err="1">
                <a:solidFill>
                  <a:schemeClr val="bg2">
                    <a:lumMod val="10000"/>
                  </a:schemeClr>
                </a:solidFill>
              </a:rPr>
              <a:t>Baumbach</a:t>
            </a:r>
            <a:r>
              <a:rPr lang="es-CO" sz="700" i="1" dirty="0">
                <a:solidFill>
                  <a:schemeClr val="bg2">
                    <a:lumMod val="10000"/>
                  </a:schemeClr>
                </a:solidFill>
              </a:rPr>
              <a:t>, A., </a:t>
            </a:r>
            <a:r>
              <a:rPr lang="es-CO" sz="700" i="1" dirty="0" err="1">
                <a:solidFill>
                  <a:schemeClr val="bg2">
                    <a:lumMod val="10000"/>
                  </a:schemeClr>
                </a:solidFill>
              </a:rPr>
              <a:t>Böhm</a:t>
            </a:r>
            <a:r>
              <a:rPr lang="es-CO" sz="700" i="1" dirty="0">
                <a:solidFill>
                  <a:schemeClr val="bg2">
                    <a:lumMod val="10000"/>
                  </a:schemeClr>
                </a:solidFill>
              </a:rPr>
              <a:t>, M., … &amp; </a:t>
            </a:r>
            <a:r>
              <a:rPr lang="es-CO" sz="700" i="1" dirty="0" err="1">
                <a:solidFill>
                  <a:schemeClr val="bg2">
                    <a:lumMod val="10000"/>
                  </a:schemeClr>
                </a:solidFill>
              </a:rPr>
              <a:t>Coats</a:t>
            </a:r>
            <a:r>
              <a:rPr lang="es-CO" sz="700" i="1" dirty="0">
                <a:solidFill>
                  <a:schemeClr val="bg2">
                    <a:lumMod val="10000"/>
                  </a:schemeClr>
                </a:solidFill>
              </a:rPr>
              <a:t>, A. J. S. (2021). 2021 ESC Guidelines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Developed</a:t>
            </a:r>
            <a:r>
              <a:rPr lang="es-CO" sz="700" i="1" dirty="0">
                <a:solidFill>
                  <a:schemeClr val="bg2">
                    <a:lumMod val="10000"/>
                  </a:schemeClr>
                </a:solidFill>
              </a:rPr>
              <a:t> </a:t>
            </a:r>
            <a:r>
              <a:rPr lang="es-CO" sz="700" i="1" dirty="0" err="1">
                <a:solidFill>
                  <a:schemeClr val="bg2">
                    <a:lumMod val="10000"/>
                  </a:schemeClr>
                </a:solidFill>
              </a:rPr>
              <a:t>by</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Task</a:t>
            </a:r>
            <a:r>
              <a:rPr lang="es-CO" sz="700" i="1" dirty="0">
                <a:solidFill>
                  <a:schemeClr val="bg2">
                    <a:lumMod val="10000"/>
                  </a:schemeClr>
                </a:solidFill>
              </a:rPr>
              <a:t> </a:t>
            </a:r>
            <a:r>
              <a:rPr lang="es-CO" sz="700" i="1" dirty="0" err="1">
                <a:solidFill>
                  <a:schemeClr val="bg2">
                    <a:lumMod val="10000"/>
                  </a:schemeClr>
                </a:solidFill>
              </a:rPr>
              <a:t>Force</a:t>
            </a:r>
            <a:r>
              <a:rPr lang="es-CO" sz="700" i="1" dirty="0">
                <a:solidFill>
                  <a:schemeClr val="bg2">
                    <a:lumMod val="10000"/>
                  </a:schemeClr>
                </a:solidFill>
              </a:rPr>
              <a:t>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European</a:t>
            </a:r>
            <a:r>
              <a:rPr lang="es-CO" sz="700" i="1" dirty="0">
                <a:solidFill>
                  <a:schemeClr val="bg2">
                    <a:lumMod val="10000"/>
                  </a:schemeClr>
                </a:solidFill>
              </a:rPr>
              <a:t> </a:t>
            </a:r>
            <a:r>
              <a:rPr lang="es-CO" sz="700" i="1" dirty="0" err="1">
                <a:solidFill>
                  <a:schemeClr val="bg2">
                    <a:lumMod val="10000"/>
                  </a:schemeClr>
                </a:solidFill>
              </a:rPr>
              <a:t>Society</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Cardiology</a:t>
            </a:r>
            <a:r>
              <a:rPr lang="es-CO" sz="700" i="1" dirty="0">
                <a:solidFill>
                  <a:schemeClr val="bg2">
                    <a:lumMod val="10000"/>
                  </a:schemeClr>
                </a:solidFill>
              </a:rPr>
              <a:t> (ESC) </a:t>
            </a:r>
            <a:r>
              <a:rPr lang="es-CO" sz="700" i="1" dirty="0" err="1">
                <a:solidFill>
                  <a:schemeClr val="bg2">
                    <a:lumMod val="10000"/>
                  </a:schemeClr>
                </a:solidFill>
              </a:rPr>
              <a:t>with</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special</a:t>
            </a:r>
            <a:r>
              <a:rPr lang="es-CO" sz="700" i="1" dirty="0">
                <a:solidFill>
                  <a:schemeClr val="bg2">
                    <a:lumMod val="10000"/>
                  </a:schemeClr>
                </a:solidFill>
              </a:rPr>
              <a:t> </a:t>
            </a:r>
            <a:r>
              <a:rPr lang="es-CO" sz="700" i="1" dirty="0" err="1">
                <a:solidFill>
                  <a:schemeClr val="bg2">
                    <a:lumMod val="10000"/>
                  </a:schemeClr>
                </a:solidFill>
              </a:rPr>
              <a:t>contribution</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Heart Failure </a:t>
            </a:r>
            <a:r>
              <a:rPr lang="es-CO" sz="700" i="1" dirty="0" err="1">
                <a:solidFill>
                  <a:schemeClr val="bg2">
                    <a:lumMod val="10000"/>
                  </a:schemeClr>
                </a:solidFill>
              </a:rPr>
              <a:t>Association</a:t>
            </a:r>
            <a:r>
              <a:rPr lang="es-CO" sz="700" i="1" dirty="0">
                <a:solidFill>
                  <a:schemeClr val="bg2">
                    <a:lumMod val="10000"/>
                  </a:schemeClr>
                </a:solidFill>
              </a:rPr>
              <a:t> (HFA)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ESC. </a:t>
            </a:r>
            <a:r>
              <a:rPr lang="es-CO" sz="700" i="1" dirty="0" err="1">
                <a:solidFill>
                  <a:schemeClr val="bg2">
                    <a:lumMod val="10000"/>
                  </a:schemeClr>
                </a:solidFill>
              </a:rPr>
              <a:t>European</a:t>
            </a:r>
            <a:r>
              <a:rPr lang="es-CO" sz="700" i="1" dirty="0">
                <a:solidFill>
                  <a:schemeClr val="bg2">
                    <a:lumMod val="10000"/>
                  </a:schemeClr>
                </a:solidFill>
              </a:rPr>
              <a:t> Heart </a:t>
            </a:r>
            <a:r>
              <a:rPr lang="es-CO" sz="700" i="1" dirty="0" err="1">
                <a:solidFill>
                  <a:schemeClr val="bg2">
                    <a:lumMod val="10000"/>
                  </a:schemeClr>
                </a:solidFill>
              </a:rPr>
              <a:t>Journal</a:t>
            </a:r>
            <a:r>
              <a:rPr lang="es-CO" sz="700" i="1" dirty="0">
                <a:solidFill>
                  <a:schemeClr val="bg2">
                    <a:lumMod val="10000"/>
                  </a:schemeClr>
                </a:solidFill>
              </a:rPr>
              <a:t>, 42(36), 3599–3726. https://doi.org/10.1093/eurheartj/ehab368</a:t>
            </a:r>
            <a:endParaRPr sz="700" i="1" dirty="0">
              <a:solidFill>
                <a:schemeClr val="bg2">
                  <a:lumMod val="10000"/>
                </a:schemeClr>
              </a:solidFill>
            </a:endParaRPr>
          </a:p>
        </p:txBody>
      </p:sp>
      <p:sp>
        <p:nvSpPr>
          <p:cNvPr id="2" name="CuadroTexto 1">
            <a:extLst>
              <a:ext uri="{FF2B5EF4-FFF2-40B4-BE49-F238E27FC236}">
                <a16:creationId xmlns:a16="http://schemas.microsoft.com/office/drawing/2014/main" id="{320177CB-8EA3-421C-A54B-1BCD9315DD4D}"/>
              </a:ext>
            </a:extLst>
          </p:cNvPr>
          <p:cNvSpPr txBox="1"/>
          <p:nvPr/>
        </p:nvSpPr>
        <p:spPr>
          <a:xfrm>
            <a:off x="658811" y="1311302"/>
            <a:ext cx="4398963" cy="1128514"/>
          </a:xfrm>
          <a:prstGeom prst="rect">
            <a:avLst/>
          </a:prstGeom>
          <a:solidFill>
            <a:schemeClr val="accent6">
              <a:lumMod val="40000"/>
              <a:lumOff val="60000"/>
            </a:schemeClr>
          </a:solidFill>
        </p:spPr>
        <p:txBody>
          <a:bodyPr wrap="square" rtlCol="0">
            <a:spAutoFit/>
          </a:bodyPr>
          <a:lstStyle/>
          <a:p>
            <a:pPr marL="0" lvl="0" indent="0" algn="l" rtl="0">
              <a:spcBef>
                <a:spcPts val="1400"/>
              </a:spcBef>
              <a:spcAft>
                <a:spcPts val="0"/>
              </a:spcAft>
              <a:buNone/>
            </a:pPr>
            <a:r>
              <a:rPr lang="es-CO" sz="1600" b="1" dirty="0">
                <a:solidFill>
                  <a:schemeClr val="accent6">
                    <a:lumMod val="50000"/>
                  </a:schemeClr>
                </a:solidFill>
                <a:ea typeface="Calibri"/>
                <a:cs typeface="Calibri"/>
                <a:sym typeface="Calibri"/>
              </a:rPr>
              <a:t>La ICC es un síndrome clínico caracterizado por:</a:t>
            </a:r>
          </a:p>
          <a:p>
            <a:pPr marL="400050" lvl="0" indent="-285750" algn="l" rtl="0">
              <a:spcBef>
                <a:spcPts val="400"/>
              </a:spcBef>
              <a:spcAft>
                <a:spcPts val="0"/>
              </a:spcAft>
              <a:buClr>
                <a:schemeClr val="dk1"/>
              </a:buClr>
              <a:buSzPts val="1800"/>
              <a:buFont typeface="Wingdings" panose="05000000000000000000" pitchFamily="2" charset="2"/>
              <a:buChar char="ü"/>
            </a:pPr>
            <a:r>
              <a:rPr lang="es-CO" sz="1600" b="1" dirty="0">
                <a:solidFill>
                  <a:schemeClr val="accent6">
                    <a:lumMod val="50000"/>
                  </a:schemeClr>
                </a:solidFill>
                <a:ea typeface="Calibri"/>
                <a:cs typeface="Calibri"/>
                <a:sym typeface="Calibri"/>
              </a:rPr>
              <a:t>Síntomas típicos </a:t>
            </a:r>
          </a:p>
          <a:p>
            <a:pPr marL="400050" lvl="0" indent="-285750" algn="l" rtl="0">
              <a:spcBef>
                <a:spcPts val="0"/>
              </a:spcBef>
              <a:spcAft>
                <a:spcPts val="0"/>
              </a:spcAft>
              <a:buClr>
                <a:schemeClr val="dk1"/>
              </a:buClr>
              <a:buSzPts val="1800"/>
              <a:buFont typeface="Wingdings" panose="05000000000000000000" pitchFamily="2" charset="2"/>
              <a:buChar char="ü"/>
            </a:pPr>
            <a:r>
              <a:rPr lang="es-CO" sz="1600" b="1" dirty="0">
                <a:solidFill>
                  <a:schemeClr val="accent6">
                    <a:lumMod val="50000"/>
                  </a:schemeClr>
                </a:solidFill>
                <a:ea typeface="Calibri"/>
                <a:cs typeface="Calibri"/>
                <a:sym typeface="Calibri"/>
              </a:rPr>
              <a:t>Pueden estar acompañados de signos (específicos)</a:t>
            </a:r>
            <a:endParaRPr lang="es-CO" sz="1600" dirty="0">
              <a:solidFill>
                <a:schemeClr val="accent6">
                  <a:lumMod val="50000"/>
                </a:schemeClr>
              </a:solidFill>
            </a:endParaRPr>
          </a:p>
        </p:txBody>
      </p:sp>
      <p:sp>
        <p:nvSpPr>
          <p:cNvPr id="11" name="CuadroTexto 10">
            <a:extLst>
              <a:ext uri="{FF2B5EF4-FFF2-40B4-BE49-F238E27FC236}">
                <a16:creationId xmlns:a16="http://schemas.microsoft.com/office/drawing/2014/main" id="{80A74D0F-1193-47FF-A1EA-BBEA78683035}"/>
              </a:ext>
            </a:extLst>
          </p:cNvPr>
          <p:cNvSpPr txBox="1"/>
          <p:nvPr/>
        </p:nvSpPr>
        <p:spPr>
          <a:xfrm>
            <a:off x="5793576" y="1317228"/>
            <a:ext cx="4894263" cy="1323439"/>
          </a:xfrm>
          <a:prstGeom prst="rect">
            <a:avLst/>
          </a:prstGeom>
          <a:solidFill>
            <a:schemeClr val="accent6">
              <a:lumMod val="40000"/>
              <a:lumOff val="60000"/>
            </a:schemeClr>
          </a:solidFill>
        </p:spPr>
        <p:txBody>
          <a:bodyPr wrap="square" rtlCol="0">
            <a:spAutoFit/>
          </a:bodyPr>
          <a:lstStyle/>
          <a:p>
            <a:pPr marL="457200" lvl="0" indent="-342900" algn="l" rtl="0">
              <a:spcBef>
                <a:spcPts val="0"/>
              </a:spcBef>
              <a:spcAft>
                <a:spcPts val="0"/>
              </a:spcAft>
              <a:buClr>
                <a:schemeClr val="dk1"/>
              </a:buClr>
              <a:buSzPts val="1800"/>
              <a:buFont typeface="Wingdings" panose="05000000000000000000" pitchFamily="2" charset="2"/>
              <a:buChar char="ü"/>
            </a:pPr>
            <a:r>
              <a:rPr lang="es-MX" sz="1600" b="1" dirty="0">
                <a:solidFill>
                  <a:schemeClr val="accent6">
                    <a:lumMod val="50000"/>
                  </a:schemeClr>
                </a:solidFill>
                <a:ea typeface="Calibri"/>
                <a:cs typeface="Calibri"/>
                <a:sym typeface="Calibri"/>
              </a:rPr>
              <a:t>Debe demostrarse alteraciones cardiacas objetivas (estructurales o funcionales).</a:t>
            </a:r>
          </a:p>
          <a:p>
            <a:pPr marL="457200" lvl="0" indent="-342900" algn="l" rtl="0">
              <a:spcBef>
                <a:spcPts val="0"/>
              </a:spcBef>
              <a:spcAft>
                <a:spcPts val="0"/>
              </a:spcAft>
              <a:buClr>
                <a:schemeClr val="dk1"/>
              </a:buClr>
              <a:buSzPts val="1800"/>
              <a:buFont typeface="Wingdings" panose="05000000000000000000" pitchFamily="2" charset="2"/>
              <a:buChar char="ü"/>
            </a:pPr>
            <a:r>
              <a:rPr lang="es-MX" sz="1600" b="1" dirty="0">
                <a:solidFill>
                  <a:schemeClr val="accent6">
                    <a:lumMod val="50000"/>
                  </a:schemeClr>
                </a:solidFill>
                <a:ea typeface="Calibri"/>
                <a:cs typeface="Calibri"/>
                <a:sym typeface="Calibri"/>
              </a:rPr>
              <a:t>Puede presentarse con IC-</a:t>
            </a:r>
            <a:r>
              <a:rPr lang="es-MX" sz="1600" b="1" dirty="0" err="1">
                <a:solidFill>
                  <a:schemeClr val="accent6">
                    <a:lumMod val="50000"/>
                  </a:schemeClr>
                </a:solidFill>
                <a:ea typeface="Calibri"/>
                <a:cs typeface="Calibri"/>
                <a:sym typeface="Calibri"/>
              </a:rPr>
              <a:t>FEr</a:t>
            </a:r>
            <a:r>
              <a:rPr lang="es-MX" sz="1600" b="1" dirty="0">
                <a:solidFill>
                  <a:schemeClr val="accent6">
                    <a:lumMod val="50000"/>
                  </a:schemeClr>
                </a:solidFill>
                <a:ea typeface="Calibri"/>
                <a:cs typeface="Calibri"/>
                <a:sym typeface="Calibri"/>
              </a:rPr>
              <a:t>, IC-</a:t>
            </a:r>
            <a:r>
              <a:rPr lang="es-MX" sz="1600" b="1" dirty="0" err="1">
                <a:solidFill>
                  <a:schemeClr val="accent6">
                    <a:lumMod val="50000"/>
                  </a:schemeClr>
                </a:solidFill>
                <a:ea typeface="Calibri"/>
                <a:cs typeface="Calibri"/>
                <a:sym typeface="Calibri"/>
              </a:rPr>
              <a:t>FElr</a:t>
            </a:r>
            <a:r>
              <a:rPr lang="es-MX" sz="1600" b="1" dirty="0">
                <a:solidFill>
                  <a:schemeClr val="accent6">
                    <a:lumMod val="50000"/>
                  </a:schemeClr>
                </a:solidFill>
                <a:ea typeface="Calibri"/>
                <a:cs typeface="Calibri"/>
                <a:sym typeface="Calibri"/>
              </a:rPr>
              <a:t> o IC-</a:t>
            </a:r>
            <a:r>
              <a:rPr lang="es-MX" sz="1600" b="1" dirty="0" err="1">
                <a:solidFill>
                  <a:schemeClr val="accent6">
                    <a:lumMod val="50000"/>
                  </a:schemeClr>
                </a:solidFill>
                <a:ea typeface="Calibri"/>
                <a:cs typeface="Calibri"/>
                <a:sym typeface="Calibri"/>
              </a:rPr>
              <a:t>FEc</a:t>
            </a:r>
            <a:endParaRPr lang="es-MX" sz="1600" b="1" dirty="0">
              <a:solidFill>
                <a:schemeClr val="accent6">
                  <a:lumMod val="50000"/>
                </a:schemeClr>
              </a:solidFill>
              <a:ea typeface="Calibri"/>
              <a:cs typeface="Calibri"/>
              <a:sym typeface="Calibri"/>
            </a:endParaRPr>
          </a:p>
          <a:p>
            <a:pPr marL="457200" lvl="0" indent="-342900" algn="l" rtl="0">
              <a:spcBef>
                <a:spcPts val="0"/>
              </a:spcBef>
              <a:spcAft>
                <a:spcPts val="0"/>
              </a:spcAft>
              <a:buClr>
                <a:schemeClr val="dk1"/>
              </a:buClr>
              <a:buSzPts val="1800"/>
              <a:buFont typeface="Wingdings" panose="05000000000000000000" pitchFamily="2" charset="2"/>
              <a:buChar char="ü"/>
            </a:pPr>
            <a:r>
              <a:rPr lang="es-MX" sz="1600" b="1" dirty="0">
                <a:solidFill>
                  <a:schemeClr val="accent6">
                    <a:lumMod val="50000"/>
                  </a:schemeClr>
                </a:solidFill>
                <a:ea typeface="Calibri"/>
                <a:cs typeface="Calibri"/>
                <a:sym typeface="Calibri"/>
              </a:rPr>
              <a:t>Es un síndrome progresivo y crónico, con fases de descompensación aguda.</a:t>
            </a:r>
            <a:endParaRPr lang="es-CO" sz="1600" b="1" dirty="0">
              <a:solidFill>
                <a:schemeClr val="accent6">
                  <a:lumMod val="50000"/>
                </a:schemeClr>
              </a:solidFill>
            </a:endParaRPr>
          </a:p>
        </p:txBody>
      </p:sp>
      <p:sp>
        <p:nvSpPr>
          <p:cNvPr id="12" name="Flecha: hacia abajo 11">
            <a:extLst>
              <a:ext uri="{FF2B5EF4-FFF2-40B4-BE49-F238E27FC236}">
                <a16:creationId xmlns:a16="http://schemas.microsoft.com/office/drawing/2014/main" id="{41868658-E74F-454D-9767-FF3324ED329E}"/>
              </a:ext>
            </a:extLst>
          </p:cNvPr>
          <p:cNvSpPr/>
          <p:nvPr/>
        </p:nvSpPr>
        <p:spPr>
          <a:xfrm rot="16200000">
            <a:off x="5424766" y="1690893"/>
            <a:ext cx="233083" cy="369332"/>
          </a:xfrm>
          <a:prstGeom prst="downArrow">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7" name="Imagen 6">
            <a:extLst>
              <a:ext uri="{FF2B5EF4-FFF2-40B4-BE49-F238E27FC236}">
                <a16:creationId xmlns:a16="http://schemas.microsoft.com/office/drawing/2014/main" id="{0D45BB75-3A61-4987-B735-C71FD78F9440}"/>
              </a:ext>
            </a:extLst>
          </p:cNvPr>
          <p:cNvPicPr>
            <a:picLocks noChangeAspect="1"/>
          </p:cNvPicPr>
          <p:nvPr/>
        </p:nvPicPr>
        <p:blipFill>
          <a:blip r:embed="rId3"/>
          <a:stretch>
            <a:fillRect/>
          </a:stretch>
        </p:blipFill>
        <p:spPr>
          <a:xfrm>
            <a:off x="99197" y="2822101"/>
            <a:ext cx="10851048" cy="3448988"/>
          </a:xfrm>
          <a:prstGeom prst="rect">
            <a:avLst/>
          </a:prstGeom>
        </p:spPr>
      </p:pic>
    </p:spTree>
    <p:extLst>
      <p:ext uri="{BB962C8B-B14F-4D97-AF65-F5344CB8AC3E}">
        <p14:creationId xmlns:p14="http://schemas.microsoft.com/office/powerpoint/2010/main" val="15906370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3" name="Google Shape;212;g36555848ad4_0_49">
            <a:extLst>
              <a:ext uri="{FF2B5EF4-FFF2-40B4-BE49-F238E27FC236}">
                <a16:creationId xmlns:a16="http://schemas.microsoft.com/office/drawing/2014/main" id="{63E67965-23C9-43B9-8EE4-4EFBF0F14718}"/>
              </a:ext>
            </a:extLst>
          </p:cNvPr>
          <p:cNvSpPr txBox="1"/>
          <p:nvPr/>
        </p:nvSpPr>
        <p:spPr>
          <a:xfrm>
            <a:off x="-381000" y="6180900"/>
            <a:ext cx="137922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CO" sz="800" dirty="0">
                <a:solidFill>
                  <a:srgbClr val="666666"/>
                </a:solidFill>
                <a:latin typeface="Calibri"/>
                <a:ea typeface="Calibri"/>
                <a:cs typeface="Calibri"/>
                <a:sym typeface="Calibri"/>
              </a:rPr>
              <a:t>Actualización 2022 del Consenso Colombiano de Insuficiencia Cardíaca — Asociación Colombiana de Cardiología. netmd.org</a:t>
            </a:r>
            <a:endParaRPr sz="800" dirty="0">
              <a:solidFill>
                <a:srgbClr val="666666"/>
              </a:solidFill>
              <a:latin typeface="Calibri"/>
              <a:ea typeface="Calibri"/>
              <a:cs typeface="Calibri"/>
              <a:sym typeface="Calibri"/>
            </a:endParaRPr>
          </a:p>
          <a:p>
            <a:pPr marL="0" lvl="0" indent="0" algn="ctr" rtl="0">
              <a:spcBef>
                <a:spcPts val="0"/>
              </a:spcBef>
              <a:spcAft>
                <a:spcPts val="0"/>
              </a:spcAft>
              <a:buNone/>
            </a:pPr>
            <a:r>
              <a:rPr lang="es-CO" sz="800" dirty="0">
                <a:solidFill>
                  <a:srgbClr val="666666"/>
                </a:solidFill>
                <a:latin typeface="Calibri"/>
                <a:ea typeface="Calibri"/>
                <a:cs typeface="Calibri"/>
                <a:sym typeface="Calibri"/>
              </a:rPr>
              <a:t>Registro Colombiano de Falla Cardíaca (RECOLFACA) (2021) — datos demográficos, etiología, comorbilidades  BVS Salud</a:t>
            </a:r>
            <a:endParaRPr sz="800" dirty="0">
              <a:solidFill>
                <a:srgbClr val="666666"/>
              </a:solidFill>
              <a:latin typeface="Calibri"/>
              <a:ea typeface="Calibri"/>
              <a:cs typeface="Calibri"/>
              <a:sym typeface="Calibri"/>
            </a:endParaRPr>
          </a:p>
          <a:p>
            <a:pPr marL="0" lvl="0" indent="0" algn="ctr" rtl="0">
              <a:spcBef>
                <a:spcPts val="0"/>
              </a:spcBef>
              <a:spcAft>
                <a:spcPts val="0"/>
              </a:spcAft>
              <a:buNone/>
            </a:pPr>
            <a:r>
              <a:rPr lang="es-CO" sz="800" dirty="0">
                <a:solidFill>
                  <a:srgbClr val="666666"/>
                </a:solidFill>
                <a:latin typeface="Calibri"/>
                <a:ea typeface="Calibri"/>
                <a:cs typeface="Calibri"/>
                <a:sym typeface="Calibri"/>
              </a:rPr>
              <a:t>Revista Colombiana de Cardiología — reportes del sistema de información en salud (RIPS): prevalencia histórica 2,3 %, hospitalizaciones por falla  www.elsevier.com</a:t>
            </a:r>
            <a:endParaRPr sz="800" dirty="0">
              <a:solidFill>
                <a:srgbClr val="666666"/>
              </a:solidFill>
              <a:latin typeface="Calibri"/>
              <a:ea typeface="Calibri"/>
              <a:cs typeface="Calibri"/>
              <a:sym typeface="Calibri"/>
            </a:endParaRPr>
          </a:p>
          <a:p>
            <a:pPr marL="0" lvl="0" indent="0" algn="ctr" rtl="0">
              <a:spcBef>
                <a:spcPts val="0"/>
              </a:spcBef>
              <a:spcAft>
                <a:spcPts val="0"/>
              </a:spcAft>
              <a:buNone/>
            </a:pPr>
            <a:r>
              <a:rPr lang="es-CO" sz="800" dirty="0" err="1">
                <a:solidFill>
                  <a:srgbClr val="666666"/>
                </a:solidFill>
                <a:latin typeface="Calibri"/>
                <a:ea typeface="Calibri"/>
                <a:cs typeface="Calibri"/>
                <a:sym typeface="Calibri"/>
              </a:rPr>
              <a:t>ResearchGate</a:t>
            </a:r>
            <a:r>
              <a:rPr lang="es-CO" sz="800" dirty="0">
                <a:solidFill>
                  <a:srgbClr val="666666"/>
                </a:solidFill>
                <a:latin typeface="Calibri"/>
                <a:ea typeface="Calibri"/>
                <a:cs typeface="Calibri"/>
                <a:sym typeface="Calibri"/>
              </a:rPr>
              <a:t>/Revistas locales — estimaciones de prevalencia e impacto en salud pública</a:t>
            </a:r>
            <a:endParaRPr sz="800" dirty="0">
              <a:solidFill>
                <a:srgbClr val="666666"/>
              </a:solidFill>
              <a:latin typeface="Calibri"/>
              <a:ea typeface="Calibri"/>
              <a:cs typeface="Calibri"/>
              <a:sym typeface="Calibri"/>
            </a:endParaRPr>
          </a:p>
        </p:txBody>
      </p:sp>
      <p:sp>
        <p:nvSpPr>
          <p:cNvPr id="5" name="Freeform 3">
            <a:extLst>
              <a:ext uri="{FF2B5EF4-FFF2-40B4-BE49-F238E27FC236}">
                <a16:creationId xmlns:a16="http://schemas.microsoft.com/office/drawing/2014/main" id="{A13E9BB1-4FFA-4F02-A4EA-2477164F869D}"/>
              </a:ext>
            </a:extLst>
          </p:cNvPr>
          <p:cNvSpPr/>
          <p:nvPr/>
        </p:nvSpPr>
        <p:spPr>
          <a:xfrm rot="3916698">
            <a:off x="-3256169" y="2663123"/>
            <a:ext cx="7354041" cy="3069692"/>
          </a:xfrm>
          <a:custGeom>
            <a:avLst/>
            <a:gdLst/>
            <a:ahLst/>
            <a:cxnLst/>
            <a:rect l="l" t="t" r="r" b="b"/>
            <a:pathLst>
              <a:path w="10704974" h="4255227">
                <a:moveTo>
                  <a:pt x="0" y="0"/>
                </a:moveTo>
                <a:lnTo>
                  <a:pt x="10704974" y="0"/>
                </a:lnTo>
                <a:lnTo>
                  <a:pt x="10704974" y="4255228"/>
                </a:lnTo>
                <a:lnTo>
                  <a:pt x="0" y="4255228"/>
                </a:lnTo>
                <a:lnTo>
                  <a:pt x="0" y="0"/>
                </a:lnTo>
                <a:close/>
              </a:path>
            </a:pathLst>
          </a:custGeom>
          <a:blipFill>
            <a:blip r:embed="rId3"/>
            <a:stretch>
              <a:fillRect/>
            </a:stretch>
          </a:blipFill>
        </p:spPr>
      </p:sp>
      <p:sp>
        <p:nvSpPr>
          <p:cNvPr id="4" name="CuadroTexto 3">
            <a:extLst>
              <a:ext uri="{FF2B5EF4-FFF2-40B4-BE49-F238E27FC236}">
                <a16:creationId xmlns:a16="http://schemas.microsoft.com/office/drawing/2014/main" id="{6E1BEBB0-F5D2-4FA7-91F6-2049FCFC777C}"/>
              </a:ext>
            </a:extLst>
          </p:cNvPr>
          <p:cNvSpPr txBox="1"/>
          <p:nvPr/>
        </p:nvSpPr>
        <p:spPr>
          <a:xfrm>
            <a:off x="2877230" y="556161"/>
            <a:ext cx="6147028" cy="1938992"/>
          </a:xfrm>
          <a:prstGeom prst="rect">
            <a:avLst/>
          </a:prstGeom>
          <a:noFill/>
        </p:spPr>
        <p:txBody>
          <a:bodyPr wrap="square">
            <a:spAutoFit/>
          </a:bodyPr>
          <a:lstStyle/>
          <a:p>
            <a:pPr algn="ctr" rtl="0">
              <a:spcBef>
                <a:spcPts val="0"/>
              </a:spcBef>
              <a:spcAft>
                <a:spcPts val="0"/>
              </a:spcAft>
            </a:pPr>
            <a:r>
              <a:rPr lang="es-CO" sz="4000" b="1" dirty="0">
                <a:solidFill>
                  <a:schemeClr val="accent6">
                    <a:lumMod val="50000"/>
                  </a:schemeClr>
                </a:solidFill>
              </a:rPr>
              <a:t>Epidemiología</a:t>
            </a:r>
            <a:endParaRPr lang="es-CO" sz="4000" b="1" dirty="0">
              <a:solidFill>
                <a:schemeClr val="accent6">
                  <a:lumMod val="50000"/>
                </a:schemeClr>
              </a:solidFill>
              <a:effectLst/>
            </a:endParaRPr>
          </a:p>
          <a:p>
            <a:br>
              <a:rPr lang="es-CO" sz="4000" b="1" dirty="0">
                <a:solidFill>
                  <a:schemeClr val="accent6">
                    <a:lumMod val="50000"/>
                  </a:schemeClr>
                </a:solidFill>
              </a:rPr>
            </a:br>
            <a:endParaRPr lang="es-CO" sz="4000" b="1" dirty="0">
              <a:solidFill>
                <a:schemeClr val="accent6">
                  <a:lumMod val="50000"/>
                </a:schemeClr>
              </a:solidFill>
            </a:endParaRPr>
          </a:p>
        </p:txBody>
      </p:sp>
      <p:sp>
        <p:nvSpPr>
          <p:cNvPr id="6" name="CuadroTexto 5">
            <a:extLst>
              <a:ext uri="{FF2B5EF4-FFF2-40B4-BE49-F238E27FC236}">
                <a16:creationId xmlns:a16="http://schemas.microsoft.com/office/drawing/2014/main" id="{9C640333-6E96-48A7-878B-CFF5D89D45E3}"/>
              </a:ext>
            </a:extLst>
          </p:cNvPr>
          <p:cNvSpPr txBox="1"/>
          <p:nvPr/>
        </p:nvSpPr>
        <p:spPr>
          <a:xfrm>
            <a:off x="1588293" y="1419310"/>
            <a:ext cx="10006693" cy="2800767"/>
          </a:xfrm>
          <a:prstGeom prst="rect">
            <a:avLst/>
          </a:prstGeom>
          <a:noFill/>
        </p:spPr>
        <p:txBody>
          <a:bodyPr wrap="square">
            <a:spAutoFit/>
          </a:bodyPr>
          <a:lstStyle/>
          <a:p>
            <a:pPr marL="285750" lvl="0" indent="-285750" algn="just" rtl="0">
              <a:spcBef>
                <a:spcPts val="0"/>
              </a:spcBef>
              <a:spcAft>
                <a:spcPts val="0"/>
              </a:spcAft>
              <a:buFont typeface="Arial" panose="020B0604020202020204" pitchFamily="34" charset="0"/>
              <a:buChar char="•"/>
            </a:pPr>
            <a:r>
              <a:rPr lang="es-MX" sz="1800" dirty="0">
                <a:solidFill>
                  <a:schemeClr val="dk1"/>
                </a:solidFill>
                <a:latin typeface="Calibri"/>
                <a:ea typeface="Calibri"/>
                <a:cs typeface="Calibri"/>
                <a:sym typeface="Calibri"/>
              </a:rPr>
              <a:t>Prevalencia estimada de ICC en Colombia: 2,3 % de la población general, lo que equivale a cerca de 1.097.000 personas </a:t>
            </a:r>
          </a:p>
          <a:p>
            <a:pPr marL="285750" lvl="0" indent="-285750" algn="just" rtl="0">
              <a:spcBef>
                <a:spcPts val="0"/>
              </a:spcBef>
              <a:spcAft>
                <a:spcPts val="0"/>
              </a:spcAft>
              <a:buFont typeface="Arial" panose="020B0604020202020204" pitchFamily="34" charset="0"/>
              <a:buChar char="•"/>
            </a:pPr>
            <a:endParaRPr lang="es-MX" sz="1800" dirty="0">
              <a:solidFill>
                <a:schemeClr val="dk1"/>
              </a:solidFill>
              <a:latin typeface="Calibri"/>
              <a:ea typeface="Calibri"/>
              <a:cs typeface="Calibri"/>
              <a:sym typeface="Calibri"/>
            </a:endParaRPr>
          </a:p>
          <a:p>
            <a:pPr marL="285750" lvl="0" indent="-285750" algn="just" rtl="0">
              <a:spcBef>
                <a:spcPts val="0"/>
              </a:spcBef>
              <a:spcAft>
                <a:spcPts val="0"/>
              </a:spcAft>
              <a:buFont typeface="Arial" panose="020B0604020202020204" pitchFamily="34" charset="0"/>
              <a:buChar char="•"/>
            </a:pPr>
            <a:r>
              <a:rPr lang="es-MX" sz="1800" dirty="0">
                <a:solidFill>
                  <a:schemeClr val="dk1"/>
                </a:solidFill>
                <a:latin typeface="Calibri"/>
                <a:ea typeface="Calibri"/>
                <a:cs typeface="Calibri"/>
                <a:sym typeface="Calibri"/>
              </a:rPr>
              <a:t>Incidencia:</a:t>
            </a:r>
          </a:p>
          <a:p>
            <a:pPr lvl="0" algn="just" rtl="0">
              <a:spcBef>
                <a:spcPts val="0"/>
              </a:spcBef>
              <a:spcAft>
                <a:spcPts val="0"/>
              </a:spcAft>
            </a:pPr>
            <a:r>
              <a:rPr lang="es-MX" sz="1800" dirty="0">
                <a:solidFill>
                  <a:schemeClr val="dk1"/>
                </a:solidFill>
                <a:latin typeface="Calibri"/>
                <a:ea typeface="Calibri"/>
                <a:cs typeface="Calibri"/>
                <a:sym typeface="Calibri"/>
              </a:rPr>
              <a:t>2 casos por cada 1.000 personas/año en edades de 35 a 64 años.</a:t>
            </a:r>
          </a:p>
          <a:p>
            <a:pPr lvl="0" algn="just" rtl="0">
              <a:spcBef>
                <a:spcPts val="0"/>
              </a:spcBef>
              <a:spcAft>
                <a:spcPts val="0"/>
              </a:spcAft>
            </a:pPr>
            <a:r>
              <a:rPr lang="es-MX" sz="1800" dirty="0">
                <a:solidFill>
                  <a:schemeClr val="dk1"/>
                </a:solidFill>
                <a:latin typeface="Calibri"/>
                <a:ea typeface="Calibri"/>
                <a:cs typeface="Calibri"/>
                <a:sym typeface="Calibri"/>
              </a:rPr>
              <a:t>12 casos por cada 1.000 personas/año en mayores de 65 años</a:t>
            </a:r>
          </a:p>
          <a:p>
            <a:pPr lvl="0" algn="just" rtl="0">
              <a:spcBef>
                <a:spcPts val="0"/>
              </a:spcBef>
              <a:spcAft>
                <a:spcPts val="0"/>
              </a:spcAft>
            </a:pPr>
            <a:endParaRPr lang="es-MX" dirty="0">
              <a:solidFill>
                <a:schemeClr val="dk1"/>
              </a:solidFill>
              <a:latin typeface="Calibri"/>
              <a:ea typeface="Calibri"/>
              <a:cs typeface="Calibri"/>
              <a:sym typeface="Calibri"/>
            </a:endParaRPr>
          </a:p>
          <a:p>
            <a:pPr marL="285750" indent="-285750" algn="just">
              <a:buFont typeface="Arial" panose="020B0604020202020204" pitchFamily="34" charset="0"/>
              <a:buChar char="•"/>
            </a:pPr>
            <a:r>
              <a:rPr lang="es-MX" dirty="0">
                <a:solidFill>
                  <a:schemeClr val="dk1"/>
                </a:solidFill>
                <a:latin typeface="Calibri"/>
                <a:ea typeface="Calibri"/>
                <a:cs typeface="Calibri"/>
                <a:sym typeface="Calibri"/>
              </a:rPr>
              <a:t>Según el sistema RIPS, la insuficiencia cardíaca representa entre el 6 % de todas las hospitalizaciones en adultos y tiene una tasa de mortalidad intrahospitalaria aproximada del 2 %</a:t>
            </a:r>
          </a:p>
          <a:p>
            <a:pPr lvl="0" algn="just" rtl="0">
              <a:spcBef>
                <a:spcPts val="0"/>
              </a:spcBef>
              <a:spcAft>
                <a:spcPts val="0"/>
              </a:spcAft>
            </a:pPr>
            <a:endParaRPr lang="es-MX" sz="1400" dirty="0"/>
          </a:p>
        </p:txBody>
      </p:sp>
      <p:sp>
        <p:nvSpPr>
          <p:cNvPr id="8" name="CuadroTexto 7">
            <a:extLst>
              <a:ext uri="{FF2B5EF4-FFF2-40B4-BE49-F238E27FC236}">
                <a16:creationId xmlns:a16="http://schemas.microsoft.com/office/drawing/2014/main" id="{C71E78A9-FDFF-4509-8ECE-40E5BB7AE809}"/>
              </a:ext>
            </a:extLst>
          </p:cNvPr>
          <p:cNvSpPr txBox="1"/>
          <p:nvPr/>
        </p:nvSpPr>
        <p:spPr>
          <a:xfrm>
            <a:off x="1588293" y="4184826"/>
            <a:ext cx="8818449" cy="2031325"/>
          </a:xfrm>
          <a:prstGeom prst="rect">
            <a:avLst/>
          </a:prstGeom>
          <a:noFill/>
        </p:spPr>
        <p:txBody>
          <a:bodyPr wrap="square">
            <a:spAutoFit/>
          </a:bodyPr>
          <a:lstStyle/>
          <a:p>
            <a:pPr marL="285750" lvl="0" indent="-285750" algn="l" rtl="0">
              <a:spcBef>
                <a:spcPts val="0"/>
              </a:spcBef>
              <a:spcAft>
                <a:spcPts val="0"/>
              </a:spcAft>
              <a:buFont typeface="Arial" panose="020B0604020202020204" pitchFamily="34" charset="0"/>
              <a:buChar char="•"/>
            </a:pPr>
            <a:r>
              <a:rPr lang="es-MX" sz="1800" dirty="0">
                <a:solidFill>
                  <a:schemeClr val="dk1"/>
                </a:solidFill>
                <a:latin typeface="Calibri"/>
                <a:ea typeface="Calibri"/>
                <a:cs typeface="Calibri"/>
                <a:sym typeface="Calibri"/>
              </a:rPr>
              <a:t>Número de pacientes registrados: 2.528 casos.</a:t>
            </a:r>
          </a:p>
          <a:p>
            <a:pPr marL="285750" lvl="0" indent="-285750" algn="l" rtl="0">
              <a:spcBef>
                <a:spcPts val="0"/>
              </a:spcBef>
              <a:spcAft>
                <a:spcPts val="0"/>
              </a:spcAft>
              <a:buFont typeface="Arial" panose="020B0604020202020204" pitchFamily="34" charset="0"/>
              <a:buChar char="•"/>
            </a:pPr>
            <a:r>
              <a:rPr lang="es-MX" sz="1800" dirty="0">
                <a:solidFill>
                  <a:schemeClr val="dk1"/>
                </a:solidFill>
                <a:latin typeface="Calibri"/>
                <a:ea typeface="Calibri"/>
                <a:cs typeface="Calibri"/>
                <a:sym typeface="Calibri"/>
              </a:rPr>
              <a:t>Media de edad: aproximadamente 69 años.</a:t>
            </a:r>
          </a:p>
          <a:p>
            <a:pPr marL="285750" lvl="0" indent="-285750" algn="l" rtl="0">
              <a:spcBef>
                <a:spcPts val="0"/>
              </a:spcBef>
              <a:spcAft>
                <a:spcPts val="0"/>
              </a:spcAft>
              <a:buFont typeface="Arial" panose="020B0604020202020204" pitchFamily="34" charset="0"/>
              <a:buChar char="•"/>
            </a:pPr>
            <a:r>
              <a:rPr lang="es-MX" sz="1800" dirty="0">
                <a:solidFill>
                  <a:schemeClr val="dk1"/>
                </a:solidFill>
                <a:latin typeface="Calibri"/>
                <a:ea typeface="Calibri"/>
                <a:cs typeface="Calibri"/>
                <a:sym typeface="Calibri"/>
              </a:rPr>
              <a:t>Sexo: 57,6 % hombres, 42,4 % mujeres.</a:t>
            </a:r>
          </a:p>
          <a:p>
            <a:pPr marL="285750" lvl="0" indent="-285750" algn="l" rtl="0">
              <a:spcBef>
                <a:spcPts val="0"/>
              </a:spcBef>
              <a:spcAft>
                <a:spcPts val="0"/>
              </a:spcAft>
              <a:buFont typeface="Arial" panose="020B0604020202020204" pitchFamily="34" charset="0"/>
              <a:buChar char="•"/>
            </a:pPr>
            <a:endParaRPr lang="es-MX" sz="1800" dirty="0">
              <a:solidFill>
                <a:schemeClr val="dk1"/>
              </a:solidFill>
              <a:latin typeface="Calibri"/>
              <a:ea typeface="Calibri"/>
              <a:cs typeface="Calibri"/>
              <a:sym typeface="Calibri"/>
            </a:endParaRPr>
          </a:p>
          <a:p>
            <a:pPr marL="285750" lvl="0" indent="-285750" algn="l" rtl="0">
              <a:spcBef>
                <a:spcPts val="0"/>
              </a:spcBef>
              <a:spcAft>
                <a:spcPts val="0"/>
              </a:spcAft>
              <a:buFont typeface="Arial" panose="020B0604020202020204" pitchFamily="34" charset="0"/>
              <a:buChar char="•"/>
            </a:pPr>
            <a:r>
              <a:rPr lang="es-MX" sz="1800" dirty="0">
                <a:solidFill>
                  <a:schemeClr val="dk1"/>
                </a:solidFill>
                <a:latin typeface="Calibri"/>
                <a:ea typeface="Calibri"/>
                <a:cs typeface="Calibri"/>
                <a:sym typeface="Calibri"/>
              </a:rPr>
              <a:t>Comorbilidades más frecuentes: hipertensión arterial (72 %).</a:t>
            </a:r>
          </a:p>
          <a:p>
            <a:pPr marL="285750" lvl="0" indent="-285750" algn="l" rtl="0">
              <a:spcBef>
                <a:spcPts val="0"/>
              </a:spcBef>
              <a:spcAft>
                <a:spcPts val="0"/>
              </a:spcAft>
              <a:buFont typeface="Arial" panose="020B0604020202020204" pitchFamily="34" charset="0"/>
              <a:buChar char="•"/>
            </a:pPr>
            <a:endParaRPr lang="es-MX" sz="1800" dirty="0">
              <a:solidFill>
                <a:schemeClr val="dk1"/>
              </a:solidFill>
              <a:latin typeface="Calibri"/>
              <a:ea typeface="Calibri"/>
              <a:cs typeface="Calibri"/>
              <a:sym typeface="Calibri"/>
            </a:endParaRPr>
          </a:p>
          <a:p>
            <a:pPr marL="285750" lvl="0" indent="-285750" algn="l" rtl="0">
              <a:spcBef>
                <a:spcPts val="0"/>
              </a:spcBef>
              <a:spcAft>
                <a:spcPts val="0"/>
              </a:spcAft>
              <a:buFont typeface="Arial" panose="020B0604020202020204" pitchFamily="34" charset="0"/>
              <a:buChar char="•"/>
            </a:pPr>
            <a:r>
              <a:rPr lang="es-MX" sz="1800" dirty="0">
                <a:solidFill>
                  <a:schemeClr val="dk1"/>
                </a:solidFill>
                <a:latin typeface="Calibri"/>
                <a:ea typeface="Calibri"/>
                <a:cs typeface="Calibri"/>
                <a:sym typeface="Calibri"/>
              </a:rPr>
              <a:t>Causas de descompensación: Tratamiento insuficiente: 19 %</a:t>
            </a:r>
            <a:endParaRPr lang="es-CO" dirty="0"/>
          </a:p>
        </p:txBody>
      </p:sp>
    </p:spTree>
    <p:extLst>
      <p:ext uri="{BB962C8B-B14F-4D97-AF65-F5344CB8AC3E}">
        <p14:creationId xmlns:p14="http://schemas.microsoft.com/office/powerpoint/2010/main" val="12716937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195638" y="3244334"/>
            <a:ext cx="6391274" cy="369332"/>
          </a:xfrm>
          <a:prstGeom prst="rect">
            <a:avLst/>
          </a:prstGeom>
          <a:noFill/>
        </p:spPr>
        <p:txBody>
          <a:bodyPr wrap="square">
            <a:spAutoFit/>
          </a:bodyPr>
          <a:lstStyle/>
          <a:p>
            <a:r>
              <a:rPr lang="es-CO" b="0" dirty="0">
                <a:effectLst/>
              </a:rPr>
              <a:t> </a:t>
            </a:r>
            <a:endParaRPr lang="es-CO" dirty="0"/>
          </a:p>
        </p:txBody>
      </p:sp>
      <p:pic>
        <p:nvPicPr>
          <p:cNvPr id="6" name="Google Shape;218;g36560ee51d0_0_88">
            <a:extLst>
              <a:ext uri="{FF2B5EF4-FFF2-40B4-BE49-F238E27FC236}">
                <a16:creationId xmlns:a16="http://schemas.microsoft.com/office/drawing/2014/main" id="{20714452-815A-433F-93B9-2AB51DD65386}"/>
              </a:ext>
            </a:extLst>
          </p:cNvPr>
          <p:cNvPicPr preferRelativeResize="0"/>
          <p:nvPr/>
        </p:nvPicPr>
        <p:blipFill rotWithShape="1">
          <a:blip r:embed="rId3">
            <a:alphaModFix/>
          </a:blip>
          <a:srcRect l="1186" t="10027" r="15432" b="2771"/>
          <a:stretch/>
        </p:blipFill>
        <p:spPr>
          <a:xfrm>
            <a:off x="3304495" y="0"/>
            <a:ext cx="6173559" cy="6858000"/>
          </a:xfrm>
          <a:prstGeom prst="rect">
            <a:avLst/>
          </a:prstGeom>
          <a:noFill/>
          <a:ln>
            <a:noFill/>
          </a:ln>
        </p:spPr>
      </p:pic>
      <p:sp>
        <p:nvSpPr>
          <p:cNvPr id="8" name="CuadroTexto 7">
            <a:extLst>
              <a:ext uri="{FF2B5EF4-FFF2-40B4-BE49-F238E27FC236}">
                <a16:creationId xmlns:a16="http://schemas.microsoft.com/office/drawing/2014/main" id="{651B7AB2-0545-4093-AC4C-D95D446096FC}"/>
              </a:ext>
            </a:extLst>
          </p:cNvPr>
          <p:cNvSpPr txBox="1"/>
          <p:nvPr/>
        </p:nvSpPr>
        <p:spPr>
          <a:xfrm>
            <a:off x="-1442356" y="2035629"/>
            <a:ext cx="5886450" cy="584775"/>
          </a:xfrm>
          <a:prstGeom prst="rect">
            <a:avLst/>
          </a:prstGeom>
          <a:noFill/>
        </p:spPr>
        <p:txBody>
          <a:bodyPr wrap="square" rtlCol="0">
            <a:spAutoFit/>
          </a:bodyPr>
          <a:lstStyle/>
          <a:p>
            <a:pPr algn="ctr"/>
            <a:r>
              <a:rPr lang="es-CO" sz="3200" b="1" dirty="0">
                <a:solidFill>
                  <a:schemeClr val="accent6">
                    <a:lumMod val="50000"/>
                  </a:schemeClr>
                </a:solidFill>
              </a:rPr>
              <a:t>Diagnóstico</a:t>
            </a:r>
          </a:p>
        </p:txBody>
      </p:sp>
      <p:sp>
        <p:nvSpPr>
          <p:cNvPr id="9" name="CuadroTexto 8">
            <a:extLst>
              <a:ext uri="{FF2B5EF4-FFF2-40B4-BE49-F238E27FC236}">
                <a16:creationId xmlns:a16="http://schemas.microsoft.com/office/drawing/2014/main" id="{5D941A03-0258-4A52-A06D-CBF85C40E2D6}"/>
              </a:ext>
            </a:extLst>
          </p:cNvPr>
          <p:cNvSpPr txBox="1"/>
          <p:nvPr/>
        </p:nvSpPr>
        <p:spPr>
          <a:xfrm>
            <a:off x="292131" y="2951946"/>
            <a:ext cx="2769137" cy="1323439"/>
          </a:xfrm>
          <a:prstGeom prst="rect">
            <a:avLst/>
          </a:prstGeom>
          <a:noFill/>
        </p:spPr>
        <p:txBody>
          <a:bodyPr wrap="square">
            <a:spAutoFit/>
          </a:bodyPr>
          <a:lstStyle/>
          <a:p>
            <a:pPr algn="ctr"/>
            <a:r>
              <a:rPr lang="en-US" sz="800" b="0" i="1" u="none" strike="noStrike" dirty="0">
                <a:solidFill>
                  <a:schemeClr val="bg2">
                    <a:lumMod val="25000"/>
                  </a:schemeClr>
                </a:solidFill>
                <a:effectLst/>
                <a:latin typeface="Arial" panose="020B0604020202020204" pitchFamily="34" charset="0"/>
              </a:rPr>
              <a:t>McDonagh, T. A., Metra, M., Adamo, M., Gardner, R. S., Baumbach, A., </a:t>
            </a:r>
            <a:r>
              <a:rPr lang="en-US" sz="800" b="0" i="1" u="none" strike="noStrike" dirty="0" err="1">
                <a:solidFill>
                  <a:schemeClr val="bg2">
                    <a:lumMod val="25000"/>
                  </a:schemeClr>
                </a:solidFill>
                <a:effectLst/>
                <a:latin typeface="Arial" panose="020B0604020202020204" pitchFamily="34" charset="0"/>
              </a:rPr>
              <a:t>Böhm</a:t>
            </a:r>
            <a:r>
              <a:rPr lang="en-US" sz="800" b="0" i="1" u="none" strike="noStrike" dirty="0">
                <a:solidFill>
                  <a:schemeClr val="bg2">
                    <a:lumMod val="25000"/>
                  </a:schemeClr>
                </a:solidFill>
                <a:effectLst/>
                <a:latin typeface="Arial" panose="020B0604020202020204" pitchFamily="34" charset="0"/>
              </a:rPr>
              <a:t>, M., … &amp; Coats, A. J. S. (2021). 2021 ESC Guidelines for the diagnosis and treatment of acute and chronic heart failure: Developed by the Task Force for the diagnosis and treatment of acute and chronic heart failure of the European Society of Cardiology (ESC) with the special contribution of the Heart Failure Association (HFA) of the ESC. European Heart Journal, 42(36), 3599–3726. https://doi.org/10.1093/eurheartj/ehab368</a:t>
            </a:r>
            <a:endParaRPr lang="es-CO" dirty="0">
              <a:solidFill>
                <a:schemeClr val="bg2">
                  <a:lumMod val="25000"/>
                </a:schemeClr>
              </a:solidFill>
            </a:endParaRPr>
          </a:p>
        </p:txBody>
      </p:sp>
    </p:spTree>
    <p:extLst>
      <p:ext uri="{BB962C8B-B14F-4D97-AF65-F5344CB8AC3E}">
        <p14:creationId xmlns:p14="http://schemas.microsoft.com/office/powerpoint/2010/main" val="1014531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43B018DE-D2E8-4287-9FDA-49B5DBDA30C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pic>
        <p:nvPicPr>
          <p:cNvPr id="10242" name="Picture 2" descr="Tratamiento farmacológico de la insuficiencia cardíaca crónica -  ScienceDirect">
            <a:extLst>
              <a:ext uri="{FF2B5EF4-FFF2-40B4-BE49-F238E27FC236}">
                <a16:creationId xmlns:a16="http://schemas.microsoft.com/office/drawing/2014/main" id="{D1E13D45-F37E-407C-9584-CCAEDB75A8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7787" y="1128092"/>
            <a:ext cx="9089725" cy="4601816"/>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D1E0704-3707-4AC0-B8AA-3241DB382484}"/>
              </a:ext>
            </a:extLst>
          </p:cNvPr>
          <p:cNvSpPr txBox="1"/>
          <p:nvPr/>
        </p:nvSpPr>
        <p:spPr>
          <a:xfrm>
            <a:off x="2803072" y="67875"/>
            <a:ext cx="5886450" cy="584775"/>
          </a:xfrm>
          <a:prstGeom prst="rect">
            <a:avLst/>
          </a:prstGeom>
          <a:noFill/>
        </p:spPr>
        <p:txBody>
          <a:bodyPr wrap="square" rtlCol="0">
            <a:spAutoFit/>
          </a:bodyPr>
          <a:lstStyle/>
          <a:p>
            <a:pPr algn="ctr"/>
            <a:r>
              <a:rPr lang="es-CO" sz="3200" b="1" dirty="0">
                <a:solidFill>
                  <a:schemeClr val="accent6">
                    <a:lumMod val="50000"/>
                  </a:schemeClr>
                </a:solidFill>
              </a:rPr>
              <a:t>Tratamiento</a:t>
            </a:r>
          </a:p>
        </p:txBody>
      </p:sp>
    </p:spTree>
    <p:extLst>
      <p:ext uri="{BB962C8B-B14F-4D97-AF65-F5344CB8AC3E}">
        <p14:creationId xmlns:p14="http://schemas.microsoft.com/office/powerpoint/2010/main" val="37414041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pic>
        <p:nvPicPr>
          <p:cNvPr id="2" name="Google Shape;150;g36555848ad4_0_72">
            <a:extLst>
              <a:ext uri="{FF2B5EF4-FFF2-40B4-BE49-F238E27FC236}">
                <a16:creationId xmlns:a16="http://schemas.microsoft.com/office/drawing/2014/main" id="{52246464-AECF-4B8A-AC7A-BC097F97C081}"/>
              </a:ext>
            </a:extLst>
          </p:cNvPr>
          <p:cNvPicPr preferRelativeResize="0"/>
          <p:nvPr/>
        </p:nvPicPr>
        <p:blipFill rotWithShape="1">
          <a:blip r:embed="rId3">
            <a:alphaModFix/>
          </a:blip>
          <a:srcRect l="1045" t="2508" r="11096" b="8838"/>
          <a:stretch/>
        </p:blipFill>
        <p:spPr>
          <a:xfrm>
            <a:off x="957073" y="1077130"/>
            <a:ext cx="9146151" cy="5085863"/>
          </a:xfrm>
          <a:prstGeom prst="rect">
            <a:avLst/>
          </a:prstGeom>
          <a:noFill/>
          <a:ln>
            <a:noFill/>
          </a:ln>
        </p:spPr>
      </p:pic>
      <p:sp>
        <p:nvSpPr>
          <p:cNvPr id="3" name="CuadroTexto 2">
            <a:extLst>
              <a:ext uri="{FF2B5EF4-FFF2-40B4-BE49-F238E27FC236}">
                <a16:creationId xmlns:a16="http://schemas.microsoft.com/office/drawing/2014/main" id="{3C90DD4E-A9ED-42E2-8637-9B9C9C9C1106}"/>
              </a:ext>
            </a:extLst>
          </p:cNvPr>
          <p:cNvSpPr txBox="1"/>
          <p:nvPr/>
        </p:nvSpPr>
        <p:spPr>
          <a:xfrm>
            <a:off x="9502588" y="89647"/>
            <a:ext cx="3281082" cy="369332"/>
          </a:xfrm>
          <a:prstGeom prst="rect">
            <a:avLst/>
          </a:prstGeom>
          <a:noFill/>
        </p:spPr>
        <p:txBody>
          <a:bodyPr wrap="square" rtlCol="0">
            <a:spAutoFit/>
          </a:bodyPr>
          <a:lstStyle/>
          <a:p>
            <a:r>
              <a:rPr lang="es-CO" dirty="0">
                <a:solidFill>
                  <a:srgbClr val="002060"/>
                </a:solidFill>
              </a:rPr>
              <a:t>Recordatorio Conceptos</a:t>
            </a:r>
          </a:p>
        </p:txBody>
      </p:sp>
      <p:sp>
        <p:nvSpPr>
          <p:cNvPr id="4" name="CuadroTexto 3">
            <a:extLst>
              <a:ext uri="{FF2B5EF4-FFF2-40B4-BE49-F238E27FC236}">
                <a16:creationId xmlns:a16="http://schemas.microsoft.com/office/drawing/2014/main" id="{E8EC7C59-6C97-4AB2-A18C-E0C20A4F401E}"/>
              </a:ext>
            </a:extLst>
          </p:cNvPr>
          <p:cNvSpPr txBox="1"/>
          <p:nvPr/>
        </p:nvSpPr>
        <p:spPr>
          <a:xfrm>
            <a:off x="1102749" y="553910"/>
            <a:ext cx="10372725" cy="523220"/>
          </a:xfrm>
          <a:prstGeom prst="rect">
            <a:avLst/>
          </a:prstGeom>
          <a:noFill/>
        </p:spPr>
        <p:txBody>
          <a:bodyPr wrap="square" rtlCol="0">
            <a:spAutoFit/>
          </a:bodyPr>
          <a:lstStyle/>
          <a:p>
            <a:pPr algn="ctr"/>
            <a:r>
              <a:rPr lang="es-CO" sz="2800" b="1" dirty="0">
                <a:solidFill>
                  <a:schemeClr val="accent6">
                    <a:lumMod val="50000"/>
                  </a:schemeClr>
                </a:solidFill>
              </a:rPr>
              <a:t>Medicamentos: ARA II/IECA/A</a:t>
            </a:r>
            <a:r>
              <a:rPr lang="es-CO" sz="2800" b="1" dirty="0">
                <a:solidFill>
                  <a:schemeClr val="accent6">
                    <a:lumMod val="50000"/>
                  </a:schemeClr>
                </a:solidFill>
                <a:latin typeface="Calibri"/>
                <a:ea typeface="Calibri"/>
                <a:cs typeface="Calibri"/>
                <a:sym typeface="Calibri"/>
              </a:rPr>
              <a:t>ntagonistas de Aldosterona</a:t>
            </a:r>
            <a:endParaRPr lang="es-CO" sz="2800" b="1" dirty="0">
              <a:solidFill>
                <a:schemeClr val="accent6">
                  <a:lumMod val="50000"/>
                </a:schemeClr>
              </a:solidFill>
            </a:endParaRPr>
          </a:p>
        </p:txBody>
      </p:sp>
      <p:sp>
        <p:nvSpPr>
          <p:cNvPr id="6" name="CuadroTexto 5">
            <a:extLst>
              <a:ext uri="{FF2B5EF4-FFF2-40B4-BE49-F238E27FC236}">
                <a16:creationId xmlns:a16="http://schemas.microsoft.com/office/drawing/2014/main" id="{297291EB-C7E5-4479-AA01-75B863D4B8C7}"/>
              </a:ext>
            </a:extLst>
          </p:cNvPr>
          <p:cNvSpPr txBox="1"/>
          <p:nvPr/>
        </p:nvSpPr>
        <p:spPr>
          <a:xfrm>
            <a:off x="246899" y="6429799"/>
            <a:ext cx="10842442" cy="338554"/>
          </a:xfrm>
          <a:prstGeom prst="rect">
            <a:avLst/>
          </a:prstGeom>
          <a:noFill/>
        </p:spPr>
        <p:txBody>
          <a:bodyPr wrap="square">
            <a:spAutoFit/>
          </a:bodyPr>
          <a:lstStyle/>
          <a:p>
            <a:r>
              <a:rPr lang="es-CO" sz="800" b="0" i="1" u="none" strike="noStrike" dirty="0">
                <a:solidFill>
                  <a:schemeClr val="bg2">
                    <a:lumMod val="25000"/>
                  </a:schemeClr>
                </a:solidFill>
                <a:effectLst/>
              </a:rPr>
              <a:t>Basado en “</a:t>
            </a:r>
            <a:r>
              <a:rPr lang="es-CO" sz="800" b="0" i="1" u="none" strike="noStrike" dirty="0" err="1">
                <a:solidFill>
                  <a:schemeClr val="bg2">
                    <a:lumMod val="25000"/>
                  </a:schemeClr>
                </a:solidFill>
                <a:effectLst/>
              </a:rPr>
              <a:t>The</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renin-angiotensin-aldosterone</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system</a:t>
            </a:r>
            <a:r>
              <a:rPr lang="es-CO" sz="800" b="0" i="1" u="none" strike="noStrike" dirty="0">
                <a:solidFill>
                  <a:schemeClr val="bg2">
                    <a:lumMod val="25000"/>
                  </a:schemeClr>
                </a:solidFill>
                <a:effectLst/>
              </a:rPr>
              <a:t>. DRI, </a:t>
            </a:r>
            <a:r>
              <a:rPr lang="es-CO" sz="800" b="0" i="1" u="none" strike="noStrike" dirty="0" err="1">
                <a:solidFill>
                  <a:schemeClr val="bg2">
                    <a:lumMod val="25000"/>
                  </a:schemeClr>
                </a:solidFill>
                <a:effectLst/>
              </a:rPr>
              <a:t>direct</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renin</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inhibitor</a:t>
            </a:r>
            <a:r>
              <a:rPr lang="es-CO" sz="800" b="0" i="1" u="none" strike="noStrike" dirty="0">
                <a:solidFill>
                  <a:schemeClr val="bg2">
                    <a:lumMod val="25000"/>
                  </a:schemeClr>
                </a:solidFill>
                <a:effectLst/>
              </a:rPr>
              <a:t>; ACE, </a:t>
            </a:r>
            <a:r>
              <a:rPr lang="es-CO" sz="800" b="0" i="1" u="none" strike="noStrike" dirty="0" err="1">
                <a:solidFill>
                  <a:schemeClr val="bg2">
                    <a:lumMod val="25000"/>
                  </a:schemeClr>
                </a:solidFill>
                <a:effectLst/>
              </a:rPr>
              <a:t>angiotensin-converting</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enzyme</a:t>
            </a:r>
            <a:r>
              <a:rPr lang="es-CO" sz="800" b="0" i="1" u="none" strike="noStrike" dirty="0">
                <a:solidFill>
                  <a:schemeClr val="bg2">
                    <a:lumMod val="25000"/>
                  </a:schemeClr>
                </a:solidFill>
                <a:effectLst/>
              </a:rPr>
              <a:t>; ACEI, </a:t>
            </a:r>
            <a:r>
              <a:rPr lang="es-CO" sz="800" b="0" i="1" u="none" strike="noStrike" dirty="0" err="1">
                <a:solidFill>
                  <a:schemeClr val="bg2">
                    <a:lumMod val="25000"/>
                  </a:schemeClr>
                </a:solidFill>
                <a:effectLst/>
              </a:rPr>
              <a:t>angiotensin-converting</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enzyme</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inhibitor</a:t>
            </a:r>
            <a:r>
              <a:rPr lang="es-CO" sz="800" b="0" i="1" u="none" strike="noStrike" dirty="0">
                <a:solidFill>
                  <a:schemeClr val="bg2">
                    <a:lumMod val="25000"/>
                  </a:schemeClr>
                </a:solidFill>
                <a:effectLst/>
              </a:rPr>
              <a:t>; ARB, </a:t>
            </a:r>
            <a:r>
              <a:rPr lang="es-CO" sz="800" b="0" i="1" u="none" strike="noStrike" dirty="0" err="1">
                <a:solidFill>
                  <a:schemeClr val="bg2">
                    <a:lumMod val="25000"/>
                  </a:schemeClr>
                </a:solidFill>
                <a:effectLst/>
              </a:rPr>
              <a:t>angiotensin</a:t>
            </a:r>
            <a:r>
              <a:rPr lang="es-CO" sz="800" b="0" i="1" u="none" strike="noStrike" dirty="0">
                <a:solidFill>
                  <a:schemeClr val="bg2">
                    <a:lumMod val="25000"/>
                  </a:schemeClr>
                </a:solidFill>
                <a:effectLst/>
              </a:rPr>
              <a:t> receptor </a:t>
            </a:r>
            <a:r>
              <a:rPr lang="es-CO" sz="800" b="0" i="1" u="none" strike="noStrike" dirty="0" err="1">
                <a:solidFill>
                  <a:schemeClr val="bg2">
                    <a:lumMod val="25000"/>
                  </a:schemeClr>
                </a:solidFill>
                <a:effectLst/>
              </a:rPr>
              <a:t>blocker</a:t>
            </a:r>
            <a:r>
              <a:rPr lang="es-CO" sz="800" b="0" i="1" u="none" strike="noStrike" dirty="0">
                <a:solidFill>
                  <a:schemeClr val="bg2">
                    <a:lumMod val="25000"/>
                  </a:schemeClr>
                </a:solidFill>
                <a:effectLst/>
              </a:rPr>
              <a:t>” (diagrama de </a:t>
            </a:r>
            <a:r>
              <a:rPr lang="es-CO" sz="800" b="0" i="1" u="none" strike="noStrike" dirty="0" err="1">
                <a:solidFill>
                  <a:schemeClr val="bg2">
                    <a:lumMod val="25000"/>
                  </a:schemeClr>
                </a:solidFill>
                <a:effectLst/>
              </a:rPr>
              <a:t>Mende</a:t>
            </a:r>
            <a:r>
              <a:rPr lang="es-CO" sz="800" b="0" i="1" u="none" strike="noStrike" dirty="0">
                <a:solidFill>
                  <a:schemeClr val="bg2">
                    <a:lumMod val="25000"/>
                  </a:schemeClr>
                </a:solidFill>
                <a:effectLst/>
              </a:rPr>
              <a:t>, 2010)</a:t>
            </a:r>
            <a:r>
              <a:rPr lang="es-CO" sz="800" b="0" i="0" u="none" strike="noStrike" dirty="0">
                <a:solidFill>
                  <a:schemeClr val="bg2">
                    <a:lumMod val="25000"/>
                  </a:schemeClr>
                </a:solidFill>
                <a:effectLst/>
              </a:rPr>
              <a:t>. Tomado (o adaptado) de </a:t>
            </a:r>
            <a:r>
              <a:rPr lang="es-CO" sz="800" b="0" i="0" u="none" strike="noStrike" dirty="0" err="1">
                <a:solidFill>
                  <a:schemeClr val="bg2">
                    <a:lumMod val="25000"/>
                  </a:schemeClr>
                </a:solidFill>
                <a:effectLst/>
              </a:rPr>
              <a:t>Mende</a:t>
            </a:r>
            <a:r>
              <a:rPr lang="es-CO" sz="800" b="0" i="0" u="none" strike="noStrike" dirty="0">
                <a:solidFill>
                  <a:schemeClr val="bg2">
                    <a:lumMod val="25000"/>
                  </a:schemeClr>
                </a:solidFill>
                <a:effectLst/>
              </a:rPr>
              <a:t>, C. W. (2010). </a:t>
            </a:r>
            <a:r>
              <a:rPr lang="es-CO" sz="800" b="0" i="1" u="none" strike="noStrike" dirty="0" err="1">
                <a:solidFill>
                  <a:schemeClr val="bg2">
                    <a:lumMod val="25000"/>
                  </a:schemeClr>
                </a:solidFill>
                <a:effectLst/>
              </a:rPr>
              <a:t>Application</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of</a:t>
            </a:r>
            <a:r>
              <a:rPr lang="es-CO" sz="800" b="0" i="1" u="none" strike="noStrike" dirty="0">
                <a:solidFill>
                  <a:schemeClr val="bg2">
                    <a:lumMod val="25000"/>
                  </a:schemeClr>
                </a:solidFill>
                <a:effectLst/>
              </a:rPr>
              <a:t> Direct Renin </a:t>
            </a:r>
            <a:r>
              <a:rPr lang="es-CO" sz="800" b="0" i="1" u="none" strike="noStrike" dirty="0" err="1">
                <a:solidFill>
                  <a:schemeClr val="bg2">
                    <a:lumMod val="25000"/>
                  </a:schemeClr>
                </a:solidFill>
                <a:effectLst/>
              </a:rPr>
              <a:t>Inhibition</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to</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Chronic</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Kidney</a:t>
            </a:r>
            <a:r>
              <a:rPr lang="es-CO" sz="800" b="0" i="1" u="none" strike="noStrike" dirty="0">
                <a:solidFill>
                  <a:schemeClr val="bg2">
                    <a:lumMod val="25000"/>
                  </a:schemeClr>
                </a:solidFill>
                <a:effectLst/>
              </a:rPr>
              <a:t> </a:t>
            </a:r>
            <a:r>
              <a:rPr lang="es-CO" sz="800" b="0" i="1" u="none" strike="noStrike" dirty="0" err="1">
                <a:solidFill>
                  <a:schemeClr val="bg2">
                    <a:lumMod val="25000"/>
                  </a:schemeClr>
                </a:solidFill>
                <a:effectLst/>
              </a:rPr>
              <a:t>Disease</a:t>
            </a:r>
            <a:r>
              <a:rPr lang="es-CO" sz="800" b="0" i="0" u="none" strike="noStrike" dirty="0">
                <a:solidFill>
                  <a:schemeClr val="bg2">
                    <a:lumMod val="25000"/>
                  </a:schemeClr>
                </a:solidFill>
                <a:effectLst/>
              </a:rPr>
              <a:t> [Figura]. (Licencia Creative </a:t>
            </a:r>
            <a:r>
              <a:rPr lang="es-CO" sz="800" b="0" i="0" u="none" strike="noStrike" dirty="0" err="1">
                <a:solidFill>
                  <a:schemeClr val="bg2">
                    <a:lumMod val="25000"/>
                  </a:schemeClr>
                </a:solidFill>
                <a:effectLst/>
              </a:rPr>
              <a:t>Commons</a:t>
            </a:r>
            <a:r>
              <a:rPr lang="es-CO" sz="800" b="0" i="0" u="none" strike="noStrike" dirty="0">
                <a:solidFill>
                  <a:schemeClr val="bg2">
                    <a:lumMod val="25000"/>
                  </a:schemeClr>
                </a:solidFill>
                <a:effectLst/>
              </a:rPr>
              <a:t> </a:t>
            </a:r>
            <a:r>
              <a:rPr lang="es-CO" sz="800" b="0" i="0" u="none" strike="noStrike" dirty="0" err="1">
                <a:solidFill>
                  <a:schemeClr val="bg2">
                    <a:lumMod val="25000"/>
                  </a:schemeClr>
                </a:solidFill>
                <a:effectLst/>
              </a:rPr>
              <a:t>Attribution-NonCommercial</a:t>
            </a:r>
            <a:r>
              <a:rPr lang="es-CO" sz="800" b="0" i="0" u="none" strike="noStrike" dirty="0">
                <a:solidFill>
                  <a:schemeClr val="bg2">
                    <a:lumMod val="25000"/>
                  </a:schemeClr>
                </a:solidFill>
                <a:effectLst/>
              </a:rPr>
              <a:t> 4.0 International). Disponible en </a:t>
            </a:r>
            <a:r>
              <a:rPr lang="es-CO" sz="800" b="0" i="0" u="none" strike="noStrike" dirty="0" err="1">
                <a:solidFill>
                  <a:schemeClr val="bg2">
                    <a:lumMod val="25000"/>
                  </a:schemeClr>
                </a:solidFill>
                <a:effectLst/>
              </a:rPr>
              <a:t>ResearchGate</a:t>
            </a:r>
            <a:endParaRPr lang="es-CO" sz="800" dirty="0">
              <a:solidFill>
                <a:schemeClr val="bg2">
                  <a:lumMod val="25000"/>
                </a:schemeClr>
              </a:solidFill>
            </a:endParaRPr>
          </a:p>
        </p:txBody>
      </p:sp>
    </p:spTree>
    <p:extLst>
      <p:ext uri="{BB962C8B-B14F-4D97-AF65-F5344CB8AC3E}">
        <p14:creationId xmlns:p14="http://schemas.microsoft.com/office/powerpoint/2010/main" val="3663566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pic>
        <p:nvPicPr>
          <p:cNvPr id="2" name="Google Shape;167;g36555848ad4_0_84">
            <a:extLst>
              <a:ext uri="{FF2B5EF4-FFF2-40B4-BE49-F238E27FC236}">
                <a16:creationId xmlns:a16="http://schemas.microsoft.com/office/drawing/2014/main" id="{F310EFF7-EDDF-40C8-B95F-0C0541265A70}"/>
              </a:ext>
            </a:extLst>
          </p:cNvPr>
          <p:cNvPicPr preferRelativeResize="0"/>
          <p:nvPr/>
        </p:nvPicPr>
        <p:blipFill>
          <a:blip r:embed="rId3">
            <a:alphaModFix/>
          </a:blip>
          <a:stretch>
            <a:fillRect/>
          </a:stretch>
        </p:blipFill>
        <p:spPr>
          <a:xfrm>
            <a:off x="1794382" y="1371212"/>
            <a:ext cx="8925725" cy="4841000"/>
          </a:xfrm>
          <a:prstGeom prst="rect">
            <a:avLst/>
          </a:prstGeom>
          <a:noFill/>
          <a:ln>
            <a:noFill/>
          </a:ln>
        </p:spPr>
      </p:pic>
      <p:sp>
        <p:nvSpPr>
          <p:cNvPr id="3" name="CuadroTexto 2">
            <a:extLst>
              <a:ext uri="{FF2B5EF4-FFF2-40B4-BE49-F238E27FC236}">
                <a16:creationId xmlns:a16="http://schemas.microsoft.com/office/drawing/2014/main" id="{208E3938-1271-464E-B506-6ADB8BEFF943}"/>
              </a:ext>
            </a:extLst>
          </p:cNvPr>
          <p:cNvSpPr txBox="1"/>
          <p:nvPr/>
        </p:nvSpPr>
        <p:spPr>
          <a:xfrm>
            <a:off x="3571875" y="645788"/>
            <a:ext cx="5886450" cy="523220"/>
          </a:xfrm>
          <a:prstGeom prst="rect">
            <a:avLst/>
          </a:prstGeom>
          <a:noFill/>
        </p:spPr>
        <p:txBody>
          <a:bodyPr wrap="square" rtlCol="0">
            <a:spAutoFit/>
          </a:bodyPr>
          <a:lstStyle/>
          <a:p>
            <a:pPr algn="ctr"/>
            <a:r>
              <a:rPr lang="es-CO" sz="2800" b="1" dirty="0">
                <a:solidFill>
                  <a:schemeClr val="accent6">
                    <a:lumMod val="50000"/>
                  </a:schemeClr>
                </a:solidFill>
              </a:rPr>
              <a:t>Medicamento: </a:t>
            </a:r>
            <a:r>
              <a:rPr lang="es-CO" sz="2800" b="1" dirty="0" err="1">
                <a:solidFill>
                  <a:schemeClr val="accent6">
                    <a:lumMod val="50000"/>
                  </a:schemeClr>
                </a:solidFill>
              </a:rPr>
              <a:t>Sacubitril</a:t>
            </a:r>
            <a:r>
              <a:rPr lang="es-CO" sz="2800" b="1" dirty="0">
                <a:solidFill>
                  <a:schemeClr val="accent6">
                    <a:lumMod val="50000"/>
                  </a:schemeClr>
                </a:solidFill>
              </a:rPr>
              <a:t>/</a:t>
            </a:r>
            <a:r>
              <a:rPr lang="es-CO" sz="2800" b="1" dirty="0" err="1">
                <a:solidFill>
                  <a:schemeClr val="accent6">
                    <a:lumMod val="50000"/>
                  </a:schemeClr>
                </a:solidFill>
              </a:rPr>
              <a:t>Valsartán</a:t>
            </a:r>
            <a:endParaRPr lang="es-CO" sz="2800" b="1" dirty="0">
              <a:solidFill>
                <a:schemeClr val="accent6">
                  <a:lumMod val="50000"/>
                </a:schemeClr>
              </a:solidFill>
            </a:endParaRPr>
          </a:p>
        </p:txBody>
      </p:sp>
      <p:sp>
        <p:nvSpPr>
          <p:cNvPr id="4" name="CuadroTexto 3">
            <a:extLst>
              <a:ext uri="{FF2B5EF4-FFF2-40B4-BE49-F238E27FC236}">
                <a16:creationId xmlns:a16="http://schemas.microsoft.com/office/drawing/2014/main" id="{F6ACF7F5-1240-4939-89A9-F81578D9B3AE}"/>
              </a:ext>
            </a:extLst>
          </p:cNvPr>
          <p:cNvSpPr txBox="1"/>
          <p:nvPr/>
        </p:nvSpPr>
        <p:spPr>
          <a:xfrm>
            <a:off x="9502588" y="89647"/>
            <a:ext cx="3281082" cy="369332"/>
          </a:xfrm>
          <a:prstGeom prst="rect">
            <a:avLst/>
          </a:prstGeom>
          <a:noFill/>
        </p:spPr>
        <p:txBody>
          <a:bodyPr wrap="square" rtlCol="0">
            <a:spAutoFit/>
          </a:bodyPr>
          <a:lstStyle/>
          <a:p>
            <a:r>
              <a:rPr lang="es-CO" dirty="0">
                <a:solidFill>
                  <a:srgbClr val="002060"/>
                </a:solidFill>
              </a:rPr>
              <a:t>Recordatorio Conceptos</a:t>
            </a:r>
          </a:p>
        </p:txBody>
      </p:sp>
      <p:sp>
        <p:nvSpPr>
          <p:cNvPr id="6" name="CuadroTexto 5">
            <a:extLst>
              <a:ext uri="{FF2B5EF4-FFF2-40B4-BE49-F238E27FC236}">
                <a16:creationId xmlns:a16="http://schemas.microsoft.com/office/drawing/2014/main" id="{612B5AE1-C7B7-44F7-80AB-47FB19727336}"/>
              </a:ext>
            </a:extLst>
          </p:cNvPr>
          <p:cNvSpPr txBox="1"/>
          <p:nvPr/>
        </p:nvSpPr>
        <p:spPr>
          <a:xfrm>
            <a:off x="0" y="6337466"/>
            <a:ext cx="11035553" cy="430887"/>
          </a:xfrm>
          <a:prstGeom prst="rect">
            <a:avLst/>
          </a:prstGeom>
          <a:noFill/>
        </p:spPr>
        <p:txBody>
          <a:bodyPr wrap="square">
            <a:spAutoFit/>
          </a:bodyPr>
          <a:lstStyle/>
          <a:p>
            <a:r>
              <a:rPr lang="en-US" sz="1100" b="0" i="0" u="none" strike="noStrike" dirty="0">
                <a:solidFill>
                  <a:schemeClr val="bg2">
                    <a:lumMod val="25000"/>
                  </a:schemeClr>
                </a:solidFill>
                <a:effectLst/>
                <a:latin typeface="Calibri" panose="020F0502020204030204" pitchFamily="34" charset="0"/>
              </a:rPr>
              <a:t>Volpe, M. (2014, August). </a:t>
            </a:r>
            <a:r>
              <a:rPr lang="en-US" sz="1100" b="0" i="1" u="none" strike="noStrike" dirty="0">
                <a:solidFill>
                  <a:schemeClr val="bg2">
                    <a:lumMod val="25000"/>
                  </a:schemeClr>
                </a:solidFill>
                <a:effectLst/>
                <a:latin typeface="Calibri" panose="020F0502020204030204" pitchFamily="34" charset="0"/>
              </a:rPr>
              <a:t>Schematic representation to show the mode of action of an ARNI. NPs are degraded…</a:t>
            </a:r>
            <a:r>
              <a:rPr lang="en-US" sz="1100" b="0" i="0" u="none" strike="noStrike" dirty="0">
                <a:solidFill>
                  <a:schemeClr val="bg2">
                    <a:lumMod val="25000"/>
                  </a:schemeClr>
                </a:solidFill>
                <a:effectLst/>
                <a:latin typeface="Calibri" panose="020F0502020204030204" pitchFamily="34" charset="0"/>
              </a:rPr>
              <a:t> [Figure]. In </a:t>
            </a:r>
            <a:r>
              <a:rPr lang="en-US" sz="1100" b="0" i="1" u="none" strike="noStrike" dirty="0">
                <a:solidFill>
                  <a:schemeClr val="bg2">
                    <a:lumMod val="25000"/>
                  </a:schemeClr>
                </a:solidFill>
                <a:effectLst/>
                <a:latin typeface="Calibri" panose="020F0502020204030204" pitchFamily="34" charset="0"/>
              </a:rPr>
              <a:t>Natriuretic peptides and cardio-renal disease</a:t>
            </a:r>
            <a:r>
              <a:rPr lang="en-US" sz="1100" b="0" i="0" u="none" strike="noStrike" dirty="0">
                <a:solidFill>
                  <a:schemeClr val="bg2">
                    <a:lumMod val="25000"/>
                  </a:schemeClr>
                </a:solidFill>
                <a:effectLst/>
                <a:latin typeface="Calibri" panose="020F0502020204030204" pitchFamily="34" charset="0"/>
              </a:rPr>
              <a:t>. (Licensed under CC Attribution-</a:t>
            </a:r>
            <a:r>
              <a:rPr lang="en-US" sz="1100" b="0" i="0" u="none" strike="noStrike" dirty="0" err="1">
                <a:solidFill>
                  <a:schemeClr val="bg2">
                    <a:lumMod val="25000"/>
                  </a:schemeClr>
                </a:solidFill>
                <a:effectLst/>
                <a:latin typeface="Calibri" panose="020F0502020204030204" pitchFamily="34" charset="0"/>
              </a:rPr>
              <a:t>NonCommercial</a:t>
            </a:r>
            <a:r>
              <a:rPr lang="en-US" sz="1100" b="0" i="0" u="none" strike="noStrike" dirty="0">
                <a:solidFill>
                  <a:schemeClr val="bg2">
                    <a:lumMod val="25000"/>
                  </a:schemeClr>
                </a:solidFill>
                <a:effectLst/>
                <a:latin typeface="Calibri" panose="020F0502020204030204" pitchFamily="34" charset="0"/>
              </a:rPr>
              <a:t>-</a:t>
            </a:r>
            <a:r>
              <a:rPr lang="en-US" sz="1100" b="0" i="0" u="none" strike="noStrike" dirty="0" err="1">
                <a:solidFill>
                  <a:schemeClr val="bg2">
                    <a:lumMod val="25000"/>
                  </a:schemeClr>
                </a:solidFill>
                <a:effectLst/>
                <a:latin typeface="Calibri" panose="020F0502020204030204" pitchFamily="34" charset="0"/>
              </a:rPr>
              <a:t>NoDerivs</a:t>
            </a:r>
            <a:r>
              <a:rPr lang="en-US" sz="1100" b="0" i="0" u="none" strike="noStrike" dirty="0">
                <a:solidFill>
                  <a:schemeClr val="bg2">
                    <a:lumMod val="25000"/>
                  </a:schemeClr>
                </a:solidFill>
                <a:effectLst/>
                <a:latin typeface="Calibri" panose="020F0502020204030204" pitchFamily="34" charset="0"/>
              </a:rPr>
              <a:t> 3.0 </a:t>
            </a:r>
            <a:r>
              <a:rPr lang="en-US" sz="1100" b="0" i="0" u="none" strike="noStrike" dirty="0" err="1">
                <a:solidFill>
                  <a:schemeClr val="bg2">
                    <a:lumMod val="25000"/>
                  </a:schemeClr>
                </a:solidFill>
                <a:effectLst/>
                <a:latin typeface="Calibri" panose="020F0502020204030204" pitchFamily="34" charset="0"/>
              </a:rPr>
              <a:t>Unported</a:t>
            </a:r>
            <a:r>
              <a:rPr lang="en-US" sz="1100" b="0" i="0" u="none" strike="noStrike" dirty="0">
                <a:solidFill>
                  <a:schemeClr val="bg2">
                    <a:lumMod val="25000"/>
                  </a:schemeClr>
                </a:solidFill>
                <a:effectLst/>
                <a:latin typeface="Calibri" panose="020F0502020204030204" pitchFamily="34" charset="0"/>
              </a:rPr>
              <a:t>) </a:t>
            </a:r>
            <a:endParaRPr lang="es-CO" sz="1100" dirty="0">
              <a:solidFill>
                <a:schemeClr val="bg2">
                  <a:lumMod val="25000"/>
                </a:schemeClr>
              </a:solidFill>
            </a:endParaRPr>
          </a:p>
        </p:txBody>
      </p:sp>
    </p:spTree>
    <p:extLst>
      <p:ext uri="{BB962C8B-B14F-4D97-AF65-F5344CB8AC3E}">
        <p14:creationId xmlns:p14="http://schemas.microsoft.com/office/powerpoint/2010/main" val="4125591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pic>
        <p:nvPicPr>
          <p:cNvPr id="2" name="Google Shape;159;g36555848ad4_0_78">
            <a:extLst>
              <a:ext uri="{FF2B5EF4-FFF2-40B4-BE49-F238E27FC236}">
                <a16:creationId xmlns:a16="http://schemas.microsoft.com/office/drawing/2014/main" id="{5A7E0B66-820A-4E22-A9EC-068C8582AB23}"/>
              </a:ext>
            </a:extLst>
          </p:cNvPr>
          <p:cNvPicPr preferRelativeResize="0"/>
          <p:nvPr/>
        </p:nvPicPr>
        <p:blipFill rotWithShape="1">
          <a:blip r:embed="rId3">
            <a:alphaModFix/>
          </a:blip>
          <a:srcRect t="4113" r="1574"/>
          <a:stretch/>
        </p:blipFill>
        <p:spPr>
          <a:xfrm>
            <a:off x="2125263" y="1033746"/>
            <a:ext cx="7377325" cy="4979660"/>
          </a:xfrm>
          <a:prstGeom prst="rect">
            <a:avLst/>
          </a:prstGeom>
          <a:noFill/>
          <a:ln>
            <a:noFill/>
          </a:ln>
        </p:spPr>
      </p:pic>
      <p:sp>
        <p:nvSpPr>
          <p:cNvPr id="3" name="CuadroTexto 2">
            <a:extLst>
              <a:ext uri="{FF2B5EF4-FFF2-40B4-BE49-F238E27FC236}">
                <a16:creationId xmlns:a16="http://schemas.microsoft.com/office/drawing/2014/main" id="{BC73A339-AB55-437A-980F-C242B390DA6F}"/>
              </a:ext>
            </a:extLst>
          </p:cNvPr>
          <p:cNvSpPr txBox="1"/>
          <p:nvPr/>
        </p:nvSpPr>
        <p:spPr>
          <a:xfrm>
            <a:off x="3486150" y="510526"/>
            <a:ext cx="5886450" cy="523220"/>
          </a:xfrm>
          <a:prstGeom prst="rect">
            <a:avLst/>
          </a:prstGeom>
          <a:noFill/>
        </p:spPr>
        <p:txBody>
          <a:bodyPr wrap="square" rtlCol="0">
            <a:spAutoFit/>
          </a:bodyPr>
          <a:lstStyle/>
          <a:p>
            <a:pPr algn="ctr"/>
            <a:r>
              <a:rPr lang="es-CO" sz="2800" b="1" dirty="0">
                <a:solidFill>
                  <a:schemeClr val="accent6">
                    <a:lumMod val="50000"/>
                  </a:schemeClr>
                </a:solidFill>
              </a:rPr>
              <a:t>Medicamentos: SGLT2</a:t>
            </a:r>
          </a:p>
        </p:txBody>
      </p:sp>
      <p:sp>
        <p:nvSpPr>
          <p:cNvPr id="4" name="CuadroTexto 3">
            <a:extLst>
              <a:ext uri="{FF2B5EF4-FFF2-40B4-BE49-F238E27FC236}">
                <a16:creationId xmlns:a16="http://schemas.microsoft.com/office/drawing/2014/main" id="{8738DB3B-0396-488E-AAD3-A151732C52EB}"/>
              </a:ext>
            </a:extLst>
          </p:cNvPr>
          <p:cNvSpPr txBox="1"/>
          <p:nvPr/>
        </p:nvSpPr>
        <p:spPr>
          <a:xfrm>
            <a:off x="9502588" y="89647"/>
            <a:ext cx="3281082" cy="369332"/>
          </a:xfrm>
          <a:prstGeom prst="rect">
            <a:avLst/>
          </a:prstGeom>
          <a:noFill/>
        </p:spPr>
        <p:txBody>
          <a:bodyPr wrap="square" rtlCol="0">
            <a:spAutoFit/>
          </a:bodyPr>
          <a:lstStyle/>
          <a:p>
            <a:r>
              <a:rPr lang="es-CO" dirty="0">
                <a:solidFill>
                  <a:srgbClr val="002060"/>
                </a:solidFill>
              </a:rPr>
              <a:t>Recordatorio Conceptos</a:t>
            </a:r>
          </a:p>
        </p:txBody>
      </p:sp>
      <p:sp>
        <p:nvSpPr>
          <p:cNvPr id="6" name="CuadroTexto 5">
            <a:extLst>
              <a:ext uri="{FF2B5EF4-FFF2-40B4-BE49-F238E27FC236}">
                <a16:creationId xmlns:a16="http://schemas.microsoft.com/office/drawing/2014/main" id="{7FC436B3-5FE1-499E-A8D1-8EC46CC2CDC9}"/>
              </a:ext>
            </a:extLst>
          </p:cNvPr>
          <p:cNvSpPr txBox="1"/>
          <p:nvPr/>
        </p:nvSpPr>
        <p:spPr>
          <a:xfrm>
            <a:off x="-62755" y="6420120"/>
            <a:ext cx="11232779" cy="400110"/>
          </a:xfrm>
          <a:prstGeom prst="rect">
            <a:avLst/>
          </a:prstGeom>
          <a:noFill/>
        </p:spPr>
        <p:txBody>
          <a:bodyPr wrap="square">
            <a:spAutoFit/>
          </a:bodyPr>
          <a:lstStyle/>
          <a:p>
            <a:r>
              <a:rPr lang="es-CO" sz="1000" b="0" i="0" u="none" strike="noStrike" dirty="0" err="1">
                <a:solidFill>
                  <a:schemeClr val="bg2">
                    <a:lumMod val="25000"/>
                  </a:schemeClr>
                </a:solidFill>
                <a:effectLst/>
                <a:latin typeface="Calibri" panose="020F0502020204030204" pitchFamily="34" charset="0"/>
              </a:rPr>
              <a:t>Joshi</a:t>
            </a:r>
            <a:r>
              <a:rPr lang="es-CO" sz="1000" b="0" i="0" u="none" strike="noStrike" dirty="0">
                <a:solidFill>
                  <a:schemeClr val="bg2">
                    <a:lumMod val="25000"/>
                  </a:schemeClr>
                </a:solidFill>
                <a:effectLst/>
                <a:latin typeface="Calibri" panose="020F0502020204030204" pitchFamily="34" charset="0"/>
              </a:rPr>
              <a:t>, S. S., Singh, T., </a:t>
            </a:r>
            <a:r>
              <a:rPr lang="es-CO" sz="1000" b="0" i="0" u="none" strike="noStrike" dirty="0" err="1">
                <a:solidFill>
                  <a:schemeClr val="bg2">
                    <a:lumMod val="25000"/>
                  </a:schemeClr>
                </a:solidFill>
                <a:effectLst/>
                <a:latin typeface="Calibri" panose="020F0502020204030204" pitchFamily="34" charset="0"/>
              </a:rPr>
              <a:t>Newby</a:t>
            </a:r>
            <a:r>
              <a:rPr lang="es-CO" sz="1000" b="0" i="0" u="none" strike="noStrike" dirty="0">
                <a:solidFill>
                  <a:schemeClr val="bg2">
                    <a:lumMod val="25000"/>
                  </a:schemeClr>
                </a:solidFill>
                <a:effectLst/>
                <a:latin typeface="Calibri" panose="020F0502020204030204" pitchFamily="34" charset="0"/>
              </a:rPr>
              <a:t>, D. E. &amp; Singh, J. (2021). </a:t>
            </a:r>
            <a:r>
              <a:rPr lang="es-CO" sz="1000" b="0" i="1" u="none" strike="noStrike" dirty="0" err="1">
                <a:solidFill>
                  <a:schemeClr val="bg2">
                    <a:lumMod val="25000"/>
                  </a:schemeClr>
                </a:solidFill>
                <a:effectLst/>
                <a:latin typeface="Calibri" panose="020F0502020204030204" pitchFamily="34" charset="0"/>
              </a:rPr>
              <a:t>Schematic</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diagram</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showing</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conventional</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mechanisms</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of</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action</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of</a:t>
            </a:r>
            <a:r>
              <a:rPr lang="es-CO" sz="1000" b="0" i="1" u="none" strike="noStrike" dirty="0">
                <a:solidFill>
                  <a:schemeClr val="bg2">
                    <a:lumMod val="25000"/>
                  </a:schemeClr>
                </a:solidFill>
                <a:effectLst/>
                <a:latin typeface="Calibri" panose="020F0502020204030204" pitchFamily="34" charset="0"/>
              </a:rPr>
              <a:t> SGLT2 </a:t>
            </a:r>
            <a:r>
              <a:rPr lang="es-CO" sz="1000" b="0" i="1" u="none" strike="noStrike" dirty="0" err="1">
                <a:solidFill>
                  <a:schemeClr val="bg2">
                    <a:lumMod val="25000"/>
                  </a:schemeClr>
                </a:solidFill>
                <a:effectLst/>
                <a:latin typeface="Calibri" panose="020F0502020204030204" pitchFamily="34" charset="0"/>
              </a:rPr>
              <a:t>inhibitors</a:t>
            </a:r>
            <a:r>
              <a:rPr lang="es-CO" sz="1000" b="0" i="0" u="none" strike="noStrike" dirty="0">
                <a:solidFill>
                  <a:schemeClr val="bg2">
                    <a:lumMod val="25000"/>
                  </a:schemeClr>
                </a:solidFill>
                <a:effectLst/>
                <a:latin typeface="Calibri" panose="020F0502020204030204" pitchFamily="34" charset="0"/>
              </a:rPr>
              <a:t>. En </a:t>
            </a:r>
            <a:r>
              <a:rPr lang="es-CO" sz="1000" b="0" i="1" u="none" strike="noStrike" dirty="0" err="1">
                <a:solidFill>
                  <a:schemeClr val="bg2">
                    <a:lumMod val="25000"/>
                  </a:schemeClr>
                </a:solidFill>
                <a:effectLst/>
                <a:latin typeface="Calibri" panose="020F0502020204030204" pitchFamily="34" charset="0"/>
              </a:rPr>
              <a:t>Sodium-glucose</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co-transporter</a:t>
            </a:r>
            <a:r>
              <a:rPr lang="es-CO" sz="1000" b="0" i="1" u="none" strike="noStrike" dirty="0">
                <a:solidFill>
                  <a:schemeClr val="bg2">
                    <a:lumMod val="25000"/>
                  </a:schemeClr>
                </a:solidFill>
                <a:effectLst/>
                <a:latin typeface="Calibri" panose="020F0502020204030204" pitchFamily="34" charset="0"/>
              </a:rPr>
              <a:t> 2 </a:t>
            </a:r>
            <a:r>
              <a:rPr lang="es-CO" sz="1000" b="0" i="1" u="none" strike="noStrike" dirty="0" err="1">
                <a:solidFill>
                  <a:schemeClr val="bg2">
                    <a:lumMod val="25000"/>
                  </a:schemeClr>
                </a:solidFill>
                <a:effectLst/>
                <a:latin typeface="Calibri" panose="020F0502020204030204" pitchFamily="34" charset="0"/>
              </a:rPr>
              <a:t>inhibitor</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therapy</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Mechanisms</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of</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action</a:t>
            </a:r>
            <a:r>
              <a:rPr lang="es-CO" sz="1000" b="0" i="1" u="none" strike="noStrike" dirty="0">
                <a:solidFill>
                  <a:schemeClr val="bg2">
                    <a:lumMod val="25000"/>
                  </a:schemeClr>
                </a:solidFill>
                <a:effectLst/>
                <a:latin typeface="Calibri" panose="020F0502020204030204" pitchFamily="34" charset="0"/>
              </a:rPr>
              <a:t> in </a:t>
            </a:r>
            <a:r>
              <a:rPr lang="es-CO" sz="1000" b="0" i="1" u="none" strike="noStrike" dirty="0" err="1">
                <a:solidFill>
                  <a:schemeClr val="bg2">
                    <a:lumMod val="25000"/>
                  </a:schemeClr>
                </a:solidFill>
                <a:effectLst/>
                <a:latin typeface="Calibri" panose="020F0502020204030204" pitchFamily="34" charset="0"/>
              </a:rPr>
              <a:t>heart</a:t>
            </a:r>
            <a:r>
              <a:rPr lang="es-CO" sz="1000" b="0" i="1" u="none" strike="noStrike" dirty="0">
                <a:solidFill>
                  <a:schemeClr val="bg2">
                    <a:lumMod val="25000"/>
                  </a:schemeClr>
                </a:solidFill>
                <a:effectLst/>
                <a:latin typeface="Calibri" panose="020F0502020204030204" pitchFamily="34" charset="0"/>
              </a:rPr>
              <a:t> </a:t>
            </a:r>
            <a:r>
              <a:rPr lang="es-CO" sz="1000" b="0" i="1" u="none" strike="noStrike" dirty="0" err="1">
                <a:solidFill>
                  <a:schemeClr val="bg2">
                    <a:lumMod val="25000"/>
                  </a:schemeClr>
                </a:solidFill>
                <a:effectLst/>
                <a:latin typeface="Calibri" panose="020F0502020204030204" pitchFamily="34" charset="0"/>
              </a:rPr>
              <a:t>failure</a:t>
            </a:r>
            <a:r>
              <a:rPr lang="es-CO" sz="1000" b="0" i="0" u="none" strike="noStrike" dirty="0">
                <a:solidFill>
                  <a:schemeClr val="bg2">
                    <a:lumMod val="25000"/>
                  </a:schemeClr>
                </a:solidFill>
                <a:effectLst/>
                <a:latin typeface="Calibri" panose="020F0502020204030204" pitchFamily="34" charset="0"/>
              </a:rPr>
              <a:t> [Figura]. Creative </a:t>
            </a:r>
            <a:r>
              <a:rPr lang="es-CO" sz="1000" b="0" i="0" u="none" strike="noStrike" dirty="0" err="1">
                <a:solidFill>
                  <a:schemeClr val="bg2">
                    <a:lumMod val="25000"/>
                  </a:schemeClr>
                </a:solidFill>
                <a:effectLst/>
                <a:latin typeface="Calibri" panose="020F0502020204030204" pitchFamily="34" charset="0"/>
              </a:rPr>
              <a:t>Commons</a:t>
            </a:r>
            <a:r>
              <a:rPr lang="es-CO" sz="1000" b="0" i="0" u="none" strike="noStrike" dirty="0">
                <a:solidFill>
                  <a:schemeClr val="bg2">
                    <a:lumMod val="25000"/>
                  </a:schemeClr>
                </a:solidFill>
                <a:effectLst/>
                <a:latin typeface="Calibri" panose="020F0502020204030204" pitchFamily="34" charset="0"/>
              </a:rPr>
              <a:t> </a:t>
            </a:r>
            <a:r>
              <a:rPr lang="es-CO" sz="1000" b="0" i="0" u="none" strike="noStrike" dirty="0" err="1">
                <a:solidFill>
                  <a:schemeClr val="bg2">
                    <a:lumMod val="25000"/>
                  </a:schemeClr>
                </a:solidFill>
                <a:effectLst/>
                <a:latin typeface="Calibri" panose="020F0502020204030204" pitchFamily="34" charset="0"/>
              </a:rPr>
              <a:t>Attribution</a:t>
            </a:r>
            <a:r>
              <a:rPr lang="es-CO" sz="1000" b="0" i="0" u="none" strike="noStrike" dirty="0">
                <a:solidFill>
                  <a:schemeClr val="bg2">
                    <a:lumMod val="25000"/>
                  </a:schemeClr>
                </a:solidFill>
                <a:effectLst/>
                <a:latin typeface="Calibri" panose="020F0502020204030204" pitchFamily="34" charset="0"/>
              </a:rPr>
              <a:t> 4.0 International. Disponible en </a:t>
            </a:r>
            <a:r>
              <a:rPr lang="es-CO" sz="1000" b="0" i="0" u="none" strike="noStrike" dirty="0" err="1">
                <a:solidFill>
                  <a:schemeClr val="bg2">
                    <a:lumMod val="25000"/>
                  </a:schemeClr>
                </a:solidFill>
                <a:effectLst/>
                <a:latin typeface="Calibri" panose="020F0502020204030204" pitchFamily="34" charset="0"/>
              </a:rPr>
              <a:t>ResearchGate</a:t>
            </a:r>
            <a:r>
              <a:rPr lang="es-CO" sz="1000" b="0" i="0" u="none" strike="noStrike" dirty="0">
                <a:solidFill>
                  <a:schemeClr val="bg2">
                    <a:lumMod val="25000"/>
                  </a:schemeClr>
                </a:solidFill>
                <a:effectLst/>
                <a:latin typeface="Calibri" panose="020F0502020204030204" pitchFamily="34" charset="0"/>
              </a:rPr>
              <a:t>.</a:t>
            </a:r>
            <a:endParaRPr lang="es-CO" sz="1000" dirty="0">
              <a:solidFill>
                <a:schemeClr val="bg2">
                  <a:lumMod val="25000"/>
                </a:schemeClr>
              </a:solidFill>
            </a:endParaRPr>
          </a:p>
        </p:txBody>
      </p:sp>
    </p:spTree>
    <p:extLst>
      <p:ext uri="{BB962C8B-B14F-4D97-AF65-F5344CB8AC3E}">
        <p14:creationId xmlns:p14="http://schemas.microsoft.com/office/powerpoint/2010/main" val="137357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738DB3B-0396-488E-AAD3-A151732C52EB}"/>
              </a:ext>
            </a:extLst>
          </p:cNvPr>
          <p:cNvSpPr txBox="1"/>
          <p:nvPr/>
        </p:nvSpPr>
        <p:spPr>
          <a:xfrm>
            <a:off x="9502588" y="89647"/>
            <a:ext cx="3281082" cy="369332"/>
          </a:xfrm>
          <a:prstGeom prst="rect">
            <a:avLst/>
          </a:prstGeom>
          <a:noFill/>
        </p:spPr>
        <p:txBody>
          <a:bodyPr wrap="square" rtlCol="0">
            <a:spAutoFit/>
          </a:bodyPr>
          <a:lstStyle/>
          <a:p>
            <a:r>
              <a:rPr lang="es-CO" dirty="0">
                <a:solidFill>
                  <a:srgbClr val="002060"/>
                </a:solidFill>
              </a:rPr>
              <a:t>Recordatorio Conceptos</a:t>
            </a:r>
          </a:p>
        </p:txBody>
      </p:sp>
      <p:pic>
        <p:nvPicPr>
          <p:cNvPr id="5" name="Google Shape;180;g36560ee51d0_0_73">
            <a:extLst>
              <a:ext uri="{FF2B5EF4-FFF2-40B4-BE49-F238E27FC236}">
                <a16:creationId xmlns:a16="http://schemas.microsoft.com/office/drawing/2014/main" id="{BCDD8341-D44E-4889-8651-FFE7E4F3CAF4}"/>
              </a:ext>
            </a:extLst>
          </p:cNvPr>
          <p:cNvPicPr preferRelativeResize="0"/>
          <p:nvPr/>
        </p:nvPicPr>
        <p:blipFill>
          <a:blip r:embed="rId3">
            <a:alphaModFix/>
          </a:blip>
          <a:stretch>
            <a:fillRect/>
          </a:stretch>
        </p:blipFill>
        <p:spPr>
          <a:xfrm>
            <a:off x="3834067" y="1130875"/>
            <a:ext cx="4238116" cy="5395431"/>
          </a:xfrm>
          <a:prstGeom prst="rect">
            <a:avLst/>
          </a:prstGeom>
          <a:noFill/>
          <a:ln>
            <a:noFill/>
          </a:ln>
        </p:spPr>
      </p:pic>
      <p:sp>
        <p:nvSpPr>
          <p:cNvPr id="6" name="CuadroTexto 5">
            <a:extLst>
              <a:ext uri="{FF2B5EF4-FFF2-40B4-BE49-F238E27FC236}">
                <a16:creationId xmlns:a16="http://schemas.microsoft.com/office/drawing/2014/main" id="{7A520822-E3D6-466F-A612-10045DB66CCE}"/>
              </a:ext>
            </a:extLst>
          </p:cNvPr>
          <p:cNvSpPr txBox="1"/>
          <p:nvPr/>
        </p:nvSpPr>
        <p:spPr>
          <a:xfrm>
            <a:off x="3086100" y="432183"/>
            <a:ext cx="5886450" cy="523220"/>
          </a:xfrm>
          <a:prstGeom prst="rect">
            <a:avLst/>
          </a:prstGeom>
          <a:noFill/>
        </p:spPr>
        <p:txBody>
          <a:bodyPr wrap="square" rtlCol="0">
            <a:spAutoFit/>
          </a:bodyPr>
          <a:lstStyle/>
          <a:p>
            <a:pPr algn="ctr"/>
            <a:r>
              <a:rPr lang="es-CO" sz="2800" b="1" dirty="0">
                <a:solidFill>
                  <a:schemeClr val="accent6">
                    <a:lumMod val="50000"/>
                  </a:schemeClr>
                </a:solidFill>
              </a:rPr>
              <a:t>Medicamentos: Beta Bloqueadores</a:t>
            </a:r>
          </a:p>
        </p:txBody>
      </p:sp>
      <p:sp>
        <p:nvSpPr>
          <p:cNvPr id="7" name="CuadroTexto 6">
            <a:extLst>
              <a:ext uri="{FF2B5EF4-FFF2-40B4-BE49-F238E27FC236}">
                <a16:creationId xmlns:a16="http://schemas.microsoft.com/office/drawing/2014/main" id="{A1F6BF9A-A29E-4178-B29D-2F85A777DB93}"/>
              </a:ext>
            </a:extLst>
          </p:cNvPr>
          <p:cNvSpPr txBox="1"/>
          <p:nvPr/>
        </p:nvSpPr>
        <p:spPr>
          <a:xfrm>
            <a:off x="3195919" y="6627168"/>
            <a:ext cx="10654552" cy="230832"/>
          </a:xfrm>
          <a:prstGeom prst="rect">
            <a:avLst/>
          </a:prstGeom>
          <a:noFill/>
        </p:spPr>
        <p:txBody>
          <a:bodyPr wrap="square">
            <a:spAutoFit/>
          </a:bodyPr>
          <a:lstStyle/>
          <a:p>
            <a:r>
              <a:rPr lang="es-MX" sz="900" b="0" i="0" u="none" strike="noStrike" dirty="0" err="1">
                <a:solidFill>
                  <a:schemeClr val="bg2">
                    <a:lumMod val="25000"/>
                  </a:schemeClr>
                </a:solidFill>
                <a:effectLst/>
                <a:latin typeface="Calibri" panose="020F0502020204030204" pitchFamily="34" charset="0"/>
              </a:rPr>
              <a:t>Katzung</a:t>
            </a:r>
            <a:r>
              <a:rPr lang="es-MX" sz="900" b="0" i="0" u="none" strike="noStrike" dirty="0">
                <a:solidFill>
                  <a:schemeClr val="bg2">
                    <a:lumMod val="25000"/>
                  </a:schemeClr>
                </a:solidFill>
                <a:effectLst/>
                <a:latin typeface="Calibri" panose="020F0502020204030204" pitchFamily="34" charset="0"/>
              </a:rPr>
              <a:t> BG. Farmacología básica y clínica. 14ª edición. McGraw-Hill. Sección de fármacos adrenérgicos.</a:t>
            </a:r>
            <a:endParaRPr lang="es-CO" sz="900" dirty="0">
              <a:solidFill>
                <a:schemeClr val="bg2">
                  <a:lumMod val="25000"/>
                </a:schemeClr>
              </a:solidFill>
            </a:endParaRPr>
          </a:p>
        </p:txBody>
      </p:sp>
    </p:spTree>
    <p:extLst>
      <p:ext uri="{BB962C8B-B14F-4D97-AF65-F5344CB8AC3E}">
        <p14:creationId xmlns:p14="http://schemas.microsoft.com/office/powerpoint/2010/main" val="7438821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738DB3B-0396-488E-AAD3-A151732C52EB}"/>
              </a:ext>
            </a:extLst>
          </p:cNvPr>
          <p:cNvSpPr txBox="1"/>
          <p:nvPr/>
        </p:nvSpPr>
        <p:spPr>
          <a:xfrm>
            <a:off x="9502588" y="89647"/>
            <a:ext cx="3281082" cy="369332"/>
          </a:xfrm>
          <a:prstGeom prst="rect">
            <a:avLst/>
          </a:prstGeom>
          <a:noFill/>
        </p:spPr>
        <p:txBody>
          <a:bodyPr wrap="square" rtlCol="0">
            <a:spAutoFit/>
          </a:bodyPr>
          <a:lstStyle/>
          <a:p>
            <a:r>
              <a:rPr lang="es-CO" dirty="0">
                <a:solidFill>
                  <a:srgbClr val="002060"/>
                </a:solidFill>
              </a:rPr>
              <a:t>Recordatorio Conceptos</a:t>
            </a:r>
          </a:p>
        </p:txBody>
      </p:sp>
      <p:sp>
        <p:nvSpPr>
          <p:cNvPr id="6" name="CuadroTexto 5">
            <a:extLst>
              <a:ext uri="{FF2B5EF4-FFF2-40B4-BE49-F238E27FC236}">
                <a16:creationId xmlns:a16="http://schemas.microsoft.com/office/drawing/2014/main" id="{7A520822-E3D6-466F-A612-10045DB66CCE}"/>
              </a:ext>
            </a:extLst>
          </p:cNvPr>
          <p:cNvSpPr txBox="1"/>
          <p:nvPr/>
        </p:nvSpPr>
        <p:spPr>
          <a:xfrm>
            <a:off x="3031671" y="671669"/>
            <a:ext cx="5886450" cy="584775"/>
          </a:xfrm>
          <a:prstGeom prst="rect">
            <a:avLst/>
          </a:prstGeom>
          <a:noFill/>
        </p:spPr>
        <p:txBody>
          <a:bodyPr wrap="square" rtlCol="0">
            <a:spAutoFit/>
          </a:bodyPr>
          <a:lstStyle/>
          <a:p>
            <a:pPr algn="ctr"/>
            <a:r>
              <a:rPr lang="es-CO" sz="3200" b="1" dirty="0">
                <a:solidFill>
                  <a:schemeClr val="accent6">
                    <a:lumMod val="50000"/>
                  </a:schemeClr>
                </a:solidFill>
              </a:rPr>
              <a:t>Dosis Medicamentos</a:t>
            </a:r>
          </a:p>
        </p:txBody>
      </p:sp>
      <p:graphicFrame>
        <p:nvGraphicFramePr>
          <p:cNvPr id="7" name="Table 4">
            <a:extLst>
              <a:ext uri="{FF2B5EF4-FFF2-40B4-BE49-F238E27FC236}">
                <a16:creationId xmlns:a16="http://schemas.microsoft.com/office/drawing/2014/main" id="{AB4138DF-C9CA-4B44-8503-5467B7B67E59}"/>
              </a:ext>
            </a:extLst>
          </p:cNvPr>
          <p:cNvGraphicFramePr>
            <a:graphicFrameLocks noGrp="1"/>
          </p:cNvGraphicFramePr>
          <p:nvPr>
            <p:extLst>
              <p:ext uri="{D42A27DB-BD31-4B8C-83A1-F6EECF244321}">
                <p14:modId xmlns:p14="http://schemas.microsoft.com/office/powerpoint/2010/main" val="1021842669"/>
              </p:ext>
            </p:extLst>
          </p:nvPr>
        </p:nvGraphicFramePr>
        <p:xfrm>
          <a:off x="258534" y="1720248"/>
          <a:ext cx="11255829" cy="2110986"/>
        </p:xfrm>
        <a:graphic>
          <a:graphicData uri="http://schemas.openxmlformats.org/drawingml/2006/table">
            <a:tbl>
              <a:tblPr>
                <a:tableStyleId>{16D9F66E-5EB9-4882-86FB-DCBF35E3C3E4}</a:tableStyleId>
              </a:tblPr>
              <a:tblGrid>
                <a:gridCol w="2147209">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2264228">
                  <a:extLst>
                    <a:ext uri="{9D8B030D-6E8A-4147-A177-3AD203B41FA5}">
                      <a16:colId xmlns:a16="http://schemas.microsoft.com/office/drawing/2014/main" val="20002"/>
                    </a:ext>
                  </a:extLst>
                </a:gridCol>
                <a:gridCol w="2013266">
                  <a:extLst>
                    <a:ext uri="{9D8B030D-6E8A-4147-A177-3AD203B41FA5}">
                      <a16:colId xmlns:a16="http://schemas.microsoft.com/office/drawing/2014/main" val="20003"/>
                    </a:ext>
                  </a:extLst>
                </a:gridCol>
                <a:gridCol w="3078526">
                  <a:extLst>
                    <a:ext uri="{9D8B030D-6E8A-4147-A177-3AD203B41FA5}">
                      <a16:colId xmlns:a16="http://schemas.microsoft.com/office/drawing/2014/main" val="20004"/>
                    </a:ext>
                  </a:extLst>
                </a:gridCol>
              </a:tblGrid>
              <a:tr h="402765">
                <a:tc>
                  <a:txBody>
                    <a:bodyPr/>
                    <a:lstStyle/>
                    <a:p>
                      <a:pPr algn="ctr">
                        <a:lnSpc>
                          <a:spcPct val="100000"/>
                        </a:lnSpc>
                        <a:defRPr/>
                      </a:pPr>
                      <a:r>
                        <a:rPr lang="en-US" sz="1800" b="1" dirty="0">
                          <a:solidFill>
                            <a:srgbClr val="000000"/>
                          </a:solidFill>
                          <a:sym typeface="Glacial Indifference Bold"/>
                        </a:rPr>
                        <a:t>IECA/ARA II</a:t>
                      </a:r>
                      <a:endParaRPr lang="en-US" sz="1800" dirty="0">
                        <a:latin typeface="+mn-lt"/>
                      </a:endParaRPr>
                    </a:p>
                  </a:txBody>
                  <a:tcPr marL="85725" marR="85725" marT="85725" marB="85725" anchor="ctr">
                    <a:solidFill>
                      <a:schemeClr val="accent6">
                        <a:lumMod val="40000"/>
                        <a:lumOff val="60000"/>
                      </a:schemeClr>
                    </a:solidFill>
                  </a:tcPr>
                </a:tc>
                <a:tc>
                  <a:txBody>
                    <a:bodyPr/>
                    <a:lstStyle/>
                    <a:p>
                      <a:pPr algn="ctr">
                        <a:lnSpc>
                          <a:spcPct val="100000"/>
                        </a:lnSpc>
                        <a:defRPr/>
                      </a:pPr>
                      <a:r>
                        <a:rPr lang="en-US" sz="1800" b="1" dirty="0">
                          <a:solidFill>
                            <a:srgbClr val="000000"/>
                          </a:solidFill>
                          <a:sym typeface="Glacial Indifference Bold"/>
                        </a:rPr>
                        <a:t>ARNI</a:t>
                      </a:r>
                      <a:endParaRPr lang="en-US" sz="1800" dirty="0">
                        <a:latin typeface="+mn-lt"/>
                      </a:endParaRPr>
                    </a:p>
                  </a:txBody>
                  <a:tcPr marL="85725" marR="85725" marT="85725" marB="85725" anchor="ctr">
                    <a:solidFill>
                      <a:schemeClr val="accent6">
                        <a:lumMod val="40000"/>
                        <a:lumOff val="60000"/>
                      </a:schemeClr>
                    </a:solidFill>
                  </a:tcPr>
                </a:tc>
                <a:tc>
                  <a:txBody>
                    <a:bodyPr/>
                    <a:lstStyle/>
                    <a:p>
                      <a:pPr algn="ctr">
                        <a:lnSpc>
                          <a:spcPct val="100000"/>
                        </a:lnSpc>
                        <a:defRPr/>
                      </a:pPr>
                      <a:r>
                        <a:rPr lang="en-US" sz="1800" b="1">
                          <a:solidFill>
                            <a:srgbClr val="000000"/>
                          </a:solidFill>
                          <a:sym typeface="Glacial Indifference Bold"/>
                        </a:rPr>
                        <a:t>ARM</a:t>
                      </a:r>
                      <a:endParaRPr lang="en-US" sz="1800">
                        <a:latin typeface="+mn-lt"/>
                      </a:endParaRPr>
                    </a:p>
                  </a:txBody>
                  <a:tcPr marL="85725" marR="85725" marT="85725" marB="85725" anchor="ctr">
                    <a:solidFill>
                      <a:schemeClr val="accent6">
                        <a:lumMod val="40000"/>
                        <a:lumOff val="60000"/>
                      </a:schemeClr>
                    </a:solidFill>
                  </a:tcPr>
                </a:tc>
                <a:tc>
                  <a:txBody>
                    <a:bodyPr/>
                    <a:lstStyle/>
                    <a:p>
                      <a:pPr algn="ctr">
                        <a:lnSpc>
                          <a:spcPct val="100000"/>
                        </a:lnSpc>
                        <a:defRPr/>
                      </a:pPr>
                      <a:r>
                        <a:rPr lang="en-US" sz="1800" b="1" dirty="0">
                          <a:solidFill>
                            <a:srgbClr val="000000"/>
                          </a:solidFill>
                          <a:sym typeface="Glacial Indifference Bold"/>
                        </a:rPr>
                        <a:t>iSGLT2</a:t>
                      </a:r>
                      <a:endParaRPr lang="en-US" sz="1800" dirty="0">
                        <a:latin typeface="+mn-lt"/>
                      </a:endParaRPr>
                    </a:p>
                  </a:txBody>
                  <a:tcPr marL="85725" marR="85725" marT="85725" marB="85725" anchor="ctr">
                    <a:solidFill>
                      <a:schemeClr val="accent6">
                        <a:lumMod val="40000"/>
                        <a:lumOff val="60000"/>
                      </a:schemeClr>
                    </a:solidFill>
                  </a:tcPr>
                </a:tc>
                <a:tc>
                  <a:txBody>
                    <a:bodyPr/>
                    <a:lstStyle/>
                    <a:p>
                      <a:pPr algn="ctr">
                        <a:lnSpc>
                          <a:spcPct val="100000"/>
                        </a:lnSpc>
                        <a:defRPr/>
                      </a:pPr>
                      <a:r>
                        <a:rPr lang="en-US" sz="1800" b="1" dirty="0">
                          <a:solidFill>
                            <a:srgbClr val="000000"/>
                          </a:solidFill>
                          <a:sym typeface="Glacial Indifference Bold"/>
                        </a:rPr>
                        <a:t>OTROS</a:t>
                      </a:r>
                      <a:endParaRPr lang="en-US" sz="1800" dirty="0">
                        <a:latin typeface="+mn-lt"/>
                      </a:endParaRPr>
                    </a:p>
                  </a:txBody>
                  <a:tcPr marL="85725" marR="85725" marT="85725" marB="85725" anchor="ctr">
                    <a:solidFill>
                      <a:schemeClr val="accent6">
                        <a:lumMod val="40000"/>
                        <a:lumOff val="60000"/>
                      </a:schemeClr>
                    </a:solidFill>
                  </a:tcPr>
                </a:tc>
                <a:extLst>
                  <a:ext uri="{0D108BD9-81ED-4DB2-BD59-A6C34878D82A}">
                    <a16:rowId xmlns:a16="http://schemas.microsoft.com/office/drawing/2014/main" val="10000"/>
                  </a:ext>
                </a:extLst>
              </a:tr>
              <a:tr h="1665216">
                <a:tc>
                  <a:txBody>
                    <a:bodyPr/>
                    <a:lstStyle/>
                    <a:p>
                      <a:pPr algn="ctr">
                        <a:lnSpc>
                          <a:spcPct val="100000"/>
                        </a:lnSpc>
                        <a:defRPr/>
                      </a:pPr>
                      <a:r>
                        <a:rPr lang="en-US" sz="1200" dirty="0">
                          <a:solidFill>
                            <a:srgbClr val="000000"/>
                          </a:solidFill>
                          <a:sym typeface="Glacial Indifference"/>
                        </a:rPr>
                        <a:t>Captopril 6.25- 50 mg / 8h </a:t>
                      </a:r>
                      <a:endParaRPr lang="en-US" sz="1200" dirty="0"/>
                    </a:p>
                    <a:p>
                      <a:pPr algn="ctr">
                        <a:lnSpc>
                          <a:spcPct val="100000"/>
                        </a:lnSpc>
                      </a:pPr>
                      <a:r>
                        <a:rPr lang="en-US" sz="1200" dirty="0">
                          <a:solidFill>
                            <a:srgbClr val="000000"/>
                          </a:solidFill>
                          <a:sym typeface="Glacial Indifference"/>
                        </a:rPr>
                        <a:t>Enalapril 2.5 - 20 mg/12h </a:t>
                      </a:r>
                    </a:p>
                    <a:p>
                      <a:pPr algn="ctr">
                        <a:lnSpc>
                          <a:spcPct val="100000"/>
                        </a:lnSpc>
                      </a:pPr>
                      <a:r>
                        <a:rPr lang="en-US" sz="1200" dirty="0" err="1">
                          <a:solidFill>
                            <a:srgbClr val="000000"/>
                          </a:solidFill>
                          <a:sym typeface="Glacial Indifference"/>
                        </a:rPr>
                        <a:t>Losartán</a:t>
                      </a:r>
                      <a:r>
                        <a:rPr lang="en-US" sz="1200" dirty="0">
                          <a:solidFill>
                            <a:srgbClr val="000000"/>
                          </a:solidFill>
                          <a:sym typeface="Glacial Indifference"/>
                        </a:rPr>
                        <a:t> 50 mg/24h </a:t>
                      </a:r>
                    </a:p>
                    <a:p>
                      <a:pPr algn="ctr">
                        <a:lnSpc>
                          <a:spcPct val="100000"/>
                        </a:lnSpc>
                      </a:pPr>
                      <a:r>
                        <a:rPr lang="en-US" sz="1200" dirty="0">
                          <a:solidFill>
                            <a:srgbClr val="000000"/>
                          </a:solidFill>
                          <a:sym typeface="Glacial Indifference"/>
                        </a:rPr>
                        <a:t>Candesartan 4-32 mg/24h </a:t>
                      </a:r>
                    </a:p>
                    <a:p>
                      <a:pPr algn="ctr">
                        <a:lnSpc>
                          <a:spcPct val="100000"/>
                        </a:lnSpc>
                      </a:pPr>
                      <a:r>
                        <a:rPr lang="en-US" sz="1200" dirty="0" err="1">
                          <a:solidFill>
                            <a:srgbClr val="000000"/>
                          </a:solidFill>
                          <a:sym typeface="Glacial Indifference"/>
                        </a:rPr>
                        <a:t>Valsartán</a:t>
                      </a:r>
                      <a:r>
                        <a:rPr lang="en-US" sz="1200" dirty="0">
                          <a:solidFill>
                            <a:srgbClr val="000000"/>
                          </a:solidFill>
                          <a:sym typeface="Glacial Indifference"/>
                        </a:rPr>
                        <a:t> 40-160 mg/12h</a:t>
                      </a:r>
                      <a:endParaRPr lang="en-US" sz="1200" dirty="0">
                        <a:solidFill>
                          <a:srgbClr val="000000"/>
                        </a:solidFill>
                        <a:latin typeface="+mn-lt"/>
                        <a:ea typeface="Glacial Indifference"/>
                        <a:cs typeface="Glacial Indifference"/>
                        <a:sym typeface="Glacial Indifference"/>
                      </a:endParaRPr>
                    </a:p>
                  </a:txBody>
                  <a:tcPr marL="85725" marR="85725" marT="85725" marB="85725" anchor="ctr"/>
                </a:tc>
                <a:tc>
                  <a:txBody>
                    <a:bodyPr/>
                    <a:lstStyle/>
                    <a:p>
                      <a:pPr algn="ctr">
                        <a:lnSpc>
                          <a:spcPct val="100000"/>
                        </a:lnSpc>
                        <a:defRPr/>
                      </a:pPr>
                      <a:r>
                        <a:rPr lang="en-US" sz="1200" dirty="0">
                          <a:solidFill>
                            <a:srgbClr val="000000"/>
                          </a:solidFill>
                          <a:sym typeface="Glacial Indifference"/>
                        </a:rPr>
                        <a:t>Sacubitril </a:t>
                      </a:r>
                      <a:r>
                        <a:rPr lang="en-US" sz="1200" dirty="0" err="1">
                          <a:solidFill>
                            <a:srgbClr val="000000"/>
                          </a:solidFill>
                          <a:sym typeface="Glacial Indifference"/>
                        </a:rPr>
                        <a:t>valsartán</a:t>
                      </a:r>
                      <a:r>
                        <a:rPr lang="en-US" sz="1200" dirty="0">
                          <a:solidFill>
                            <a:srgbClr val="000000"/>
                          </a:solidFill>
                          <a:sym typeface="Glacial Indifference"/>
                        </a:rPr>
                        <a:t> 49 - 51 hasta 97-103 mg/12h </a:t>
                      </a:r>
                      <a:endParaRPr lang="en-US" sz="1200" dirty="0">
                        <a:latin typeface="+mn-lt"/>
                      </a:endParaRPr>
                    </a:p>
                  </a:txBody>
                  <a:tcPr marL="85725" marR="85725" marT="85725" marB="85725" anchor="ctr"/>
                </a:tc>
                <a:tc>
                  <a:txBody>
                    <a:bodyPr/>
                    <a:lstStyle/>
                    <a:p>
                      <a:pPr algn="ctr">
                        <a:lnSpc>
                          <a:spcPct val="100000"/>
                        </a:lnSpc>
                        <a:defRPr/>
                      </a:pPr>
                      <a:r>
                        <a:rPr lang="en-US" sz="1200" dirty="0" err="1">
                          <a:solidFill>
                            <a:srgbClr val="000000"/>
                          </a:solidFill>
                          <a:sym typeface="Glacial Indifference"/>
                        </a:rPr>
                        <a:t>Espironolactona</a:t>
                      </a:r>
                      <a:r>
                        <a:rPr lang="en-US" sz="1200" dirty="0">
                          <a:solidFill>
                            <a:srgbClr val="000000"/>
                          </a:solidFill>
                          <a:sym typeface="Glacial Indifference"/>
                        </a:rPr>
                        <a:t> 25-50 mg /24h </a:t>
                      </a:r>
                      <a:endParaRPr lang="en-US" sz="1200" dirty="0"/>
                    </a:p>
                    <a:p>
                      <a:pPr algn="ctr">
                        <a:lnSpc>
                          <a:spcPct val="100000"/>
                        </a:lnSpc>
                      </a:pPr>
                      <a:r>
                        <a:rPr lang="en-US" sz="1200" dirty="0" err="1">
                          <a:solidFill>
                            <a:srgbClr val="000000"/>
                          </a:solidFill>
                          <a:sym typeface="Glacial Indifference"/>
                        </a:rPr>
                        <a:t>Eplerenona</a:t>
                      </a:r>
                      <a:r>
                        <a:rPr lang="en-US" sz="1200" dirty="0">
                          <a:solidFill>
                            <a:srgbClr val="000000"/>
                          </a:solidFill>
                          <a:sym typeface="Glacial Indifference"/>
                        </a:rPr>
                        <a:t> 25-50 mg/24h </a:t>
                      </a:r>
                      <a:endParaRPr lang="en-US" sz="1200" dirty="0">
                        <a:solidFill>
                          <a:srgbClr val="000000"/>
                        </a:solidFill>
                        <a:latin typeface="+mn-lt"/>
                        <a:ea typeface="Glacial Indifference"/>
                        <a:cs typeface="Glacial Indifference"/>
                        <a:sym typeface="Glacial Indifference"/>
                      </a:endParaRPr>
                    </a:p>
                  </a:txBody>
                  <a:tcPr marL="85725" marR="85725" marT="85725" marB="85725" anchor="ctr"/>
                </a:tc>
                <a:tc>
                  <a:txBody>
                    <a:bodyPr/>
                    <a:lstStyle/>
                    <a:p>
                      <a:pPr algn="ctr">
                        <a:lnSpc>
                          <a:spcPct val="100000"/>
                        </a:lnSpc>
                        <a:defRPr/>
                      </a:pPr>
                      <a:r>
                        <a:rPr lang="en-US" sz="1200" dirty="0">
                          <a:solidFill>
                            <a:srgbClr val="000000"/>
                          </a:solidFill>
                          <a:sym typeface="Glacial Indifference"/>
                        </a:rPr>
                        <a:t>Dapagliflozina 10 mg/24h </a:t>
                      </a:r>
                      <a:endParaRPr lang="en-US" sz="1200" dirty="0"/>
                    </a:p>
                    <a:p>
                      <a:pPr algn="ctr">
                        <a:lnSpc>
                          <a:spcPct val="100000"/>
                        </a:lnSpc>
                      </a:pPr>
                      <a:r>
                        <a:rPr lang="en-US" sz="1200" dirty="0" err="1">
                          <a:solidFill>
                            <a:srgbClr val="000000"/>
                          </a:solidFill>
                          <a:sym typeface="Glacial Indifference"/>
                        </a:rPr>
                        <a:t>Empagliflozina</a:t>
                      </a:r>
                      <a:r>
                        <a:rPr lang="en-US" sz="1200" dirty="0">
                          <a:solidFill>
                            <a:srgbClr val="000000"/>
                          </a:solidFill>
                          <a:sym typeface="Glacial Indifference"/>
                        </a:rPr>
                        <a:t> 10 mg/24h</a:t>
                      </a:r>
                      <a:endParaRPr lang="en-US" sz="1200" dirty="0">
                        <a:solidFill>
                          <a:srgbClr val="000000"/>
                        </a:solidFill>
                        <a:latin typeface="+mn-lt"/>
                        <a:ea typeface="Glacial Indifference"/>
                        <a:cs typeface="Glacial Indifference"/>
                        <a:sym typeface="Glacial Indifference"/>
                      </a:endParaRPr>
                    </a:p>
                  </a:txBody>
                  <a:tcPr marL="85725" marR="85725" marT="85725" marB="85725" anchor="ctr"/>
                </a:tc>
                <a:tc>
                  <a:txBody>
                    <a:bodyPr/>
                    <a:lstStyle/>
                    <a:p>
                      <a:pPr algn="ctr">
                        <a:lnSpc>
                          <a:spcPct val="100000"/>
                        </a:lnSpc>
                        <a:defRPr/>
                      </a:pPr>
                      <a:r>
                        <a:rPr lang="en-US" sz="1200" dirty="0" err="1">
                          <a:solidFill>
                            <a:srgbClr val="000000"/>
                          </a:solidFill>
                          <a:sym typeface="Glacial Indifference"/>
                        </a:rPr>
                        <a:t>Ivabradina</a:t>
                      </a:r>
                      <a:r>
                        <a:rPr lang="en-US" sz="1200" dirty="0">
                          <a:solidFill>
                            <a:srgbClr val="000000"/>
                          </a:solidFill>
                          <a:sym typeface="Glacial Indifference"/>
                        </a:rPr>
                        <a:t> 5-7.5 mg/12h</a:t>
                      </a:r>
                      <a:endParaRPr lang="en-US" sz="1200" dirty="0"/>
                    </a:p>
                    <a:p>
                      <a:pPr algn="ctr">
                        <a:lnSpc>
                          <a:spcPct val="100000"/>
                        </a:lnSpc>
                      </a:pPr>
                      <a:r>
                        <a:rPr lang="en-US" sz="1200" dirty="0">
                          <a:solidFill>
                            <a:srgbClr val="000000"/>
                          </a:solidFill>
                          <a:sym typeface="Glacial Indifference"/>
                        </a:rPr>
                        <a:t> Vericiguat 2.5-10 mg/24h </a:t>
                      </a:r>
                    </a:p>
                    <a:p>
                      <a:pPr algn="ctr">
                        <a:lnSpc>
                          <a:spcPct val="100000"/>
                        </a:lnSpc>
                      </a:pPr>
                      <a:r>
                        <a:rPr lang="en-US" sz="1200" dirty="0" err="1">
                          <a:solidFill>
                            <a:srgbClr val="000000"/>
                          </a:solidFill>
                          <a:sym typeface="Glacial Indifference"/>
                        </a:rPr>
                        <a:t>Digoxina</a:t>
                      </a:r>
                      <a:r>
                        <a:rPr lang="en-US" sz="1200" dirty="0">
                          <a:solidFill>
                            <a:srgbClr val="000000"/>
                          </a:solidFill>
                          <a:sym typeface="Glacial Indifference"/>
                        </a:rPr>
                        <a:t> 62.5 mcg/24h</a:t>
                      </a:r>
                    </a:p>
                    <a:p>
                      <a:pPr algn="ctr">
                        <a:lnSpc>
                          <a:spcPct val="100000"/>
                        </a:lnSpc>
                      </a:pPr>
                      <a:r>
                        <a:rPr lang="en-US" sz="1200" dirty="0" err="1">
                          <a:solidFill>
                            <a:srgbClr val="000000"/>
                          </a:solidFill>
                          <a:sym typeface="Glacial Indifference"/>
                        </a:rPr>
                        <a:t>Hidralazina+dinitrato</a:t>
                      </a:r>
                      <a:r>
                        <a:rPr lang="en-US" sz="1200" dirty="0">
                          <a:solidFill>
                            <a:srgbClr val="000000"/>
                          </a:solidFill>
                          <a:sym typeface="Glacial Indifference"/>
                        </a:rPr>
                        <a:t> </a:t>
                      </a:r>
                      <a:r>
                        <a:rPr lang="en-US" sz="1200" dirty="0" err="1">
                          <a:solidFill>
                            <a:srgbClr val="000000"/>
                          </a:solidFill>
                          <a:sym typeface="Glacial Indifference"/>
                        </a:rPr>
                        <a:t>isosorbida</a:t>
                      </a:r>
                      <a:r>
                        <a:rPr lang="en-US" sz="1200" dirty="0">
                          <a:solidFill>
                            <a:srgbClr val="000000"/>
                          </a:solidFill>
                          <a:sym typeface="Glacial Indifference"/>
                        </a:rPr>
                        <a:t>: 37.5 + 20 hasta 75 +40  mg/8h</a:t>
                      </a:r>
                      <a:endParaRPr lang="en-US" sz="1200" dirty="0">
                        <a:solidFill>
                          <a:srgbClr val="000000"/>
                        </a:solidFill>
                        <a:latin typeface="+mn-lt"/>
                        <a:ea typeface="Glacial Indifference"/>
                        <a:cs typeface="Glacial Indifference"/>
                        <a:sym typeface="Glacial Indifference"/>
                      </a:endParaRPr>
                    </a:p>
                  </a:txBody>
                  <a:tcPr marL="85725" marR="85725" marT="85725" marB="85725" anchor="ctr"/>
                </a:tc>
                <a:extLst>
                  <a:ext uri="{0D108BD9-81ED-4DB2-BD59-A6C34878D82A}">
                    <a16:rowId xmlns:a16="http://schemas.microsoft.com/office/drawing/2014/main" val="10001"/>
                  </a:ext>
                </a:extLst>
              </a:tr>
            </a:tbl>
          </a:graphicData>
        </a:graphic>
      </p:graphicFrame>
      <p:sp>
        <p:nvSpPr>
          <p:cNvPr id="8" name="Google Shape;123;p3">
            <a:extLst>
              <a:ext uri="{FF2B5EF4-FFF2-40B4-BE49-F238E27FC236}">
                <a16:creationId xmlns:a16="http://schemas.microsoft.com/office/drawing/2014/main" id="{4D2E5BD2-2B7D-43EE-8E1C-7EE42EE670E2}"/>
              </a:ext>
            </a:extLst>
          </p:cNvPr>
          <p:cNvSpPr txBox="1"/>
          <p:nvPr/>
        </p:nvSpPr>
        <p:spPr>
          <a:xfrm>
            <a:off x="91035" y="6368153"/>
            <a:ext cx="11161801"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CO" sz="700" i="1" dirty="0" err="1">
                <a:solidFill>
                  <a:schemeClr val="bg2">
                    <a:lumMod val="10000"/>
                  </a:schemeClr>
                </a:solidFill>
              </a:rPr>
              <a:t>McDonagh</a:t>
            </a:r>
            <a:r>
              <a:rPr lang="es-CO" sz="700" i="1" dirty="0">
                <a:solidFill>
                  <a:schemeClr val="bg2">
                    <a:lumMod val="10000"/>
                  </a:schemeClr>
                </a:solidFill>
              </a:rPr>
              <a:t>, T. A., Metra, M., Adamo, M., Gardner, R. S., </a:t>
            </a:r>
            <a:r>
              <a:rPr lang="es-CO" sz="700" i="1" dirty="0" err="1">
                <a:solidFill>
                  <a:schemeClr val="bg2">
                    <a:lumMod val="10000"/>
                  </a:schemeClr>
                </a:solidFill>
              </a:rPr>
              <a:t>Baumbach</a:t>
            </a:r>
            <a:r>
              <a:rPr lang="es-CO" sz="700" i="1" dirty="0">
                <a:solidFill>
                  <a:schemeClr val="bg2">
                    <a:lumMod val="10000"/>
                  </a:schemeClr>
                </a:solidFill>
              </a:rPr>
              <a:t>, A., </a:t>
            </a:r>
            <a:r>
              <a:rPr lang="es-CO" sz="700" i="1" dirty="0" err="1">
                <a:solidFill>
                  <a:schemeClr val="bg2">
                    <a:lumMod val="10000"/>
                  </a:schemeClr>
                </a:solidFill>
              </a:rPr>
              <a:t>Böhm</a:t>
            </a:r>
            <a:r>
              <a:rPr lang="es-CO" sz="700" i="1" dirty="0">
                <a:solidFill>
                  <a:schemeClr val="bg2">
                    <a:lumMod val="10000"/>
                  </a:schemeClr>
                </a:solidFill>
              </a:rPr>
              <a:t>, M., … &amp; </a:t>
            </a:r>
            <a:r>
              <a:rPr lang="es-CO" sz="700" i="1" dirty="0" err="1">
                <a:solidFill>
                  <a:schemeClr val="bg2">
                    <a:lumMod val="10000"/>
                  </a:schemeClr>
                </a:solidFill>
              </a:rPr>
              <a:t>Coats</a:t>
            </a:r>
            <a:r>
              <a:rPr lang="es-CO" sz="700" i="1" dirty="0">
                <a:solidFill>
                  <a:schemeClr val="bg2">
                    <a:lumMod val="10000"/>
                  </a:schemeClr>
                </a:solidFill>
              </a:rPr>
              <a:t>, A. J. S. (2021). 2021 ESC Guidelines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Developed</a:t>
            </a:r>
            <a:r>
              <a:rPr lang="es-CO" sz="700" i="1" dirty="0">
                <a:solidFill>
                  <a:schemeClr val="bg2">
                    <a:lumMod val="10000"/>
                  </a:schemeClr>
                </a:solidFill>
              </a:rPr>
              <a:t> </a:t>
            </a:r>
            <a:r>
              <a:rPr lang="es-CO" sz="700" i="1" dirty="0" err="1">
                <a:solidFill>
                  <a:schemeClr val="bg2">
                    <a:lumMod val="10000"/>
                  </a:schemeClr>
                </a:solidFill>
              </a:rPr>
              <a:t>by</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Task</a:t>
            </a:r>
            <a:r>
              <a:rPr lang="es-CO" sz="700" i="1" dirty="0">
                <a:solidFill>
                  <a:schemeClr val="bg2">
                    <a:lumMod val="10000"/>
                  </a:schemeClr>
                </a:solidFill>
              </a:rPr>
              <a:t> </a:t>
            </a:r>
            <a:r>
              <a:rPr lang="es-CO" sz="700" i="1" dirty="0" err="1">
                <a:solidFill>
                  <a:schemeClr val="bg2">
                    <a:lumMod val="10000"/>
                  </a:schemeClr>
                </a:solidFill>
              </a:rPr>
              <a:t>Force</a:t>
            </a:r>
            <a:r>
              <a:rPr lang="es-CO" sz="700" i="1" dirty="0">
                <a:solidFill>
                  <a:schemeClr val="bg2">
                    <a:lumMod val="10000"/>
                  </a:schemeClr>
                </a:solidFill>
              </a:rPr>
              <a:t>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European</a:t>
            </a:r>
            <a:r>
              <a:rPr lang="es-CO" sz="700" i="1" dirty="0">
                <a:solidFill>
                  <a:schemeClr val="bg2">
                    <a:lumMod val="10000"/>
                  </a:schemeClr>
                </a:solidFill>
              </a:rPr>
              <a:t> </a:t>
            </a:r>
            <a:r>
              <a:rPr lang="es-CO" sz="700" i="1" dirty="0" err="1">
                <a:solidFill>
                  <a:schemeClr val="bg2">
                    <a:lumMod val="10000"/>
                  </a:schemeClr>
                </a:solidFill>
              </a:rPr>
              <a:t>Society</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Cardiology</a:t>
            </a:r>
            <a:r>
              <a:rPr lang="es-CO" sz="700" i="1" dirty="0">
                <a:solidFill>
                  <a:schemeClr val="bg2">
                    <a:lumMod val="10000"/>
                  </a:schemeClr>
                </a:solidFill>
              </a:rPr>
              <a:t> (ESC) </a:t>
            </a:r>
            <a:r>
              <a:rPr lang="es-CO" sz="700" i="1" dirty="0" err="1">
                <a:solidFill>
                  <a:schemeClr val="bg2">
                    <a:lumMod val="10000"/>
                  </a:schemeClr>
                </a:solidFill>
              </a:rPr>
              <a:t>with</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special</a:t>
            </a:r>
            <a:r>
              <a:rPr lang="es-CO" sz="700" i="1" dirty="0">
                <a:solidFill>
                  <a:schemeClr val="bg2">
                    <a:lumMod val="10000"/>
                  </a:schemeClr>
                </a:solidFill>
              </a:rPr>
              <a:t> </a:t>
            </a:r>
            <a:r>
              <a:rPr lang="es-CO" sz="700" i="1" dirty="0" err="1">
                <a:solidFill>
                  <a:schemeClr val="bg2">
                    <a:lumMod val="10000"/>
                  </a:schemeClr>
                </a:solidFill>
              </a:rPr>
              <a:t>contribution</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Heart Failure </a:t>
            </a:r>
            <a:r>
              <a:rPr lang="es-CO" sz="700" i="1" dirty="0" err="1">
                <a:solidFill>
                  <a:schemeClr val="bg2">
                    <a:lumMod val="10000"/>
                  </a:schemeClr>
                </a:solidFill>
              </a:rPr>
              <a:t>Association</a:t>
            </a:r>
            <a:r>
              <a:rPr lang="es-CO" sz="700" i="1" dirty="0">
                <a:solidFill>
                  <a:schemeClr val="bg2">
                    <a:lumMod val="10000"/>
                  </a:schemeClr>
                </a:solidFill>
              </a:rPr>
              <a:t> (HFA)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ESC. </a:t>
            </a:r>
            <a:r>
              <a:rPr lang="es-CO" sz="700" i="1" dirty="0" err="1">
                <a:solidFill>
                  <a:schemeClr val="bg2">
                    <a:lumMod val="10000"/>
                  </a:schemeClr>
                </a:solidFill>
              </a:rPr>
              <a:t>European</a:t>
            </a:r>
            <a:r>
              <a:rPr lang="es-CO" sz="700" i="1" dirty="0">
                <a:solidFill>
                  <a:schemeClr val="bg2">
                    <a:lumMod val="10000"/>
                  </a:schemeClr>
                </a:solidFill>
              </a:rPr>
              <a:t> Heart </a:t>
            </a:r>
            <a:r>
              <a:rPr lang="es-CO" sz="700" i="1" dirty="0" err="1">
                <a:solidFill>
                  <a:schemeClr val="bg2">
                    <a:lumMod val="10000"/>
                  </a:schemeClr>
                </a:solidFill>
              </a:rPr>
              <a:t>Journal</a:t>
            </a:r>
            <a:r>
              <a:rPr lang="es-CO" sz="700" i="1" dirty="0">
                <a:solidFill>
                  <a:schemeClr val="bg2">
                    <a:lumMod val="10000"/>
                  </a:schemeClr>
                </a:solidFill>
              </a:rPr>
              <a:t>, 42(36), 3599–3726. https://doi.org/10.1093/eurheartj/ehab368</a:t>
            </a:r>
            <a:endParaRPr sz="700" i="1" dirty="0">
              <a:solidFill>
                <a:schemeClr val="bg2">
                  <a:lumMod val="10000"/>
                </a:schemeClr>
              </a:solidFill>
            </a:endParaRPr>
          </a:p>
        </p:txBody>
      </p:sp>
    </p:spTree>
    <p:extLst>
      <p:ext uri="{BB962C8B-B14F-4D97-AF65-F5344CB8AC3E}">
        <p14:creationId xmlns:p14="http://schemas.microsoft.com/office/powerpoint/2010/main" val="1209613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206523" y="3244334"/>
            <a:ext cx="6391274" cy="369332"/>
          </a:xfrm>
          <a:prstGeom prst="rect">
            <a:avLst/>
          </a:prstGeom>
          <a:noFill/>
        </p:spPr>
        <p:txBody>
          <a:bodyPr wrap="square">
            <a:spAutoFit/>
          </a:bodyPr>
          <a:lstStyle/>
          <a:p>
            <a:r>
              <a:rPr lang="es-CO" b="0" dirty="0">
                <a:effectLst/>
              </a:rPr>
              <a:t> </a:t>
            </a:r>
            <a:endParaRPr lang="es-CO" dirty="0"/>
          </a:p>
        </p:txBody>
      </p:sp>
      <p:pic>
        <p:nvPicPr>
          <p:cNvPr id="3" name="Imagen 2">
            <a:extLst>
              <a:ext uri="{FF2B5EF4-FFF2-40B4-BE49-F238E27FC236}">
                <a16:creationId xmlns:a16="http://schemas.microsoft.com/office/drawing/2014/main" id="{E7346F7A-66D2-46D3-8048-EA8F684A38D0}"/>
              </a:ext>
            </a:extLst>
          </p:cNvPr>
          <p:cNvPicPr>
            <a:picLocks noChangeAspect="1"/>
          </p:cNvPicPr>
          <p:nvPr/>
        </p:nvPicPr>
        <p:blipFill>
          <a:blip r:embed="rId3"/>
          <a:stretch>
            <a:fillRect/>
          </a:stretch>
        </p:blipFill>
        <p:spPr>
          <a:xfrm>
            <a:off x="2422855" y="614771"/>
            <a:ext cx="7958609" cy="5843029"/>
          </a:xfrm>
          <a:prstGeom prst="rect">
            <a:avLst/>
          </a:prstGeom>
        </p:spPr>
      </p:pic>
      <p:sp>
        <p:nvSpPr>
          <p:cNvPr id="8" name="Google Shape;123;p3">
            <a:extLst>
              <a:ext uri="{FF2B5EF4-FFF2-40B4-BE49-F238E27FC236}">
                <a16:creationId xmlns:a16="http://schemas.microsoft.com/office/drawing/2014/main" id="{0C88BE7A-5B33-47EE-9C2E-AAEF2A70DA3C}"/>
              </a:ext>
            </a:extLst>
          </p:cNvPr>
          <p:cNvSpPr txBox="1"/>
          <p:nvPr/>
        </p:nvSpPr>
        <p:spPr>
          <a:xfrm>
            <a:off x="0" y="6457800"/>
            <a:ext cx="11161801"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CO" sz="700" i="1" dirty="0" err="1">
                <a:solidFill>
                  <a:schemeClr val="bg2">
                    <a:lumMod val="10000"/>
                  </a:schemeClr>
                </a:solidFill>
              </a:rPr>
              <a:t>McDonagh</a:t>
            </a:r>
            <a:r>
              <a:rPr lang="es-CO" sz="700" i="1" dirty="0">
                <a:solidFill>
                  <a:schemeClr val="bg2">
                    <a:lumMod val="10000"/>
                  </a:schemeClr>
                </a:solidFill>
              </a:rPr>
              <a:t>, T. A., Metra, M., Adamo, M., Gardner, R. S., </a:t>
            </a:r>
            <a:r>
              <a:rPr lang="es-CO" sz="700" i="1" dirty="0" err="1">
                <a:solidFill>
                  <a:schemeClr val="bg2">
                    <a:lumMod val="10000"/>
                  </a:schemeClr>
                </a:solidFill>
              </a:rPr>
              <a:t>Baumbach</a:t>
            </a:r>
            <a:r>
              <a:rPr lang="es-CO" sz="700" i="1" dirty="0">
                <a:solidFill>
                  <a:schemeClr val="bg2">
                    <a:lumMod val="10000"/>
                  </a:schemeClr>
                </a:solidFill>
              </a:rPr>
              <a:t>, A., </a:t>
            </a:r>
            <a:r>
              <a:rPr lang="es-CO" sz="700" i="1" dirty="0" err="1">
                <a:solidFill>
                  <a:schemeClr val="bg2">
                    <a:lumMod val="10000"/>
                  </a:schemeClr>
                </a:solidFill>
              </a:rPr>
              <a:t>Böhm</a:t>
            </a:r>
            <a:r>
              <a:rPr lang="es-CO" sz="700" i="1" dirty="0">
                <a:solidFill>
                  <a:schemeClr val="bg2">
                    <a:lumMod val="10000"/>
                  </a:schemeClr>
                </a:solidFill>
              </a:rPr>
              <a:t>, M., … &amp; </a:t>
            </a:r>
            <a:r>
              <a:rPr lang="es-CO" sz="700" i="1" dirty="0" err="1">
                <a:solidFill>
                  <a:schemeClr val="bg2">
                    <a:lumMod val="10000"/>
                  </a:schemeClr>
                </a:solidFill>
              </a:rPr>
              <a:t>Coats</a:t>
            </a:r>
            <a:r>
              <a:rPr lang="es-CO" sz="700" i="1" dirty="0">
                <a:solidFill>
                  <a:schemeClr val="bg2">
                    <a:lumMod val="10000"/>
                  </a:schemeClr>
                </a:solidFill>
              </a:rPr>
              <a:t>, A. J. S. (2021). 2021 ESC Guidelines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Developed</a:t>
            </a:r>
            <a:r>
              <a:rPr lang="es-CO" sz="700" i="1" dirty="0">
                <a:solidFill>
                  <a:schemeClr val="bg2">
                    <a:lumMod val="10000"/>
                  </a:schemeClr>
                </a:solidFill>
              </a:rPr>
              <a:t> </a:t>
            </a:r>
            <a:r>
              <a:rPr lang="es-CO" sz="700" i="1" dirty="0" err="1">
                <a:solidFill>
                  <a:schemeClr val="bg2">
                    <a:lumMod val="10000"/>
                  </a:schemeClr>
                </a:solidFill>
              </a:rPr>
              <a:t>by</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Task</a:t>
            </a:r>
            <a:r>
              <a:rPr lang="es-CO" sz="700" i="1" dirty="0">
                <a:solidFill>
                  <a:schemeClr val="bg2">
                    <a:lumMod val="10000"/>
                  </a:schemeClr>
                </a:solidFill>
              </a:rPr>
              <a:t> </a:t>
            </a:r>
            <a:r>
              <a:rPr lang="es-CO" sz="700" i="1" dirty="0" err="1">
                <a:solidFill>
                  <a:schemeClr val="bg2">
                    <a:lumMod val="10000"/>
                  </a:schemeClr>
                </a:solidFill>
              </a:rPr>
              <a:t>Force</a:t>
            </a:r>
            <a:r>
              <a:rPr lang="es-CO" sz="700" i="1" dirty="0">
                <a:solidFill>
                  <a:schemeClr val="bg2">
                    <a:lumMod val="10000"/>
                  </a:schemeClr>
                </a:solidFill>
              </a:rPr>
              <a:t>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European</a:t>
            </a:r>
            <a:r>
              <a:rPr lang="es-CO" sz="700" i="1" dirty="0">
                <a:solidFill>
                  <a:schemeClr val="bg2">
                    <a:lumMod val="10000"/>
                  </a:schemeClr>
                </a:solidFill>
              </a:rPr>
              <a:t> </a:t>
            </a:r>
            <a:r>
              <a:rPr lang="es-CO" sz="700" i="1" dirty="0" err="1">
                <a:solidFill>
                  <a:schemeClr val="bg2">
                    <a:lumMod val="10000"/>
                  </a:schemeClr>
                </a:solidFill>
              </a:rPr>
              <a:t>Society</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Cardiology</a:t>
            </a:r>
            <a:r>
              <a:rPr lang="es-CO" sz="700" i="1" dirty="0">
                <a:solidFill>
                  <a:schemeClr val="bg2">
                    <a:lumMod val="10000"/>
                  </a:schemeClr>
                </a:solidFill>
              </a:rPr>
              <a:t> (ESC) </a:t>
            </a:r>
            <a:r>
              <a:rPr lang="es-CO" sz="700" i="1" dirty="0" err="1">
                <a:solidFill>
                  <a:schemeClr val="bg2">
                    <a:lumMod val="10000"/>
                  </a:schemeClr>
                </a:solidFill>
              </a:rPr>
              <a:t>with</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special</a:t>
            </a:r>
            <a:r>
              <a:rPr lang="es-CO" sz="700" i="1" dirty="0">
                <a:solidFill>
                  <a:schemeClr val="bg2">
                    <a:lumMod val="10000"/>
                  </a:schemeClr>
                </a:solidFill>
              </a:rPr>
              <a:t> </a:t>
            </a:r>
            <a:r>
              <a:rPr lang="es-CO" sz="700" i="1" dirty="0" err="1">
                <a:solidFill>
                  <a:schemeClr val="bg2">
                    <a:lumMod val="10000"/>
                  </a:schemeClr>
                </a:solidFill>
              </a:rPr>
              <a:t>contribution</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Heart Failure </a:t>
            </a:r>
            <a:r>
              <a:rPr lang="es-CO" sz="700" i="1" dirty="0" err="1">
                <a:solidFill>
                  <a:schemeClr val="bg2">
                    <a:lumMod val="10000"/>
                  </a:schemeClr>
                </a:solidFill>
              </a:rPr>
              <a:t>Association</a:t>
            </a:r>
            <a:r>
              <a:rPr lang="es-CO" sz="700" i="1" dirty="0">
                <a:solidFill>
                  <a:schemeClr val="bg2">
                    <a:lumMod val="10000"/>
                  </a:schemeClr>
                </a:solidFill>
              </a:rPr>
              <a:t> (HFA)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ESC. </a:t>
            </a:r>
            <a:r>
              <a:rPr lang="es-CO" sz="700" i="1" dirty="0" err="1">
                <a:solidFill>
                  <a:schemeClr val="bg2">
                    <a:lumMod val="10000"/>
                  </a:schemeClr>
                </a:solidFill>
              </a:rPr>
              <a:t>European</a:t>
            </a:r>
            <a:r>
              <a:rPr lang="es-CO" sz="700" i="1" dirty="0">
                <a:solidFill>
                  <a:schemeClr val="bg2">
                    <a:lumMod val="10000"/>
                  </a:schemeClr>
                </a:solidFill>
              </a:rPr>
              <a:t> Heart </a:t>
            </a:r>
            <a:r>
              <a:rPr lang="es-CO" sz="700" i="1" dirty="0" err="1">
                <a:solidFill>
                  <a:schemeClr val="bg2">
                    <a:lumMod val="10000"/>
                  </a:schemeClr>
                </a:solidFill>
              </a:rPr>
              <a:t>Journal</a:t>
            </a:r>
            <a:r>
              <a:rPr lang="es-CO" sz="700" i="1" dirty="0">
                <a:solidFill>
                  <a:schemeClr val="bg2">
                    <a:lumMod val="10000"/>
                  </a:schemeClr>
                </a:solidFill>
              </a:rPr>
              <a:t>, 42(36), 3599–3726. https://doi.org/10.1093/eurheartj/ehab368</a:t>
            </a:r>
            <a:endParaRPr sz="700" i="1" dirty="0">
              <a:solidFill>
                <a:schemeClr val="bg2">
                  <a:lumMod val="10000"/>
                </a:schemeClr>
              </a:solidFill>
            </a:endParaRPr>
          </a:p>
        </p:txBody>
      </p:sp>
      <p:sp>
        <p:nvSpPr>
          <p:cNvPr id="9" name="CuadroTexto 8">
            <a:extLst>
              <a:ext uri="{FF2B5EF4-FFF2-40B4-BE49-F238E27FC236}">
                <a16:creationId xmlns:a16="http://schemas.microsoft.com/office/drawing/2014/main" id="{E1384A22-2ED8-455E-AB4B-25EAFCA87403}"/>
              </a:ext>
            </a:extLst>
          </p:cNvPr>
          <p:cNvSpPr txBox="1"/>
          <p:nvPr/>
        </p:nvSpPr>
        <p:spPr>
          <a:xfrm>
            <a:off x="3294288" y="33724"/>
            <a:ext cx="5886450" cy="523220"/>
          </a:xfrm>
          <a:prstGeom prst="rect">
            <a:avLst/>
          </a:prstGeom>
          <a:noFill/>
        </p:spPr>
        <p:txBody>
          <a:bodyPr wrap="square" rtlCol="0">
            <a:spAutoFit/>
          </a:bodyPr>
          <a:lstStyle/>
          <a:p>
            <a:pPr algn="ctr"/>
            <a:r>
              <a:rPr lang="es-CO" sz="2800" b="1" dirty="0">
                <a:solidFill>
                  <a:schemeClr val="accent6">
                    <a:lumMod val="50000"/>
                  </a:schemeClr>
                </a:solidFill>
              </a:rPr>
              <a:t>Tratamiento: FEVI reducida</a:t>
            </a:r>
          </a:p>
        </p:txBody>
      </p:sp>
    </p:spTree>
    <p:extLst>
      <p:ext uri="{BB962C8B-B14F-4D97-AF65-F5344CB8AC3E}">
        <p14:creationId xmlns:p14="http://schemas.microsoft.com/office/powerpoint/2010/main" val="25791293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206523" y="3244334"/>
            <a:ext cx="6391274" cy="369332"/>
          </a:xfrm>
          <a:prstGeom prst="rect">
            <a:avLst/>
          </a:prstGeom>
          <a:noFill/>
        </p:spPr>
        <p:txBody>
          <a:bodyPr wrap="square">
            <a:spAutoFit/>
          </a:bodyPr>
          <a:lstStyle/>
          <a:p>
            <a:r>
              <a:rPr lang="es-CO" b="0" dirty="0">
                <a:effectLst/>
              </a:rPr>
              <a:t> </a:t>
            </a:r>
            <a:endParaRPr lang="es-CO" dirty="0"/>
          </a:p>
        </p:txBody>
      </p:sp>
      <p:pic>
        <p:nvPicPr>
          <p:cNvPr id="3" name="Imagen 2">
            <a:extLst>
              <a:ext uri="{FF2B5EF4-FFF2-40B4-BE49-F238E27FC236}">
                <a16:creationId xmlns:a16="http://schemas.microsoft.com/office/drawing/2014/main" id="{5F17B683-1B9A-427E-84AF-075F845B6C29}"/>
              </a:ext>
            </a:extLst>
          </p:cNvPr>
          <p:cNvPicPr>
            <a:picLocks noChangeAspect="1"/>
          </p:cNvPicPr>
          <p:nvPr/>
        </p:nvPicPr>
        <p:blipFill>
          <a:blip r:embed="rId3"/>
          <a:stretch>
            <a:fillRect/>
          </a:stretch>
        </p:blipFill>
        <p:spPr>
          <a:xfrm>
            <a:off x="2827684" y="719662"/>
            <a:ext cx="6819657" cy="5418675"/>
          </a:xfrm>
          <a:prstGeom prst="rect">
            <a:avLst/>
          </a:prstGeom>
        </p:spPr>
      </p:pic>
      <p:sp>
        <p:nvSpPr>
          <p:cNvPr id="6" name="CuadroTexto 5">
            <a:extLst>
              <a:ext uri="{FF2B5EF4-FFF2-40B4-BE49-F238E27FC236}">
                <a16:creationId xmlns:a16="http://schemas.microsoft.com/office/drawing/2014/main" id="{9BABCB41-C8BB-413A-BE07-67F3EC3BF77A}"/>
              </a:ext>
            </a:extLst>
          </p:cNvPr>
          <p:cNvSpPr txBox="1"/>
          <p:nvPr/>
        </p:nvSpPr>
        <p:spPr>
          <a:xfrm>
            <a:off x="3294288" y="33724"/>
            <a:ext cx="5886450" cy="523220"/>
          </a:xfrm>
          <a:prstGeom prst="rect">
            <a:avLst/>
          </a:prstGeom>
          <a:noFill/>
        </p:spPr>
        <p:txBody>
          <a:bodyPr wrap="square" rtlCol="0">
            <a:spAutoFit/>
          </a:bodyPr>
          <a:lstStyle/>
          <a:p>
            <a:pPr algn="ctr"/>
            <a:r>
              <a:rPr lang="es-CO" sz="2800" b="1" dirty="0">
                <a:solidFill>
                  <a:schemeClr val="accent6">
                    <a:lumMod val="50000"/>
                  </a:schemeClr>
                </a:solidFill>
              </a:rPr>
              <a:t>Tratamiento: FEVI levemente reducida</a:t>
            </a:r>
          </a:p>
        </p:txBody>
      </p:sp>
      <p:sp>
        <p:nvSpPr>
          <p:cNvPr id="8" name="Google Shape;123;p3">
            <a:extLst>
              <a:ext uri="{FF2B5EF4-FFF2-40B4-BE49-F238E27FC236}">
                <a16:creationId xmlns:a16="http://schemas.microsoft.com/office/drawing/2014/main" id="{A7637BC1-6673-4156-A4DF-663AEC89A4B1}"/>
              </a:ext>
            </a:extLst>
          </p:cNvPr>
          <p:cNvSpPr txBox="1"/>
          <p:nvPr/>
        </p:nvSpPr>
        <p:spPr>
          <a:xfrm>
            <a:off x="0" y="6457800"/>
            <a:ext cx="11161801"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CO" sz="700" i="1" dirty="0" err="1">
                <a:solidFill>
                  <a:schemeClr val="bg2">
                    <a:lumMod val="10000"/>
                  </a:schemeClr>
                </a:solidFill>
              </a:rPr>
              <a:t>McDonagh</a:t>
            </a:r>
            <a:r>
              <a:rPr lang="es-CO" sz="700" i="1" dirty="0">
                <a:solidFill>
                  <a:schemeClr val="bg2">
                    <a:lumMod val="10000"/>
                  </a:schemeClr>
                </a:solidFill>
              </a:rPr>
              <a:t>, T. A., Metra, M., Adamo, M., Gardner, R. S., </a:t>
            </a:r>
            <a:r>
              <a:rPr lang="es-CO" sz="700" i="1" dirty="0" err="1">
                <a:solidFill>
                  <a:schemeClr val="bg2">
                    <a:lumMod val="10000"/>
                  </a:schemeClr>
                </a:solidFill>
              </a:rPr>
              <a:t>Baumbach</a:t>
            </a:r>
            <a:r>
              <a:rPr lang="es-CO" sz="700" i="1" dirty="0">
                <a:solidFill>
                  <a:schemeClr val="bg2">
                    <a:lumMod val="10000"/>
                  </a:schemeClr>
                </a:solidFill>
              </a:rPr>
              <a:t>, A., </a:t>
            </a:r>
            <a:r>
              <a:rPr lang="es-CO" sz="700" i="1" dirty="0" err="1">
                <a:solidFill>
                  <a:schemeClr val="bg2">
                    <a:lumMod val="10000"/>
                  </a:schemeClr>
                </a:solidFill>
              </a:rPr>
              <a:t>Böhm</a:t>
            </a:r>
            <a:r>
              <a:rPr lang="es-CO" sz="700" i="1" dirty="0">
                <a:solidFill>
                  <a:schemeClr val="bg2">
                    <a:lumMod val="10000"/>
                  </a:schemeClr>
                </a:solidFill>
              </a:rPr>
              <a:t>, M., … &amp; </a:t>
            </a:r>
            <a:r>
              <a:rPr lang="es-CO" sz="700" i="1" dirty="0" err="1">
                <a:solidFill>
                  <a:schemeClr val="bg2">
                    <a:lumMod val="10000"/>
                  </a:schemeClr>
                </a:solidFill>
              </a:rPr>
              <a:t>Coats</a:t>
            </a:r>
            <a:r>
              <a:rPr lang="es-CO" sz="700" i="1" dirty="0">
                <a:solidFill>
                  <a:schemeClr val="bg2">
                    <a:lumMod val="10000"/>
                  </a:schemeClr>
                </a:solidFill>
              </a:rPr>
              <a:t>, A. J. S. (2021). 2021 ESC Guidelines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Developed</a:t>
            </a:r>
            <a:r>
              <a:rPr lang="es-CO" sz="700" i="1" dirty="0">
                <a:solidFill>
                  <a:schemeClr val="bg2">
                    <a:lumMod val="10000"/>
                  </a:schemeClr>
                </a:solidFill>
              </a:rPr>
              <a:t> </a:t>
            </a:r>
            <a:r>
              <a:rPr lang="es-CO" sz="700" i="1" dirty="0" err="1">
                <a:solidFill>
                  <a:schemeClr val="bg2">
                    <a:lumMod val="10000"/>
                  </a:schemeClr>
                </a:solidFill>
              </a:rPr>
              <a:t>by</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Task</a:t>
            </a:r>
            <a:r>
              <a:rPr lang="es-CO" sz="700" i="1" dirty="0">
                <a:solidFill>
                  <a:schemeClr val="bg2">
                    <a:lumMod val="10000"/>
                  </a:schemeClr>
                </a:solidFill>
              </a:rPr>
              <a:t> </a:t>
            </a:r>
            <a:r>
              <a:rPr lang="es-CO" sz="700" i="1" dirty="0" err="1">
                <a:solidFill>
                  <a:schemeClr val="bg2">
                    <a:lumMod val="10000"/>
                  </a:schemeClr>
                </a:solidFill>
              </a:rPr>
              <a:t>Force</a:t>
            </a:r>
            <a:r>
              <a:rPr lang="es-CO" sz="700" i="1" dirty="0">
                <a:solidFill>
                  <a:schemeClr val="bg2">
                    <a:lumMod val="10000"/>
                  </a:schemeClr>
                </a:solidFill>
              </a:rPr>
              <a:t>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European</a:t>
            </a:r>
            <a:r>
              <a:rPr lang="es-CO" sz="700" i="1" dirty="0">
                <a:solidFill>
                  <a:schemeClr val="bg2">
                    <a:lumMod val="10000"/>
                  </a:schemeClr>
                </a:solidFill>
              </a:rPr>
              <a:t> </a:t>
            </a:r>
            <a:r>
              <a:rPr lang="es-CO" sz="700" i="1" dirty="0" err="1">
                <a:solidFill>
                  <a:schemeClr val="bg2">
                    <a:lumMod val="10000"/>
                  </a:schemeClr>
                </a:solidFill>
              </a:rPr>
              <a:t>Society</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Cardiology</a:t>
            </a:r>
            <a:r>
              <a:rPr lang="es-CO" sz="700" i="1" dirty="0">
                <a:solidFill>
                  <a:schemeClr val="bg2">
                    <a:lumMod val="10000"/>
                  </a:schemeClr>
                </a:solidFill>
              </a:rPr>
              <a:t> (ESC) </a:t>
            </a:r>
            <a:r>
              <a:rPr lang="es-CO" sz="700" i="1" dirty="0" err="1">
                <a:solidFill>
                  <a:schemeClr val="bg2">
                    <a:lumMod val="10000"/>
                  </a:schemeClr>
                </a:solidFill>
              </a:rPr>
              <a:t>with</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special</a:t>
            </a:r>
            <a:r>
              <a:rPr lang="es-CO" sz="700" i="1" dirty="0">
                <a:solidFill>
                  <a:schemeClr val="bg2">
                    <a:lumMod val="10000"/>
                  </a:schemeClr>
                </a:solidFill>
              </a:rPr>
              <a:t> </a:t>
            </a:r>
            <a:r>
              <a:rPr lang="es-CO" sz="700" i="1" dirty="0" err="1">
                <a:solidFill>
                  <a:schemeClr val="bg2">
                    <a:lumMod val="10000"/>
                  </a:schemeClr>
                </a:solidFill>
              </a:rPr>
              <a:t>contribution</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Heart Failure </a:t>
            </a:r>
            <a:r>
              <a:rPr lang="es-CO" sz="700" i="1" dirty="0" err="1">
                <a:solidFill>
                  <a:schemeClr val="bg2">
                    <a:lumMod val="10000"/>
                  </a:schemeClr>
                </a:solidFill>
              </a:rPr>
              <a:t>Association</a:t>
            </a:r>
            <a:r>
              <a:rPr lang="es-CO" sz="700" i="1" dirty="0">
                <a:solidFill>
                  <a:schemeClr val="bg2">
                    <a:lumMod val="10000"/>
                  </a:schemeClr>
                </a:solidFill>
              </a:rPr>
              <a:t> (HFA)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ESC. </a:t>
            </a:r>
            <a:r>
              <a:rPr lang="es-CO" sz="700" i="1" dirty="0" err="1">
                <a:solidFill>
                  <a:schemeClr val="bg2">
                    <a:lumMod val="10000"/>
                  </a:schemeClr>
                </a:solidFill>
              </a:rPr>
              <a:t>European</a:t>
            </a:r>
            <a:r>
              <a:rPr lang="es-CO" sz="700" i="1" dirty="0">
                <a:solidFill>
                  <a:schemeClr val="bg2">
                    <a:lumMod val="10000"/>
                  </a:schemeClr>
                </a:solidFill>
              </a:rPr>
              <a:t> Heart </a:t>
            </a:r>
            <a:r>
              <a:rPr lang="es-CO" sz="700" i="1" dirty="0" err="1">
                <a:solidFill>
                  <a:schemeClr val="bg2">
                    <a:lumMod val="10000"/>
                  </a:schemeClr>
                </a:solidFill>
              </a:rPr>
              <a:t>Journal</a:t>
            </a:r>
            <a:r>
              <a:rPr lang="es-CO" sz="700" i="1" dirty="0">
                <a:solidFill>
                  <a:schemeClr val="bg2">
                    <a:lumMod val="10000"/>
                  </a:schemeClr>
                </a:solidFill>
              </a:rPr>
              <a:t>, 42(36), 3599–3726. https://doi.org/10.1093/eurheartj/ehab368</a:t>
            </a:r>
            <a:endParaRPr sz="700" i="1" dirty="0">
              <a:solidFill>
                <a:schemeClr val="bg2">
                  <a:lumMod val="10000"/>
                </a:schemeClr>
              </a:solidFill>
            </a:endParaRPr>
          </a:p>
        </p:txBody>
      </p:sp>
    </p:spTree>
    <p:extLst>
      <p:ext uri="{BB962C8B-B14F-4D97-AF65-F5344CB8AC3E}">
        <p14:creationId xmlns:p14="http://schemas.microsoft.com/office/powerpoint/2010/main" val="980580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206523" y="3244334"/>
            <a:ext cx="6391274" cy="369332"/>
          </a:xfrm>
          <a:prstGeom prst="rect">
            <a:avLst/>
          </a:prstGeom>
          <a:noFill/>
        </p:spPr>
        <p:txBody>
          <a:bodyPr wrap="square">
            <a:spAutoFit/>
          </a:bodyPr>
          <a:lstStyle/>
          <a:p>
            <a:r>
              <a:rPr lang="es-CO" b="0" dirty="0">
                <a:effectLst/>
              </a:rPr>
              <a:t> </a:t>
            </a:r>
            <a:endParaRPr lang="es-CO" dirty="0"/>
          </a:p>
        </p:txBody>
      </p:sp>
      <p:pic>
        <p:nvPicPr>
          <p:cNvPr id="3" name="Imagen 2">
            <a:extLst>
              <a:ext uri="{FF2B5EF4-FFF2-40B4-BE49-F238E27FC236}">
                <a16:creationId xmlns:a16="http://schemas.microsoft.com/office/drawing/2014/main" id="{17C2C6FE-CC75-49D2-A9E2-720708DBBF06}"/>
              </a:ext>
            </a:extLst>
          </p:cNvPr>
          <p:cNvPicPr>
            <a:picLocks noChangeAspect="1"/>
          </p:cNvPicPr>
          <p:nvPr/>
        </p:nvPicPr>
        <p:blipFill>
          <a:blip r:embed="rId3"/>
          <a:stretch>
            <a:fillRect/>
          </a:stretch>
        </p:blipFill>
        <p:spPr>
          <a:xfrm>
            <a:off x="106949" y="1555145"/>
            <a:ext cx="10935974" cy="4072770"/>
          </a:xfrm>
          <a:prstGeom prst="rect">
            <a:avLst/>
          </a:prstGeom>
        </p:spPr>
      </p:pic>
      <p:sp>
        <p:nvSpPr>
          <p:cNvPr id="6" name="CuadroTexto 5">
            <a:extLst>
              <a:ext uri="{FF2B5EF4-FFF2-40B4-BE49-F238E27FC236}">
                <a16:creationId xmlns:a16="http://schemas.microsoft.com/office/drawing/2014/main" id="{FD320047-6EA5-41DB-AE3D-D9001017A909}"/>
              </a:ext>
            </a:extLst>
          </p:cNvPr>
          <p:cNvSpPr txBox="1"/>
          <p:nvPr/>
        </p:nvSpPr>
        <p:spPr>
          <a:xfrm>
            <a:off x="3076574" y="109682"/>
            <a:ext cx="5886450" cy="523220"/>
          </a:xfrm>
          <a:prstGeom prst="rect">
            <a:avLst/>
          </a:prstGeom>
          <a:noFill/>
        </p:spPr>
        <p:txBody>
          <a:bodyPr wrap="square" rtlCol="0">
            <a:spAutoFit/>
          </a:bodyPr>
          <a:lstStyle/>
          <a:p>
            <a:pPr algn="ctr"/>
            <a:r>
              <a:rPr lang="es-CO" sz="2800" b="1" dirty="0">
                <a:solidFill>
                  <a:schemeClr val="accent6">
                    <a:lumMod val="50000"/>
                  </a:schemeClr>
                </a:solidFill>
              </a:rPr>
              <a:t>Tratamiento: FEVI conservada</a:t>
            </a:r>
          </a:p>
        </p:txBody>
      </p:sp>
      <p:sp>
        <p:nvSpPr>
          <p:cNvPr id="8" name="Google Shape;123;p3">
            <a:extLst>
              <a:ext uri="{FF2B5EF4-FFF2-40B4-BE49-F238E27FC236}">
                <a16:creationId xmlns:a16="http://schemas.microsoft.com/office/drawing/2014/main" id="{2717BC05-98BD-4683-87C3-3E4CB08C8B14}"/>
              </a:ext>
            </a:extLst>
          </p:cNvPr>
          <p:cNvSpPr txBox="1"/>
          <p:nvPr/>
        </p:nvSpPr>
        <p:spPr>
          <a:xfrm>
            <a:off x="0" y="6457800"/>
            <a:ext cx="11161801"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CO" sz="700" i="1" dirty="0" err="1">
                <a:solidFill>
                  <a:schemeClr val="bg2">
                    <a:lumMod val="10000"/>
                  </a:schemeClr>
                </a:solidFill>
              </a:rPr>
              <a:t>McDonagh</a:t>
            </a:r>
            <a:r>
              <a:rPr lang="es-CO" sz="700" i="1" dirty="0">
                <a:solidFill>
                  <a:schemeClr val="bg2">
                    <a:lumMod val="10000"/>
                  </a:schemeClr>
                </a:solidFill>
              </a:rPr>
              <a:t>, T. A., Metra, M., Adamo, M., Gardner, R. S., </a:t>
            </a:r>
            <a:r>
              <a:rPr lang="es-CO" sz="700" i="1" dirty="0" err="1">
                <a:solidFill>
                  <a:schemeClr val="bg2">
                    <a:lumMod val="10000"/>
                  </a:schemeClr>
                </a:solidFill>
              </a:rPr>
              <a:t>Baumbach</a:t>
            </a:r>
            <a:r>
              <a:rPr lang="es-CO" sz="700" i="1" dirty="0">
                <a:solidFill>
                  <a:schemeClr val="bg2">
                    <a:lumMod val="10000"/>
                  </a:schemeClr>
                </a:solidFill>
              </a:rPr>
              <a:t>, A., </a:t>
            </a:r>
            <a:r>
              <a:rPr lang="es-CO" sz="700" i="1" dirty="0" err="1">
                <a:solidFill>
                  <a:schemeClr val="bg2">
                    <a:lumMod val="10000"/>
                  </a:schemeClr>
                </a:solidFill>
              </a:rPr>
              <a:t>Böhm</a:t>
            </a:r>
            <a:r>
              <a:rPr lang="es-CO" sz="700" i="1" dirty="0">
                <a:solidFill>
                  <a:schemeClr val="bg2">
                    <a:lumMod val="10000"/>
                  </a:schemeClr>
                </a:solidFill>
              </a:rPr>
              <a:t>, M., … &amp; </a:t>
            </a:r>
            <a:r>
              <a:rPr lang="es-CO" sz="700" i="1" dirty="0" err="1">
                <a:solidFill>
                  <a:schemeClr val="bg2">
                    <a:lumMod val="10000"/>
                  </a:schemeClr>
                </a:solidFill>
              </a:rPr>
              <a:t>Coats</a:t>
            </a:r>
            <a:r>
              <a:rPr lang="es-CO" sz="700" i="1" dirty="0">
                <a:solidFill>
                  <a:schemeClr val="bg2">
                    <a:lumMod val="10000"/>
                  </a:schemeClr>
                </a:solidFill>
              </a:rPr>
              <a:t>, A. J. S. (2021). 2021 ESC Guidelines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Developed</a:t>
            </a:r>
            <a:r>
              <a:rPr lang="es-CO" sz="700" i="1" dirty="0">
                <a:solidFill>
                  <a:schemeClr val="bg2">
                    <a:lumMod val="10000"/>
                  </a:schemeClr>
                </a:solidFill>
              </a:rPr>
              <a:t> </a:t>
            </a:r>
            <a:r>
              <a:rPr lang="es-CO" sz="700" i="1" dirty="0" err="1">
                <a:solidFill>
                  <a:schemeClr val="bg2">
                    <a:lumMod val="10000"/>
                  </a:schemeClr>
                </a:solidFill>
              </a:rPr>
              <a:t>by</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Task</a:t>
            </a:r>
            <a:r>
              <a:rPr lang="es-CO" sz="700" i="1" dirty="0">
                <a:solidFill>
                  <a:schemeClr val="bg2">
                    <a:lumMod val="10000"/>
                  </a:schemeClr>
                </a:solidFill>
              </a:rPr>
              <a:t> </a:t>
            </a:r>
            <a:r>
              <a:rPr lang="es-CO" sz="700" i="1" dirty="0" err="1">
                <a:solidFill>
                  <a:schemeClr val="bg2">
                    <a:lumMod val="10000"/>
                  </a:schemeClr>
                </a:solidFill>
              </a:rPr>
              <a:t>Force</a:t>
            </a:r>
            <a:r>
              <a:rPr lang="es-CO" sz="700" i="1" dirty="0">
                <a:solidFill>
                  <a:schemeClr val="bg2">
                    <a:lumMod val="10000"/>
                  </a:schemeClr>
                </a:solidFill>
              </a:rPr>
              <a:t>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European</a:t>
            </a:r>
            <a:r>
              <a:rPr lang="es-CO" sz="700" i="1" dirty="0">
                <a:solidFill>
                  <a:schemeClr val="bg2">
                    <a:lumMod val="10000"/>
                  </a:schemeClr>
                </a:solidFill>
              </a:rPr>
              <a:t> </a:t>
            </a:r>
            <a:r>
              <a:rPr lang="es-CO" sz="700" i="1" dirty="0" err="1">
                <a:solidFill>
                  <a:schemeClr val="bg2">
                    <a:lumMod val="10000"/>
                  </a:schemeClr>
                </a:solidFill>
              </a:rPr>
              <a:t>Society</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Cardiology</a:t>
            </a:r>
            <a:r>
              <a:rPr lang="es-CO" sz="700" i="1" dirty="0">
                <a:solidFill>
                  <a:schemeClr val="bg2">
                    <a:lumMod val="10000"/>
                  </a:schemeClr>
                </a:solidFill>
              </a:rPr>
              <a:t> (ESC) </a:t>
            </a:r>
            <a:r>
              <a:rPr lang="es-CO" sz="700" i="1" dirty="0" err="1">
                <a:solidFill>
                  <a:schemeClr val="bg2">
                    <a:lumMod val="10000"/>
                  </a:schemeClr>
                </a:solidFill>
              </a:rPr>
              <a:t>with</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special</a:t>
            </a:r>
            <a:r>
              <a:rPr lang="es-CO" sz="700" i="1" dirty="0">
                <a:solidFill>
                  <a:schemeClr val="bg2">
                    <a:lumMod val="10000"/>
                  </a:schemeClr>
                </a:solidFill>
              </a:rPr>
              <a:t> </a:t>
            </a:r>
            <a:r>
              <a:rPr lang="es-CO" sz="700" i="1" dirty="0" err="1">
                <a:solidFill>
                  <a:schemeClr val="bg2">
                    <a:lumMod val="10000"/>
                  </a:schemeClr>
                </a:solidFill>
              </a:rPr>
              <a:t>contribution</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Heart Failure </a:t>
            </a:r>
            <a:r>
              <a:rPr lang="es-CO" sz="700" i="1" dirty="0" err="1">
                <a:solidFill>
                  <a:schemeClr val="bg2">
                    <a:lumMod val="10000"/>
                  </a:schemeClr>
                </a:solidFill>
              </a:rPr>
              <a:t>Association</a:t>
            </a:r>
            <a:r>
              <a:rPr lang="es-CO" sz="700" i="1" dirty="0">
                <a:solidFill>
                  <a:schemeClr val="bg2">
                    <a:lumMod val="10000"/>
                  </a:schemeClr>
                </a:solidFill>
              </a:rPr>
              <a:t> (HFA)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ESC. </a:t>
            </a:r>
            <a:r>
              <a:rPr lang="es-CO" sz="700" i="1" dirty="0" err="1">
                <a:solidFill>
                  <a:schemeClr val="bg2">
                    <a:lumMod val="10000"/>
                  </a:schemeClr>
                </a:solidFill>
              </a:rPr>
              <a:t>European</a:t>
            </a:r>
            <a:r>
              <a:rPr lang="es-CO" sz="700" i="1" dirty="0">
                <a:solidFill>
                  <a:schemeClr val="bg2">
                    <a:lumMod val="10000"/>
                  </a:schemeClr>
                </a:solidFill>
              </a:rPr>
              <a:t> Heart </a:t>
            </a:r>
            <a:r>
              <a:rPr lang="es-CO" sz="700" i="1" dirty="0" err="1">
                <a:solidFill>
                  <a:schemeClr val="bg2">
                    <a:lumMod val="10000"/>
                  </a:schemeClr>
                </a:solidFill>
              </a:rPr>
              <a:t>Journal</a:t>
            </a:r>
            <a:r>
              <a:rPr lang="es-CO" sz="700" i="1" dirty="0">
                <a:solidFill>
                  <a:schemeClr val="bg2">
                    <a:lumMod val="10000"/>
                  </a:schemeClr>
                </a:solidFill>
              </a:rPr>
              <a:t>, 42(36), 3599–3726. https://doi.org/10.1093/eurheartj/ehab368</a:t>
            </a:r>
            <a:endParaRPr sz="700" i="1" dirty="0">
              <a:solidFill>
                <a:schemeClr val="bg2">
                  <a:lumMod val="10000"/>
                </a:schemeClr>
              </a:solidFill>
            </a:endParaRPr>
          </a:p>
        </p:txBody>
      </p:sp>
    </p:spTree>
    <p:extLst>
      <p:ext uri="{BB962C8B-B14F-4D97-AF65-F5344CB8AC3E}">
        <p14:creationId xmlns:p14="http://schemas.microsoft.com/office/powerpoint/2010/main" val="16089325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082B5FF3-9717-40E2-B092-9B800925A4D7}"/>
              </a:ext>
            </a:extLst>
          </p:cNvPr>
          <p:cNvSpPr txBox="1"/>
          <p:nvPr/>
        </p:nvSpPr>
        <p:spPr>
          <a:xfrm>
            <a:off x="1666037" y="1095451"/>
            <a:ext cx="9240012" cy="600761"/>
          </a:xfrm>
          <a:prstGeom prst="rect">
            <a:avLst/>
          </a:prstGeom>
          <a:noFill/>
          <a:ln/>
        </p:spPr>
        <p:txBody>
          <a:bodyPr wrap="square" lIns="0" tIns="0" rIns="0" bIns="0" rtlCol="0" anchor="ctr"/>
          <a:lstStyle/>
          <a:p>
            <a:pPr marL="0" indent="0" algn="ctr">
              <a:buNone/>
            </a:pPr>
            <a:r>
              <a:rPr lang="en-US" sz="3900" b="1" dirty="0">
                <a:solidFill>
                  <a:srgbClr val="0F3057"/>
                </a:solidFill>
                <a:latin typeface="Montserrat" pitchFamily="34" charset="0"/>
                <a:ea typeface="Montserrat" pitchFamily="34" charset="-122"/>
                <a:cs typeface="Montserrat" pitchFamily="34" charset="-120"/>
              </a:rPr>
              <a:t>COMPARACIÓN DE LOS ESTUDIOS</a:t>
            </a:r>
            <a:endParaRPr lang="en-US" sz="3900" dirty="0"/>
          </a:p>
        </p:txBody>
      </p:sp>
      <p:sp>
        <p:nvSpPr>
          <p:cNvPr id="11" name="Text 4">
            <a:extLst>
              <a:ext uri="{FF2B5EF4-FFF2-40B4-BE49-F238E27FC236}">
                <a16:creationId xmlns:a16="http://schemas.microsoft.com/office/drawing/2014/main" id="{2A62AA0A-ED2D-4447-9806-35AB8A6F9315}"/>
              </a:ext>
            </a:extLst>
          </p:cNvPr>
          <p:cNvSpPr txBox="1"/>
          <p:nvPr/>
        </p:nvSpPr>
        <p:spPr>
          <a:xfrm>
            <a:off x="1996135" y="1689811"/>
            <a:ext cx="8572500" cy="600761"/>
          </a:xfrm>
          <a:prstGeom prst="rect">
            <a:avLst/>
          </a:prstGeom>
          <a:noFill/>
          <a:ln/>
        </p:spPr>
        <p:txBody>
          <a:bodyPr wrap="square" lIns="0" tIns="0" rIns="0" bIns="0" rtlCol="0" anchor="ctr"/>
          <a:lstStyle/>
          <a:p>
            <a:pPr marL="0" indent="0" algn="ctr">
              <a:buNone/>
            </a:pPr>
            <a:r>
              <a:rPr lang="en-US" sz="3900" b="1" dirty="0">
                <a:solidFill>
                  <a:srgbClr val="0F3057"/>
                </a:solidFill>
                <a:latin typeface="Montserrat" pitchFamily="34" charset="0"/>
                <a:ea typeface="Montserrat" pitchFamily="34" charset="-122"/>
                <a:cs typeface="Montserrat" pitchFamily="34" charset="-120"/>
              </a:rPr>
              <a:t>PARAGON-HF vs PARADIGM-HF</a:t>
            </a:r>
            <a:endParaRPr lang="en-US" sz="3900" dirty="0"/>
          </a:p>
        </p:txBody>
      </p:sp>
      <p:sp>
        <p:nvSpPr>
          <p:cNvPr id="12" name="Text 5">
            <a:extLst>
              <a:ext uri="{FF2B5EF4-FFF2-40B4-BE49-F238E27FC236}">
                <a16:creationId xmlns:a16="http://schemas.microsoft.com/office/drawing/2014/main" id="{1136195E-AA50-4914-B05A-48ED026F461F}"/>
              </a:ext>
            </a:extLst>
          </p:cNvPr>
          <p:cNvSpPr txBox="1"/>
          <p:nvPr/>
        </p:nvSpPr>
        <p:spPr>
          <a:xfrm>
            <a:off x="3017520" y="2503627"/>
            <a:ext cx="6363310" cy="324612"/>
          </a:xfrm>
          <a:prstGeom prst="rect">
            <a:avLst/>
          </a:prstGeom>
          <a:noFill/>
          <a:ln/>
        </p:spPr>
        <p:txBody>
          <a:bodyPr wrap="square" lIns="0" tIns="0" rIns="0" bIns="0" rtlCol="0" anchor="ctr"/>
          <a:lstStyle/>
          <a:p>
            <a:pPr marL="0" indent="0" algn="ctr">
              <a:buNone/>
            </a:pPr>
            <a:r>
              <a:rPr lang="en-US" sz="2100" dirty="0">
                <a:solidFill>
                  <a:srgbClr val="4A5568"/>
                </a:solidFill>
                <a:latin typeface="Montserrat" pitchFamily="34" charset="0"/>
                <a:ea typeface="Montserrat" pitchFamily="34" charset="-122"/>
                <a:cs typeface="Montserrat" pitchFamily="34" charset="-120"/>
              </a:rPr>
              <a:t>Análisis comparativo de sacubitril/valsartan en</a:t>
            </a:r>
            <a:endParaRPr lang="en-US" sz="2100" dirty="0"/>
          </a:p>
        </p:txBody>
      </p:sp>
      <p:sp>
        <p:nvSpPr>
          <p:cNvPr id="13" name="Text 6">
            <a:extLst>
              <a:ext uri="{FF2B5EF4-FFF2-40B4-BE49-F238E27FC236}">
                <a16:creationId xmlns:a16="http://schemas.microsoft.com/office/drawing/2014/main" id="{E7E6CF44-0EDD-4DFD-893D-4E3384AF5FA1}"/>
              </a:ext>
            </a:extLst>
          </p:cNvPr>
          <p:cNvSpPr txBox="1"/>
          <p:nvPr/>
        </p:nvSpPr>
        <p:spPr>
          <a:xfrm>
            <a:off x="1479499" y="2876702"/>
            <a:ext cx="9439351" cy="324612"/>
          </a:xfrm>
          <a:prstGeom prst="rect">
            <a:avLst/>
          </a:prstGeom>
          <a:noFill/>
          <a:ln/>
        </p:spPr>
        <p:txBody>
          <a:bodyPr wrap="square" lIns="0" tIns="0" rIns="0" bIns="0" rtlCol="0" anchor="ctr"/>
          <a:lstStyle/>
          <a:p>
            <a:pPr marL="0" indent="0" algn="ctr">
              <a:buNone/>
            </a:pPr>
            <a:r>
              <a:rPr lang="en-US" sz="2100" dirty="0">
                <a:solidFill>
                  <a:srgbClr val="4A5568"/>
                </a:solidFill>
                <a:latin typeface="Montserrat" pitchFamily="34" charset="0"/>
                <a:ea typeface="Montserrat" pitchFamily="34" charset="-122"/>
                <a:cs typeface="Montserrat" pitchFamily="34" charset="-120"/>
              </a:rPr>
              <a:t>insuficiencia cardíaca con fracción de eyección preservada y reducida</a:t>
            </a:r>
            <a:endParaRPr lang="en-US" sz="2100" dirty="0"/>
          </a:p>
        </p:txBody>
      </p:sp>
      <p:sp>
        <p:nvSpPr>
          <p:cNvPr id="14" name="Shape 7">
            <a:extLst>
              <a:ext uri="{FF2B5EF4-FFF2-40B4-BE49-F238E27FC236}">
                <a16:creationId xmlns:a16="http://schemas.microsoft.com/office/drawing/2014/main" id="{CBBC39B7-F013-4EFB-ABA0-64776DF561A0}"/>
              </a:ext>
            </a:extLst>
          </p:cNvPr>
          <p:cNvSpPr/>
          <p:nvPr/>
        </p:nvSpPr>
        <p:spPr>
          <a:xfrm>
            <a:off x="4762195" y="3516782"/>
            <a:ext cx="1143000" cy="1143000"/>
          </a:xfrm>
          <a:prstGeom prst="roundRect">
            <a:avLst>
              <a:gd name="adj" fmla="val 5333"/>
            </a:avLst>
          </a:prstGeom>
          <a:solidFill>
            <a:schemeClr val="accent6"/>
          </a:solidFill>
          <a:ln/>
        </p:spPr>
      </p:sp>
      <p:sp>
        <p:nvSpPr>
          <p:cNvPr id="15" name="Text 8">
            <a:extLst>
              <a:ext uri="{FF2B5EF4-FFF2-40B4-BE49-F238E27FC236}">
                <a16:creationId xmlns:a16="http://schemas.microsoft.com/office/drawing/2014/main" id="{0239BF8D-DF1C-4A72-BB3F-FC376C435450}"/>
              </a:ext>
            </a:extLst>
          </p:cNvPr>
          <p:cNvSpPr txBox="1"/>
          <p:nvPr/>
        </p:nvSpPr>
        <p:spPr>
          <a:xfrm>
            <a:off x="4863694" y="3745382"/>
            <a:ext cx="1057961" cy="409651"/>
          </a:xfrm>
          <a:prstGeom prst="rect">
            <a:avLst/>
          </a:prstGeom>
          <a:noFill/>
          <a:ln/>
        </p:spPr>
        <p:txBody>
          <a:bodyPr wrap="square" lIns="0" tIns="0" rIns="0" bIns="0" rtlCol="0" anchor="ctr"/>
          <a:lstStyle/>
          <a:p>
            <a:pPr marL="0" indent="0" algn="ctr">
              <a:buNone/>
            </a:pPr>
            <a:r>
              <a:rPr lang="en-US" sz="1200" b="1" dirty="0">
                <a:solidFill>
                  <a:srgbClr val="FFFFFF"/>
                </a:solidFill>
                <a:latin typeface="Montserrat" pitchFamily="34" charset="0"/>
                <a:ea typeface="Montserrat" pitchFamily="34" charset="-122"/>
                <a:cs typeface="Montserrat" pitchFamily="34" charset="-120"/>
              </a:rPr>
              <a:t>PARADIGM-HF</a:t>
            </a:r>
            <a:endParaRPr lang="en-US" sz="1200" dirty="0"/>
          </a:p>
        </p:txBody>
      </p:sp>
      <p:sp>
        <p:nvSpPr>
          <p:cNvPr id="16" name="Text 9">
            <a:extLst>
              <a:ext uri="{FF2B5EF4-FFF2-40B4-BE49-F238E27FC236}">
                <a16:creationId xmlns:a16="http://schemas.microsoft.com/office/drawing/2014/main" id="{FFC220C9-4E23-47CE-B69D-77D07307BA69}"/>
              </a:ext>
            </a:extLst>
          </p:cNvPr>
          <p:cNvSpPr txBox="1"/>
          <p:nvPr/>
        </p:nvSpPr>
        <p:spPr>
          <a:xfrm>
            <a:off x="4924044" y="4269334"/>
            <a:ext cx="924458" cy="171907"/>
          </a:xfrm>
          <a:prstGeom prst="rect">
            <a:avLst/>
          </a:prstGeom>
          <a:noFill/>
          <a:ln/>
        </p:spPr>
        <p:txBody>
          <a:bodyPr wrap="square" lIns="0" tIns="0" rIns="0" bIns="0" rtlCol="0" anchor="ctr"/>
          <a:lstStyle/>
          <a:p>
            <a:pPr marL="0" indent="0" algn="ctr">
              <a:buNone/>
            </a:pPr>
            <a:r>
              <a:rPr lang="en-US" sz="1100" b="1" dirty="0">
                <a:solidFill>
                  <a:srgbClr val="FFFFFF"/>
                </a:solidFill>
                <a:latin typeface="Montserrat" pitchFamily="34" charset="0"/>
                <a:ea typeface="Montserrat" pitchFamily="34" charset="-122"/>
                <a:cs typeface="Montserrat" pitchFamily="34" charset="-120"/>
              </a:rPr>
              <a:t>FE reducida</a:t>
            </a:r>
            <a:endParaRPr lang="en-US" sz="1100" dirty="0"/>
          </a:p>
        </p:txBody>
      </p:sp>
      <p:sp>
        <p:nvSpPr>
          <p:cNvPr id="17" name="Text 10">
            <a:extLst>
              <a:ext uri="{FF2B5EF4-FFF2-40B4-BE49-F238E27FC236}">
                <a16:creationId xmlns:a16="http://schemas.microsoft.com/office/drawing/2014/main" id="{63912156-7C5D-45A4-B909-7DBCA0023AB0}"/>
              </a:ext>
            </a:extLst>
          </p:cNvPr>
          <p:cNvSpPr txBox="1"/>
          <p:nvPr/>
        </p:nvSpPr>
        <p:spPr>
          <a:xfrm>
            <a:off x="5942686" y="3945636"/>
            <a:ext cx="486461" cy="277063"/>
          </a:xfrm>
          <a:prstGeom prst="rect">
            <a:avLst/>
          </a:prstGeom>
          <a:noFill/>
          <a:ln/>
        </p:spPr>
        <p:txBody>
          <a:bodyPr wrap="square" lIns="0" tIns="0" rIns="0" bIns="0" rtlCol="0" anchor="ctr"/>
          <a:lstStyle/>
          <a:p>
            <a:pPr marL="0" indent="0" algn="l">
              <a:buNone/>
            </a:pPr>
            <a:r>
              <a:rPr lang="en-US" sz="1800" b="1" dirty="0">
                <a:solidFill>
                  <a:srgbClr val="4A5568"/>
                </a:solidFill>
                <a:latin typeface="Montserrat" pitchFamily="34" charset="0"/>
                <a:ea typeface="Montserrat" pitchFamily="34" charset="-122"/>
                <a:cs typeface="Montserrat" pitchFamily="34" charset="-120"/>
              </a:rPr>
              <a:t>VS</a:t>
            </a:r>
            <a:endParaRPr lang="en-US" sz="1800" dirty="0"/>
          </a:p>
        </p:txBody>
      </p:sp>
      <p:sp>
        <p:nvSpPr>
          <p:cNvPr id="18" name="Shape 11">
            <a:extLst>
              <a:ext uri="{FF2B5EF4-FFF2-40B4-BE49-F238E27FC236}">
                <a16:creationId xmlns:a16="http://schemas.microsoft.com/office/drawing/2014/main" id="{E5DB18E7-C431-41BF-9E74-94B8F2D5468E}"/>
              </a:ext>
            </a:extLst>
          </p:cNvPr>
          <p:cNvSpPr/>
          <p:nvPr/>
        </p:nvSpPr>
        <p:spPr>
          <a:xfrm>
            <a:off x="6286500" y="3516782"/>
            <a:ext cx="1143000" cy="1143000"/>
          </a:xfrm>
          <a:prstGeom prst="roundRect">
            <a:avLst>
              <a:gd name="adj" fmla="val 5333"/>
            </a:avLst>
          </a:prstGeom>
          <a:solidFill>
            <a:schemeClr val="accent6">
              <a:lumMod val="50000"/>
            </a:schemeClr>
          </a:solidFill>
          <a:ln/>
        </p:spPr>
      </p:sp>
      <p:sp>
        <p:nvSpPr>
          <p:cNvPr id="19" name="Text 12">
            <a:extLst>
              <a:ext uri="{FF2B5EF4-FFF2-40B4-BE49-F238E27FC236}">
                <a16:creationId xmlns:a16="http://schemas.microsoft.com/office/drawing/2014/main" id="{4145BF9D-3168-4BDF-9144-B8CCAA65EEC8}"/>
              </a:ext>
            </a:extLst>
          </p:cNvPr>
          <p:cNvSpPr txBox="1"/>
          <p:nvPr/>
        </p:nvSpPr>
        <p:spPr>
          <a:xfrm>
            <a:off x="6422746" y="3650285"/>
            <a:ext cx="991210" cy="409651"/>
          </a:xfrm>
          <a:prstGeom prst="rect">
            <a:avLst/>
          </a:prstGeom>
          <a:noFill/>
          <a:ln/>
        </p:spPr>
        <p:txBody>
          <a:bodyPr wrap="square" lIns="0" tIns="0" rIns="0" bIns="0" rtlCol="0" anchor="ctr"/>
          <a:lstStyle/>
          <a:p>
            <a:pPr marL="0" indent="0" algn="ctr">
              <a:buNone/>
            </a:pPr>
            <a:r>
              <a:rPr lang="en-US" sz="1200" b="1" dirty="0">
                <a:solidFill>
                  <a:srgbClr val="FFFFFF"/>
                </a:solidFill>
                <a:latin typeface="Montserrat" pitchFamily="34" charset="0"/>
                <a:ea typeface="Montserrat" pitchFamily="34" charset="-122"/>
                <a:cs typeface="Montserrat" pitchFamily="34" charset="-120"/>
              </a:rPr>
              <a:t>PARAGON-HF</a:t>
            </a:r>
            <a:endParaRPr lang="en-US" sz="1200" dirty="0"/>
          </a:p>
        </p:txBody>
      </p:sp>
      <p:sp>
        <p:nvSpPr>
          <p:cNvPr id="20" name="Text 13">
            <a:extLst>
              <a:ext uri="{FF2B5EF4-FFF2-40B4-BE49-F238E27FC236}">
                <a16:creationId xmlns:a16="http://schemas.microsoft.com/office/drawing/2014/main" id="{67E2C581-21DF-4FF8-AE63-671C98738A54}"/>
              </a:ext>
            </a:extLst>
          </p:cNvPr>
          <p:cNvSpPr txBox="1"/>
          <p:nvPr/>
        </p:nvSpPr>
        <p:spPr>
          <a:xfrm>
            <a:off x="6474866" y="4174236"/>
            <a:ext cx="876910" cy="362102"/>
          </a:xfrm>
          <a:prstGeom prst="rect">
            <a:avLst/>
          </a:prstGeom>
          <a:noFill/>
          <a:ln/>
        </p:spPr>
        <p:txBody>
          <a:bodyPr wrap="square" lIns="0" tIns="0" rIns="0" bIns="0" rtlCol="0" anchor="ctr"/>
          <a:lstStyle/>
          <a:p>
            <a:pPr marL="0" indent="0" algn="ctr">
              <a:buNone/>
            </a:pPr>
            <a:r>
              <a:rPr lang="en-US" sz="1100" b="1" dirty="0">
                <a:solidFill>
                  <a:srgbClr val="FFFFFF"/>
                </a:solidFill>
                <a:latin typeface="Montserrat" pitchFamily="34" charset="0"/>
                <a:ea typeface="Montserrat" pitchFamily="34" charset="-122"/>
                <a:cs typeface="Montserrat" pitchFamily="34" charset="-120"/>
              </a:rPr>
              <a:t>FE preservada</a:t>
            </a:r>
            <a:endParaRPr lang="en-US" sz="1100" dirty="0"/>
          </a:p>
        </p:txBody>
      </p:sp>
      <p:sp>
        <p:nvSpPr>
          <p:cNvPr id="21" name="Shape 14">
            <a:extLst>
              <a:ext uri="{FF2B5EF4-FFF2-40B4-BE49-F238E27FC236}">
                <a16:creationId xmlns:a16="http://schemas.microsoft.com/office/drawing/2014/main" id="{2D4A4036-0163-4E94-9BAA-515E8E40C74D}"/>
              </a:ext>
            </a:extLst>
          </p:cNvPr>
          <p:cNvSpPr/>
          <p:nvPr/>
        </p:nvSpPr>
        <p:spPr>
          <a:xfrm>
            <a:off x="3120847" y="5174590"/>
            <a:ext cx="5952744" cy="457200"/>
          </a:xfrm>
          <a:prstGeom prst="roundRect">
            <a:avLst>
              <a:gd name="adj" fmla="val 33333"/>
            </a:avLst>
          </a:prstGeom>
          <a:solidFill>
            <a:srgbClr val="F3F4F6"/>
          </a:solidFill>
          <a:ln/>
        </p:spPr>
      </p:sp>
      <p:pic>
        <p:nvPicPr>
          <p:cNvPr id="22" name="Image 0" descr="preencoded.png">
            <a:extLst>
              <a:ext uri="{FF2B5EF4-FFF2-40B4-BE49-F238E27FC236}">
                <a16:creationId xmlns:a16="http://schemas.microsoft.com/office/drawing/2014/main" id="{CF089FE9-63B5-4F45-8DE0-3A610126A55D}"/>
              </a:ext>
            </a:extLst>
          </p:cNvPr>
          <p:cNvPicPr>
            <a:picLocks noChangeAspect="1"/>
          </p:cNvPicPr>
          <p:nvPr/>
        </p:nvPicPr>
        <p:blipFill>
          <a:blip r:embed="rId3"/>
          <a:srcRect/>
          <a:stretch/>
        </p:blipFill>
        <p:spPr>
          <a:xfrm>
            <a:off x="3578047" y="5326380"/>
            <a:ext cx="152705" cy="152705"/>
          </a:xfrm>
          <a:prstGeom prst="rect">
            <a:avLst/>
          </a:prstGeom>
        </p:spPr>
      </p:pic>
      <p:sp>
        <p:nvSpPr>
          <p:cNvPr id="23" name="Text 15">
            <a:extLst>
              <a:ext uri="{FF2B5EF4-FFF2-40B4-BE49-F238E27FC236}">
                <a16:creationId xmlns:a16="http://schemas.microsoft.com/office/drawing/2014/main" id="{72F531E9-1C2B-4E23-A120-C2D1416ACEE9}"/>
              </a:ext>
            </a:extLst>
          </p:cNvPr>
          <p:cNvSpPr txBox="1"/>
          <p:nvPr/>
        </p:nvSpPr>
        <p:spPr>
          <a:xfrm>
            <a:off x="3845052" y="5307178"/>
            <a:ext cx="4886554" cy="181051"/>
          </a:xfrm>
          <a:prstGeom prst="rect">
            <a:avLst/>
          </a:prstGeom>
          <a:noFill/>
          <a:ln/>
        </p:spPr>
        <p:txBody>
          <a:bodyPr wrap="square" lIns="0" tIns="0" rIns="0" bIns="0" rtlCol="0" anchor="ctr"/>
          <a:lstStyle/>
          <a:p>
            <a:pPr marL="0" indent="0" algn="l">
              <a:buNone/>
            </a:pPr>
            <a:r>
              <a:rPr lang="en-US" sz="1200" dirty="0">
                <a:solidFill>
                  <a:srgbClr val="374151"/>
                </a:solidFill>
                <a:latin typeface="Montserrat" pitchFamily="34" charset="0"/>
                <a:ea typeface="Montserrat" pitchFamily="34" charset="-122"/>
                <a:cs typeface="Montserrat" pitchFamily="34" charset="-120"/>
              </a:rPr>
              <a:t>Ensayos pivotales en el tratamiento de la insuficiencia cardíaca</a:t>
            </a:r>
            <a:endParaRPr lang="en-US" sz="1200" dirty="0"/>
          </a:p>
        </p:txBody>
      </p:sp>
    </p:spTree>
    <p:extLst>
      <p:ext uri="{BB962C8B-B14F-4D97-AF65-F5344CB8AC3E}">
        <p14:creationId xmlns:p14="http://schemas.microsoft.com/office/powerpoint/2010/main" val="5198363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858707"/>
          </a:xfrm>
          <a:prstGeom prst="rect">
            <a:avLst/>
          </a:prstGeom>
          <a:solidFill>
            <a:srgbClr val="F8FAFC"/>
          </a:solidFill>
          <a:ln/>
        </p:spPr>
      </p:sp>
      <p:sp>
        <p:nvSpPr>
          <p:cNvPr id="4" name="Shape 2"/>
          <p:cNvSpPr/>
          <p:nvPr/>
        </p:nvSpPr>
        <p:spPr>
          <a:xfrm>
            <a:off x="0" y="0"/>
            <a:ext cx="12191695" cy="114300"/>
          </a:xfrm>
          <a:prstGeom prst="rect">
            <a:avLst/>
          </a:prstGeom>
          <a:solidFill>
            <a:schemeClr val="accent6"/>
          </a:solidFill>
          <a:ln/>
        </p:spPr>
      </p:sp>
      <p:sp>
        <p:nvSpPr>
          <p:cNvPr id="5" name="Text 3"/>
          <p:cNvSpPr txBox="1"/>
          <p:nvPr/>
        </p:nvSpPr>
        <p:spPr>
          <a:xfrm>
            <a:off x="609905" y="771754"/>
            <a:ext cx="3467405" cy="467258"/>
          </a:xfrm>
          <a:prstGeom prst="rect">
            <a:avLst/>
          </a:prstGeom>
          <a:noFill/>
          <a:ln/>
        </p:spPr>
        <p:txBody>
          <a:bodyPr wrap="square" lIns="0" tIns="0" rIns="0" bIns="0" rtlCol="0" anchor="ctr"/>
          <a:lstStyle/>
          <a:p>
            <a:pPr marL="0" indent="0" algn="l">
              <a:buNone/>
            </a:pPr>
            <a:r>
              <a:rPr lang="en-US" sz="3000" b="1" dirty="0">
                <a:solidFill>
                  <a:schemeClr val="accent6"/>
                </a:solidFill>
                <a:latin typeface="Montserrat" pitchFamily="34" charset="0"/>
                <a:ea typeface="Montserrat" pitchFamily="34" charset="-122"/>
                <a:cs typeface="Montserrat" pitchFamily="34" charset="-120"/>
              </a:rPr>
              <a:t>CONCLUSIONES</a:t>
            </a:r>
            <a:endParaRPr lang="en-US" sz="3000" dirty="0">
              <a:solidFill>
                <a:schemeClr val="accent6"/>
              </a:solidFill>
            </a:endParaRPr>
          </a:p>
        </p:txBody>
      </p:sp>
      <p:sp>
        <p:nvSpPr>
          <p:cNvPr id="6" name="Shape 4"/>
          <p:cNvSpPr/>
          <p:nvPr/>
        </p:nvSpPr>
        <p:spPr>
          <a:xfrm>
            <a:off x="609905" y="1524305"/>
            <a:ext cx="10972800" cy="1867205"/>
          </a:xfrm>
          <a:prstGeom prst="roundRect">
            <a:avLst>
              <a:gd name="adj" fmla="val 1999"/>
            </a:avLst>
          </a:prstGeom>
          <a:solidFill>
            <a:srgbClr val="EBF4FF"/>
          </a:solidFill>
          <a:ln/>
        </p:spPr>
      </p:sp>
      <p:sp>
        <p:nvSpPr>
          <p:cNvPr id="7" name="Shape 5"/>
          <p:cNvSpPr/>
          <p:nvPr/>
        </p:nvSpPr>
        <p:spPr>
          <a:xfrm>
            <a:off x="609905" y="1524305"/>
            <a:ext cx="47549" cy="1867205"/>
          </a:xfrm>
          <a:prstGeom prst="rect">
            <a:avLst/>
          </a:prstGeom>
          <a:solidFill>
            <a:schemeClr val="accent6"/>
          </a:solidFill>
          <a:ln/>
        </p:spPr>
      </p:sp>
      <p:pic>
        <p:nvPicPr>
          <p:cNvPr id="8" name="Image 0" descr="preencoded.png"/>
          <p:cNvPicPr>
            <a:picLocks noChangeAspect="1"/>
          </p:cNvPicPr>
          <p:nvPr/>
        </p:nvPicPr>
        <p:blipFill>
          <a:blip r:embed="rId3"/>
          <a:srcRect t="-16600" b="-16600"/>
          <a:stretch/>
        </p:blipFill>
        <p:spPr>
          <a:xfrm>
            <a:off x="847649" y="1733702"/>
            <a:ext cx="228600" cy="304495"/>
          </a:xfrm>
          <a:prstGeom prst="rect">
            <a:avLst/>
          </a:prstGeom>
        </p:spPr>
      </p:pic>
      <p:sp>
        <p:nvSpPr>
          <p:cNvPr id="9" name="Text 6"/>
          <p:cNvSpPr txBox="1"/>
          <p:nvPr/>
        </p:nvSpPr>
        <p:spPr>
          <a:xfrm>
            <a:off x="1190549" y="1714500"/>
            <a:ext cx="6553505" cy="342900"/>
          </a:xfrm>
          <a:prstGeom prst="rect">
            <a:avLst/>
          </a:prstGeom>
          <a:noFill/>
          <a:ln/>
        </p:spPr>
        <p:txBody>
          <a:bodyPr wrap="square" lIns="0" tIns="0" rIns="0" bIns="0" rtlCol="0" anchor="ctr"/>
          <a:lstStyle/>
          <a:p>
            <a:pPr marL="0" indent="0" algn="l">
              <a:buNone/>
            </a:pPr>
            <a:r>
              <a:rPr lang="en-US" sz="1800" b="1" dirty="0">
                <a:solidFill>
                  <a:srgbClr val="1E3A8A"/>
                </a:solidFill>
                <a:latin typeface="Montserrat" pitchFamily="34" charset="0"/>
                <a:ea typeface="Montserrat" pitchFamily="34" charset="-122"/>
                <a:cs typeface="Montserrat" pitchFamily="34" charset="-120"/>
              </a:rPr>
              <a:t>PARADIGM-HF: Insuficiencia cardíaca con FE reducida</a:t>
            </a:r>
            <a:endParaRPr lang="en-US" sz="1800" dirty="0"/>
          </a:p>
        </p:txBody>
      </p:sp>
      <p:sp>
        <p:nvSpPr>
          <p:cNvPr id="10" name="Text 7"/>
          <p:cNvSpPr txBox="1"/>
          <p:nvPr/>
        </p:nvSpPr>
        <p:spPr>
          <a:xfrm>
            <a:off x="1089396" y="2190902"/>
            <a:ext cx="1772107" cy="210312"/>
          </a:xfrm>
          <a:prstGeom prst="rect">
            <a:avLst/>
          </a:prstGeom>
          <a:noFill/>
          <a:ln/>
        </p:spPr>
        <p:txBody>
          <a:bodyPr wrap="square" lIns="0" tIns="0" rIns="0" bIns="0" rtlCol="0" anchor="ctr"/>
          <a:lstStyle/>
          <a:p>
            <a:pPr marL="0" indent="0" algn="l">
              <a:buNone/>
            </a:pPr>
            <a:r>
              <a:rPr lang="en-US" sz="1400" dirty="0">
                <a:solidFill>
                  <a:srgbClr val="000000"/>
                </a:solidFill>
                <a:latin typeface="Montserrat" pitchFamily="34" charset="0"/>
                <a:ea typeface="Montserrat" pitchFamily="34" charset="-122"/>
                <a:cs typeface="Montserrat" pitchFamily="34" charset="-120"/>
              </a:rPr>
              <a:t>Sacubitril/valsartan</a:t>
            </a:r>
            <a:endParaRPr lang="en-US" sz="1400" dirty="0"/>
          </a:p>
        </p:txBody>
      </p:sp>
      <p:sp>
        <p:nvSpPr>
          <p:cNvPr id="11" name="Text 8"/>
          <p:cNvSpPr txBox="1"/>
          <p:nvPr/>
        </p:nvSpPr>
        <p:spPr>
          <a:xfrm>
            <a:off x="4983534" y="2190902"/>
            <a:ext cx="3721196" cy="210312"/>
          </a:xfrm>
          <a:prstGeom prst="rect">
            <a:avLst/>
          </a:prstGeom>
          <a:noFill/>
          <a:ln/>
        </p:spPr>
        <p:txBody>
          <a:bodyPr wrap="square" lIns="0" tIns="0" rIns="0" bIns="0" rtlCol="0" anchor="ctr"/>
          <a:lstStyle/>
          <a:p>
            <a:pPr marL="0" indent="0" algn="l">
              <a:buNone/>
            </a:pPr>
            <a:r>
              <a:rPr lang="en-US" sz="1400" dirty="0">
                <a:solidFill>
                  <a:srgbClr val="000000"/>
                </a:solidFill>
                <a:latin typeface="Montserrat" pitchFamily="34" charset="0"/>
                <a:ea typeface="Montserrat" pitchFamily="34" charset="-122"/>
                <a:cs typeface="Montserrat" pitchFamily="34" charset="-120"/>
              </a:rPr>
              <a:t>frente a enalapril (RR 0.80; p&lt;0.001)</a:t>
            </a:r>
            <a:endParaRPr lang="en-US" sz="1400" dirty="0"/>
          </a:p>
        </p:txBody>
      </p:sp>
      <p:sp>
        <p:nvSpPr>
          <p:cNvPr id="12" name="Text 9"/>
          <p:cNvSpPr txBox="1"/>
          <p:nvPr/>
        </p:nvSpPr>
        <p:spPr>
          <a:xfrm>
            <a:off x="1076249" y="2542322"/>
            <a:ext cx="6829654" cy="70989"/>
          </a:xfrm>
          <a:prstGeom prst="rect">
            <a:avLst/>
          </a:prstGeom>
          <a:noFill/>
          <a:ln/>
        </p:spPr>
        <p:txBody>
          <a:bodyPr wrap="square" lIns="0" tIns="0" rIns="0" bIns="0" rtlCol="0" anchor="ctr"/>
          <a:lstStyle/>
          <a:p>
            <a:pPr marL="0" indent="0" algn="l">
              <a:buNone/>
            </a:pPr>
            <a:r>
              <a:rPr lang="en-US" sz="1400" dirty="0">
                <a:solidFill>
                  <a:srgbClr val="000000"/>
                </a:solidFill>
                <a:latin typeface="Montserrat" pitchFamily="34" charset="0"/>
                <a:ea typeface="Montserrat" pitchFamily="34" charset="-122"/>
                <a:cs typeface="Montserrat" pitchFamily="34" charset="-120"/>
              </a:rPr>
              <a:t>Reducción significativa del 20% en mortalidad cardiovascular</a:t>
            </a:r>
            <a:endParaRPr lang="en-US" sz="1400" dirty="0"/>
          </a:p>
        </p:txBody>
      </p:sp>
      <p:sp>
        <p:nvSpPr>
          <p:cNvPr id="13" name="Text 10"/>
          <p:cNvSpPr txBox="1"/>
          <p:nvPr/>
        </p:nvSpPr>
        <p:spPr>
          <a:xfrm>
            <a:off x="1076249" y="2797273"/>
            <a:ext cx="5974797" cy="228600"/>
          </a:xfrm>
          <a:prstGeom prst="rect">
            <a:avLst/>
          </a:prstGeom>
          <a:noFill/>
          <a:ln/>
        </p:spPr>
        <p:txBody>
          <a:bodyPr wrap="square" lIns="0" tIns="0" rIns="0" bIns="0" rtlCol="0" anchor="ctr"/>
          <a:lstStyle/>
          <a:p>
            <a:pPr marL="0" indent="0" algn="l">
              <a:buNone/>
            </a:pPr>
            <a:r>
              <a:rPr lang="en-US" sz="1400" dirty="0">
                <a:solidFill>
                  <a:srgbClr val="000000"/>
                </a:solidFill>
                <a:latin typeface="Montserrat" pitchFamily="34" charset="0"/>
                <a:ea typeface="Montserrat" pitchFamily="34" charset="-122"/>
                <a:cs typeface="Montserrat" pitchFamily="34" charset="-120"/>
              </a:rPr>
              <a:t>Reducción del 21% en hospitalizaciones por insuficiencia cardíaca</a:t>
            </a:r>
            <a:endParaRPr lang="en-US" sz="1400" dirty="0"/>
          </a:p>
        </p:txBody>
      </p:sp>
      <p:sp>
        <p:nvSpPr>
          <p:cNvPr id="14" name="Text 11"/>
          <p:cNvSpPr txBox="1"/>
          <p:nvPr/>
        </p:nvSpPr>
        <p:spPr>
          <a:xfrm>
            <a:off x="1089396" y="3161279"/>
            <a:ext cx="4815230" cy="256032"/>
          </a:xfrm>
          <a:prstGeom prst="rect">
            <a:avLst/>
          </a:prstGeom>
          <a:noFill/>
          <a:ln/>
        </p:spPr>
        <p:txBody>
          <a:bodyPr wrap="square" lIns="0" tIns="0" rIns="0" bIns="0" rtlCol="0" anchor="ctr"/>
          <a:lstStyle/>
          <a:p>
            <a:pPr marL="0" indent="0" algn="l">
              <a:buNone/>
            </a:pPr>
            <a:r>
              <a:rPr lang="en-US" sz="1400" dirty="0">
                <a:solidFill>
                  <a:srgbClr val="000000"/>
                </a:solidFill>
                <a:latin typeface="Montserrat" pitchFamily="34" charset="0"/>
                <a:ea typeface="Montserrat" pitchFamily="34" charset="-122"/>
                <a:cs typeface="Montserrat" pitchFamily="34" charset="-120"/>
              </a:rPr>
              <a:t>NNT: 21 pacientes para prevenir un evento primario</a:t>
            </a:r>
            <a:endParaRPr lang="en-US" sz="1400" dirty="0"/>
          </a:p>
        </p:txBody>
      </p:sp>
      <p:sp>
        <p:nvSpPr>
          <p:cNvPr id="15" name="Text 12"/>
          <p:cNvSpPr txBox="1"/>
          <p:nvPr/>
        </p:nvSpPr>
        <p:spPr>
          <a:xfrm>
            <a:off x="2834659" y="2190902"/>
            <a:ext cx="2200961" cy="210312"/>
          </a:xfrm>
          <a:prstGeom prst="rect">
            <a:avLst/>
          </a:prstGeom>
          <a:noFill/>
          <a:ln/>
        </p:spPr>
        <p:txBody>
          <a:bodyPr wrap="square" lIns="0" tIns="0" rIns="0" bIns="0" rtlCol="0" anchor="ctr"/>
          <a:lstStyle/>
          <a:p>
            <a:pPr marL="0" indent="0" algn="l">
              <a:buNone/>
            </a:pPr>
            <a:r>
              <a:rPr lang="en-US" sz="1400" b="1" dirty="0">
                <a:solidFill>
                  <a:srgbClr val="000000"/>
                </a:solidFill>
                <a:latin typeface="Montserrat" pitchFamily="34" charset="0"/>
                <a:ea typeface="Montserrat" pitchFamily="34" charset="-122"/>
                <a:cs typeface="Montserrat" pitchFamily="34" charset="-120"/>
              </a:rPr>
              <a:t>demostró superioridad</a:t>
            </a:r>
            <a:endParaRPr lang="en-US" sz="1400" dirty="0"/>
          </a:p>
        </p:txBody>
      </p:sp>
      <p:sp>
        <p:nvSpPr>
          <p:cNvPr id="16" name="Shape 13"/>
          <p:cNvSpPr/>
          <p:nvPr/>
        </p:nvSpPr>
        <p:spPr>
          <a:xfrm>
            <a:off x="707782" y="3716785"/>
            <a:ext cx="10972800" cy="1867205"/>
          </a:xfrm>
          <a:prstGeom prst="roundRect">
            <a:avLst>
              <a:gd name="adj" fmla="val 1999"/>
            </a:avLst>
          </a:prstGeom>
          <a:solidFill>
            <a:srgbClr val="F7FAFC"/>
          </a:solidFill>
          <a:ln/>
        </p:spPr>
      </p:sp>
      <p:sp>
        <p:nvSpPr>
          <p:cNvPr id="17" name="Shape 14"/>
          <p:cNvSpPr/>
          <p:nvPr/>
        </p:nvSpPr>
        <p:spPr>
          <a:xfrm>
            <a:off x="609905" y="3581705"/>
            <a:ext cx="47549" cy="1867205"/>
          </a:xfrm>
          <a:prstGeom prst="rect">
            <a:avLst/>
          </a:prstGeom>
          <a:solidFill>
            <a:schemeClr val="accent6"/>
          </a:solidFill>
          <a:ln/>
        </p:spPr>
      </p:sp>
      <p:pic>
        <p:nvPicPr>
          <p:cNvPr id="18" name="Image 1" descr="preencoded.png"/>
          <p:cNvPicPr>
            <a:picLocks noChangeAspect="1"/>
          </p:cNvPicPr>
          <p:nvPr/>
        </p:nvPicPr>
        <p:blipFill>
          <a:blip r:embed="rId4"/>
          <a:srcRect t="-16600" b="-16600"/>
          <a:stretch/>
        </p:blipFill>
        <p:spPr>
          <a:xfrm>
            <a:off x="847649" y="3791102"/>
            <a:ext cx="228600" cy="304495"/>
          </a:xfrm>
          <a:prstGeom prst="rect">
            <a:avLst/>
          </a:prstGeom>
        </p:spPr>
      </p:pic>
      <p:sp>
        <p:nvSpPr>
          <p:cNvPr id="19" name="Text 15"/>
          <p:cNvSpPr txBox="1"/>
          <p:nvPr/>
        </p:nvSpPr>
        <p:spPr>
          <a:xfrm>
            <a:off x="1190549" y="3771900"/>
            <a:ext cx="6715354" cy="342900"/>
          </a:xfrm>
          <a:prstGeom prst="rect">
            <a:avLst/>
          </a:prstGeom>
          <a:noFill/>
          <a:ln/>
        </p:spPr>
        <p:txBody>
          <a:bodyPr wrap="square" lIns="0" tIns="0" rIns="0" bIns="0" rtlCol="0" anchor="ctr"/>
          <a:lstStyle/>
          <a:p>
            <a:pPr marL="0" indent="0" algn="l">
              <a:buNone/>
            </a:pPr>
            <a:r>
              <a:rPr lang="en-US" sz="1800" b="1" dirty="0">
                <a:solidFill>
                  <a:srgbClr val="374151"/>
                </a:solidFill>
                <a:latin typeface="Montserrat" pitchFamily="34" charset="0"/>
                <a:ea typeface="Montserrat" pitchFamily="34" charset="-122"/>
                <a:cs typeface="Montserrat" pitchFamily="34" charset="-120"/>
              </a:rPr>
              <a:t>PARAGON-HF: Insuficiencia cardíaca con FE preservada</a:t>
            </a:r>
            <a:endParaRPr lang="en-US" sz="1800" dirty="0"/>
          </a:p>
        </p:txBody>
      </p:sp>
      <p:sp>
        <p:nvSpPr>
          <p:cNvPr id="20" name="Text 16"/>
          <p:cNvSpPr txBox="1"/>
          <p:nvPr/>
        </p:nvSpPr>
        <p:spPr>
          <a:xfrm>
            <a:off x="1152144" y="4248302"/>
            <a:ext cx="1772107" cy="210312"/>
          </a:xfrm>
          <a:prstGeom prst="rect">
            <a:avLst/>
          </a:prstGeom>
          <a:noFill/>
          <a:ln/>
        </p:spPr>
        <p:txBody>
          <a:bodyPr wrap="square" lIns="0" tIns="0" rIns="0" bIns="0" rtlCol="0" anchor="ctr"/>
          <a:lstStyle/>
          <a:p>
            <a:pPr marL="0" indent="0" algn="l">
              <a:buNone/>
            </a:pPr>
            <a:r>
              <a:rPr lang="en-US" sz="1400" dirty="0">
                <a:solidFill>
                  <a:srgbClr val="000000"/>
                </a:solidFill>
                <a:latin typeface="Montserrat" pitchFamily="34" charset="0"/>
                <a:ea typeface="Montserrat" pitchFamily="34" charset="-122"/>
                <a:cs typeface="Montserrat" pitchFamily="34" charset="-120"/>
              </a:rPr>
              <a:t>Sacubitril/valsartan</a:t>
            </a:r>
            <a:endParaRPr lang="en-US" sz="1400" dirty="0"/>
          </a:p>
        </p:txBody>
      </p:sp>
      <p:sp>
        <p:nvSpPr>
          <p:cNvPr id="21" name="Text 17"/>
          <p:cNvSpPr txBox="1"/>
          <p:nvPr/>
        </p:nvSpPr>
        <p:spPr>
          <a:xfrm>
            <a:off x="6290102" y="4248302"/>
            <a:ext cx="3086100" cy="210312"/>
          </a:xfrm>
          <a:prstGeom prst="rect">
            <a:avLst/>
          </a:prstGeom>
          <a:noFill/>
          <a:ln/>
        </p:spPr>
        <p:txBody>
          <a:bodyPr wrap="square" lIns="0" tIns="0" rIns="0" bIns="0" rtlCol="0" anchor="ctr"/>
          <a:lstStyle/>
          <a:p>
            <a:pPr marL="0" indent="0" algn="l">
              <a:buNone/>
            </a:pPr>
            <a:r>
              <a:rPr lang="en-US" sz="1400" dirty="0">
                <a:solidFill>
                  <a:srgbClr val="000000"/>
                </a:solidFill>
                <a:latin typeface="Montserrat" pitchFamily="34" charset="0"/>
                <a:ea typeface="Montserrat" pitchFamily="34" charset="-122"/>
                <a:cs typeface="Montserrat" pitchFamily="34" charset="-120"/>
              </a:rPr>
              <a:t>frente a valsartan (RR 0.87; p=0.06)</a:t>
            </a:r>
            <a:endParaRPr lang="en-US" sz="1400" dirty="0"/>
          </a:p>
        </p:txBody>
      </p:sp>
      <p:sp>
        <p:nvSpPr>
          <p:cNvPr id="22" name="Text 18"/>
          <p:cNvSpPr txBox="1"/>
          <p:nvPr/>
        </p:nvSpPr>
        <p:spPr>
          <a:xfrm>
            <a:off x="1152143" y="4505249"/>
            <a:ext cx="5744261" cy="276148"/>
          </a:xfrm>
          <a:prstGeom prst="rect">
            <a:avLst/>
          </a:prstGeom>
          <a:noFill/>
          <a:ln/>
        </p:spPr>
        <p:txBody>
          <a:bodyPr wrap="square" lIns="0" tIns="0" rIns="0" bIns="0" rtlCol="0" anchor="ctr"/>
          <a:lstStyle/>
          <a:p>
            <a:pPr marL="0" indent="0" algn="l">
              <a:buNone/>
            </a:pPr>
            <a:r>
              <a:rPr lang="en-US" sz="1400" dirty="0">
                <a:solidFill>
                  <a:srgbClr val="000000"/>
                </a:solidFill>
                <a:latin typeface="Montserrat" pitchFamily="34" charset="0"/>
                <a:ea typeface="Montserrat" pitchFamily="34" charset="-122"/>
                <a:cs typeface="Montserrat" pitchFamily="34" charset="-120"/>
              </a:rPr>
              <a:t>Posible beneficio en pacientes con FE en rango límite (45-57%)</a:t>
            </a:r>
            <a:endParaRPr lang="en-US" sz="1400" dirty="0"/>
          </a:p>
        </p:txBody>
      </p:sp>
      <p:sp>
        <p:nvSpPr>
          <p:cNvPr id="23" name="Text 19"/>
          <p:cNvSpPr txBox="1"/>
          <p:nvPr/>
        </p:nvSpPr>
        <p:spPr>
          <a:xfrm>
            <a:off x="1152143" y="4815078"/>
            <a:ext cx="6553506" cy="209397"/>
          </a:xfrm>
          <a:prstGeom prst="rect">
            <a:avLst/>
          </a:prstGeom>
          <a:noFill/>
          <a:ln/>
        </p:spPr>
        <p:txBody>
          <a:bodyPr wrap="square" lIns="0" tIns="0" rIns="0" bIns="0" rtlCol="0" anchor="ctr"/>
          <a:lstStyle/>
          <a:p>
            <a:pPr marL="0" indent="0" algn="l">
              <a:buNone/>
            </a:pPr>
            <a:r>
              <a:rPr lang="en-US" sz="1400" dirty="0">
                <a:solidFill>
                  <a:srgbClr val="000000"/>
                </a:solidFill>
                <a:latin typeface="Montserrat" pitchFamily="34" charset="0"/>
                <a:ea typeface="Montserrat" pitchFamily="34" charset="-122"/>
                <a:cs typeface="Montserrat" pitchFamily="34" charset="-120"/>
              </a:rPr>
              <a:t>Señales de mayor beneficio en mujeres (52% de la población estudiada)</a:t>
            </a:r>
            <a:endParaRPr lang="en-US" sz="1400" dirty="0"/>
          </a:p>
        </p:txBody>
      </p:sp>
      <p:sp>
        <p:nvSpPr>
          <p:cNvPr id="24" name="Text 20"/>
          <p:cNvSpPr txBox="1"/>
          <p:nvPr/>
        </p:nvSpPr>
        <p:spPr>
          <a:xfrm>
            <a:off x="1152143" y="5186782"/>
            <a:ext cx="4815230" cy="160934"/>
          </a:xfrm>
          <a:prstGeom prst="rect">
            <a:avLst/>
          </a:prstGeom>
          <a:noFill/>
          <a:ln/>
        </p:spPr>
        <p:txBody>
          <a:bodyPr wrap="square" lIns="0" tIns="0" rIns="0" bIns="0" rtlCol="0" anchor="ctr"/>
          <a:lstStyle/>
          <a:p>
            <a:pPr marL="0" indent="0" algn="l">
              <a:buNone/>
            </a:pPr>
            <a:r>
              <a:rPr lang="en-US" sz="1400" dirty="0">
                <a:solidFill>
                  <a:srgbClr val="000000"/>
                </a:solidFill>
                <a:latin typeface="Montserrat" pitchFamily="34" charset="0"/>
                <a:ea typeface="Montserrat" pitchFamily="34" charset="-122"/>
                <a:cs typeface="Montserrat" pitchFamily="34" charset="-120"/>
              </a:rPr>
              <a:t>Mejor perfil de seguridad renal que el comparador</a:t>
            </a:r>
            <a:endParaRPr lang="en-US" sz="1400" dirty="0"/>
          </a:p>
        </p:txBody>
      </p:sp>
      <p:sp>
        <p:nvSpPr>
          <p:cNvPr id="25" name="Text 21"/>
          <p:cNvSpPr txBox="1"/>
          <p:nvPr/>
        </p:nvSpPr>
        <p:spPr>
          <a:xfrm>
            <a:off x="2879482" y="4248302"/>
            <a:ext cx="3314700" cy="210312"/>
          </a:xfrm>
          <a:prstGeom prst="rect">
            <a:avLst/>
          </a:prstGeom>
          <a:noFill/>
          <a:ln/>
        </p:spPr>
        <p:txBody>
          <a:bodyPr wrap="square" lIns="0" tIns="0" rIns="0" bIns="0" rtlCol="0" anchor="ctr"/>
          <a:lstStyle/>
          <a:p>
            <a:pPr marL="0" indent="0" algn="l">
              <a:buNone/>
            </a:pPr>
            <a:r>
              <a:rPr lang="en-US" sz="1400" b="1" dirty="0">
                <a:solidFill>
                  <a:srgbClr val="000000"/>
                </a:solidFill>
                <a:latin typeface="Montserrat" pitchFamily="34" charset="0"/>
                <a:ea typeface="Montserrat" pitchFamily="34" charset="-122"/>
                <a:cs typeface="Montserrat" pitchFamily="34" charset="-120"/>
              </a:rPr>
              <a:t>no alcanzó significación estadística</a:t>
            </a:r>
            <a:endParaRPr lang="en-US" sz="1400" dirty="0"/>
          </a:p>
        </p:txBody>
      </p:sp>
      <p:pic>
        <p:nvPicPr>
          <p:cNvPr id="26" name="Image 2" descr="preencoded.png"/>
          <p:cNvPicPr>
            <a:picLocks noChangeAspect="1"/>
          </p:cNvPicPr>
          <p:nvPr/>
        </p:nvPicPr>
        <p:blipFill>
          <a:blip r:embed="rId5"/>
          <a:srcRect t="-20192" b="-20192"/>
          <a:stretch/>
        </p:blipFill>
        <p:spPr>
          <a:xfrm>
            <a:off x="4211726" y="5686654"/>
            <a:ext cx="142646" cy="267005"/>
          </a:xfrm>
          <a:prstGeom prst="rect">
            <a:avLst/>
          </a:prstGeom>
        </p:spPr>
      </p:pic>
      <p:sp>
        <p:nvSpPr>
          <p:cNvPr id="27" name="Text 22"/>
          <p:cNvSpPr txBox="1"/>
          <p:nvPr/>
        </p:nvSpPr>
        <p:spPr>
          <a:xfrm>
            <a:off x="4431182" y="5705856"/>
            <a:ext cx="3696005" cy="228600"/>
          </a:xfrm>
          <a:prstGeom prst="rect">
            <a:avLst/>
          </a:prstGeom>
          <a:noFill/>
          <a:ln/>
        </p:spPr>
        <p:txBody>
          <a:bodyPr wrap="square" lIns="0" tIns="0" rIns="0" bIns="0" rtlCol="0" anchor="ctr"/>
          <a:lstStyle/>
          <a:p>
            <a:pPr marL="0" indent="0" algn="ctr">
              <a:buNone/>
            </a:pPr>
            <a:r>
              <a:rPr lang="en-US" sz="1500" dirty="0">
                <a:solidFill>
                  <a:srgbClr val="2D3748"/>
                </a:solidFill>
                <a:latin typeface="Montserrat" pitchFamily="34" charset="0"/>
                <a:ea typeface="Montserrat" pitchFamily="34" charset="-122"/>
                <a:cs typeface="Montserrat" pitchFamily="34" charset="-120"/>
              </a:rPr>
              <a:t>Mensaje clave para la práctica clínica</a:t>
            </a:r>
            <a:endParaRPr lang="en-US" sz="1500" dirty="0"/>
          </a:p>
        </p:txBody>
      </p:sp>
      <p:sp>
        <p:nvSpPr>
          <p:cNvPr id="36" name="Shape 30"/>
          <p:cNvSpPr/>
          <p:nvPr/>
        </p:nvSpPr>
        <p:spPr>
          <a:xfrm>
            <a:off x="4713732" y="8515807"/>
            <a:ext cx="75895" cy="75895"/>
          </a:xfrm>
          <a:prstGeom prst="roundRect">
            <a:avLst>
              <a:gd name="adj" fmla="val 1204822"/>
            </a:avLst>
          </a:prstGeom>
          <a:solidFill>
            <a:srgbClr val="1E3A8A"/>
          </a:solidFill>
          <a:ln/>
        </p:spPr>
      </p:sp>
      <p:sp>
        <p:nvSpPr>
          <p:cNvPr id="37" name="Text 31"/>
          <p:cNvSpPr txBox="1"/>
          <p:nvPr/>
        </p:nvSpPr>
        <p:spPr>
          <a:xfrm>
            <a:off x="4866437" y="8458200"/>
            <a:ext cx="2581351" cy="181051"/>
          </a:xfrm>
          <a:prstGeom prst="rect">
            <a:avLst/>
          </a:prstGeom>
          <a:noFill/>
          <a:ln/>
        </p:spPr>
        <p:txBody>
          <a:bodyPr wrap="square" lIns="0" tIns="0" rIns="0" bIns="0" rtlCol="0" anchor="ctr"/>
          <a:lstStyle/>
          <a:p>
            <a:pPr marL="0" indent="0" algn="ctr">
              <a:buNone/>
            </a:pPr>
            <a:r>
              <a:rPr lang="en-US" sz="1200" dirty="0">
                <a:solidFill>
                  <a:srgbClr val="4A5568"/>
                </a:solidFill>
                <a:latin typeface="Montserrat" pitchFamily="34" charset="0"/>
                <a:ea typeface="Montserrat" pitchFamily="34" charset="-122"/>
                <a:cs typeface="Montserrat" pitchFamily="34" charset="-120"/>
              </a:rPr>
              <a:t>PARAGON-HF vs PARADIGM-HF</a:t>
            </a:r>
            <a:endParaRPr lang="en-US" sz="1200" dirty="0"/>
          </a:p>
        </p:txBody>
      </p:sp>
      <p:sp>
        <p:nvSpPr>
          <p:cNvPr id="38" name="Shape 32"/>
          <p:cNvSpPr/>
          <p:nvPr/>
        </p:nvSpPr>
        <p:spPr>
          <a:xfrm>
            <a:off x="7402068" y="8515807"/>
            <a:ext cx="75895" cy="75895"/>
          </a:xfrm>
          <a:prstGeom prst="roundRect">
            <a:avLst>
              <a:gd name="adj" fmla="val 1204822"/>
            </a:avLst>
          </a:prstGeom>
          <a:solidFill>
            <a:srgbClr val="1E3A8A"/>
          </a:solidFill>
          <a:ln/>
        </p:spPr>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4" name="Shape 2"/>
          <p:cNvSpPr/>
          <p:nvPr/>
        </p:nvSpPr>
        <p:spPr>
          <a:xfrm>
            <a:off x="0" y="0"/>
            <a:ext cx="12191695" cy="114300"/>
          </a:xfrm>
          <a:prstGeom prst="rect">
            <a:avLst/>
          </a:prstGeom>
          <a:solidFill>
            <a:schemeClr val="accent6"/>
          </a:solidFill>
          <a:ln/>
        </p:spPr>
      </p:sp>
      <p:sp>
        <p:nvSpPr>
          <p:cNvPr id="5" name="Text 3"/>
          <p:cNvSpPr txBox="1"/>
          <p:nvPr/>
        </p:nvSpPr>
        <p:spPr>
          <a:xfrm>
            <a:off x="299466" y="457200"/>
            <a:ext cx="11163910" cy="419710"/>
          </a:xfrm>
          <a:prstGeom prst="rect">
            <a:avLst/>
          </a:prstGeom>
          <a:noFill/>
          <a:ln/>
        </p:spPr>
        <p:txBody>
          <a:bodyPr wrap="square" lIns="0" tIns="0" rIns="0" bIns="0" rtlCol="0" anchor="ctr"/>
          <a:lstStyle/>
          <a:p>
            <a:pPr marL="0" indent="0" algn="ctr">
              <a:buNone/>
            </a:pPr>
            <a:r>
              <a:rPr lang="en-US" sz="2700" b="1" dirty="0">
                <a:solidFill>
                  <a:srgbClr val="1F2937"/>
                </a:solidFill>
                <a:latin typeface="Montserrat" pitchFamily="34" charset="0"/>
                <a:ea typeface="Montserrat" pitchFamily="34" charset="-122"/>
                <a:cs typeface="Montserrat" pitchFamily="34" charset="-120"/>
              </a:rPr>
              <a:t>Comparación de Estudios Pivotales en Insuficiencia Cardíaca</a:t>
            </a:r>
            <a:endParaRPr lang="en-US" sz="2700" dirty="0"/>
          </a:p>
        </p:txBody>
      </p:sp>
      <p:sp>
        <p:nvSpPr>
          <p:cNvPr id="6" name="Shape 4"/>
          <p:cNvSpPr/>
          <p:nvPr/>
        </p:nvSpPr>
        <p:spPr>
          <a:xfrm>
            <a:off x="3595421" y="1067105"/>
            <a:ext cx="1057046" cy="381305"/>
          </a:xfrm>
          <a:prstGeom prst="roundRect">
            <a:avLst>
              <a:gd name="adj" fmla="val 119904"/>
            </a:avLst>
          </a:prstGeom>
          <a:solidFill>
            <a:srgbClr val="E6F2FF"/>
          </a:solidFill>
          <a:ln w="25400">
            <a:solidFill>
              <a:srgbClr val="002147"/>
            </a:solidFill>
            <a:prstDash val="solid"/>
          </a:ln>
        </p:spPr>
      </p:sp>
      <p:sp>
        <p:nvSpPr>
          <p:cNvPr id="7" name="Text 5"/>
          <p:cNvSpPr txBox="1"/>
          <p:nvPr/>
        </p:nvSpPr>
        <p:spPr>
          <a:xfrm>
            <a:off x="3728923" y="1143000"/>
            <a:ext cx="933602" cy="228600"/>
          </a:xfrm>
          <a:prstGeom prst="rect">
            <a:avLst/>
          </a:prstGeom>
          <a:noFill/>
          <a:ln/>
        </p:spPr>
        <p:txBody>
          <a:bodyPr wrap="square" lIns="0" tIns="0" rIns="0" bIns="0" rtlCol="0" anchor="ctr"/>
          <a:lstStyle/>
          <a:p>
            <a:pPr marL="0" indent="0" algn="ctr">
              <a:buNone/>
            </a:pPr>
            <a:r>
              <a:rPr lang="en-US" sz="1500" dirty="0">
                <a:solidFill>
                  <a:srgbClr val="002147"/>
                </a:solidFill>
                <a:latin typeface="Roboto" pitchFamily="34" charset="0"/>
                <a:ea typeface="Roboto" pitchFamily="34" charset="-122"/>
                <a:cs typeface="Roboto" pitchFamily="34" charset="-120"/>
              </a:rPr>
              <a:t>DAPA-HF</a:t>
            </a:r>
            <a:endParaRPr lang="en-US" sz="1500" dirty="0"/>
          </a:p>
        </p:txBody>
      </p:sp>
      <p:sp>
        <p:nvSpPr>
          <p:cNvPr id="8" name="Text 6"/>
          <p:cNvSpPr txBox="1"/>
          <p:nvPr/>
        </p:nvSpPr>
        <p:spPr>
          <a:xfrm>
            <a:off x="4849063" y="1143000"/>
            <a:ext cx="342900" cy="228600"/>
          </a:xfrm>
          <a:prstGeom prst="rect">
            <a:avLst/>
          </a:prstGeom>
          <a:noFill/>
          <a:ln/>
        </p:spPr>
        <p:txBody>
          <a:bodyPr wrap="square" lIns="0" tIns="0" rIns="0" bIns="0" rtlCol="0" anchor="ctr"/>
          <a:lstStyle/>
          <a:p>
            <a:pPr marL="0" indent="0" algn="ctr">
              <a:buNone/>
            </a:pPr>
            <a:r>
              <a:rPr lang="en-US" sz="1500" dirty="0">
                <a:solidFill>
                  <a:srgbClr val="333333"/>
                </a:solidFill>
                <a:latin typeface="Roboto" pitchFamily="34" charset="0"/>
                <a:ea typeface="Roboto" pitchFamily="34" charset="-122"/>
                <a:cs typeface="Roboto" pitchFamily="34" charset="-120"/>
              </a:rPr>
              <a:t>vs</a:t>
            </a:r>
            <a:endParaRPr lang="en-US" sz="1500" dirty="0"/>
          </a:p>
        </p:txBody>
      </p:sp>
      <p:sp>
        <p:nvSpPr>
          <p:cNvPr id="9" name="Text 7"/>
          <p:cNvSpPr txBox="1"/>
          <p:nvPr/>
        </p:nvSpPr>
        <p:spPr>
          <a:xfrm>
            <a:off x="7295083" y="1143000"/>
            <a:ext cx="342900" cy="228600"/>
          </a:xfrm>
          <a:prstGeom prst="rect">
            <a:avLst/>
          </a:prstGeom>
          <a:noFill/>
          <a:ln/>
        </p:spPr>
        <p:txBody>
          <a:bodyPr wrap="square" lIns="0" tIns="0" rIns="0" bIns="0" rtlCol="0" anchor="ctr"/>
          <a:lstStyle/>
          <a:p>
            <a:pPr marL="0" indent="0" algn="ctr">
              <a:buNone/>
            </a:pPr>
            <a:r>
              <a:rPr lang="en-US" sz="1500" dirty="0">
                <a:solidFill>
                  <a:srgbClr val="333333"/>
                </a:solidFill>
                <a:latin typeface="Roboto" pitchFamily="34" charset="0"/>
                <a:ea typeface="Roboto" pitchFamily="34" charset="-122"/>
                <a:cs typeface="Roboto" pitchFamily="34" charset="-120"/>
              </a:rPr>
              <a:t>vs</a:t>
            </a:r>
            <a:endParaRPr lang="en-US" sz="1500" dirty="0"/>
          </a:p>
        </p:txBody>
      </p:sp>
      <p:sp>
        <p:nvSpPr>
          <p:cNvPr id="10" name="Shape 8"/>
          <p:cNvSpPr/>
          <p:nvPr/>
        </p:nvSpPr>
        <p:spPr>
          <a:xfrm>
            <a:off x="5192878" y="1067105"/>
            <a:ext cx="1952244" cy="381305"/>
          </a:xfrm>
          <a:prstGeom prst="roundRect">
            <a:avLst>
              <a:gd name="adj" fmla="val 119904"/>
            </a:avLst>
          </a:prstGeom>
          <a:solidFill>
            <a:srgbClr val="E6E6FF"/>
          </a:solidFill>
          <a:ln w="25400">
            <a:solidFill>
              <a:srgbClr val="191970"/>
            </a:solidFill>
            <a:prstDash val="solid"/>
          </a:ln>
        </p:spPr>
      </p:sp>
      <p:sp>
        <p:nvSpPr>
          <p:cNvPr id="11" name="Text 9"/>
          <p:cNvSpPr txBox="1"/>
          <p:nvPr/>
        </p:nvSpPr>
        <p:spPr>
          <a:xfrm>
            <a:off x="5325466" y="1143000"/>
            <a:ext cx="1828800" cy="228600"/>
          </a:xfrm>
          <a:prstGeom prst="rect">
            <a:avLst/>
          </a:prstGeom>
          <a:noFill/>
          <a:ln/>
        </p:spPr>
        <p:txBody>
          <a:bodyPr wrap="square" lIns="0" tIns="0" rIns="0" bIns="0" rtlCol="0" anchor="ctr"/>
          <a:lstStyle/>
          <a:p>
            <a:pPr marL="0" indent="0" algn="ctr">
              <a:buNone/>
            </a:pPr>
            <a:r>
              <a:rPr lang="en-US" sz="1500" dirty="0">
                <a:solidFill>
                  <a:srgbClr val="191970"/>
                </a:solidFill>
                <a:latin typeface="Roboto" pitchFamily="34" charset="0"/>
                <a:ea typeface="Roboto" pitchFamily="34" charset="-122"/>
                <a:cs typeface="Roboto" pitchFamily="34" charset="-120"/>
              </a:rPr>
              <a:t>EMPEROR-Reduced</a:t>
            </a:r>
            <a:endParaRPr lang="en-US" sz="1500" dirty="0"/>
          </a:p>
        </p:txBody>
      </p:sp>
      <p:sp>
        <p:nvSpPr>
          <p:cNvPr id="12" name="Shape 10"/>
          <p:cNvSpPr/>
          <p:nvPr/>
        </p:nvSpPr>
        <p:spPr>
          <a:xfrm>
            <a:off x="7637983" y="1067105"/>
            <a:ext cx="1009498" cy="381305"/>
          </a:xfrm>
          <a:prstGeom prst="roundRect">
            <a:avLst>
              <a:gd name="adj" fmla="val 119904"/>
            </a:avLst>
          </a:prstGeom>
          <a:solidFill>
            <a:srgbClr val="F0F5FF"/>
          </a:solidFill>
          <a:ln w="25400">
            <a:solidFill>
              <a:srgbClr val="003366"/>
            </a:solidFill>
            <a:prstDash val="solid"/>
          </a:ln>
        </p:spPr>
      </p:sp>
      <p:sp>
        <p:nvSpPr>
          <p:cNvPr id="13" name="Text 11"/>
          <p:cNvSpPr txBox="1"/>
          <p:nvPr/>
        </p:nvSpPr>
        <p:spPr>
          <a:xfrm>
            <a:off x="7771486" y="1143000"/>
            <a:ext cx="886054" cy="228600"/>
          </a:xfrm>
          <a:prstGeom prst="rect">
            <a:avLst/>
          </a:prstGeom>
          <a:noFill/>
          <a:ln/>
        </p:spPr>
        <p:txBody>
          <a:bodyPr wrap="square" lIns="0" tIns="0" rIns="0" bIns="0" rtlCol="0" anchor="ctr"/>
          <a:lstStyle/>
          <a:p>
            <a:pPr marL="0" indent="0" algn="ctr">
              <a:buNone/>
            </a:pPr>
            <a:r>
              <a:rPr lang="en-US" sz="1500" dirty="0">
                <a:solidFill>
                  <a:srgbClr val="003366"/>
                </a:solidFill>
                <a:latin typeface="Roboto" pitchFamily="34" charset="0"/>
                <a:ea typeface="Roboto" pitchFamily="34" charset="-122"/>
                <a:cs typeface="Roboto" pitchFamily="34" charset="-120"/>
              </a:rPr>
              <a:t>DELIVER</a:t>
            </a:r>
            <a:endParaRPr lang="en-US" sz="1500" dirty="0"/>
          </a:p>
        </p:txBody>
      </p:sp>
      <p:sp>
        <p:nvSpPr>
          <p:cNvPr id="14" name="Shape 12"/>
          <p:cNvSpPr/>
          <p:nvPr/>
        </p:nvSpPr>
        <p:spPr>
          <a:xfrm>
            <a:off x="1901952" y="2571293"/>
            <a:ext cx="8534095" cy="2704795"/>
          </a:xfrm>
          <a:prstGeom prst="roundRect">
            <a:avLst>
              <a:gd name="adj" fmla="val 952"/>
            </a:avLst>
          </a:prstGeom>
          <a:solidFill>
            <a:srgbClr val="F9FAFB"/>
          </a:solidFill>
          <a:ln/>
          <a:effectLst>
            <a:outerShdw blurRad="12700" dist="12700" dir="16200000" algn="bl" rotWithShape="0">
              <a:srgbClr val="000000">
                <a:alpha val="75000"/>
              </a:srgbClr>
            </a:outerShdw>
          </a:effectLst>
        </p:spPr>
      </p:sp>
      <p:sp>
        <p:nvSpPr>
          <p:cNvPr id="15" name="Text 13"/>
          <p:cNvSpPr txBox="1"/>
          <p:nvPr/>
        </p:nvSpPr>
        <p:spPr>
          <a:xfrm>
            <a:off x="2133295" y="3076956"/>
            <a:ext cx="6715354" cy="581558"/>
          </a:xfrm>
          <a:prstGeom prst="rect">
            <a:avLst/>
          </a:prstGeom>
          <a:noFill/>
          <a:ln/>
        </p:spPr>
        <p:txBody>
          <a:bodyPr wrap="square" lIns="0" tIns="0" rIns="0" bIns="0" rtlCol="0" anchor="ctr"/>
          <a:lstStyle/>
          <a:p>
            <a:pPr marL="0" indent="0" algn="l">
              <a:buNone/>
            </a:pPr>
            <a:r>
              <a:rPr lang="en-US" sz="1800" b="1" dirty="0">
                <a:solidFill>
                  <a:srgbClr val="374151"/>
                </a:solidFill>
                <a:latin typeface="Montserrat" pitchFamily="34" charset="0"/>
                <a:ea typeface="Montserrat" pitchFamily="34" charset="-122"/>
                <a:cs typeface="Montserrat" pitchFamily="34" charset="-120"/>
              </a:rPr>
              <a:t>Análisis Comparativo de Ensayos Clínicos con iSGLT2 en Insuficiencia Cardíaca</a:t>
            </a:r>
            <a:endParaRPr lang="en-US" sz="1800" dirty="0"/>
          </a:p>
        </p:txBody>
      </p:sp>
      <p:sp>
        <p:nvSpPr>
          <p:cNvPr id="16" name="Shape 14"/>
          <p:cNvSpPr/>
          <p:nvPr/>
        </p:nvSpPr>
        <p:spPr>
          <a:xfrm>
            <a:off x="2920594" y="3905402"/>
            <a:ext cx="914400" cy="914400"/>
          </a:xfrm>
          <a:prstGeom prst="roundRect">
            <a:avLst>
              <a:gd name="adj" fmla="val 100000"/>
            </a:avLst>
          </a:prstGeom>
          <a:solidFill>
            <a:srgbClr val="DBEAFE"/>
          </a:solidFill>
          <a:ln/>
        </p:spPr>
      </p:sp>
      <p:pic>
        <p:nvPicPr>
          <p:cNvPr id="17" name="Image 0" descr="preencoded.png"/>
          <p:cNvPicPr>
            <a:picLocks noChangeAspect="1"/>
          </p:cNvPicPr>
          <p:nvPr/>
        </p:nvPicPr>
        <p:blipFill>
          <a:blip r:embed="rId3"/>
          <a:srcRect l="-743" r="-743"/>
          <a:stretch/>
        </p:blipFill>
        <p:spPr>
          <a:xfrm>
            <a:off x="3226003" y="4190695"/>
            <a:ext cx="304495" cy="342900"/>
          </a:xfrm>
          <a:prstGeom prst="rect">
            <a:avLst/>
          </a:prstGeom>
        </p:spPr>
      </p:pic>
      <p:sp>
        <p:nvSpPr>
          <p:cNvPr id="18" name="Shape 15"/>
          <p:cNvSpPr/>
          <p:nvPr/>
        </p:nvSpPr>
        <p:spPr>
          <a:xfrm>
            <a:off x="5639105" y="3905402"/>
            <a:ext cx="914400" cy="914400"/>
          </a:xfrm>
          <a:prstGeom prst="roundRect">
            <a:avLst>
              <a:gd name="adj" fmla="val 100000"/>
            </a:avLst>
          </a:prstGeom>
          <a:solidFill>
            <a:srgbClr val="DBEAFE"/>
          </a:solidFill>
          <a:ln/>
        </p:spPr>
      </p:sp>
      <p:sp>
        <p:nvSpPr>
          <p:cNvPr id="19" name="Text 16"/>
          <p:cNvSpPr txBox="1"/>
          <p:nvPr/>
        </p:nvSpPr>
        <p:spPr>
          <a:xfrm>
            <a:off x="2639873" y="4953305"/>
            <a:ext cx="1600200" cy="181051"/>
          </a:xfrm>
          <a:prstGeom prst="rect">
            <a:avLst/>
          </a:prstGeom>
          <a:noFill/>
          <a:ln/>
        </p:spPr>
        <p:txBody>
          <a:bodyPr wrap="square" lIns="0" tIns="0" rIns="0" bIns="0" rtlCol="0" anchor="ctr"/>
          <a:lstStyle/>
          <a:p>
            <a:pPr marL="0" indent="0" algn="ctr">
              <a:buNone/>
            </a:pPr>
            <a:r>
              <a:rPr lang="en-US" sz="1200" dirty="0">
                <a:solidFill>
                  <a:srgbClr val="374151"/>
                </a:solidFill>
                <a:latin typeface="Roboto" pitchFamily="34" charset="0"/>
                <a:ea typeface="Roboto" pitchFamily="34" charset="-122"/>
                <a:cs typeface="Roboto" pitchFamily="34" charset="-120"/>
              </a:rPr>
              <a:t>Metodología y Diseño</a:t>
            </a:r>
            <a:endParaRPr lang="en-US" sz="1200" dirty="0"/>
          </a:p>
        </p:txBody>
      </p:sp>
      <p:pic>
        <p:nvPicPr>
          <p:cNvPr id="20" name="Image 1" descr="preencoded.png"/>
          <p:cNvPicPr>
            <a:picLocks noChangeAspect="1"/>
          </p:cNvPicPr>
          <p:nvPr/>
        </p:nvPicPr>
        <p:blipFill>
          <a:blip r:embed="rId4"/>
          <a:srcRect l="-27" r="-27"/>
          <a:stretch/>
        </p:blipFill>
        <p:spPr>
          <a:xfrm>
            <a:off x="5881421" y="4190695"/>
            <a:ext cx="428854" cy="342900"/>
          </a:xfrm>
          <a:prstGeom prst="rect">
            <a:avLst/>
          </a:prstGeom>
        </p:spPr>
      </p:pic>
      <p:sp>
        <p:nvSpPr>
          <p:cNvPr id="21" name="Shape 17"/>
          <p:cNvSpPr/>
          <p:nvPr/>
        </p:nvSpPr>
        <p:spPr>
          <a:xfrm>
            <a:off x="8356702" y="3905402"/>
            <a:ext cx="914400" cy="914400"/>
          </a:xfrm>
          <a:prstGeom prst="roundRect">
            <a:avLst>
              <a:gd name="adj" fmla="val 100000"/>
            </a:avLst>
          </a:prstGeom>
          <a:solidFill>
            <a:srgbClr val="DBEAFE"/>
          </a:solidFill>
          <a:ln/>
        </p:spPr>
      </p:sp>
      <p:sp>
        <p:nvSpPr>
          <p:cNvPr id="22" name="Text 18"/>
          <p:cNvSpPr txBox="1"/>
          <p:nvPr/>
        </p:nvSpPr>
        <p:spPr>
          <a:xfrm>
            <a:off x="5086807" y="4953305"/>
            <a:ext cx="2134210" cy="181051"/>
          </a:xfrm>
          <a:prstGeom prst="rect">
            <a:avLst/>
          </a:prstGeom>
          <a:noFill/>
          <a:ln/>
        </p:spPr>
        <p:txBody>
          <a:bodyPr wrap="square" lIns="0" tIns="0" rIns="0" bIns="0" rtlCol="0" anchor="ctr"/>
          <a:lstStyle/>
          <a:p>
            <a:pPr marL="0" indent="0" algn="ctr">
              <a:buNone/>
            </a:pPr>
            <a:r>
              <a:rPr lang="en-US" sz="1200" dirty="0">
                <a:solidFill>
                  <a:srgbClr val="374151"/>
                </a:solidFill>
                <a:latin typeface="Roboto" pitchFamily="34" charset="0"/>
                <a:ea typeface="Roboto" pitchFamily="34" charset="-122"/>
                <a:cs typeface="Roboto" pitchFamily="34" charset="-120"/>
              </a:rPr>
              <a:t>Poblaciones y Características</a:t>
            </a:r>
            <a:endParaRPr lang="en-US" sz="1200" dirty="0"/>
          </a:p>
        </p:txBody>
      </p:sp>
      <p:pic>
        <p:nvPicPr>
          <p:cNvPr id="23" name="Image 2" descr="preencoded.png"/>
          <p:cNvPicPr>
            <a:picLocks noChangeAspect="1"/>
          </p:cNvPicPr>
          <p:nvPr/>
        </p:nvPicPr>
        <p:blipFill>
          <a:blip r:embed="rId5"/>
          <a:srcRect/>
          <a:stretch/>
        </p:blipFill>
        <p:spPr>
          <a:xfrm>
            <a:off x="8641994" y="4190695"/>
            <a:ext cx="342900" cy="342900"/>
          </a:xfrm>
          <a:prstGeom prst="rect">
            <a:avLst/>
          </a:prstGeom>
        </p:spPr>
      </p:pic>
      <p:sp>
        <p:nvSpPr>
          <p:cNvPr id="24" name="Text 19"/>
          <p:cNvSpPr txBox="1"/>
          <p:nvPr/>
        </p:nvSpPr>
        <p:spPr>
          <a:xfrm>
            <a:off x="7878470" y="4953305"/>
            <a:ext cx="1991563" cy="181051"/>
          </a:xfrm>
          <a:prstGeom prst="rect">
            <a:avLst/>
          </a:prstGeom>
          <a:noFill/>
          <a:ln/>
        </p:spPr>
        <p:txBody>
          <a:bodyPr wrap="square" lIns="0" tIns="0" rIns="0" bIns="0" rtlCol="0" anchor="ctr"/>
          <a:lstStyle/>
          <a:p>
            <a:pPr marL="0" indent="0" algn="ctr">
              <a:buNone/>
            </a:pPr>
            <a:r>
              <a:rPr lang="en-US" sz="1200" dirty="0">
                <a:solidFill>
                  <a:srgbClr val="374151"/>
                </a:solidFill>
                <a:latin typeface="Roboto" pitchFamily="34" charset="0"/>
                <a:ea typeface="Roboto" pitchFamily="34" charset="-122"/>
                <a:cs typeface="Roboto" pitchFamily="34" charset="-120"/>
              </a:rPr>
              <a:t>Resultados e Implicaciones</a:t>
            </a:r>
            <a:endParaRPr lang="en-US" sz="1200" dirty="0"/>
          </a:p>
        </p:txBody>
      </p:sp>
      <p:sp>
        <p:nvSpPr>
          <p:cNvPr id="25" name="Shape 20"/>
          <p:cNvSpPr/>
          <p:nvPr/>
        </p:nvSpPr>
        <p:spPr>
          <a:xfrm>
            <a:off x="0" y="6210605"/>
            <a:ext cx="12191695" cy="647395"/>
          </a:xfrm>
          <a:prstGeom prst="rect">
            <a:avLst/>
          </a:prstGeom>
          <a:solidFill>
            <a:srgbClr val="F9FAFB"/>
          </a:solidFill>
          <a:ln/>
        </p:spPr>
      </p:sp>
      <p:sp>
        <p:nvSpPr>
          <p:cNvPr id="26" name="Text 21"/>
          <p:cNvSpPr txBox="1"/>
          <p:nvPr/>
        </p:nvSpPr>
        <p:spPr>
          <a:xfrm>
            <a:off x="609905" y="6458407"/>
            <a:ext cx="5172330" cy="152705"/>
          </a:xfrm>
          <a:prstGeom prst="rect">
            <a:avLst/>
          </a:prstGeom>
          <a:noFill/>
          <a:ln/>
        </p:spPr>
        <p:txBody>
          <a:bodyPr wrap="square" lIns="0" tIns="0" rIns="0" bIns="0" rtlCol="0" anchor="ctr"/>
          <a:lstStyle/>
          <a:p>
            <a:pPr marL="0" indent="0" algn="l">
              <a:buNone/>
            </a:pPr>
            <a:r>
              <a:rPr lang="en-US" sz="1100" dirty="0">
                <a:solidFill>
                  <a:srgbClr val="4B5563"/>
                </a:solidFill>
                <a:latin typeface="Roboto" pitchFamily="34" charset="0"/>
                <a:ea typeface="Roboto" pitchFamily="34" charset="-122"/>
                <a:cs typeface="Roboto" pitchFamily="34" charset="-120"/>
              </a:rPr>
              <a:t>Basado en publicaciones del New England Journal of Medicine 2019-2022</a:t>
            </a:r>
            <a:endParaRPr lang="en-US" sz="1100" dirty="0"/>
          </a:p>
        </p:txBody>
      </p:sp>
      <p:sp>
        <p:nvSpPr>
          <p:cNvPr id="27" name="Text 22"/>
          <p:cNvSpPr txBox="1"/>
          <p:nvPr/>
        </p:nvSpPr>
        <p:spPr>
          <a:xfrm>
            <a:off x="9323222" y="6458407"/>
            <a:ext cx="2371954" cy="152705"/>
          </a:xfrm>
          <a:prstGeom prst="rect">
            <a:avLst/>
          </a:prstGeom>
          <a:noFill/>
          <a:ln/>
        </p:spPr>
        <p:txBody>
          <a:bodyPr wrap="square" lIns="0" tIns="0" rIns="0" bIns="0" rtlCol="0" anchor="ctr"/>
          <a:lstStyle/>
          <a:p>
            <a:pPr marL="0" indent="0" algn="r">
              <a:buNone/>
            </a:pPr>
            <a:r>
              <a:rPr lang="en-US" sz="1100" dirty="0">
                <a:solidFill>
                  <a:srgbClr val="4B5563"/>
                </a:solidFill>
                <a:latin typeface="Roboto" pitchFamily="34" charset="0"/>
                <a:ea typeface="Roboto" pitchFamily="34" charset="-122"/>
                <a:cs typeface="Roboto" pitchFamily="34" charset="-120"/>
              </a:rPr>
              <a:t>Inhibidores SGLT2 en IC: FEVIr y FEVIp</a:t>
            </a:r>
            <a:endParaRPr lang="en-US" sz="1100" dirty="0"/>
          </a:p>
        </p:txBody>
      </p:sp>
      <p:pic>
        <p:nvPicPr>
          <p:cNvPr id="28" name="Image 3" descr="preencoded.png"/>
          <p:cNvPicPr>
            <a:picLocks noChangeAspect="1"/>
          </p:cNvPicPr>
          <p:nvPr/>
        </p:nvPicPr>
        <p:blipFill>
          <a:blip r:embed="rId6">
            <a:alphaModFix amt="5000"/>
          </a:blip>
          <a:srcRect/>
          <a:stretch/>
        </p:blipFill>
        <p:spPr>
          <a:xfrm>
            <a:off x="9525305" y="4190695"/>
            <a:ext cx="2286000" cy="2286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106156"/>
          </a:xfrm>
          <a:prstGeom prst="rect">
            <a:avLst/>
          </a:prstGeom>
          <a:solidFill>
            <a:srgbClr val="FFFFFF"/>
          </a:solidFill>
          <a:ln/>
        </p:spPr>
        <p:txBody>
          <a:bodyPr/>
          <a:lstStyle/>
          <a:p>
            <a:endParaRPr lang="es-CO" dirty="0"/>
          </a:p>
        </p:txBody>
      </p:sp>
      <p:sp>
        <p:nvSpPr>
          <p:cNvPr id="4" name="Shape 2"/>
          <p:cNvSpPr/>
          <p:nvPr/>
        </p:nvSpPr>
        <p:spPr>
          <a:xfrm>
            <a:off x="0" y="0"/>
            <a:ext cx="12191695" cy="114300"/>
          </a:xfrm>
          <a:prstGeom prst="rect">
            <a:avLst/>
          </a:prstGeom>
          <a:solidFill>
            <a:schemeClr val="accent6"/>
          </a:solidFill>
          <a:ln/>
        </p:spPr>
      </p:sp>
      <p:sp>
        <p:nvSpPr>
          <p:cNvPr id="5" name="Text 3"/>
          <p:cNvSpPr txBox="1"/>
          <p:nvPr/>
        </p:nvSpPr>
        <p:spPr>
          <a:xfrm>
            <a:off x="609905" y="409651"/>
            <a:ext cx="7801661" cy="352958"/>
          </a:xfrm>
          <a:prstGeom prst="rect">
            <a:avLst/>
          </a:prstGeom>
          <a:noFill/>
          <a:ln/>
        </p:spPr>
        <p:txBody>
          <a:bodyPr wrap="square" lIns="0" tIns="0" rIns="0" bIns="0" rtlCol="0" anchor="ctr"/>
          <a:lstStyle/>
          <a:p>
            <a:pPr marL="0" indent="0" algn="l">
              <a:buNone/>
            </a:pPr>
            <a:r>
              <a:rPr lang="en-US" sz="2300" b="1" dirty="0">
                <a:solidFill>
                  <a:srgbClr val="1F2937"/>
                </a:solidFill>
                <a:latin typeface="Montserrat" pitchFamily="34" charset="0"/>
                <a:ea typeface="Montserrat" pitchFamily="34" charset="-122"/>
                <a:cs typeface="Montserrat" pitchFamily="34" charset="-120"/>
              </a:rPr>
              <a:t>Conclusiones Clínicas y Relevancia para la Práctica</a:t>
            </a:r>
            <a:endParaRPr lang="en-US" sz="2300" dirty="0"/>
          </a:p>
        </p:txBody>
      </p:sp>
      <p:sp>
        <p:nvSpPr>
          <p:cNvPr id="6" name="Text 4"/>
          <p:cNvSpPr txBox="1"/>
          <p:nvPr/>
        </p:nvSpPr>
        <p:spPr>
          <a:xfrm>
            <a:off x="609905" y="895198"/>
            <a:ext cx="5705856" cy="181051"/>
          </a:xfrm>
          <a:prstGeom prst="rect">
            <a:avLst/>
          </a:prstGeom>
          <a:noFill/>
          <a:ln/>
        </p:spPr>
        <p:txBody>
          <a:bodyPr wrap="square" lIns="0" tIns="0" rIns="0" bIns="0" rtlCol="0" anchor="ctr"/>
          <a:lstStyle/>
          <a:p>
            <a:pPr marL="0" indent="0" algn="l">
              <a:buNone/>
            </a:pPr>
            <a:r>
              <a:rPr lang="en-US" sz="1200" dirty="0">
                <a:solidFill>
                  <a:srgbClr val="4B5563"/>
                </a:solidFill>
                <a:latin typeface="Roboto" pitchFamily="34" charset="0"/>
                <a:ea typeface="Roboto" pitchFamily="34" charset="-122"/>
                <a:cs typeface="Roboto" pitchFamily="34" charset="-120"/>
              </a:rPr>
              <a:t>Síntesis de la evidencia e implicaciones para el manejo de la insuficiencia cardíaca</a:t>
            </a:r>
            <a:endParaRPr lang="en-US" sz="1200" dirty="0"/>
          </a:p>
        </p:txBody>
      </p:sp>
      <p:sp>
        <p:nvSpPr>
          <p:cNvPr id="7" name="Shape 5"/>
          <p:cNvSpPr/>
          <p:nvPr/>
        </p:nvSpPr>
        <p:spPr>
          <a:xfrm>
            <a:off x="609905" y="1181405"/>
            <a:ext cx="10972800" cy="9144"/>
          </a:xfrm>
          <a:prstGeom prst="rect">
            <a:avLst/>
          </a:prstGeom>
          <a:solidFill>
            <a:srgbClr val="D1D5DB"/>
          </a:solidFill>
          <a:ln/>
        </p:spPr>
      </p:sp>
      <p:sp>
        <p:nvSpPr>
          <p:cNvPr id="8" name="Shape 6"/>
          <p:cNvSpPr/>
          <p:nvPr/>
        </p:nvSpPr>
        <p:spPr>
          <a:xfrm>
            <a:off x="609905" y="1495044"/>
            <a:ext cx="5372100" cy="2476195"/>
          </a:xfrm>
          <a:prstGeom prst="roundRect">
            <a:avLst>
              <a:gd name="adj" fmla="val 568"/>
            </a:avLst>
          </a:prstGeom>
          <a:solidFill>
            <a:srgbClr val="F8FAFC"/>
          </a:solidFill>
          <a:ln/>
        </p:spPr>
        <p:txBody>
          <a:bodyPr/>
          <a:lstStyle/>
          <a:p>
            <a:endParaRPr lang="es-CO" dirty="0"/>
          </a:p>
        </p:txBody>
      </p:sp>
      <p:sp>
        <p:nvSpPr>
          <p:cNvPr id="9" name="Shape 7"/>
          <p:cNvSpPr/>
          <p:nvPr/>
        </p:nvSpPr>
        <p:spPr>
          <a:xfrm>
            <a:off x="609905" y="1495044"/>
            <a:ext cx="38405" cy="2476195"/>
          </a:xfrm>
          <a:prstGeom prst="rect">
            <a:avLst/>
          </a:prstGeom>
          <a:solidFill>
            <a:schemeClr val="accent6"/>
          </a:solidFill>
          <a:ln/>
        </p:spPr>
      </p:sp>
      <p:pic>
        <p:nvPicPr>
          <p:cNvPr id="10" name="Image 0" descr="preencoded.png"/>
          <p:cNvPicPr>
            <a:picLocks noChangeAspect="1"/>
          </p:cNvPicPr>
          <p:nvPr/>
        </p:nvPicPr>
        <p:blipFill>
          <a:blip r:embed="rId3"/>
          <a:srcRect/>
          <a:stretch/>
        </p:blipFill>
        <p:spPr>
          <a:xfrm>
            <a:off x="800100" y="1687982"/>
            <a:ext cx="171907" cy="171907"/>
          </a:xfrm>
          <a:prstGeom prst="rect">
            <a:avLst/>
          </a:prstGeom>
        </p:spPr>
      </p:pic>
      <p:sp>
        <p:nvSpPr>
          <p:cNvPr id="13" name="Text 10"/>
          <p:cNvSpPr txBox="1"/>
          <p:nvPr/>
        </p:nvSpPr>
        <p:spPr>
          <a:xfrm>
            <a:off x="1047902" y="1676095"/>
            <a:ext cx="2210105" cy="210312"/>
          </a:xfrm>
          <a:prstGeom prst="rect">
            <a:avLst/>
          </a:prstGeom>
          <a:noFill/>
          <a:ln/>
        </p:spPr>
        <p:txBody>
          <a:bodyPr wrap="square" lIns="0" tIns="0" rIns="0" bIns="0" rtlCol="0" anchor="ctr"/>
          <a:lstStyle/>
          <a:p>
            <a:pPr marL="0" indent="0" algn="l">
              <a:buNone/>
            </a:pPr>
            <a:r>
              <a:rPr lang="en-US" sz="1400" b="1" dirty="0">
                <a:solidFill>
                  <a:srgbClr val="374151"/>
                </a:solidFill>
                <a:latin typeface="Montserrat" pitchFamily="34" charset="0"/>
                <a:ea typeface="Montserrat" pitchFamily="34" charset="-122"/>
                <a:cs typeface="Montserrat" pitchFamily="34" charset="-120"/>
              </a:rPr>
              <a:t>Hallazgos Consistentes</a:t>
            </a:r>
            <a:endParaRPr lang="en-US" sz="1400" dirty="0"/>
          </a:p>
        </p:txBody>
      </p:sp>
      <p:pic>
        <p:nvPicPr>
          <p:cNvPr id="14" name="Image 1" descr="preencoded.png"/>
          <p:cNvPicPr>
            <a:picLocks noChangeAspect="1"/>
          </p:cNvPicPr>
          <p:nvPr/>
        </p:nvPicPr>
        <p:blipFill>
          <a:blip r:embed="rId4"/>
          <a:srcRect/>
          <a:stretch/>
        </p:blipFill>
        <p:spPr>
          <a:xfrm>
            <a:off x="800100" y="2018995"/>
            <a:ext cx="152705" cy="152705"/>
          </a:xfrm>
          <a:prstGeom prst="rect">
            <a:avLst/>
          </a:prstGeom>
        </p:spPr>
      </p:pic>
      <p:sp>
        <p:nvSpPr>
          <p:cNvPr id="15" name="Text 11"/>
          <p:cNvSpPr txBox="1"/>
          <p:nvPr/>
        </p:nvSpPr>
        <p:spPr>
          <a:xfrm>
            <a:off x="1028700" y="4304995"/>
            <a:ext cx="2134210" cy="210312"/>
          </a:xfrm>
          <a:prstGeom prst="rect">
            <a:avLst/>
          </a:prstGeom>
          <a:noFill/>
          <a:ln/>
        </p:spPr>
        <p:txBody>
          <a:bodyPr wrap="square" lIns="0" tIns="0" rIns="0" bIns="0" rtlCol="0" anchor="ctr"/>
          <a:lstStyle/>
          <a:p>
            <a:pPr marL="0" indent="0" algn="l">
              <a:buNone/>
            </a:pPr>
            <a:r>
              <a:rPr lang="en-US" sz="1400" b="1" dirty="0">
                <a:solidFill>
                  <a:srgbClr val="374151"/>
                </a:solidFill>
                <a:latin typeface="Montserrat" pitchFamily="34" charset="0"/>
                <a:ea typeface="Montserrat" pitchFamily="34" charset="-122"/>
                <a:cs typeface="Montserrat" pitchFamily="34" charset="-120"/>
              </a:rPr>
              <a:t>Implicaciones Clínicas</a:t>
            </a:r>
            <a:endParaRPr lang="en-US" sz="1400" dirty="0"/>
          </a:p>
        </p:txBody>
      </p:sp>
      <p:sp>
        <p:nvSpPr>
          <p:cNvPr id="16" name="Text 12"/>
          <p:cNvSpPr txBox="1"/>
          <p:nvPr/>
        </p:nvSpPr>
        <p:spPr>
          <a:xfrm>
            <a:off x="1047902" y="2009851"/>
            <a:ext cx="4657954" cy="409651"/>
          </a:xfrm>
          <a:prstGeom prst="rect">
            <a:avLst/>
          </a:prstGeom>
          <a:noFill/>
          <a:ln/>
        </p:spPr>
        <p:txBody>
          <a:bodyPr wrap="square" lIns="0" tIns="0" rIns="0" bIns="0" rtlCol="0" anchor="ctr"/>
          <a:lstStyle/>
          <a:p>
            <a:pPr marL="0" indent="0" algn="l">
              <a:buNone/>
            </a:pPr>
            <a:r>
              <a:rPr lang="en-US" sz="1200" dirty="0">
                <a:solidFill>
                  <a:srgbClr val="374151"/>
                </a:solidFill>
                <a:latin typeface="Roboto" pitchFamily="34" charset="0"/>
                <a:ea typeface="Roboto" pitchFamily="34" charset="-122"/>
                <a:cs typeface="Roboto" pitchFamily="34" charset="-120"/>
              </a:rPr>
              <a:t>Los tres estudios muestran reducción significativa del riesgo de eventos de IC y muerte CV</a:t>
            </a:r>
            <a:endParaRPr lang="en-US" sz="1200" dirty="0"/>
          </a:p>
        </p:txBody>
      </p:sp>
      <p:pic>
        <p:nvPicPr>
          <p:cNvPr id="17" name="Image 2" descr="preencoded.png"/>
          <p:cNvPicPr>
            <a:picLocks noChangeAspect="1"/>
          </p:cNvPicPr>
          <p:nvPr/>
        </p:nvPicPr>
        <p:blipFill>
          <a:blip r:embed="rId4"/>
          <a:srcRect/>
          <a:stretch/>
        </p:blipFill>
        <p:spPr>
          <a:xfrm>
            <a:off x="800100" y="2553005"/>
            <a:ext cx="152705" cy="152705"/>
          </a:xfrm>
          <a:prstGeom prst="rect">
            <a:avLst/>
          </a:prstGeom>
        </p:spPr>
      </p:pic>
      <p:sp>
        <p:nvSpPr>
          <p:cNvPr id="18" name="Text 13"/>
          <p:cNvSpPr txBox="1"/>
          <p:nvPr/>
        </p:nvSpPr>
        <p:spPr>
          <a:xfrm>
            <a:off x="1018195" y="2542946"/>
            <a:ext cx="5058461" cy="409651"/>
          </a:xfrm>
          <a:prstGeom prst="rect">
            <a:avLst/>
          </a:prstGeom>
          <a:noFill/>
          <a:ln/>
        </p:spPr>
        <p:txBody>
          <a:bodyPr wrap="square" lIns="0" tIns="0" rIns="0" bIns="0" rtlCol="0" anchor="ctr"/>
          <a:lstStyle/>
          <a:p>
            <a:pPr marL="0" indent="0" algn="l">
              <a:buNone/>
            </a:pPr>
            <a:r>
              <a:rPr lang="en-US" sz="1200" dirty="0">
                <a:solidFill>
                  <a:srgbClr val="374151"/>
                </a:solidFill>
                <a:latin typeface="Roboto" pitchFamily="34" charset="0"/>
                <a:ea typeface="Roboto" pitchFamily="34" charset="-122"/>
                <a:cs typeface="Roboto" pitchFamily="34" charset="-120"/>
              </a:rPr>
              <a:t>Beneficio consistente independientemente de la presencia o ausencia de diabetes</a:t>
            </a:r>
            <a:endParaRPr lang="en-US" sz="1200" dirty="0"/>
          </a:p>
        </p:txBody>
      </p:sp>
      <p:pic>
        <p:nvPicPr>
          <p:cNvPr id="19" name="Image 3" descr="preencoded.png"/>
          <p:cNvPicPr>
            <a:picLocks noChangeAspect="1"/>
          </p:cNvPicPr>
          <p:nvPr/>
        </p:nvPicPr>
        <p:blipFill>
          <a:blip r:embed="rId4"/>
          <a:srcRect/>
          <a:stretch/>
        </p:blipFill>
        <p:spPr>
          <a:xfrm>
            <a:off x="800100" y="3086100"/>
            <a:ext cx="152705" cy="152705"/>
          </a:xfrm>
          <a:prstGeom prst="rect">
            <a:avLst/>
          </a:prstGeom>
        </p:spPr>
      </p:pic>
      <p:sp>
        <p:nvSpPr>
          <p:cNvPr id="20" name="Text 14"/>
          <p:cNvSpPr txBox="1"/>
          <p:nvPr/>
        </p:nvSpPr>
        <p:spPr>
          <a:xfrm>
            <a:off x="990073" y="3049936"/>
            <a:ext cx="5039258" cy="409651"/>
          </a:xfrm>
          <a:prstGeom prst="rect">
            <a:avLst/>
          </a:prstGeom>
          <a:noFill/>
          <a:ln/>
        </p:spPr>
        <p:txBody>
          <a:bodyPr wrap="square" lIns="0" tIns="0" rIns="0" bIns="0" rtlCol="0" anchor="ctr"/>
          <a:lstStyle/>
          <a:p>
            <a:pPr marL="0" indent="0" algn="l">
              <a:buNone/>
            </a:pPr>
            <a:r>
              <a:rPr lang="en-US" sz="1200" dirty="0">
                <a:solidFill>
                  <a:srgbClr val="374151"/>
                </a:solidFill>
                <a:latin typeface="Roboto" pitchFamily="34" charset="0"/>
                <a:ea typeface="Roboto" pitchFamily="34" charset="-122"/>
                <a:cs typeface="Roboto" pitchFamily="34" charset="-120"/>
              </a:rPr>
              <a:t>Perfil de seguridad favorable con tasas similares de efectos adversos vs. placebo</a:t>
            </a:r>
            <a:endParaRPr lang="en-US" sz="1200" dirty="0"/>
          </a:p>
        </p:txBody>
      </p:sp>
      <p:pic>
        <p:nvPicPr>
          <p:cNvPr id="21" name="Image 4" descr="preencoded.png"/>
          <p:cNvPicPr>
            <a:picLocks noChangeAspect="1"/>
          </p:cNvPicPr>
          <p:nvPr/>
        </p:nvPicPr>
        <p:blipFill>
          <a:blip r:embed="rId4"/>
          <a:srcRect/>
          <a:stretch/>
        </p:blipFill>
        <p:spPr>
          <a:xfrm>
            <a:off x="800100" y="3619195"/>
            <a:ext cx="152705" cy="152705"/>
          </a:xfrm>
          <a:prstGeom prst="rect">
            <a:avLst/>
          </a:prstGeom>
        </p:spPr>
      </p:pic>
      <p:sp>
        <p:nvSpPr>
          <p:cNvPr id="22" name="Shape 15"/>
          <p:cNvSpPr/>
          <p:nvPr/>
        </p:nvSpPr>
        <p:spPr>
          <a:xfrm>
            <a:off x="609905" y="4123944"/>
            <a:ext cx="5372100" cy="2476195"/>
          </a:xfrm>
          <a:prstGeom prst="roundRect">
            <a:avLst>
              <a:gd name="adj" fmla="val 568"/>
            </a:avLst>
          </a:prstGeom>
          <a:solidFill>
            <a:srgbClr val="F8FAFC"/>
          </a:solidFill>
          <a:ln/>
        </p:spPr>
      </p:sp>
      <p:sp>
        <p:nvSpPr>
          <p:cNvPr id="23" name="Shape 16"/>
          <p:cNvSpPr/>
          <p:nvPr/>
        </p:nvSpPr>
        <p:spPr>
          <a:xfrm>
            <a:off x="609905" y="4123944"/>
            <a:ext cx="38405" cy="2476195"/>
          </a:xfrm>
          <a:prstGeom prst="rect">
            <a:avLst/>
          </a:prstGeom>
          <a:solidFill>
            <a:schemeClr val="accent6"/>
          </a:solidFill>
          <a:ln/>
        </p:spPr>
      </p:sp>
      <p:sp>
        <p:nvSpPr>
          <p:cNvPr id="24" name="Text 17"/>
          <p:cNvSpPr txBox="1"/>
          <p:nvPr/>
        </p:nvSpPr>
        <p:spPr>
          <a:xfrm>
            <a:off x="1028700" y="3610051"/>
            <a:ext cx="4172407" cy="181051"/>
          </a:xfrm>
          <a:prstGeom prst="rect">
            <a:avLst/>
          </a:prstGeom>
          <a:noFill/>
          <a:ln/>
        </p:spPr>
        <p:txBody>
          <a:bodyPr wrap="square" lIns="0" tIns="0" rIns="0" bIns="0" rtlCol="0" anchor="ctr"/>
          <a:lstStyle/>
          <a:p>
            <a:pPr marL="0" indent="0" algn="l">
              <a:buNone/>
            </a:pPr>
            <a:r>
              <a:rPr lang="en-US" sz="1200" dirty="0">
                <a:solidFill>
                  <a:srgbClr val="374151"/>
                </a:solidFill>
                <a:latin typeface="Roboto" pitchFamily="34" charset="0"/>
                <a:ea typeface="Roboto" pitchFamily="34" charset="-122"/>
                <a:cs typeface="Roboto" pitchFamily="34" charset="-120"/>
              </a:rPr>
              <a:t>Mejora significativa en la calidad de vida y síntomas (KCCQ)</a:t>
            </a:r>
            <a:endParaRPr lang="en-US" sz="1200" dirty="0"/>
          </a:p>
        </p:txBody>
      </p:sp>
      <p:pic>
        <p:nvPicPr>
          <p:cNvPr id="25" name="Image 5" descr="preencoded.png"/>
          <p:cNvPicPr>
            <a:picLocks noChangeAspect="1"/>
          </p:cNvPicPr>
          <p:nvPr/>
        </p:nvPicPr>
        <p:blipFill>
          <a:blip r:embed="rId5"/>
          <a:srcRect l="-760" r="-760"/>
          <a:stretch/>
        </p:blipFill>
        <p:spPr>
          <a:xfrm>
            <a:off x="800100" y="4316882"/>
            <a:ext cx="152705" cy="171907"/>
          </a:xfrm>
          <a:prstGeom prst="rect">
            <a:avLst/>
          </a:prstGeom>
        </p:spPr>
      </p:pic>
      <p:pic>
        <p:nvPicPr>
          <p:cNvPr id="26" name="Image 6" descr="preencoded.png"/>
          <p:cNvPicPr>
            <a:picLocks noChangeAspect="1"/>
          </p:cNvPicPr>
          <p:nvPr/>
        </p:nvPicPr>
        <p:blipFill>
          <a:blip r:embed="rId6"/>
          <a:srcRect t="-43" b="-43"/>
          <a:stretch/>
        </p:blipFill>
        <p:spPr>
          <a:xfrm>
            <a:off x="800100" y="4647895"/>
            <a:ext cx="133502" cy="152705"/>
          </a:xfrm>
          <a:prstGeom prst="rect">
            <a:avLst/>
          </a:prstGeom>
        </p:spPr>
      </p:pic>
      <p:sp>
        <p:nvSpPr>
          <p:cNvPr id="27" name="Text 18"/>
          <p:cNvSpPr txBox="1"/>
          <p:nvPr/>
        </p:nvSpPr>
        <p:spPr>
          <a:xfrm>
            <a:off x="1009052" y="4601510"/>
            <a:ext cx="4705502" cy="409651"/>
          </a:xfrm>
          <a:prstGeom prst="rect">
            <a:avLst/>
          </a:prstGeom>
          <a:noFill/>
          <a:ln/>
        </p:spPr>
        <p:txBody>
          <a:bodyPr wrap="square" lIns="0" tIns="0" rIns="0" bIns="0" rtlCol="0" anchor="ctr"/>
          <a:lstStyle/>
          <a:p>
            <a:pPr marL="0" indent="0" algn="l">
              <a:buNone/>
            </a:pPr>
            <a:r>
              <a:rPr lang="en-US" sz="1200" dirty="0">
                <a:solidFill>
                  <a:srgbClr val="374151"/>
                </a:solidFill>
                <a:latin typeface="Roboto" pitchFamily="34" charset="0"/>
                <a:ea typeface="Roboto" pitchFamily="34" charset="-122"/>
                <a:cs typeface="Roboto" pitchFamily="34" charset="-120"/>
              </a:rPr>
              <a:t>Los iSGLT2 deben considerarse tratamiento fundamental en pacientes con IC y FEVI reducida (≤40%)</a:t>
            </a:r>
            <a:endParaRPr lang="en-US" sz="1200" dirty="0"/>
          </a:p>
        </p:txBody>
      </p:sp>
      <p:pic>
        <p:nvPicPr>
          <p:cNvPr id="28" name="Image 7" descr="preencoded.png"/>
          <p:cNvPicPr>
            <a:picLocks noChangeAspect="1"/>
          </p:cNvPicPr>
          <p:nvPr/>
        </p:nvPicPr>
        <p:blipFill>
          <a:blip r:embed="rId6"/>
          <a:srcRect t="-43" b="-43"/>
          <a:stretch/>
        </p:blipFill>
        <p:spPr>
          <a:xfrm>
            <a:off x="800100" y="5181905"/>
            <a:ext cx="133502" cy="152705"/>
          </a:xfrm>
          <a:prstGeom prst="rect">
            <a:avLst/>
          </a:prstGeom>
        </p:spPr>
      </p:pic>
      <p:sp>
        <p:nvSpPr>
          <p:cNvPr id="29" name="Text 19"/>
          <p:cNvSpPr txBox="1"/>
          <p:nvPr/>
        </p:nvSpPr>
        <p:spPr>
          <a:xfrm>
            <a:off x="990073" y="5162703"/>
            <a:ext cx="4972507" cy="409651"/>
          </a:xfrm>
          <a:prstGeom prst="rect">
            <a:avLst/>
          </a:prstGeom>
          <a:noFill/>
          <a:ln/>
        </p:spPr>
        <p:txBody>
          <a:bodyPr wrap="square" lIns="0" tIns="0" rIns="0" bIns="0" rtlCol="0" anchor="ctr"/>
          <a:lstStyle/>
          <a:p>
            <a:pPr marL="0" indent="0" algn="l">
              <a:buNone/>
            </a:pPr>
            <a:r>
              <a:rPr lang="en-US" sz="1200" dirty="0">
                <a:solidFill>
                  <a:srgbClr val="374151"/>
                </a:solidFill>
                <a:latin typeface="Roboto" pitchFamily="34" charset="0"/>
                <a:ea typeface="Roboto" pitchFamily="34" charset="-122"/>
                <a:cs typeface="Roboto" pitchFamily="34" charset="-120"/>
              </a:rPr>
              <a:t>El beneficio se extiende a pacientes con FEVI preservada (&gt;40%) tras resultados de DELIVER</a:t>
            </a:r>
            <a:endParaRPr lang="en-US" sz="1200" dirty="0"/>
          </a:p>
        </p:txBody>
      </p:sp>
      <p:pic>
        <p:nvPicPr>
          <p:cNvPr id="30" name="Image 8" descr="preencoded.png"/>
          <p:cNvPicPr>
            <a:picLocks noChangeAspect="1"/>
          </p:cNvPicPr>
          <p:nvPr/>
        </p:nvPicPr>
        <p:blipFill>
          <a:blip r:embed="rId6"/>
          <a:srcRect t="-43" b="-43"/>
          <a:stretch/>
        </p:blipFill>
        <p:spPr>
          <a:xfrm>
            <a:off x="800100" y="5715000"/>
            <a:ext cx="133502" cy="152705"/>
          </a:xfrm>
          <a:prstGeom prst="rect">
            <a:avLst/>
          </a:prstGeom>
        </p:spPr>
      </p:pic>
      <p:sp>
        <p:nvSpPr>
          <p:cNvPr id="31" name="Text 20"/>
          <p:cNvSpPr txBox="1"/>
          <p:nvPr/>
        </p:nvSpPr>
        <p:spPr>
          <a:xfrm>
            <a:off x="1009498" y="5705856"/>
            <a:ext cx="4620463" cy="181051"/>
          </a:xfrm>
          <a:prstGeom prst="rect">
            <a:avLst/>
          </a:prstGeom>
          <a:noFill/>
          <a:ln/>
        </p:spPr>
        <p:txBody>
          <a:bodyPr wrap="square" lIns="0" tIns="0" rIns="0" bIns="0" rtlCol="0" anchor="ctr"/>
          <a:lstStyle/>
          <a:p>
            <a:pPr marL="0" indent="0" algn="l">
              <a:buNone/>
            </a:pPr>
            <a:r>
              <a:rPr lang="en-US" sz="1200" dirty="0">
                <a:solidFill>
                  <a:srgbClr val="374151"/>
                </a:solidFill>
                <a:latin typeface="Roboto" pitchFamily="34" charset="0"/>
                <a:ea typeface="Roboto" pitchFamily="34" charset="-122"/>
                <a:cs typeface="Roboto" pitchFamily="34" charset="-120"/>
              </a:rPr>
              <a:t>Los beneficios son adicionales al tratamiento estándar optimizado</a:t>
            </a:r>
            <a:endParaRPr lang="en-US" sz="1200" dirty="0"/>
          </a:p>
        </p:txBody>
      </p:sp>
      <p:pic>
        <p:nvPicPr>
          <p:cNvPr id="32" name="Image 9" descr="preencoded.png"/>
          <p:cNvPicPr>
            <a:picLocks noChangeAspect="1"/>
          </p:cNvPicPr>
          <p:nvPr/>
        </p:nvPicPr>
        <p:blipFill>
          <a:blip r:embed="rId6"/>
          <a:srcRect t="-43" b="-43"/>
          <a:stretch/>
        </p:blipFill>
        <p:spPr>
          <a:xfrm>
            <a:off x="800100" y="6019495"/>
            <a:ext cx="133502" cy="152705"/>
          </a:xfrm>
          <a:prstGeom prst="rect">
            <a:avLst/>
          </a:prstGeom>
        </p:spPr>
      </p:pic>
      <p:sp>
        <p:nvSpPr>
          <p:cNvPr id="33" name="Text 21"/>
          <p:cNvSpPr txBox="1"/>
          <p:nvPr/>
        </p:nvSpPr>
        <p:spPr>
          <a:xfrm>
            <a:off x="1018195" y="6013435"/>
            <a:ext cx="4734763" cy="409651"/>
          </a:xfrm>
          <a:prstGeom prst="rect">
            <a:avLst/>
          </a:prstGeom>
          <a:noFill/>
          <a:ln/>
        </p:spPr>
        <p:txBody>
          <a:bodyPr wrap="square" lIns="0" tIns="0" rIns="0" bIns="0" rtlCol="0" anchor="ctr"/>
          <a:lstStyle/>
          <a:p>
            <a:pPr marL="0" indent="0" algn="l">
              <a:buNone/>
            </a:pPr>
            <a:r>
              <a:rPr lang="en-US" sz="1200" dirty="0">
                <a:solidFill>
                  <a:srgbClr val="374151"/>
                </a:solidFill>
                <a:latin typeface="Roboto" pitchFamily="34" charset="0"/>
                <a:ea typeface="Roboto" pitchFamily="34" charset="-122"/>
                <a:cs typeface="Roboto" pitchFamily="34" charset="-120"/>
              </a:rPr>
              <a:t>La monitorización de función renal y volemia es prudente pero no limitante</a:t>
            </a:r>
            <a:endParaRPr lang="en-US" sz="1200" dirty="0"/>
          </a:p>
        </p:txBody>
      </p:sp>
      <p:sp>
        <p:nvSpPr>
          <p:cNvPr id="45" name="Text 32"/>
          <p:cNvSpPr txBox="1"/>
          <p:nvPr/>
        </p:nvSpPr>
        <p:spPr>
          <a:xfrm>
            <a:off x="7294626" y="1775192"/>
            <a:ext cx="3363163" cy="210312"/>
          </a:xfrm>
          <a:prstGeom prst="rect">
            <a:avLst/>
          </a:prstGeom>
          <a:noFill/>
          <a:ln/>
        </p:spPr>
        <p:txBody>
          <a:bodyPr wrap="square" lIns="0" tIns="0" rIns="0" bIns="0" rtlCol="0" anchor="ctr"/>
          <a:lstStyle/>
          <a:p>
            <a:pPr marL="0" indent="0" algn="l">
              <a:buNone/>
            </a:pPr>
            <a:r>
              <a:rPr lang="en-US" sz="1400" b="1" dirty="0">
                <a:solidFill>
                  <a:srgbClr val="374151"/>
                </a:solidFill>
                <a:latin typeface="Montserrat" pitchFamily="34" charset="0"/>
                <a:ea typeface="Montserrat" pitchFamily="34" charset="-122"/>
                <a:cs typeface="Montserrat" pitchFamily="34" charset="-120"/>
              </a:rPr>
              <a:t>Recomendaciones en Guías Clínicas</a:t>
            </a:r>
            <a:endParaRPr lang="en-US" sz="1400" dirty="0"/>
          </a:p>
        </p:txBody>
      </p:sp>
      <p:sp>
        <p:nvSpPr>
          <p:cNvPr id="59" name="Shape 46"/>
          <p:cNvSpPr/>
          <p:nvPr/>
        </p:nvSpPr>
        <p:spPr>
          <a:xfrm>
            <a:off x="0" y="7610551"/>
            <a:ext cx="12191695" cy="495605"/>
          </a:xfrm>
          <a:prstGeom prst="rect">
            <a:avLst/>
          </a:prstGeom>
          <a:solidFill>
            <a:srgbClr val="F9FAFB"/>
          </a:solidFill>
          <a:ln/>
        </p:spPr>
      </p:sp>
      <p:sp>
        <p:nvSpPr>
          <p:cNvPr id="60" name="Text 47"/>
          <p:cNvSpPr txBox="1"/>
          <p:nvPr/>
        </p:nvSpPr>
        <p:spPr>
          <a:xfrm>
            <a:off x="609905" y="7781544"/>
            <a:ext cx="7153351" cy="152705"/>
          </a:xfrm>
          <a:prstGeom prst="rect">
            <a:avLst/>
          </a:prstGeom>
          <a:noFill/>
          <a:ln/>
        </p:spPr>
        <p:txBody>
          <a:bodyPr wrap="square" lIns="0" tIns="0" rIns="0" bIns="0" rtlCol="0" anchor="ctr"/>
          <a:lstStyle/>
          <a:p>
            <a:pPr marL="0" indent="0" algn="l">
              <a:buNone/>
            </a:pPr>
            <a:r>
              <a:rPr lang="en-US" sz="1100" dirty="0">
                <a:solidFill>
                  <a:srgbClr val="4B5563"/>
                </a:solidFill>
                <a:latin typeface="Roboto" pitchFamily="34" charset="0"/>
                <a:ea typeface="Roboto" pitchFamily="34" charset="-122"/>
                <a:cs typeface="Roboto" pitchFamily="34" charset="-120"/>
              </a:rPr>
              <a:t>Basado en publicaciones de NEJM 2019-2022 | AHA: American Heart Association; ESC: European Society of Cardiology</a:t>
            </a:r>
            <a:endParaRPr lang="en-US" sz="1100" dirty="0"/>
          </a:p>
        </p:txBody>
      </p:sp>
      <p:sp>
        <p:nvSpPr>
          <p:cNvPr id="61" name="Text 48"/>
          <p:cNvSpPr txBox="1"/>
          <p:nvPr/>
        </p:nvSpPr>
        <p:spPr>
          <a:xfrm>
            <a:off x="8867851" y="7781544"/>
            <a:ext cx="2820010" cy="152705"/>
          </a:xfrm>
          <a:prstGeom prst="rect">
            <a:avLst/>
          </a:prstGeom>
          <a:noFill/>
          <a:ln/>
        </p:spPr>
        <p:txBody>
          <a:bodyPr wrap="square" lIns="0" tIns="0" rIns="0" bIns="0" rtlCol="0" anchor="ctr"/>
          <a:lstStyle/>
          <a:p>
            <a:pPr marL="0" indent="0" algn="r">
              <a:buNone/>
            </a:pPr>
            <a:r>
              <a:rPr lang="en-US" sz="1100" dirty="0">
                <a:solidFill>
                  <a:srgbClr val="4B5563"/>
                </a:solidFill>
                <a:latin typeface="Roboto" pitchFamily="34" charset="0"/>
                <a:ea typeface="Roboto" pitchFamily="34" charset="-122"/>
                <a:cs typeface="Roboto" pitchFamily="34" charset="-120"/>
              </a:rPr>
              <a:t>Página 5 | Comparación de Estudios Pivotales</a:t>
            </a:r>
            <a:endParaRPr lang="en-US" sz="1100" dirty="0"/>
          </a:p>
        </p:txBody>
      </p:sp>
      <p:pic>
        <p:nvPicPr>
          <p:cNvPr id="63" name="Imagen 62">
            <a:extLst>
              <a:ext uri="{FF2B5EF4-FFF2-40B4-BE49-F238E27FC236}">
                <a16:creationId xmlns:a16="http://schemas.microsoft.com/office/drawing/2014/main" id="{9113FB35-3FBF-4EE7-8A0B-7B8692BFF4D6}"/>
              </a:ext>
            </a:extLst>
          </p:cNvPr>
          <p:cNvPicPr>
            <a:picLocks noChangeAspect="1"/>
          </p:cNvPicPr>
          <p:nvPr/>
        </p:nvPicPr>
        <p:blipFill>
          <a:blip r:embed="rId7"/>
          <a:stretch>
            <a:fillRect/>
          </a:stretch>
        </p:blipFill>
        <p:spPr>
          <a:xfrm>
            <a:off x="6833344" y="2355742"/>
            <a:ext cx="4937010" cy="1937117"/>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206523" y="3244334"/>
            <a:ext cx="6391274" cy="369332"/>
          </a:xfrm>
          <a:prstGeom prst="rect">
            <a:avLst/>
          </a:prstGeom>
          <a:noFill/>
        </p:spPr>
        <p:txBody>
          <a:bodyPr wrap="square">
            <a:spAutoFit/>
          </a:bodyPr>
          <a:lstStyle/>
          <a:p>
            <a:r>
              <a:rPr lang="es-CO" b="0" dirty="0">
                <a:effectLst/>
              </a:rPr>
              <a:t> </a:t>
            </a:r>
            <a:endParaRPr lang="es-CO" dirty="0"/>
          </a:p>
        </p:txBody>
      </p:sp>
      <p:sp>
        <p:nvSpPr>
          <p:cNvPr id="6" name="CuadroTexto 5">
            <a:extLst>
              <a:ext uri="{FF2B5EF4-FFF2-40B4-BE49-F238E27FC236}">
                <a16:creationId xmlns:a16="http://schemas.microsoft.com/office/drawing/2014/main" id="{9BABCB41-C8BB-413A-BE07-67F3EC3BF77A}"/>
              </a:ext>
            </a:extLst>
          </p:cNvPr>
          <p:cNvSpPr txBox="1"/>
          <p:nvPr/>
        </p:nvSpPr>
        <p:spPr>
          <a:xfrm>
            <a:off x="3294288" y="33724"/>
            <a:ext cx="5886450" cy="523220"/>
          </a:xfrm>
          <a:prstGeom prst="rect">
            <a:avLst/>
          </a:prstGeom>
          <a:noFill/>
        </p:spPr>
        <p:txBody>
          <a:bodyPr wrap="square" rtlCol="0">
            <a:spAutoFit/>
          </a:bodyPr>
          <a:lstStyle/>
          <a:p>
            <a:pPr algn="ctr"/>
            <a:r>
              <a:rPr lang="es-CO" sz="2800" b="1" dirty="0">
                <a:solidFill>
                  <a:schemeClr val="accent6">
                    <a:lumMod val="50000"/>
                  </a:schemeClr>
                </a:solidFill>
              </a:rPr>
              <a:t>Otras recomendaciones</a:t>
            </a:r>
          </a:p>
        </p:txBody>
      </p:sp>
      <p:sp>
        <p:nvSpPr>
          <p:cNvPr id="8" name="Google Shape;123;p3">
            <a:extLst>
              <a:ext uri="{FF2B5EF4-FFF2-40B4-BE49-F238E27FC236}">
                <a16:creationId xmlns:a16="http://schemas.microsoft.com/office/drawing/2014/main" id="{A7637BC1-6673-4156-A4DF-663AEC89A4B1}"/>
              </a:ext>
            </a:extLst>
          </p:cNvPr>
          <p:cNvSpPr txBox="1"/>
          <p:nvPr/>
        </p:nvSpPr>
        <p:spPr>
          <a:xfrm>
            <a:off x="0" y="6457800"/>
            <a:ext cx="11161801"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CO" sz="700" i="1" dirty="0" err="1">
                <a:solidFill>
                  <a:schemeClr val="bg2">
                    <a:lumMod val="10000"/>
                  </a:schemeClr>
                </a:solidFill>
              </a:rPr>
              <a:t>McDonagh</a:t>
            </a:r>
            <a:r>
              <a:rPr lang="es-CO" sz="700" i="1" dirty="0">
                <a:solidFill>
                  <a:schemeClr val="bg2">
                    <a:lumMod val="10000"/>
                  </a:schemeClr>
                </a:solidFill>
              </a:rPr>
              <a:t>, T. A., Metra, M., Adamo, M., Gardner, R. S., </a:t>
            </a:r>
            <a:r>
              <a:rPr lang="es-CO" sz="700" i="1" dirty="0" err="1">
                <a:solidFill>
                  <a:schemeClr val="bg2">
                    <a:lumMod val="10000"/>
                  </a:schemeClr>
                </a:solidFill>
              </a:rPr>
              <a:t>Baumbach</a:t>
            </a:r>
            <a:r>
              <a:rPr lang="es-CO" sz="700" i="1" dirty="0">
                <a:solidFill>
                  <a:schemeClr val="bg2">
                    <a:lumMod val="10000"/>
                  </a:schemeClr>
                </a:solidFill>
              </a:rPr>
              <a:t>, A., </a:t>
            </a:r>
            <a:r>
              <a:rPr lang="es-CO" sz="700" i="1" dirty="0" err="1">
                <a:solidFill>
                  <a:schemeClr val="bg2">
                    <a:lumMod val="10000"/>
                  </a:schemeClr>
                </a:solidFill>
              </a:rPr>
              <a:t>Böhm</a:t>
            </a:r>
            <a:r>
              <a:rPr lang="es-CO" sz="700" i="1" dirty="0">
                <a:solidFill>
                  <a:schemeClr val="bg2">
                    <a:lumMod val="10000"/>
                  </a:schemeClr>
                </a:solidFill>
              </a:rPr>
              <a:t>, M., … &amp; </a:t>
            </a:r>
            <a:r>
              <a:rPr lang="es-CO" sz="700" i="1" dirty="0" err="1">
                <a:solidFill>
                  <a:schemeClr val="bg2">
                    <a:lumMod val="10000"/>
                  </a:schemeClr>
                </a:solidFill>
              </a:rPr>
              <a:t>Coats</a:t>
            </a:r>
            <a:r>
              <a:rPr lang="es-CO" sz="700" i="1" dirty="0">
                <a:solidFill>
                  <a:schemeClr val="bg2">
                    <a:lumMod val="10000"/>
                  </a:schemeClr>
                </a:solidFill>
              </a:rPr>
              <a:t>, A. J. S. (2021). 2021 ESC Guidelines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Developed</a:t>
            </a:r>
            <a:r>
              <a:rPr lang="es-CO" sz="700" i="1" dirty="0">
                <a:solidFill>
                  <a:schemeClr val="bg2">
                    <a:lumMod val="10000"/>
                  </a:schemeClr>
                </a:solidFill>
              </a:rPr>
              <a:t> </a:t>
            </a:r>
            <a:r>
              <a:rPr lang="es-CO" sz="700" i="1" dirty="0" err="1">
                <a:solidFill>
                  <a:schemeClr val="bg2">
                    <a:lumMod val="10000"/>
                  </a:schemeClr>
                </a:solidFill>
              </a:rPr>
              <a:t>by</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Task</a:t>
            </a:r>
            <a:r>
              <a:rPr lang="es-CO" sz="700" i="1" dirty="0">
                <a:solidFill>
                  <a:schemeClr val="bg2">
                    <a:lumMod val="10000"/>
                  </a:schemeClr>
                </a:solidFill>
              </a:rPr>
              <a:t> </a:t>
            </a:r>
            <a:r>
              <a:rPr lang="es-CO" sz="700" i="1" dirty="0" err="1">
                <a:solidFill>
                  <a:schemeClr val="bg2">
                    <a:lumMod val="10000"/>
                  </a:schemeClr>
                </a:solidFill>
              </a:rPr>
              <a:t>Force</a:t>
            </a:r>
            <a:r>
              <a:rPr lang="es-CO" sz="700" i="1" dirty="0">
                <a:solidFill>
                  <a:schemeClr val="bg2">
                    <a:lumMod val="10000"/>
                  </a:schemeClr>
                </a:solidFill>
              </a:rPr>
              <a:t> for </a:t>
            </a:r>
            <a:r>
              <a:rPr lang="es-CO" sz="700" i="1" dirty="0" err="1">
                <a:solidFill>
                  <a:schemeClr val="bg2">
                    <a:lumMod val="10000"/>
                  </a:schemeClr>
                </a:solidFill>
              </a:rPr>
              <a:t>the</a:t>
            </a:r>
            <a:r>
              <a:rPr lang="es-CO" sz="700" i="1" dirty="0">
                <a:solidFill>
                  <a:schemeClr val="bg2">
                    <a:lumMod val="10000"/>
                  </a:schemeClr>
                </a:solidFill>
              </a:rPr>
              <a:t> diagnosis and </a:t>
            </a:r>
            <a:r>
              <a:rPr lang="es-CO" sz="700" i="1" dirty="0" err="1">
                <a:solidFill>
                  <a:schemeClr val="bg2">
                    <a:lumMod val="10000"/>
                  </a:schemeClr>
                </a:solidFill>
              </a:rPr>
              <a:t>treatment</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acute and </a:t>
            </a:r>
            <a:r>
              <a:rPr lang="es-CO" sz="700" i="1" dirty="0" err="1">
                <a:solidFill>
                  <a:schemeClr val="bg2">
                    <a:lumMod val="10000"/>
                  </a:schemeClr>
                </a:solidFill>
              </a:rPr>
              <a:t>chronic</a:t>
            </a:r>
            <a:r>
              <a:rPr lang="es-CO" sz="700" i="1" dirty="0">
                <a:solidFill>
                  <a:schemeClr val="bg2">
                    <a:lumMod val="10000"/>
                  </a:schemeClr>
                </a:solidFill>
              </a:rPr>
              <a:t> </a:t>
            </a:r>
            <a:r>
              <a:rPr lang="es-CO" sz="700" i="1" dirty="0" err="1">
                <a:solidFill>
                  <a:schemeClr val="bg2">
                    <a:lumMod val="10000"/>
                  </a:schemeClr>
                </a:solidFill>
              </a:rPr>
              <a:t>heart</a:t>
            </a:r>
            <a:r>
              <a:rPr lang="es-CO" sz="700" i="1" dirty="0">
                <a:solidFill>
                  <a:schemeClr val="bg2">
                    <a:lumMod val="10000"/>
                  </a:schemeClr>
                </a:solidFill>
              </a:rPr>
              <a:t> </a:t>
            </a:r>
            <a:r>
              <a:rPr lang="es-CO" sz="700" i="1" dirty="0" err="1">
                <a:solidFill>
                  <a:schemeClr val="bg2">
                    <a:lumMod val="10000"/>
                  </a:schemeClr>
                </a:solidFill>
              </a:rPr>
              <a:t>failure</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European</a:t>
            </a:r>
            <a:r>
              <a:rPr lang="es-CO" sz="700" i="1" dirty="0">
                <a:solidFill>
                  <a:schemeClr val="bg2">
                    <a:lumMod val="10000"/>
                  </a:schemeClr>
                </a:solidFill>
              </a:rPr>
              <a:t> </a:t>
            </a:r>
            <a:r>
              <a:rPr lang="es-CO" sz="700" i="1" dirty="0" err="1">
                <a:solidFill>
                  <a:schemeClr val="bg2">
                    <a:lumMod val="10000"/>
                  </a:schemeClr>
                </a:solidFill>
              </a:rPr>
              <a:t>Society</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Cardiology</a:t>
            </a:r>
            <a:r>
              <a:rPr lang="es-CO" sz="700" i="1" dirty="0">
                <a:solidFill>
                  <a:schemeClr val="bg2">
                    <a:lumMod val="10000"/>
                  </a:schemeClr>
                </a:solidFill>
              </a:rPr>
              <a:t> (ESC) </a:t>
            </a:r>
            <a:r>
              <a:rPr lang="es-CO" sz="700" i="1" dirty="0" err="1">
                <a:solidFill>
                  <a:schemeClr val="bg2">
                    <a:lumMod val="10000"/>
                  </a:schemeClr>
                </a:solidFill>
              </a:rPr>
              <a:t>with</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a:t>
            </a:r>
            <a:r>
              <a:rPr lang="es-CO" sz="700" i="1" dirty="0" err="1">
                <a:solidFill>
                  <a:schemeClr val="bg2">
                    <a:lumMod val="10000"/>
                  </a:schemeClr>
                </a:solidFill>
              </a:rPr>
              <a:t>special</a:t>
            </a:r>
            <a:r>
              <a:rPr lang="es-CO" sz="700" i="1" dirty="0">
                <a:solidFill>
                  <a:schemeClr val="bg2">
                    <a:lumMod val="10000"/>
                  </a:schemeClr>
                </a:solidFill>
              </a:rPr>
              <a:t> </a:t>
            </a:r>
            <a:r>
              <a:rPr lang="es-CO" sz="700" i="1" dirty="0" err="1">
                <a:solidFill>
                  <a:schemeClr val="bg2">
                    <a:lumMod val="10000"/>
                  </a:schemeClr>
                </a:solidFill>
              </a:rPr>
              <a:t>contribution</a:t>
            </a:r>
            <a:r>
              <a:rPr lang="es-CO" sz="700" i="1" dirty="0">
                <a:solidFill>
                  <a:schemeClr val="bg2">
                    <a:lumMod val="10000"/>
                  </a:schemeClr>
                </a:solidFill>
              </a:rPr>
              <a:t>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Heart Failure </a:t>
            </a:r>
            <a:r>
              <a:rPr lang="es-CO" sz="700" i="1" dirty="0" err="1">
                <a:solidFill>
                  <a:schemeClr val="bg2">
                    <a:lumMod val="10000"/>
                  </a:schemeClr>
                </a:solidFill>
              </a:rPr>
              <a:t>Association</a:t>
            </a:r>
            <a:r>
              <a:rPr lang="es-CO" sz="700" i="1" dirty="0">
                <a:solidFill>
                  <a:schemeClr val="bg2">
                    <a:lumMod val="10000"/>
                  </a:schemeClr>
                </a:solidFill>
              </a:rPr>
              <a:t> (HFA) </a:t>
            </a:r>
            <a:r>
              <a:rPr lang="es-CO" sz="700" i="1" dirty="0" err="1">
                <a:solidFill>
                  <a:schemeClr val="bg2">
                    <a:lumMod val="10000"/>
                  </a:schemeClr>
                </a:solidFill>
              </a:rPr>
              <a:t>of</a:t>
            </a:r>
            <a:r>
              <a:rPr lang="es-CO" sz="700" i="1" dirty="0">
                <a:solidFill>
                  <a:schemeClr val="bg2">
                    <a:lumMod val="10000"/>
                  </a:schemeClr>
                </a:solidFill>
              </a:rPr>
              <a:t> </a:t>
            </a:r>
            <a:r>
              <a:rPr lang="es-CO" sz="700" i="1" dirty="0" err="1">
                <a:solidFill>
                  <a:schemeClr val="bg2">
                    <a:lumMod val="10000"/>
                  </a:schemeClr>
                </a:solidFill>
              </a:rPr>
              <a:t>the</a:t>
            </a:r>
            <a:r>
              <a:rPr lang="es-CO" sz="700" i="1" dirty="0">
                <a:solidFill>
                  <a:schemeClr val="bg2">
                    <a:lumMod val="10000"/>
                  </a:schemeClr>
                </a:solidFill>
              </a:rPr>
              <a:t> ESC. </a:t>
            </a:r>
            <a:r>
              <a:rPr lang="es-CO" sz="700" i="1" dirty="0" err="1">
                <a:solidFill>
                  <a:schemeClr val="bg2">
                    <a:lumMod val="10000"/>
                  </a:schemeClr>
                </a:solidFill>
              </a:rPr>
              <a:t>European</a:t>
            </a:r>
            <a:r>
              <a:rPr lang="es-CO" sz="700" i="1" dirty="0">
                <a:solidFill>
                  <a:schemeClr val="bg2">
                    <a:lumMod val="10000"/>
                  </a:schemeClr>
                </a:solidFill>
              </a:rPr>
              <a:t> Heart </a:t>
            </a:r>
            <a:r>
              <a:rPr lang="es-CO" sz="700" i="1" dirty="0" err="1">
                <a:solidFill>
                  <a:schemeClr val="bg2">
                    <a:lumMod val="10000"/>
                  </a:schemeClr>
                </a:solidFill>
              </a:rPr>
              <a:t>Journal</a:t>
            </a:r>
            <a:r>
              <a:rPr lang="es-CO" sz="700" i="1" dirty="0">
                <a:solidFill>
                  <a:schemeClr val="bg2">
                    <a:lumMod val="10000"/>
                  </a:schemeClr>
                </a:solidFill>
              </a:rPr>
              <a:t>, 42(36), 3599–3726. https://doi.org/10.1093/eurheartj/ehab368</a:t>
            </a:r>
            <a:endParaRPr sz="700" i="1" dirty="0">
              <a:solidFill>
                <a:schemeClr val="bg2">
                  <a:lumMod val="10000"/>
                </a:schemeClr>
              </a:solidFill>
            </a:endParaRPr>
          </a:p>
        </p:txBody>
      </p:sp>
      <p:graphicFrame>
        <p:nvGraphicFramePr>
          <p:cNvPr id="2" name="Tabla 1">
            <a:extLst>
              <a:ext uri="{FF2B5EF4-FFF2-40B4-BE49-F238E27FC236}">
                <a16:creationId xmlns:a16="http://schemas.microsoft.com/office/drawing/2014/main" id="{D33BFA07-2FB0-4BED-823E-C2FF509351FC}"/>
              </a:ext>
            </a:extLst>
          </p:cNvPr>
          <p:cNvGraphicFramePr>
            <a:graphicFrameLocks noGrp="1"/>
          </p:cNvGraphicFramePr>
          <p:nvPr>
            <p:extLst>
              <p:ext uri="{D42A27DB-BD31-4B8C-83A1-F6EECF244321}">
                <p14:modId xmlns:p14="http://schemas.microsoft.com/office/powerpoint/2010/main" val="419235023"/>
              </p:ext>
            </p:extLst>
          </p:nvPr>
        </p:nvGraphicFramePr>
        <p:xfrm>
          <a:off x="403782" y="1469573"/>
          <a:ext cx="10515600" cy="3566160"/>
        </p:xfrm>
        <a:graphic>
          <a:graphicData uri="http://schemas.openxmlformats.org/drawingml/2006/table">
            <a:tbl>
              <a:tblPr>
                <a:tableStyleId>{5C22544A-7EE6-4342-B048-85BDC9FD1C3A}</a:tableStyleId>
              </a:tblPr>
              <a:tblGrid>
                <a:gridCol w="10515600">
                  <a:extLst>
                    <a:ext uri="{9D8B030D-6E8A-4147-A177-3AD203B41FA5}">
                      <a16:colId xmlns:a16="http://schemas.microsoft.com/office/drawing/2014/main" val="1840253711"/>
                    </a:ext>
                  </a:extLst>
                </a:gridCol>
              </a:tblGrid>
              <a:tr h="0">
                <a:tc>
                  <a:txBody>
                    <a:bodyPr/>
                    <a:lstStyle/>
                    <a:p>
                      <a:pPr marL="342900" lvl="0" indent="-342900" algn="l">
                        <a:buSzPts val="1000"/>
                        <a:buFont typeface="Symbol" panose="05050102010706020507" pitchFamily="18" charset="2"/>
                        <a:buChar char=""/>
                        <a:tabLst>
                          <a:tab pos="457200" algn="l"/>
                        </a:tabLst>
                      </a:pPr>
                      <a:r>
                        <a:rPr lang="es-CO" sz="1800" dirty="0">
                          <a:effectLst/>
                        </a:rPr>
                        <a:t>Evaluar y tratar deficiencia de hierro con hierro intravenoso en pacientes sintomáticos (especialmente con HFrEF o HFlrEF).</a:t>
                      </a:r>
                    </a:p>
                    <a:p>
                      <a:pPr marL="342900" lvl="0" indent="-342900" algn="l">
                        <a:buSzPts val="1000"/>
                        <a:buFont typeface="Symbol" panose="05050102010706020507" pitchFamily="18" charset="2"/>
                        <a:buChar char=""/>
                        <a:tabLst>
                          <a:tab pos="457200" algn="l"/>
                        </a:tabLst>
                      </a:pPr>
                      <a:endParaRPr lang="es-CO" sz="1800" dirty="0">
                        <a:effectLst/>
                      </a:endParaRPr>
                    </a:p>
                    <a:p>
                      <a:pPr marL="342900" lvl="0" indent="-342900" algn="l">
                        <a:buSzPts val="1000"/>
                        <a:buFont typeface="Symbol" panose="05050102010706020507" pitchFamily="18" charset="2"/>
                        <a:buChar char=""/>
                        <a:tabLst>
                          <a:tab pos="457200" algn="l"/>
                        </a:tabLst>
                      </a:pPr>
                      <a:r>
                        <a:rPr lang="es-CO" sz="1800" dirty="0">
                          <a:effectLst/>
                        </a:rPr>
                        <a:t>Anticoagulación oral a largo plazo en presencia de fibrilación auricular y CHADS₂-</a:t>
                      </a:r>
                      <a:r>
                        <a:rPr lang="es-CO" sz="1800" dirty="0" err="1">
                          <a:effectLst/>
                        </a:rPr>
                        <a:t>VASc</a:t>
                      </a:r>
                      <a:r>
                        <a:rPr lang="es-CO" sz="1800" dirty="0">
                          <a:effectLst/>
                        </a:rPr>
                        <a:t> ≥ 2 (hombres) o ≥ 3 (mujeres)</a:t>
                      </a:r>
                    </a:p>
                    <a:p>
                      <a:pPr marL="342900" lvl="0" indent="-342900" algn="l">
                        <a:buSzPts val="1000"/>
                        <a:buFont typeface="Symbol" panose="05050102010706020507" pitchFamily="18" charset="2"/>
                        <a:buChar char=""/>
                        <a:tabLst>
                          <a:tab pos="457200" algn="l"/>
                        </a:tabLst>
                      </a:pPr>
                      <a:endParaRPr lang="es-CO" sz="1800" dirty="0">
                        <a:effectLst/>
                      </a:endParaRPr>
                    </a:p>
                    <a:p>
                      <a:pPr marL="342900" lvl="0" indent="-342900" algn="l">
                        <a:buSzPts val="1000"/>
                        <a:buFont typeface="Symbol" panose="05050102010706020507" pitchFamily="18" charset="2"/>
                        <a:buChar char=""/>
                        <a:tabLst>
                          <a:tab pos="457200" algn="l"/>
                        </a:tabLst>
                      </a:pPr>
                      <a:r>
                        <a:rPr lang="es-CO" sz="1800" dirty="0">
                          <a:effectLst/>
                        </a:rPr>
                        <a:t>Preferir los nuevos anticoagulantes orales sobre AVK, salvo en estenosis mitral grave o válvula protésica.</a:t>
                      </a:r>
                    </a:p>
                    <a:p>
                      <a:pPr marL="0" lvl="0" indent="0" algn="l">
                        <a:buSzPts val="1000"/>
                        <a:buFont typeface="Symbol" panose="05050102010706020507" pitchFamily="18" charset="2"/>
                        <a:buNone/>
                        <a:tabLst>
                          <a:tab pos="457200" algn="l"/>
                        </a:tabLst>
                      </a:pPr>
                      <a:endParaRPr lang="es-CO" sz="1800" dirty="0">
                        <a:effectLst/>
                      </a:endParaRPr>
                    </a:p>
                    <a:p>
                      <a:pPr marL="342900" lvl="0" indent="-342900" algn="l">
                        <a:buSzPts val="1000"/>
                        <a:buFont typeface="Symbol" panose="05050102010706020507" pitchFamily="18" charset="2"/>
                        <a:buChar char=""/>
                        <a:tabLst>
                          <a:tab pos="457200" algn="l"/>
                        </a:tabLst>
                      </a:pPr>
                      <a:r>
                        <a:rPr lang="es-CO" sz="1800" dirty="0">
                          <a:effectLst/>
                        </a:rPr>
                        <a:t>Pacientes con DM2 y enfermedad renal crónica deben recibir inhibidores de SGLT2 para reducción de eventos cardiovasculares.</a:t>
                      </a:r>
                    </a:p>
                    <a:p>
                      <a:pPr marL="0" lvl="0" indent="0" algn="l">
                        <a:buSzPts val="1000"/>
                        <a:buFont typeface="Symbol" panose="05050102010706020507" pitchFamily="18" charset="2"/>
                        <a:buNone/>
                        <a:tabLst>
                          <a:tab pos="457200" algn="l"/>
                        </a:tabLst>
                      </a:pPr>
                      <a:endParaRPr lang="es-CO" sz="1800" dirty="0">
                        <a:effectLst/>
                      </a:endParaRPr>
                    </a:p>
                    <a:p>
                      <a:pPr marL="342900" lvl="0" indent="-342900" algn="l">
                        <a:buSzPts val="1000"/>
                        <a:buFont typeface="Symbol" panose="05050102010706020507" pitchFamily="18" charset="2"/>
                        <a:buChar char=""/>
                        <a:tabLst>
                          <a:tab pos="457200" algn="l"/>
                        </a:tabLst>
                      </a:pPr>
                      <a:r>
                        <a:rPr lang="es-CO" sz="1800" dirty="0">
                          <a:effectLst/>
                        </a:rPr>
                        <a:t>Educación al paciente: aconsejar sobre los riesgos de sedentarismo, obesidad, tabaquismo y consumo excesivo de alcohol.</a:t>
                      </a:r>
                      <a:endParaRPr lang="es-CO" sz="1800" dirty="0">
                        <a:effectLst/>
                        <a:latin typeface="Times New Roman" panose="02020603050405020304" pitchFamily="18" charset="0"/>
                        <a:ea typeface="Times New Roman" panose="02020603050405020304" pitchFamily="18" charset="0"/>
                      </a:endParaRPr>
                    </a:p>
                  </a:txBody>
                  <a:tcPr marL="89535" marR="89535" marT="0" marB="0">
                    <a:solidFill>
                      <a:schemeClr val="bg1"/>
                    </a:solidFill>
                  </a:tcPr>
                </a:tc>
                <a:extLst>
                  <a:ext uri="{0D108BD9-81ED-4DB2-BD59-A6C34878D82A}">
                    <a16:rowId xmlns:a16="http://schemas.microsoft.com/office/drawing/2014/main" val="3375751258"/>
                  </a:ext>
                </a:extLst>
              </a:tr>
            </a:tbl>
          </a:graphicData>
        </a:graphic>
      </p:graphicFrame>
    </p:spTree>
    <p:extLst>
      <p:ext uri="{BB962C8B-B14F-4D97-AF65-F5344CB8AC3E}">
        <p14:creationId xmlns:p14="http://schemas.microsoft.com/office/powerpoint/2010/main" val="12958287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206523" y="3244334"/>
            <a:ext cx="6391274" cy="369332"/>
          </a:xfrm>
          <a:prstGeom prst="rect">
            <a:avLst/>
          </a:prstGeom>
          <a:noFill/>
        </p:spPr>
        <p:txBody>
          <a:bodyPr wrap="square">
            <a:spAutoFit/>
          </a:bodyPr>
          <a:lstStyle/>
          <a:p>
            <a:r>
              <a:rPr lang="es-CO" b="0" dirty="0">
                <a:effectLst/>
              </a:rPr>
              <a:t> </a:t>
            </a:r>
            <a:endParaRPr lang="es-CO" dirty="0"/>
          </a:p>
        </p:txBody>
      </p:sp>
      <p:pic>
        <p:nvPicPr>
          <p:cNvPr id="4" name="Imagen 3">
            <a:extLst>
              <a:ext uri="{FF2B5EF4-FFF2-40B4-BE49-F238E27FC236}">
                <a16:creationId xmlns:a16="http://schemas.microsoft.com/office/drawing/2014/main" id="{7EB18E5B-3C00-40FD-9AA7-4BA880DBF3DB}"/>
              </a:ext>
            </a:extLst>
          </p:cNvPr>
          <p:cNvPicPr>
            <a:picLocks noChangeAspect="1"/>
          </p:cNvPicPr>
          <p:nvPr/>
        </p:nvPicPr>
        <p:blipFill>
          <a:blip r:embed="rId3"/>
          <a:stretch>
            <a:fillRect/>
          </a:stretch>
        </p:blipFill>
        <p:spPr>
          <a:xfrm>
            <a:off x="2594203" y="334389"/>
            <a:ext cx="7381981" cy="6523611"/>
          </a:xfrm>
          <a:prstGeom prst="rect">
            <a:avLst/>
          </a:prstGeom>
        </p:spPr>
      </p:pic>
    </p:spTree>
    <p:extLst>
      <p:ext uri="{BB962C8B-B14F-4D97-AF65-F5344CB8AC3E}">
        <p14:creationId xmlns:p14="http://schemas.microsoft.com/office/powerpoint/2010/main" val="106408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FEAE173-0864-4ADD-8CD7-E33CBFA22BEC}"/>
              </a:ext>
            </a:extLst>
          </p:cNvPr>
          <p:cNvSpPr txBox="1"/>
          <p:nvPr/>
        </p:nvSpPr>
        <p:spPr>
          <a:xfrm>
            <a:off x="3206523" y="3244334"/>
            <a:ext cx="6391274" cy="369332"/>
          </a:xfrm>
          <a:prstGeom prst="rect">
            <a:avLst/>
          </a:prstGeom>
          <a:noFill/>
        </p:spPr>
        <p:txBody>
          <a:bodyPr wrap="square">
            <a:spAutoFit/>
          </a:bodyPr>
          <a:lstStyle/>
          <a:p>
            <a:r>
              <a:rPr lang="es-CO" b="0" dirty="0">
                <a:effectLst/>
              </a:rPr>
              <a:t> </a:t>
            </a:r>
            <a:endParaRPr lang="es-CO" dirty="0"/>
          </a:p>
        </p:txBody>
      </p:sp>
      <p:pic>
        <p:nvPicPr>
          <p:cNvPr id="3" name="Imagen 2">
            <a:extLst>
              <a:ext uri="{FF2B5EF4-FFF2-40B4-BE49-F238E27FC236}">
                <a16:creationId xmlns:a16="http://schemas.microsoft.com/office/drawing/2014/main" id="{E36FA4B6-1E5A-45D5-84CB-5815EED78AD7}"/>
              </a:ext>
            </a:extLst>
          </p:cNvPr>
          <p:cNvPicPr>
            <a:picLocks noChangeAspect="1"/>
          </p:cNvPicPr>
          <p:nvPr/>
        </p:nvPicPr>
        <p:blipFill>
          <a:blip r:embed="rId3"/>
          <a:stretch>
            <a:fillRect/>
          </a:stretch>
        </p:blipFill>
        <p:spPr>
          <a:xfrm>
            <a:off x="2056836" y="995023"/>
            <a:ext cx="8078327" cy="4867954"/>
          </a:xfrm>
          <a:prstGeom prst="rect">
            <a:avLst/>
          </a:prstGeom>
        </p:spPr>
      </p:pic>
    </p:spTree>
    <p:extLst>
      <p:ext uri="{BB962C8B-B14F-4D97-AF65-F5344CB8AC3E}">
        <p14:creationId xmlns:p14="http://schemas.microsoft.com/office/powerpoint/2010/main" val="20273771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512542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1587</TotalTime>
  <Words>6014</Words>
  <Application>Microsoft Office PowerPoint</Application>
  <PresentationFormat>Panorámica</PresentationFormat>
  <Paragraphs>504</Paragraphs>
  <Slides>56</Slides>
  <Notes>8</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56</vt:i4>
      </vt:variant>
    </vt:vector>
  </HeadingPairs>
  <TitlesOfParts>
    <vt:vector size="67" baseType="lpstr">
      <vt:lpstr>Arial</vt:lpstr>
      <vt:lpstr>Calibri</vt:lpstr>
      <vt:lpstr>Calibri Light</vt:lpstr>
      <vt:lpstr>Glacial Indifference</vt:lpstr>
      <vt:lpstr>Glacial Indifference Bold</vt:lpstr>
      <vt:lpstr>Montserrat</vt:lpstr>
      <vt:lpstr>Roboto</vt:lpstr>
      <vt:lpstr>Symbol</vt:lpstr>
      <vt:lpstr>Times New Roman</vt:lpstr>
      <vt:lpstr>Wingdings</vt:lpstr>
      <vt:lpstr>Tema de Office</vt:lpstr>
      <vt:lpstr>Guías de práctica clínica Falla Cardíaca Aguda / Crónica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PRESENTACIÓN</dc:title>
  <dc:creator>user</dc:creator>
  <cp:lastModifiedBy>LEIDY TOLEDO ROJAS</cp:lastModifiedBy>
  <cp:revision>50</cp:revision>
  <dcterms:created xsi:type="dcterms:W3CDTF">2024-08-26T14:52:25Z</dcterms:created>
  <dcterms:modified xsi:type="dcterms:W3CDTF">2025-09-24T10:32:06Z</dcterms:modified>
</cp:coreProperties>
</file>