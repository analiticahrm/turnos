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embeddedFontLst>
    <p:embeddedFont>
      <p:font typeface="Roboto Serif"/>
      <p:regular r:id="rId20"/>
      <p:bold r:id="rId21"/>
      <p:italic r:id="rId22"/>
      <p:boldItalic r:id="rId23"/>
    </p:embeddedFont>
    <p:embeddedFont>
      <p:font typeface="Karla"/>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g4g55QV7Xj43eEeqI9q7tJV13b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Serif-regular.fntdata"/><Relationship Id="rId22" Type="http://schemas.openxmlformats.org/officeDocument/2006/relationships/font" Target="fonts/RobotoSerif-italic.fntdata"/><Relationship Id="rId21" Type="http://schemas.openxmlformats.org/officeDocument/2006/relationships/font" Target="fonts/RobotoSerif-bold.fntdata"/><Relationship Id="rId24" Type="http://schemas.openxmlformats.org/officeDocument/2006/relationships/font" Target="fonts/Karla-regular.fntdata"/><Relationship Id="rId23" Type="http://schemas.openxmlformats.org/officeDocument/2006/relationships/font" Target="fonts/RobotoSerif-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Karla-italic.fntdata"/><Relationship Id="rId25" Type="http://schemas.openxmlformats.org/officeDocument/2006/relationships/font" Target="fonts/Karla-bold.fntdata"/><Relationship Id="rId28" Type="http://customschemas.google.com/relationships/presentationmetadata" Target="metadata"/><Relationship Id="rId27" Type="http://schemas.openxmlformats.org/officeDocument/2006/relationships/font" Target="fonts/Karla-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6896f2351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g36896f2351b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e745a2b29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8e745a2b29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8e745a2b29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g38e745a2b29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8e745a2b29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38e745a2b29_0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8e745a2b29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8e745a2b29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
          <p:cNvSpPr txBox="1"/>
          <p:nvPr>
            <p:ph type="ctrTitle"/>
          </p:nvPr>
        </p:nvSpPr>
        <p:spPr>
          <a:xfrm>
            <a:off x="3991706" y="2042862"/>
            <a:ext cx="6655837" cy="1437335"/>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4800"/>
              <a:buFont typeface="Calibri"/>
              <a:buNone/>
            </a:pPr>
            <a:r>
              <a:rPr b="1" lang="es-CO" sz="4800">
                <a:solidFill>
                  <a:schemeClr val="lt1"/>
                </a:solidFill>
              </a:rPr>
              <a:t>ANÁLISIS DE CASO: MORTALIDAD MATERNA</a:t>
            </a:r>
            <a:endParaRPr b="1" sz="4800">
              <a:solidFill>
                <a:schemeClr val="lt1"/>
              </a:solidFill>
            </a:endParaRPr>
          </a:p>
        </p:txBody>
      </p:sp>
      <p:sp>
        <p:nvSpPr>
          <p:cNvPr id="85" name="Google Shape;85;p1"/>
          <p:cNvSpPr txBox="1"/>
          <p:nvPr>
            <p:ph idx="1" type="subTitle"/>
          </p:nvPr>
        </p:nvSpPr>
        <p:spPr>
          <a:xfrm>
            <a:off x="2866724" y="4423252"/>
            <a:ext cx="6458551" cy="113779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000000"/>
              </a:buClr>
              <a:buSzPts val="1800"/>
              <a:buNone/>
            </a:pPr>
            <a:r>
              <a:rPr b="0" i="0" lang="es-CO" sz="1800" u="none" strike="noStrike">
                <a:solidFill>
                  <a:srgbClr val="000000"/>
                </a:solidFill>
                <a:latin typeface="Karla"/>
                <a:ea typeface="Karla"/>
                <a:cs typeface="Karla"/>
                <a:sym typeface="Karla"/>
              </a:rPr>
              <a:t>Sharon Katherine Acuña - Ginecóloga y Obstetra  / Líder</a:t>
            </a:r>
            <a:endParaRPr/>
          </a:p>
          <a:p>
            <a:pPr indent="0" lvl="0" marL="0" rtl="0" algn="ctr">
              <a:lnSpc>
                <a:spcPct val="90000"/>
              </a:lnSpc>
              <a:spcBef>
                <a:spcPts val="1000"/>
              </a:spcBef>
              <a:spcAft>
                <a:spcPts val="0"/>
              </a:spcAft>
              <a:buClr>
                <a:srgbClr val="000000"/>
              </a:buClr>
              <a:buSzPts val="1800"/>
              <a:buNone/>
            </a:pPr>
            <a:r>
              <a:rPr lang="es-CO" sz="1800">
                <a:solidFill>
                  <a:srgbClr val="000000"/>
                </a:solidFill>
                <a:latin typeface="Karla"/>
                <a:ea typeface="Karla"/>
                <a:cs typeface="Karla"/>
                <a:sym typeface="Karla"/>
              </a:rPr>
              <a:t>Sheyla Maria Viveros Pérez – Interna ginecología</a:t>
            </a:r>
            <a:endParaRPr/>
          </a:p>
          <a:p>
            <a:pPr indent="0" lvl="0" marL="0" rtl="0" algn="ctr">
              <a:lnSpc>
                <a:spcPct val="90000"/>
              </a:lnSpc>
              <a:spcBef>
                <a:spcPts val="1000"/>
              </a:spcBef>
              <a:spcAft>
                <a:spcPts val="0"/>
              </a:spcAft>
              <a:buClr>
                <a:srgbClr val="000000"/>
              </a:buClr>
              <a:buSzPts val="1800"/>
              <a:buNone/>
            </a:pPr>
            <a:r>
              <a:rPr lang="es-CO" sz="1800">
                <a:solidFill>
                  <a:srgbClr val="000000"/>
                </a:solidFill>
                <a:latin typeface="Karla"/>
                <a:ea typeface="Karla"/>
                <a:cs typeface="Karla"/>
                <a:sym typeface="Karla"/>
              </a:rPr>
              <a:t>Ana Sofia Pineda Pinto - Interna ginecología</a:t>
            </a:r>
            <a:endParaRPr/>
          </a:p>
          <a:p>
            <a:pPr indent="0" lvl="0" marL="0" rtl="0" algn="ctr">
              <a:lnSpc>
                <a:spcPct val="90000"/>
              </a:lnSpc>
              <a:spcBef>
                <a:spcPts val="1000"/>
              </a:spcBef>
              <a:spcAft>
                <a:spcPts val="0"/>
              </a:spcAft>
              <a:buClr>
                <a:schemeClr val="dk1"/>
              </a:buClr>
              <a:buSzPts val="1800"/>
              <a:buNone/>
            </a:pPr>
            <a:r>
              <a:t/>
            </a:r>
            <a:endParaRPr sz="1800">
              <a:solidFill>
                <a:srgbClr val="000000"/>
              </a:solidFill>
              <a:latin typeface="Karla"/>
              <a:ea typeface="Karla"/>
              <a:cs typeface="Karla"/>
              <a:sym typeface="Karla"/>
            </a:endParaRPr>
          </a:p>
          <a:p>
            <a:pPr indent="0" lvl="0" marL="0" rtl="0" algn="ctr">
              <a:lnSpc>
                <a:spcPct val="90000"/>
              </a:lnSpc>
              <a:spcBef>
                <a:spcPts val="100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2"/>
          <p:cNvSpPr txBox="1"/>
          <p:nvPr/>
        </p:nvSpPr>
        <p:spPr>
          <a:xfrm>
            <a:off x="2472450" y="280950"/>
            <a:ext cx="7247100" cy="15147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CO" sz="4800">
                <a:solidFill>
                  <a:schemeClr val="accent2"/>
                </a:solidFill>
                <a:latin typeface="Roboto Serif"/>
                <a:ea typeface="Roboto Serif"/>
                <a:cs typeface="Roboto Serif"/>
                <a:sym typeface="Roboto Serif"/>
              </a:rPr>
              <a:t>DESCRIPCIÓN DE LA PACIENTE</a:t>
            </a:r>
            <a:endParaRPr b="1" sz="4800">
              <a:solidFill>
                <a:schemeClr val="accent2"/>
              </a:solidFill>
              <a:latin typeface="Roboto Serif"/>
              <a:ea typeface="Roboto Serif"/>
              <a:cs typeface="Roboto Serif"/>
              <a:sym typeface="Roboto Serif"/>
            </a:endParaRPr>
          </a:p>
        </p:txBody>
      </p:sp>
      <p:sp>
        <p:nvSpPr>
          <p:cNvPr id="91" name="Google Shape;91;p2"/>
          <p:cNvSpPr/>
          <p:nvPr/>
        </p:nvSpPr>
        <p:spPr>
          <a:xfrm>
            <a:off x="1080275" y="1921675"/>
            <a:ext cx="2932200" cy="434100"/>
          </a:xfrm>
          <a:prstGeom prst="homePlate">
            <a:avLst>
              <a:gd fmla="val 50000" name="adj"/>
            </a:avLst>
          </a:prstGeom>
          <a:solidFill>
            <a:srgbClr val="C9DAF8"/>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CO" sz="2000">
                <a:latin typeface="Karla"/>
                <a:ea typeface="Karla"/>
                <a:cs typeface="Karla"/>
                <a:sym typeface="Karla"/>
              </a:rPr>
              <a:t>ANTECEDENTES</a:t>
            </a:r>
            <a:endParaRPr sz="2000">
              <a:latin typeface="Karla"/>
              <a:ea typeface="Karla"/>
              <a:cs typeface="Karla"/>
              <a:sym typeface="Karla"/>
            </a:endParaRPr>
          </a:p>
        </p:txBody>
      </p:sp>
      <p:pic>
        <p:nvPicPr>
          <p:cNvPr id="92" name="Google Shape;92;p2"/>
          <p:cNvPicPr preferRelativeResize="0"/>
          <p:nvPr/>
        </p:nvPicPr>
        <p:blipFill rotWithShape="1">
          <a:blip r:embed="rId4">
            <a:alphaModFix/>
          </a:blip>
          <a:srcRect b="0" l="0" r="0" t="8357"/>
          <a:stretch/>
        </p:blipFill>
        <p:spPr>
          <a:xfrm>
            <a:off x="817100" y="2467050"/>
            <a:ext cx="3458548" cy="4004975"/>
          </a:xfrm>
          <a:prstGeom prst="rect">
            <a:avLst/>
          </a:prstGeom>
          <a:noFill/>
          <a:ln>
            <a:noFill/>
          </a:ln>
        </p:spPr>
      </p:pic>
      <p:sp>
        <p:nvSpPr>
          <p:cNvPr id="93" name="Google Shape;93;p2"/>
          <p:cNvSpPr txBox="1"/>
          <p:nvPr/>
        </p:nvSpPr>
        <p:spPr>
          <a:xfrm>
            <a:off x="4497800" y="1795650"/>
            <a:ext cx="5440500" cy="4802400"/>
          </a:xfrm>
          <a:prstGeom prst="rect">
            <a:avLst/>
          </a:prstGeom>
          <a:noFill/>
          <a:ln>
            <a:noFill/>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PATOLÓGICOS: NIEGA </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QUIRÚRGICOS: </a:t>
            </a:r>
            <a:r>
              <a:rPr lang="es-CO" sz="1500">
                <a:solidFill>
                  <a:schemeClr val="dk1"/>
                </a:solidFill>
                <a:latin typeface="Karla"/>
                <a:ea typeface="Karla"/>
                <a:cs typeface="Karla"/>
                <a:sym typeface="Karla"/>
              </a:rPr>
              <a:t>CESÁREA</a:t>
            </a:r>
            <a:r>
              <a:rPr lang="es-CO" sz="1500">
                <a:solidFill>
                  <a:schemeClr val="dk1"/>
                </a:solidFill>
                <a:latin typeface="Karla"/>
                <a:ea typeface="Karla"/>
                <a:cs typeface="Karla"/>
                <a:sym typeface="Karla"/>
              </a:rPr>
              <a:t> 2012</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FARMACOLÓGICOS</a:t>
            </a:r>
            <a:r>
              <a:rPr lang="es-CO" sz="1500">
                <a:solidFill>
                  <a:schemeClr val="dk1"/>
                </a:solidFill>
                <a:latin typeface="Karla"/>
                <a:ea typeface="Karla"/>
                <a:cs typeface="Karla"/>
                <a:sym typeface="Karla"/>
              </a:rPr>
              <a:t>: NIEGA </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ALÉRGICOS: NIEGA </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HOSPITALARIOS: NIEGA </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TÓXICOS: NIEGA CONSUMO DE SPA, CIGARRILLO O ALCOHOL </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FAMILIARES: NIEGA </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ANTECEDENTE DE PREECLAMPSIA MADRE O HERMANA NIEGA</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HISTORIA DE CÁNCER HEREDO FAMILIAR NIEGA</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TRANSFUSIONALES: NIEGA</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HEMOCLASIFICACIÓN MATERNA: A POSITIVO</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TRAUMÁTICOS: NIEGA</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GINECOLÓGICOS:</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MENARQUIA: 12 AÑOS</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CICLOS: 30X5</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MÉTODO ANTICONCEPTIVO PREVIO: NIEGA</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PLANIFICACIÓN POST PARTO: NO SABE</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FUR: 15/06/2025</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OBSTÉTRICOS:</a:t>
            </a:r>
            <a:endParaRPr sz="1500">
              <a:solidFill>
                <a:schemeClr val="dk1"/>
              </a:solidFill>
              <a:latin typeface="Karla"/>
              <a:ea typeface="Karla"/>
              <a:cs typeface="Karla"/>
              <a:sym typeface="Karla"/>
            </a:endParaRPr>
          </a:p>
          <a:p>
            <a:pPr indent="0" lvl="0" marL="0" rtl="0" algn="just">
              <a:lnSpc>
                <a:spcPct val="100000"/>
              </a:lnSpc>
              <a:spcBef>
                <a:spcPts val="0"/>
              </a:spcBef>
              <a:spcAft>
                <a:spcPts val="0"/>
              </a:spcAft>
              <a:buNone/>
            </a:pPr>
            <a:r>
              <a:rPr lang="es-CO" sz="1500">
                <a:solidFill>
                  <a:schemeClr val="dk1"/>
                </a:solidFill>
                <a:latin typeface="Karla"/>
                <a:ea typeface="Karla"/>
                <a:cs typeface="Karla"/>
                <a:sym typeface="Karla"/>
              </a:rPr>
              <a:t>FÓRMULA OBSTÉTRICA: G2C1V1</a:t>
            </a:r>
            <a:endParaRPr sz="1500">
              <a:solidFill>
                <a:schemeClr val="dk1"/>
              </a:solidFill>
              <a:latin typeface="Karla"/>
              <a:ea typeface="Karla"/>
              <a:cs typeface="Karla"/>
              <a:sym typeface="Karl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7" name="Shape 97"/>
        <p:cNvGrpSpPr/>
        <p:nvPr/>
      </p:nvGrpSpPr>
      <p:grpSpPr>
        <a:xfrm>
          <a:off x="0" y="0"/>
          <a:ext cx="0" cy="0"/>
          <a:chOff x="0" y="0"/>
          <a:chExt cx="0" cy="0"/>
        </a:xfrm>
      </p:grpSpPr>
      <p:sp>
        <p:nvSpPr>
          <p:cNvPr id="98" name="Google Shape;98;g36896f2351b_0_10"/>
          <p:cNvSpPr txBox="1"/>
          <p:nvPr/>
        </p:nvSpPr>
        <p:spPr>
          <a:xfrm>
            <a:off x="2472450" y="280950"/>
            <a:ext cx="7247100" cy="15147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CO" sz="4800">
                <a:solidFill>
                  <a:schemeClr val="accent2"/>
                </a:solidFill>
                <a:latin typeface="Roboto Serif"/>
                <a:ea typeface="Roboto Serif"/>
                <a:cs typeface="Roboto Serif"/>
                <a:sym typeface="Roboto Serif"/>
              </a:rPr>
              <a:t>DESCRIPCIÓN DEL CASO</a:t>
            </a:r>
            <a:endParaRPr b="1" sz="4800">
              <a:solidFill>
                <a:schemeClr val="accent2"/>
              </a:solidFill>
              <a:latin typeface="Roboto Serif"/>
              <a:ea typeface="Roboto Serif"/>
              <a:cs typeface="Roboto Serif"/>
              <a:sym typeface="Roboto Serif"/>
            </a:endParaRPr>
          </a:p>
        </p:txBody>
      </p:sp>
      <p:sp>
        <p:nvSpPr>
          <p:cNvPr id="99" name="Google Shape;99;g36896f2351b_0_10"/>
          <p:cNvSpPr txBox="1"/>
          <p:nvPr/>
        </p:nvSpPr>
        <p:spPr>
          <a:xfrm>
            <a:off x="441750" y="2452300"/>
            <a:ext cx="4519200" cy="434100"/>
          </a:xfrm>
          <a:prstGeom prst="rect">
            <a:avLst/>
          </a:prstGeom>
          <a:noFill/>
          <a:ln>
            <a:noFill/>
          </a:ln>
        </p:spPr>
        <p:txBody>
          <a:bodyPr anchorCtr="0" anchor="t" bIns="91425" lIns="91425" spcFirstLastPara="1" rIns="91425" wrap="square" tIns="91425">
            <a:spAutoFit/>
          </a:bodyPr>
          <a:lstStyle/>
          <a:p>
            <a:pPr indent="0" lvl="0" marL="0" rtl="0" algn="just">
              <a:lnSpc>
                <a:spcPct val="90000"/>
              </a:lnSpc>
              <a:spcBef>
                <a:spcPts val="1000"/>
              </a:spcBef>
              <a:spcAft>
                <a:spcPts val="0"/>
              </a:spcAft>
              <a:buNone/>
            </a:pPr>
            <a:r>
              <a:rPr lang="es-CO" sz="1800" u="sng">
                <a:solidFill>
                  <a:schemeClr val="dk1"/>
                </a:solidFill>
                <a:latin typeface="Karla"/>
                <a:ea typeface="Karla"/>
                <a:cs typeface="Karla"/>
                <a:sym typeface="Karla"/>
              </a:rPr>
              <a:t> MOTIVO DE CONSULTA:</a:t>
            </a:r>
            <a:r>
              <a:rPr lang="es-CO" sz="1800">
                <a:solidFill>
                  <a:schemeClr val="dk1"/>
                </a:solidFill>
                <a:latin typeface="Karla"/>
                <a:ea typeface="Karla"/>
                <a:cs typeface="Karla"/>
                <a:sym typeface="Karla"/>
              </a:rPr>
              <a:t> “estoy sangrando”</a:t>
            </a:r>
            <a:endParaRPr/>
          </a:p>
        </p:txBody>
      </p:sp>
      <p:sp>
        <p:nvSpPr>
          <p:cNvPr id="100" name="Google Shape;100;g36896f2351b_0_10"/>
          <p:cNvSpPr/>
          <p:nvPr/>
        </p:nvSpPr>
        <p:spPr>
          <a:xfrm>
            <a:off x="441750" y="1906925"/>
            <a:ext cx="2932200" cy="434100"/>
          </a:xfrm>
          <a:prstGeom prst="homePlate">
            <a:avLst>
              <a:gd fmla="val 50000" name="adj"/>
            </a:avLst>
          </a:prstGeom>
          <a:solidFill>
            <a:srgbClr val="C9DAF8"/>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CO" sz="2000">
                <a:latin typeface="Karla"/>
                <a:ea typeface="Karla"/>
                <a:cs typeface="Karla"/>
                <a:sym typeface="Karla"/>
              </a:rPr>
              <a:t>INGRESO</a:t>
            </a:r>
            <a:endParaRPr sz="2000">
              <a:latin typeface="Karla"/>
              <a:ea typeface="Karla"/>
              <a:cs typeface="Karla"/>
              <a:sym typeface="Karla"/>
            </a:endParaRPr>
          </a:p>
        </p:txBody>
      </p:sp>
      <p:sp>
        <p:nvSpPr>
          <p:cNvPr id="101" name="Google Shape;101;g36896f2351b_0_10"/>
          <p:cNvSpPr txBox="1"/>
          <p:nvPr/>
        </p:nvSpPr>
        <p:spPr>
          <a:xfrm>
            <a:off x="498400" y="2997675"/>
            <a:ext cx="10395600" cy="1182000"/>
          </a:xfrm>
          <a:prstGeom prst="rect">
            <a:avLst/>
          </a:prstGeom>
          <a:noFill/>
          <a:ln>
            <a:noFill/>
          </a:ln>
        </p:spPr>
        <p:txBody>
          <a:bodyPr anchorCtr="0" anchor="t" bIns="91425" lIns="91425" spcFirstLastPara="1" rIns="91425" wrap="square" tIns="91425">
            <a:spAutoFit/>
          </a:bodyPr>
          <a:lstStyle/>
          <a:p>
            <a:pPr indent="0" lvl="0" marL="0" rtl="0" algn="just">
              <a:lnSpc>
                <a:spcPct val="90000"/>
              </a:lnSpc>
              <a:spcBef>
                <a:spcPts val="1000"/>
              </a:spcBef>
              <a:spcAft>
                <a:spcPts val="0"/>
              </a:spcAft>
              <a:buNone/>
            </a:pPr>
            <a:r>
              <a:rPr lang="es-CO" sz="1800" u="sng">
                <a:solidFill>
                  <a:schemeClr val="dk1"/>
                </a:solidFill>
                <a:latin typeface="Karla"/>
                <a:ea typeface="Karla"/>
                <a:cs typeface="Karla"/>
                <a:sym typeface="Karla"/>
              </a:rPr>
              <a:t>ENFERMEDAD ACTUAL:</a:t>
            </a:r>
            <a:r>
              <a:rPr lang="es-CO" sz="1800">
                <a:solidFill>
                  <a:schemeClr val="dk1"/>
                </a:solidFill>
                <a:latin typeface="Karla"/>
                <a:ea typeface="Karla"/>
                <a:cs typeface="Karla"/>
                <a:sym typeface="Karla"/>
              </a:rPr>
              <a:t> </a:t>
            </a:r>
            <a:r>
              <a:rPr lang="es-CO" sz="1800">
                <a:solidFill>
                  <a:schemeClr val="dk1"/>
                </a:solidFill>
                <a:latin typeface="Karla"/>
                <a:ea typeface="Karla"/>
                <a:cs typeface="Karla"/>
                <a:sym typeface="Karla"/>
              </a:rPr>
              <a:t>paciente de 34 años g2c1v1 con embarazo de 22+1 semanas por ecografía de 14/07, ingresa a urgencias por cuadro clínico de 2 horas de evolución de sangrado escaso, color rosado, acompañado de dolor en región púbica que se irradia a región lumbar. niega síntomas de vaso espasmos, niega síntomas irritativos urinarios o leucorrea patológica en los últimos días.</a:t>
            </a:r>
            <a:endParaRPr sz="1800">
              <a:solidFill>
                <a:schemeClr val="dk1"/>
              </a:solidFill>
              <a:latin typeface="Karla"/>
              <a:ea typeface="Karla"/>
              <a:cs typeface="Karla"/>
              <a:sym typeface="Karla"/>
            </a:endParaRPr>
          </a:p>
        </p:txBody>
      </p:sp>
      <p:sp>
        <p:nvSpPr>
          <p:cNvPr id="102" name="Google Shape;102;g36896f2351b_0_10"/>
          <p:cNvSpPr txBox="1"/>
          <p:nvPr/>
        </p:nvSpPr>
        <p:spPr>
          <a:xfrm>
            <a:off x="470050" y="4423150"/>
            <a:ext cx="10452300" cy="1293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sz="1800" u="sng">
                <a:solidFill>
                  <a:schemeClr val="dk1"/>
                </a:solidFill>
                <a:latin typeface="Karla"/>
                <a:ea typeface="Karla"/>
                <a:cs typeface="Karla"/>
                <a:sym typeface="Karla"/>
              </a:rPr>
              <a:t>REVISIÓN POR SISTEMAS:</a:t>
            </a:r>
            <a:r>
              <a:rPr lang="es-CO" sz="1800">
                <a:solidFill>
                  <a:schemeClr val="dk1"/>
                </a:solidFill>
                <a:latin typeface="Karla"/>
                <a:ea typeface="Karla"/>
                <a:cs typeface="Karla"/>
                <a:sym typeface="Karla"/>
              </a:rPr>
              <a:t> </a:t>
            </a:r>
            <a:r>
              <a:rPr lang="es-CO" sz="1800">
                <a:solidFill>
                  <a:schemeClr val="dk1"/>
                </a:solidFill>
                <a:latin typeface="Karla"/>
                <a:ea typeface="Karla"/>
                <a:cs typeface="Karla"/>
                <a:sym typeface="Karla"/>
              </a:rPr>
              <a:t>amniorrea (neg) sangrado vaginal (neg), movimientos fetales (+) leucorrea neg no refiere síntomas de vasoespasmo cefalea (neg) tinnitus (neg) fosfenos (neg) epigastralgia (neg) edema en miembros inferiores (neg) náuseas (</a:t>
            </a:r>
            <a:r>
              <a:rPr lang="es-CO" sz="1800">
                <a:solidFill>
                  <a:schemeClr val="dk1"/>
                </a:solidFill>
                <a:latin typeface="Karla"/>
                <a:ea typeface="Karla"/>
                <a:cs typeface="Karla"/>
                <a:sym typeface="Karla"/>
              </a:rPr>
              <a:t>-</a:t>
            </a:r>
            <a:r>
              <a:rPr lang="es-CO" sz="1800">
                <a:solidFill>
                  <a:schemeClr val="dk1"/>
                </a:solidFill>
                <a:latin typeface="Karla"/>
                <a:ea typeface="Karla"/>
                <a:cs typeface="Karla"/>
                <a:sym typeface="Karla"/>
              </a:rPr>
              <a:t>) niega síntomas</a:t>
            </a:r>
            <a:endParaRPr sz="1800">
              <a:solidFill>
                <a:schemeClr val="dk1"/>
              </a:solidFill>
              <a:latin typeface="Karla"/>
              <a:ea typeface="Karla"/>
              <a:cs typeface="Karla"/>
              <a:sym typeface="Karla"/>
            </a:endParaRPr>
          </a:p>
          <a:p>
            <a:pPr indent="0" lvl="0" marL="0" rtl="0" algn="just">
              <a:spcBef>
                <a:spcPts val="0"/>
              </a:spcBef>
              <a:spcAft>
                <a:spcPts val="0"/>
              </a:spcAft>
              <a:buNone/>
            </a:pPr>
            <a:r>
              <a:rPr lang="es-CO" sz="1800">
                <a:solidFill>
                  <a:schemeClr val="dk1"/>
                </a:solidFill>
                <a:latin typeface="Karla"/>
                <a:ea typeface="Karla"/>
                <a:cs typeface="Karla"/>
                <a:sym typeface="Karla"/>
              </a:rPr>
              <a:t>urinarios irritativos ( disuria y tenesmo ) , niega síntomas respiratorios</a:t>
            </a:r>
            <a:endParaRPr sz="1800">
              <a:solidFill>
                <a:schemeClr val="dk1"/>
              </a:solidFill>
              <a:latin typeface="Karla"/>
              <a:ea typeface="Karla"/>
              <a:cs typeface="Karla"/>
              <a:sym typeface="Karl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 name="Shape 106"/>
        <p:cNvGrpSpPr/>
        <p:nvPr/>
      </p:nvGrpSpPr>
      <p:grpSpPr>
        <a:xfrm>
          <a:off x="0" y="0"/>
          <a:ext cx="0" cy="0"/>
          <a:chOff x="0" y="0"/>
          <a:chExt cx="0" cy="0"/>
        </a:xfrm>
      </p:grpSpPr>
      <p:sp>
        <p:nvSpPr>
          <p:cNvPr id="107" name="Google Shape;107;p3"/>
          <p:cNvSpPr txBox="1"/>
          <p:nvPr/>
        </p:nvSpPr>
        <p:spPr>
          <a:xfrm>
            <a:off x="2472450" y="280950"/>
            <a:ext cx="7247100" cy="15147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CO" sz="4800">
                <a:solidFill>
                  <a:schemeClr val="accent2"/>
                </a:solidFill>
                <a:latin typeface="Roboto Serif"/>
                <a:ea typeface="Roboto Serif"/>
                <a:cs typeface="Roboto Serif"/>
                <a:sym typeface="Roboto Serif"/>
              </a:rPr>
              <a:t>DESCRIPCIÓN DEL CASO</a:t>
            </a:r>
            <a:endParaRPr b="1" sz="4800">
              <a:solidFill>
                <a:schemeClr val="accent2"/>
              </a:solidFill>
              <a:latin typeface="Roboto Serif"/>
              <a:ea typeface="Roboto Serif"/>
              <a:cs typeface="Roboto Serif"/>
              <a:sym typeface="Roboto Serif"/>
            </a:endParaRPr>
          </a:p>
        </p:txBody>
      </p:sp>
      <p:sp>
        <p:nvSpPr>
          <p:cNvPr id="108" name="Google Shape;108;p3"/>
          <p:cNvSpPr txBox="1"/>
          <p:nvPr/>
        </p:nvSpPr>
        <p:spPr>
          <a:xfrm>
            <a:off x="324675" y="1872225"/>
            <a:ext cx="1956900" cy="4341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1000"/>
              </a:spcBef>
              <a:spcAft>
                <a:spcPts val="0"/>
              </a:spcAft>
              <a:buNone/>
            </a:pPr>
            <a:r>
              <a:rPr b="1" lang="es-CO" sz="1800">
                <a:solidFill>
                  <a:schemeClr val="dk1"/>
                </a:solidFill>
                <a:latin typeface="Karla"/>
                <a:ea typeface="Karla"/>
                <a:cs typeface="Karla"/>
                <a:sym typeface="Karla"/>
              </a:rPr>
              <a:t>SIGNOS VITALES</a:t>
            </a:r>
            <a:endParaRPr b="1"/>
          </a:p>
        </p:txBody>
      </p:sp>
      <p:sp>
        <p:nvSpPr>
          <p:cNvPr id="109" name="Google Shape;109;p3"/>
          <p:cNvSpPr txBox="1"/>
          <p:nvPr/>
        </p:nvSpPr>
        <p:spPr>
          <a:xfrm>
            <a:off x="324675" y="2210625"/>
            <a:ext cx="4330200" cy="1061100"/>
          </a:xfrm>
          <a:prstGeom prst="rect">
            <a:avLst/>
          </a:prstGeom>
          <a:noFill/>
          <a:ln>
            <a:noFill/>
          </a:ln>
        </p:spPr>
        <p:txBody>
          <a:bodyPr anchorCtr="0" anchor="t" bIns="91425" lIns="91425" spcFirstLastPara="1" rIns="91425" wrap="square" tIns="91425">
            <a:spAutoFit/>
          </a:bodyPr>
          <a:lstStyle/>
          <a:p>
            <a:pPr indent="0" lvl="0" marL="0" rtl="0" algn="just">
              <a:lnSpc>
                <a:spcPct val="90000"/>
              </a:lnSpc>
              <a:spcBef>
                <a:spcPts val="1000"/>
              </a:spcBef>
              <a:spcAft>
                <a:spcPts val="0"/>
              </a:spcAft>
              <a:buNone/>
            </a:pPr>
            <a:r>
              <a:rPr lang="es-CO" sz="1800">
                <a:solidFill>
                  <a:schemeClr val="dk1"/>
                </a:solidFill>
                <a:latin typeface="Karla"/>
                <a:ea typeface="Karla"/>
                <a:cs typeface="Karla"/>
                <a:sym typeface="Karla"/>
              </a:rPr>
              <a:t>TA: 140/84 FC: 93 LPM FR: 18 RPM T°: 36 SpO2: 95% FCF: 150 </a:t>
            </a:r>
            <a:endParaRPr sz="1800">
              <a:solidFill>
                <a:schemeClr val="dk1"/>
              </a:solidFill>
              <a:latin typeface="Karla"/>
              <a:ea typeface="Karla"/>
              <a:cs typeface="Karla"/>
              <a:sym typeface="Karla"/>
            </a:endParaRPr>
          </a:p>
          <a:p>
            <a:pPr indent="0" lvl="0" marL="0" rtl="0" algn="just">
              <a:lnSpc>
                <a:spcPct val="90000"/>
              </a:lnSpc>
              <a:spcBef>
                <a:spcPts val="1000"/>
              </a:spcBef>
              <a:spcAft>
                <a:spcPts val="0"/>
              </a:spcAft>
              <a:buNone/>
            </a:pPr>
            <a:r>
              <a:rPr lang="es-CO" sz="1800">
                <a:solidFill>
                  <a:schemeClr val="dk1"/>
                </a:solidFill>
                <a:latin typeface="Karla"/>
                <a:ea typeface="Karla"/>
                <a:cs typeface="Karla"/>
                <a:sym typeface="Karla"/>
              </a:rPr>
              <a:t>TIPO MEOWS: 2 PUNTOS (RIESGO BAJO)</a:t>
            </a:r>
            <a:endParaRPr sz="1800">
              <a:solidFill>
                <a:schemeClr val="dk1"/>
              </a:solidFill>
              <a:latin typeface="Karla"/>
              <a:ea typeface="Karla"/>
              <a:cs typeface="Karla"/>
              <a:sym typeface="Karla"/>
            </a:endParaRPr>
          </a:p>
        </p:txBody>
      </p:sp>
      <p:sp>
        <p:nvSpPr>
          <p:cNvPr id="110" name="Google Shape;110;p3"/>
          <p:cNvSpPr txBox="1"/>
          <p:nvPr/>
        </p:nvSpPr>
        <p:spPr>
          <a:xfrm>
            <a:off x="4922725" y="1795650"/>
            <a:ext cx="6915300" cy="3924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s-CO" sz="1800">
                <a:solidFill>
                  <a:schemeClr val="dk1"/>
                </a:solidFill>
                <a:latin typeface="Karla"/>
                <a:ea typeface="Karla"/>
                <a:cs typeface="Karla"/>
                <a:sym typeface="Karla"/>
              </a:rPr>
              <a:t>EXAMEN FÍSICO </a:t>
            </a:r>
            <a:endParaRPr b="1" sz="18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estado general: paciente en buen estado general ingresa caminando por sus propios medios</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cabeza y cuello: conjuntiva normocrómica esclera anictérica mucosa oral húmeda, cuello móvil sin masas sin adenopatías , mucosa oral húmeda cardiopulmonar: ruidos cardiacos rítmicos no masas no megalias, ruidos respiratorios sin agregados, no presenta signos de dificultad respiratoria</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abdomen: blando depresible no dolor a la palpación superficial ni profunda, au: 21 cm</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genitourinario: genitales femeninos normoconfigurados vagina normotensa normoelástica, cuello blando abierto, se usa espéculos acopio donde se evidencia presencia de bolsa amniótica .</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extremidades: móviles simétricas adecuada perfusión distal no se evidencian edemas</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neurológico: paciente consciente alerta orientada fuerza y sensibilidad conservadas, no déficit motor ni sensitivo aparente</a:t>
            </a:r>
            <a:endParaRPr sz="1500">
              <a:solidFill>
                <a:schemeClr val="dk1"/>
              </a:solidFill>
              <a:latin typeface="Karla"/>
              <a:ea typeface="Karla"/>
              <a:cs typeface="Karla"/>
              <a:sym typeface="Karla"/>
            </a:endParaRPr>
          </a:p>
        </p:txBody>
      </p:sp>
      <p:sp>
        <p:nvSpPr>
          <p:cNvPr id="111" name="Google Shape;111;p3"/>
          <p:cNvSpPr txBox="1"/>
          <p:nvPr/>
        </p:nvSpPr>
        <p:spPr>
          <a:xfrm>
            <a:off x="190725" y="3686700"/>
            <a:ext cx="4598100" cy="263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O" sz="1500">
                <a:solidFill>
                  <a:schemeClr val="dk1"/>
                </a:solidFill>
                <a:latin typeface="Karla"/>
                <a:ea typeface="Karla"/>
                <a:cs typeface="Karla"/>
                <a:sym typeface="Karla"/>
              </a:rPr>
              <a:t>ANÁLISIS</a:t>
            </a:r>
            <a:endParaRPr b="1"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paciente de 34 años con embarazo de 22+1 semanas, quien ingresa en el contexto de un</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aborto, paciente niega sintomas de vasoespasmos, niega cefalea, tinnitus. al examen físico paciente en adecuadas condiciones, al tacto vaginal se encuentra cuello, blando abierto con presencia de bolsa amniótica por lo cual se ingresa a la paciente, se solicita valoración por ginecología y por psicología.</a:t>
            </a:r>
            <a:endParaRPr sz="1500">
              <a:solidFill>
                <a:schemeClr val="dk1"/>
              </a:solidFill>
              <a:latin typeface="Karla"/>
              <a:ea typeface="Karla"/>
              <a:cs typeface="Karla"/>
              <a:sym typeface="Karl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4"/>
          <p:cNvSpPr txBox="1"/>
          <p:nvPr/>
        </p:nvSpPr>
        <p:spPr>
          <a:xfrm>
            <a:off x="2472450" y="280950"/>
            <a:ext cx="7247100" cy="15147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CO" sz="4800">
                <a:solidFill>
                  <a:schemeClr val="accent2"/>
                </a:solidFill>
                <a:latin typeface="Roboto Serif"/>
                <a:ea typeface="Roboto Serif"/>
                <a:cs typeface="Roboto Serif"/>
                <a:sym typeface="Roboto Serif"/>
              </a:rPr>
              <a:t>DESCRIPCIÓN DEL CASO</a:t>
            </a:r>
            <a:endParaRPr b="1" sz="4800">
              <a:solidFill>
                <a:schemeClr val="accent2"/>
              </a:solidFill>
              <a:latin typeface="Roboto Serif"/>
              <a:ea typeface="Roboto Serif"/>
              <a:cs typeface="Roboto Serif"/>
              <a:sym typeface="Roboto Serif"/>
            </a:endParaRPr>
          </a:p>
        </p:txBody>
      </p:sp>
      <p:sp>
        <p:nvSpPr>
          <p:cNvPr id="117" name="Google Shape;117;p4"/>
          <p:cNvSpPr txBox="1"/>
          <p:nvPr/>
        </p:nvSpPr>
        <p:spPr>
          <a:xfrm>
            <a:off x="1203750" y="1891350"/>
            <a:ext cx="4731900" cy="3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O" sz="1500">
                <a:solidFill>
                  <a:schemeClr val="dk1"/>
                </a:solidFill>
                <a:latin typeface="Karla"/>
                <a:ea typeface="Karla"/>
                <a:cs typeface="Karla"/>
                <a:sym typeface="Karla"/>
              </a:rPr>
              <a:t>DIAGNÓSTICOS</a:t>
            </a:r>
            <a:endParaRPr b="1" sz="1500">
              <a:solidFill>
                <a:schemeClr val="dk1"/>
              </a:solidFill>
              <a:latin typeface="Karla"/>
              <a:ea typeface="Karla"/>
              <a:cs typeface="Karla"/>
              <a:sym typeface="Karla"/>
            </a:endParaRPr>
          </a:p>
          <a:p>
            <a:pPr indent="0" lvl="0" marL="0" rtl="0" algn="just">
              <a:spcBef>
                <a:spcPts val="0"/>
              </a:spcBef>
              <a:spcAft>
                <a:spcPts val="0"/>
              </a:spcAft>
              <a:buClr>
                <a:schemeClr val="dk1"/>
              </a:buClr>
              <a:buSzPts val="1100"/>
              <a:buFont typeface="Arial"/>
              <a:buNone/>
            </a:pPr>
            <a:r>
              <a:rPr lang="es-CO" sz="1500">
                <a:solidFill>
                  <a:schemeClr val="dk1"/>
                </a:solidFill>
                <a:latin typeface="Karla"/>
                <a:ea typeface="Karla"/>
                <a:cs typeface="Karla"/>
                <a:sym typeface="Karla"/>
              </a:rPr>
              <a:t>G2c1v1</a:t>
            </a:r>
            <a:endParaRPr sz="1500">
              <a:solidFill>
                <a:schemeClr val="dk1"/>
              </a:solidFill>
              <a:latin typeface="Karla"/>
              <a:ea typeface="Karla"/>
              <a:cs typeface="Karla"/>
              <a:sym typeface="Karla"/>
            </a:endParaRPr>
          </a:p>
          <a:p>
            <a:pPr indent="0" lvl="0" marL="0" rtl="0" algn="just">
              <a:spcBef>
                <a:spcPts val="0"/>
              </a:spcBef>
              <a:spcAft>
                <a:spcPts val="0"/>
              </a:spcAft>
              <a:buClr>
                <a:schemeClr val="dk1"/>
              </a:buClr>
              <a:buSzPts val="1100"/>
              <a:buFont typeface="Arial"/>
              <a:buNone/>
            </a:pPr>
            <a:r>
              <a:rPr lang="es-CO" sz="1500">
                <a:solidFill>
                  <a:schemeClr val="dk1"/>
                </a:solidFill>
                <a:latin typeface="Karla"/>
                <a:ea typeface="Karla"/>
                <a:cs typeface="Karla"/>
                <a:sym typeface="Karla"/>
              </a:rPr>
              <a:t>Embarazo De 22+1 Semanas Ecografía Del 14/07</a:t>
            </a:r>
            <a:endParaRPr sz="1500">
              <a:solidFill>
                <a:schemeClr val="dk1"/>
              </a:solidFill>
              <a:latin typeface="Karla"/>
              <a:ea typeface="Karla"/>
              <a:cs typeface="Karla"/>
              <a:sym typeface="Karla"/>
            </a:endParaRPr>
          </a:p>
          <a:p>
            <a:pPr indent="0" lvl="0" marL="0" rtl="0" algn="just">
              <a:spcBef>
                <a:spcPts val="0"/>
              </a:spcBef>
              <a:spcAft>
                <a:spcPts val="0"/>
              </a:spcAft>
              <a:buClr>
                <a:schemeClr val="dk1"/>
              </a:buClr>
              <a:buSzPts val="1100"/>
              <a:buFont typeface="Arial"/>
              <a:buNone/>
            </a:pPr>
            <a:r>
              <a:rPr lang="es-CO" sz="1500">
                <a:solidFill>
                  <a:schemeClr val="dk1"/>
                </a:solidFill>
                <a:latin typeface="Karla"/>
                <a:ea typeface="Karla"/>
                <a:cs typeface="Karla"/>
                <a:sym typeface="Karla"/>
              </a:rPr>
              <a:t>Aborto</a:t>
            </a:r>
            <a:endParaRPr sz="1500">
              <a:solidFill>
                <a:schemeClr val="dk1"/>
              </a:solidFill>
              <a:latin typeface="Karla"/>
              <a:ea typeface="Karla"/>
              <a:cs typeface="Karla"/>
              <a:sym typeface="Karla"/>
            </a:endParaRPr>
          </a:p>
          <a:p>
            <a:pPr indent="0" lvl="0" marL="0" rtl="0" algn="just">
              <a:spcBef>
                <a:spcPts val="0"/>
              </a:spcBef>
              <a:spcAft>
                <a:spcPts val="0"/>
              </a:spcAft>
              <a:buClr>
                <a:schemeClr val="dk1"/>
              </a:buClr>
              <a:buSzPts val="1100"/>
              <a:buFont typeface="Arial"/>
              <a:buNone/>
            </a:pPr>
            <a:r>
              <a:rPr lang="es-CO" sz="1500">
                <a:solidFill>
                  <a:schemeClr val="dk1"/>
                </a:solidFill>
                <a:latin typeface="Karla"/>
                <a:ea typeface="Karla"/>
                <a:cs typeface="Karla"/>
                <a:sym typeface="Karla"/>
              </a:rPr>
              <a:t>Dolor Pélvico</a:t>
            </a:r>
            <a:endParaRPr sz="1500">
              <a:solidFill>
                <a:schemeClr val="dk1"/>
              </a:solidFill>
              <a:latin typeface="Karla"/>
              <a:ea typeface="Karla"/>
              <a:cs typeface="Karla"/>
              <a:sym typeface="Karla"/>
            </a:endParaRPr>
          </a:p>
          <a:p>
            <a:pPr indent="0" lvl="0" marL="0" rtl="0" algn="just">
              <a:spcBef>
                <a:spcPts val="0"/>
              </a:spcBef>
              <a:spcAft>
                <a:spcPts val="0"/>
              </a:spcAft>
              <a:buClr>
                <a:schemeClr val="dk1"/>
              </a:buClr>
              <a:buSzPts val="1100"/>
              <a:buFont typeface="Arial"/>
              <a:buNone/>
            </a:pPr>
            <a:r>
              <a:rPr lang="es-CO" sz="1500">
                <a:solidFill>
                  <a:schemeClr val="dk1"/>
                </a:solidFill>
                <a:latin typeface="Karla"/>
                <a:ea typeface="Karla"/>
                <a:cs typeface="Karla"/>
                <a:sym typeface="Karla"/>
              </a:rPr>
              <a:t>Alto Riesgo Obstétrico</a:t>
            </a:r>
            <a:endParaRPr sz="1500">
              <a:solidFill>
                <a:schemeClr val="dk1"/>
              </a:solidFill>
              <a:latin typeface="Karla"/>
              <a:ea typeface="Karla"/>
              <a:cs typeface="Karla"/>
              <a:sym typeface="Karla"/>
            </a:endParaRPr>
          </a:p>
          <a:p>
            <a:pPr indent="0" lvl="0" marL="0" rtl="0" algn="just">
              <a:spcBef>
                <a:spcPts val="0"/>
              </a:spcBef>
              <a:spcAft>
                <a:spcPts val="0"/>
              </a:spcAft>
              <a:buClr>
                <a:schemeClr val="dk1"/>
              </a:buClr>
              <a:buSzPts val="1100"/>
              <a:buFont typeface="Arial"/>
              <a:buNone/>
            </a:pPr>
            <a:r>
              <a:rPr lang="es-CO" sz="1500">
                <a:solidFill>
                  <a:schemeClr val="dk1"/>
                </a:solidFill>
                <a:latin typeface="Karla"/>
                <a:ea typeface="Karla"/>
                <a:cs typeface="Karla"/>
                <a:sym typeface="Karla"/>
              </a:rPr>
              <a:t>Aborto En Curso</a:t>
            </a:r>
            <a:endParaRPr sz="1500">
              <a:solidFill>
                <a:schemeClr val="dk1"/>
              </a:solidFill>
              <a:latin typeface="Karla"/>
              <a:ea typeface="Karla"/>
              <a:cs typeface="Karla"/>
              <a:sym typeface="Karla"/>
            </a:endParaRPr>
          </a:p>
          <a:p>
            <a:pPr indent="0" lvl="0" marL="0" rtl="0" algn="just">
              <a:spcBef>
                <a:spcPts val="0"/>
              </a:spcBef>
              <a:spcAft>
                <a:spcPts val="0"/>
              </a:spcAft>
              <a:buClr>
                <a:schemeClr val="dk1"/>
              </a:buClr>
              <a:buSzPts val="1100"/>
              <a:buFont typeface="Arial"/>
              <a:buNone/>
            </a:pPr>
            <a:r>
              <a:rPr lang="es-CO" sz="1500">
                <a:solidFill>
                  <a:schemeClr val="dk1"/>
                </a:solidFill>
                <a:latin typeface="Karla"/>
                <a:ea typeface="Karla"/>
                <a:cs typeface="Karla"/>
                <a:sym typeface="Karla"/>
              </a:rPr>
              <a:t>Antecedente De Cesárea 2012</a:t>
            </a:r>
            <a:endParaRPr sz="1500">
              <a:solidFill>
                <a:schemeClr val="dk1"/>
              </a:solidFill>
              <a:latin typeface="Karla"/>
              <a:ea typeface="Karla"/>
              <a:cs typeface="Karla"/>
              <a:sym typeface="Karla"/>
            </a:endParaRPr>
          </a:p>
          <a:p>
            <a:pPr indent="0" lvl="0" marL="0" rtl="0" algn="just">
              <a:spcBef>
                <a:spcPts val="0"/>
              </a:spcBef>
              <a:spcAft>
                <a:spcPts val="0"/>
              </a:spcAft>
              <a:buClr>
                <a:schemeClr val="dk1"/>
              </a:buClr>
              <a:buSzPts val="1100"/>
              <a:buFont typeface="Arial"/>
              <a:buNone/>
            </a:pPr>
            <a:r>
              <a:rPr lang="es-CO" sz="1500">
                <a:solidFill>
                  <a:schemeClr val="dk1"/>
                </a:solidFill>
                <a:latin typeface="Karla"/>
                <a:ea typeface="Karla"/>
                <a:cs typeface="Karla"/>
                <a:sym typeface="Karla"/>
              </a:rPr>
              <a:t>Periodo Intergenésico Prolongado</a:t>
            </a:r>
            <a:endParaRPr sz="1500">
              <a:solidFill>
                <a:schemeClr val="dk1"/>
              </a:solidFill>
              <a:latin typeface="Karla"/>
              <a:ea typeface="Karla"/>
              <a:cs typeface="Karla"/>
              <a:sym typeface="Karla"/>
            </a:endParaRPr>
          </a:p>
          <a:p>
            <a:pPr indent="0" lvl="0" marL="0" rtl="0" algn="just">
              <a:spcBef>
                <a:spcPts val="0"/>
              </a:spcBef>
              <a:spcAft>
                <a:spcPts val="0"/>
              </a:spcAft>
              <a:buClr>
                <a:schemeClr val="dk1"/>
              </a:buClr>
              <a:buSzPts val="1100"/>
              <a:buFont typeface="Arial"/>
              <a:buNone/>
            </a:pPr>
            <a:r>
              <a:rPr lang="es-CO" sz="1500">
                <a:solidFill>
                  <a:schemeClr val="dk1"/>
                </a:solidFill>
                <a:latin typeface="Karla"/>
                <a:ea typeface="Karla"/>
                <a:cs typeface="Karla"/>
                <a:sym typeface="Karla"/>
              </a:rPr>
              <a:t>Primipaternidad</a:t>
            </a:r>
            <a:endParaRPr sz="1500">
              <a:solidFill>
                <a:schemeClr val="dk1"/>
              </a:solidFill>
              <a:latin typeface="Karla"/>
              <a:ea typeface="Karla"/>
              <a:cs typeface="Karla"/>
              <a:sym typeface="Karla"/>
            </a:endParaRPr>
          </a:p>
          <a:p>
            <a:pPr indent="0" lvl="0" marL="0" rtl="0" algn="just">
              <a:spcBef>
                <a:spcPts val="0"/>
              </a:spcBef>
              <a:spcAft>
                <a:spcPts val="0"/>
              </a:spcAft>
              <a:buClr>
                <a:schemeClr val="dk1"/>
              </a:buClr>
              <a:buSzPts val="1100"/>
              <a:buFont typeface="Arial"/>
              <a:buNone/>
            </a:pPr>
            <a:r>
              <a:rPr lang="es-CO" sz="1500">
                <a:solidFill>
                  <a:schemeClr val="dk1"/>
                </a:solidFill>
                <a:latin typeface="Karla"/>
                <a:ea typeface="Karla"/>
                <a:cs typeface="Karla"/>
                <a:sym typeface="Karla"/>
              </a:rPr>
              <a:t>Bajo Riesgo Tromboembólico</a:t>
            </a:r>
            <a:endParaRPr sz="1500">
              <a:solidFill>
                <a:schemeClr val="dk1"/>
              </a:solidFill>
              <a:latin typeface="Karla"/>
              <a:ea typeface="Karla"/>
              <a:cs typeface="Karla"/>
              <a:sym typeface="Karla"/>
            </a:endParaRPr>
          </a:p>
          <a:p>
            <a:pPr indent="0" lvl="0" marL="0" rtl="0" algn="just">
              <a:spcBef>
                <a:spcPts val="0"/>
              </a:spcBef>
              <a:spcAft>
                <a:spcPts val="0"/>
              </a:spcAft>
              <a:buClr>
                <a:schemeClr val="dk1"/>
              </a:buClr>
              <a:buSzPts val="1100"/>
              <a:buFont typeface="Arial"/>
              <a:buNone/>
            </a:pPr>
            <a:r>
              <a:rPr lang="es-CO" sz="1500">
                <a:solidFill>
                  <a:schemeClr val="dk1"/>
                </a:solidFill>
                <a:latin typeface="Karla"/>
                <a:ea typeface="Karla"/>
                <a:cs typeface="Karla"/>
                <a:sym typeface="Karla"/>
              </a:rPr>
              <a:t>Bajo Riesgo Psicosocial</a:t>
            </a:r>
            <a:endParaRPr sz="1500">
              <a:solidFill>
                <a:schemeClr val="dk1"/>
              </a:solidFill>
              <a:latin typeface="Karla"/>
              <a:ea typeface="Karla"/>
              <a:cs typeface="Karla"/>
              <a:sym typeface="Karla"/>
            </a:endParaRPr>
          </a:p>
          <a:p>
            <a:pPr indent="0" lvl="0" marL="0" rtl="0" algn="just">
              <a:spcBef>
                <a:spcPts val="0"/>
              </a:spcBef>
              <a:spcAft>
                <a:spcPts val="0"/>
              </a:spcAft>
              <a:buClr>
                <a:schemeClr val="dk1"/>
              </a:buClr>
              <a:buSzPts val="1100"/>
              <a:buFont typeface="Arial"/>
              <a:buNone/>
            </a:pPr>
            <a:r>
              <a:rPr lang="es-CO" sz="1500">
                <a:solidFill>
                  <a:schemeClr val="dk1"/>
                </a:solidFill>
                <a:latin typeface="Karla"/>
                <a:ea typeface="Karla"/>
                <a:cs typeface="Karla"/>
                <a:sym typeface="Karla"/>
              </a:rPr>
              <a:t>Alto Riesgo Depresión Postparto</a:t>
            </a:r>
            <a:endParaRPr sz="1500">
              <a:solidFill>
                <a:schemeClr val="dk1"/>
              </a:solidFill>
              <a:latin typeface="Karla"/>
              <a:ea typeface="Karla"/>
              <a:cs typeface="Karla"/>
              <a:sym typeface="Karla"/>
            </a:endParaRPr>
          </a:p>
          <a:p>
            <a:pPr indent="0" lvl="0" marL="0" rtl="0" algn="just">
              <a:spcBef>
                <a:spcPts val="0"/>
              </a:spcBef>
              <a:spcAft>
                <a:spcPts val="0"/>
              </a:spcAft>
              <a:buClr>
                <a:schemeClr val="dk1"/>
              </a:buClr>
              <a:buSzPts val="1100"/>
              <a:buFont typeface="Arial"/>
              <a:buNone/>
            </a:pPr>
            <a:r>
              <a:rPr lang="es-CO" sz="1500">
                <a:solidFill>
                  <a:schemeClr val="dk1"/>
                </a:solidFill>
                <a:latin typeface="Karla"/>
                <a:ea typeface="Karla"/>
                <a:cs typeface="Karla"/>
                <a:sym typeface="Karla"/>
              </a:rPr>
              <a:t>Meows 0</a:t>
            </a:r>
            <a:endParaRPr sz="1500">
              <a:solidFill>
                <a:schemeClr val="dk1"/>
              </a:solidFill>
              <a:latin typeface="Karla"/>
              <a:ea typeface="Karla"/>
              <a:cs typeface="Karla"/>
              <a:sym typeface="Karla"/>
            </a:endParaRPr>
          </a:p>
          <a:p>
            <a:pPr indent="0" lvl="0" marL="0" rtl="0" algn="just">
              <a:spcBef>
                <a:spcPts val="0"/>
              </a:spcBef>
              <a:spcAft>
                <a:spcPts val="0"/>
              </a:spcAft>
              <a:buNone/>
            </a:pPr>
            <a:r>
              <a:t/>
            </a:r>
            <a:endParaRPr sz="1500">
              <a:solidFill>
                <a:schemeClr val="dk1"/>
              </a:solidFill>
              <a:latin typeface="Karla"/>
              <a:ea typeface="Karla"/>
              <a:cs typeface="Karla"/>
              <a:sym typeface="Karla"/>
            </a:endParaRPr>
          </a:p>
        </p:txBody>
      </p:sp>
      <p:sp>
        <p:nvSpPr>
          <p:cNvPr id="118" name="Google Shape;118;p4"/>
          <p:cNvSpPr txBox="1"/>
          <p:nvPr/>
        </p:nvSpPr>
        <p:spPr>
          <a:xfrm>
            <a:off x="5935650" y="1795650"/>
            <a:ext cx="5052600" cy="1800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s-CO" sz="1500">
                <a:solidFill>
                  <a:schemeClr val="dk1"/>
                </a:solidFill>
                <a:latin typeface="Karla"/>
                <a:ea typeface="Karla"/>
                <a:cs typeface="Karla"/>
                <a:sym typeface="Karla"/>
              </a:rPr>
              <a:t>PLAN </a:t>
            </a:r>
            <a:r>
              <a:rPr b="1" lang="es-CO" sz="1500">
                <a:solidFill>
                  <a:schemeClr val="dk1"/>
                </a:solidFill>
                <a:latin typeface="Karla"/>
                <a:ea typeface="Karla"/>
                <a:cs typeface="Karla"/>
                <a:sym typeface="Karla"/>
              </a:rPr>
              <a:t>TERAPÉUTICO</a:t>
            </a:r>
            <a:endParaRPr b="1"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Dieta Normal</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Líquidos Ringer 500cc Dolor</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Hioscina</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Ss Uroanálisis Con Gram, Frotis , Hemograma , Vih, Treponema, Tiempos</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Ss Valoración Por Ginecología Y Pos Psicología</a:t>
            </a:r>
            <a:endParaRPr sz="1500">
              <a:solidFill>
                <a:schemeClr val="dk1"/>
              </a:solidFill>
              <a:latin typeface="Karla"/>
              <a:ea typeface="Karla"/>
              <a:cs typeface="Karla"/>
              <a:sym typeface="Karla"/>
            </a:endParaRPr>
          </a:p>
        </p:txBody>
      </p:sp>
      <p:pic>
        <p:nvPicPr>
          <p:cNvPr id="119" name="Google Shape;119;p4"/>
          <p:cNvPicPr preferRelativeResize="0"/>
          <p:nvPr/>
        </p:nvPicPr>
        <p:blipFill rotWithShape="1">
          <a:blip r:embed="rId4">
            <a:alphaModFix/>
          </a:blip>
          <a:srcRect b="8018" l="23171" r="23053" t="9397"/>
          <a:stretch/>
        </p:blipFill>
        <p:spPr>
          <a:xfrm>
            <a:off x="7294575" y="3596550"/>
            <a:ext cx="1990524" cy="309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3" name="Shape 123"/>
        <p:cNvGrpSpPr/>
        <p:nvPr/>
      </p:nvGrpSpPr>
      <p:grpSpPr>
        <a:xfrm>
          <a:off x="0" y="0"/>
          <a:ext cx="0" cy="0"/>
          <a:chOff x="0" y="0"/>
          <a:chExt cx="0" cy="0"/>
        </a:xfrm>
      </p:grpSpPr>
      <p:sp>
        <p:nvSpPr>
          <p:cNvPr id="124" name="Google Shape;124;p5"/>
          <p:cNvSpPr txBox="1"/>
          <p:nvPr/>
        </p:nvSpPr>
        <p:spPr>
          <a:xfrm>
            <a:off x="765600" y="372702"/>
            <a:ext cx="10660800" cy="15147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CO" sz="4800">
                <a:solidFill>
                  <a:schemeClr val="accent2"/>
                </a:solidFill>
                <a:latin typeface="Roboto Serif"/>
                <a:ea typeface="Roboto Serif"/>
                <a:cs typeface="Roboto Serif"/>
                <a:sym typeface="Roboto Serif"/>
              </a:rPr>
              <a:t>RESPUESTA INTERCONSULTA GINECOLOGÍA </a:t>
            </a:r>
            <a:endParaRPr b="1" sz="4800">
              <a:solidFill>
                <a:schemeClr val="accent2"/>
              </a:solidFill>
              <a:latin typeface="Roboto Serif"/>
              <a:ea typeface="Roboto Serif"/>
              <a:cs typeface="Roboto Serif"/>
              <a:sym typeface="Roboto Serif"/>
            </a:endParaRPr>
          </a:p>
        </p:txBody>
      </p:sp>
      <p:sp>
        <p:nvSpPr>
          <p:cNvPr id="125" name="Google Shape;125;p5"/>
          <p:cNvSpPr txBox="1"/>
          <p:nvPr/>
        </p:nvSpPr>
        <p:spPr>
          <a:xfrm>
            <a:off x="550950" y="2193125"/>
            <a:ext cx="4827000" cy="2031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sz="1500">
                <a:solidFill>
                  <a:schemeClr val="dk1"/>
                </a:solidFill>
                <a:latin typeface="Karla"/>
                <a:ea typeface="Karla"/>
                <a:cs typeface="Karla"/>
                <a:sym typeface="Karla"/>
              </a:rPr>
              <a:t>“Tengo dolor y manchado”</a:t>
            </a:r>
            <a:endParaRPr sz="1500">
              <a:solidFill>
                <a:schemeClr val="dk1"/>
              </a:solidFill>
              <a:latin typeface="Karla"/>
              <a:ea typeface="Karla"/>
              <a:cs typeface="Karla"/>
              <a:sym typeface="Karla"/>
            </a:endParaRPr>
          </a:p>
          <a:p>
            <a:pPr indent="0" lvl="0" marL="0" rtl="0" algn="just">
              <a:spcBef>
                <a:spcPts val="0"/>
              </a:spcBef>
              <a:spcAft>
                <a:spcPts val="0"/>
              </a:spcAft>
              <a:buNone/>
            </a:pPr>
            <a:r>
              <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ENFERMEDAD ACTUAL: </a:t>
            </a:r>
            <a:r>
              <a:rPr lang="es-CO" sz="1500">
                <a:solidFill>
                  <a:schemeClr val="dk1"/>
                </a:solidFill>
                <a:latin typeface="Karla"/>
                <a:ea typeface="Karla"/>
                <a:cs typeface="Karla"/>
                <a:sym typeface="Karla"/>
              </a:rPr>
              <a:t>paciente con embarazo de 22 semanas asiste por cuadro de 2 horas de dolor pélvico tipo cólico asociado a escaso manchado vaginal, movimientos fetales presentes, niega síntomas de vasoespasmo (cefalea, tinitus, fosfenos epigastralgia) niega otros síntomas asociados.</a:t>
            </a:r>
            <a:endParaRPr sz="1500">
              <a:solidFill>
                <a:schemeClr val="dk1"/>
              </a:solidFill>
              <a:latin typeface="Karla"/>
              <a:ea typeface="Karla"/>
              <a:cs typeface="Karla"/>
              <a:sym typeface="Karla"/>
            </a:endParaRPr>
          </a:p>
        </p:txBody>
      </p:sp>
      <p:sp>
        <p:nvSpPr>
          <p:cNvPr id="126" name="Google Shape;126;p5"/>
          <p:cNvSpPr txBox="1"/>
          <p:nvPr/>
        </p:nvSpPr>
        <p:spPr>
          <a:xfrm>
            <a:off x="5719650" y="2115425"/>
            <a:ext cx="59214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O" sz="1500">
                <a:solidFill>
                  <a:schemeClr val="dk1"/>
                </a:solidFill>
                <a:latin typeface="Karla"/>
                <a:ea typeface="Karla"/>
                <a:cs typeface="Karla"/>
                <a:sym typeface="Karla"/>
              </a:rPr>
              <a:t>*</a:t>
            </a:r>
            <a:r>
              <a:rPr lang="es-CO" sz="1500">
                <a:solidFill>
                  <a:schemeClr val="dk1"/>
                </a:solidFill>
                <a:latin typeface="Karla"/>
                <a:ea typeface="Karla"/>
                <a:cs typeface="Karla"/>
                <a:sym typeface="Karla"/>
              </a:rPr>
              <a:t>*Ecografías:</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14/07/2025: Emb 15.5 sem a hoy 22 sem, cervicometría 32mm</a:t>
            </a:r>
            <a:endParaRPr sz="1500">
              <a:solidFill>
                <a:schemeClr val="dk1"/>
              </a:solidFill>
              <a:latin typeface="Karla"/>
              <a:ea typeface="Karla"/>
              <a:cs typeface="Karla"/>
              <a:sym typeface="Karla"/>
            </a:endParaRPr>
          </a:p>
          <a:p>
            <a:pPr indent="0" lvl="0" marL="0" rtl="0" algn="l">
              <a:spcBef>
                <a:spcPts val="0"/>
              </a:spcBef>
              <a:spcAft>
                <a:spcPts val="0"/>
              </a:spcAft>
              <a:buNone/>
            </a:pPr>
            <a:r>
              <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a:t>
            </a:r>
            <a:r>
              <a:rPr lang="es-CO" sz="1500">
                <a:solidFill>
                  <a:schemeClr val="dk1"/>
                </a:solidFill>
                <a:latin typeface="Karla"/>
                <a:ea typeface="Karla"/>
                <a:cs typeface="Karla"/>
                <a:sym typeface="Karla"/>
              </a:rPr>
              <a:t>*Laboratorios:</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14/07/2025: gonadotropina corionica cuantitativa 12639.98, treponema negativo, hepatitis b</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negativo, vih negativo, gram de orina no se observan bacterias. ffv neg, uroanálisis no</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sugestivo de infección</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14/08/2025: rubeola ig m neg, cmv ig g reactivo, tsh 1.9, rubeola ig m neg, chagas neg, hb</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12.8 hto 39.5 plt 159.000, vih neg, glicemia 107</a:t>
            </a:r>
            <a:endParaRPr sz="1500">
              <a:solidFill>
                <a:schemeClr val="dk1"/>
              </a:solidFill>
              <a:latin typeface="Karla"/>
              <a:ea typeface="Karla"/>
              <a:cs typeface="Karla"/>
              <a:sym typeface="Karla"/>
            </a:endParaRPr>
          </a:p>
        </p:txBody>
      </p:sp>
      <p:sp>
        <p:nvSpPr>
          <p:cNvPr id="127" name="Google Shape;127;p5"/>
          <p:cNvSpPr txBox="1"/>
          <p:nvPr/>
        </p:nvSpPr>
        <p:spPr>
          <a:xfrm>
            <a:off x="550950" y="4515575"/>
            <a:ext cx="4461900" cy="1569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sz="1500">
                <a:solidFill>
                  <a:schemeClr val="dk1"/>
                </a:solidFill>
                <a:latin typeface="Karla"/>
                <a:ea typeface="Karla"/>
                <a:cs typeface="Karla"/>
                <a:sym typeface="Karla"/>
              </a:rPr>
              <a:t>A</a:t>
            </a:r>
            <a:r>
              <a:rPr lang="es-CO" sz="1500">
                <a:solidFill>
                  <a:schemeClr val="dk1"/>
                </a:solidFill>
                <a:latin typeface="Karla"/>
                <a:ea typeface="Karla"/>
                <a:cs typeface="Karla"/>
                <a:sym typeface="Karla"/>
              </a:rPr>
              <a:t>bdomen: AU 21cm, feto único vivo, fcf 153 lpm</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GU</a:t>
            </a:r>
            <a:r>
              <a:rPr lang="es-CO" sz="1500">
                <a:solidFill>
                  <a:schemeClr val="dk1"/>
                </a:solidFill>
                <a:latin typeface="Karla"/>
                <a:ea typeface="Karla"/>
                <a:cs typeface="Karla"/>
                <a:sym typeface="Karla"/>
              </a:rPr>
              <a:t>: genitales externos normales, especuloscopia vagina normal cuello con protrusión de membranas y partes fetales, vagina nt/ne cuello central d2cm b 80% se palpan partes fetales, membranas íntegras</a:t>
            </a:r>
            <a:endParaRPr sz="1500">
              <a:solidFill>
                <a:schemeClr val="dk1"/>
              </a:solidFill>
              <a:latin typeface="Karla"/>
              <a:ea typeface="Karla"/>
              <a:cs typeface="Karla"/>
              <a:sym typeface="Karl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 name="Shape 131"/>
        <p:cNvGrpSpPr/>
        <p:nvPr/>
      </p:nvGrpSpPr>
      <p:grpSpPr>
        <a:xfrm>
          <a:off x="0" y="0"/>
          <a:ext cx="0" cy="0"/>
          <a:chOff x="0" y="0"/>
          <a:chExt cx="0" cy="0"/>
        </a:xfrm>
      </p:grpSpPr>
      <p:sp>
        <p:nvSpPr>
          <p:cNvPr id="132" name="Google Shape;132;p6"/>
          <p:cNvSpPr txBox="1"/>
          <p:nvPr/>
        </p:nvSpPr>
        <p:spPr>
          <a:xfrm>
            <a:off x="765600" y="357500"/>
            <a:ext cx="10660800" cy="15147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CO" sz="4800">
                <a:solidFill>
                  <a:schemeClr val="accent2"/>
                </a:solidFill>
                <a:latin typeface="Roboto Serif"/>
                <a:ea typeface="Roboto Serif"/>
                <a:cs typeface="Roboto Serif"/>
                <a:sym typeface="Roboto Serif"/>
              </a:rPr>
              <a:t>RESPUESTA INTERCONSULTA GINECOLOGÍA </a:t>
            </a:r>
            <a:endParaRPr b="1" sz="4800">
              <a:solidFill>
                <a:schemeClr val="accent2"/>
              </a:solidFill>
              <a:latin typeface="Roboto Serif"/>
              <a:ea typeface="Roboto Serif"/>
              <a:cs typeface="Roboto Serif"/>
              <a:sym typeface="Roboto Serif"/>
            </a:endParaRPr>
          </a:p>
        </p:txBody>
      </p:sp>
      <p:sp>
        <p:nvSpPr>
          <p:cNvPr id="133" name="Google Shape;133;p6"/>
          <p:cNvSpPr txBox="1"/>
          <p:nvPr/>
        </p:nvSpPr>
        <p:spPr>
          <a:xfrm>
            <a:off x="765600" y="2054625"/>
            <a:ext cx="5946900" cy="3648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sz="1500">
                <a:solidFill>
                  <a:schemeClr val="dk1"/>
                </a:solidFill>
                <a:latin typeface="Karla"/>
                <a:ea typeface="Karla"/>
                <a:cs typeface="Karla"/>
                <a:sym typeface="Karla"/>
              </a:rPr>
              <a:t>P</a:t>
            </a:r>
            <a:r>
              <a:rPr lang="es-CO" sz="1500">
                <a:solidFill>
                  <a:schemeClr val="dk1"/>
                </a:solidFill>
                <a:latin typeface="Karla"/>
                <a:ea typeface="Karla"/>
                <a:cs typeface="Karla"/>
                <a:sym typeface="Karla"/>
              </a:rPr>
              <a:t>aciente de 34 años G2P1C1V1 con diagnósticos de</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1. Embarazo de 22 semanas</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2. Aborto inminente</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3. Riesgo obstétrico alto</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a:t>
            </a:r>
            <a:r>
              <a:rPr lang="es-CO" sz="1500">
                <a:solidFill>
                  <a:schemeClr val="dk1"/>
                </a:solidFill>
                <a:latin typeface="Karla"/>
                <a:ea typeface="Karla"/>
                <a:cs typeface="Karla"/>
                <a:sym typeface="Karla"/>
              </a:rPr>
              <a:t>Antecedente de cicatriz uterina</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-P</a:t>
            </a:r>
            <a:r>
              <a:rPr lang="es-CO" sz="1500">
                <a:solidFill>
                  <a:schemeClr val="dk1"/>
                </a:solidFill>
                <a:latin typeface="Karla"/>
                <a:ea typeface="Karla"/>
                <a:cs typeface="Karla"/>
                <a:sym typeface="Karla"/>
              </a:rPr>
              <a:t>eriodo intergenésico prolongado</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-P</a:t>
            </a:r>
            <a:r>
              <a:rPr lang="es-CO" sz="1500">
                <a:solidFill>
                  <a:schemeClr val="dk1"/>
                </a:solidFill>
                <a:latin typeface="Karla"/>
                <a:ea typeface="Karla"/>
                <a:cs typeface="Karla"/>
                <a:sym typeface="Karla"/>
              </a:rPr>
              <a:t>rimipaternidad</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-I</a:t>
            </a:r>
            <a:r>
              <a:rPr lang="es-CO" sz="1500">
                <a:solidFill>
                  <a:schemeClr val="dk1"/>
                </a:solidFill>
                <a:latin typeface="Karla"/>
                <a:ea typeface="Karla"/>
                <a:cs typeface="Karla"/>
                <a:sym typeface="Karla"/>
              </a:rPr>
              <a:t>nsuficientes e inadecuado controles prenatales</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4. Escala nutricional obesidad materna</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5. Riesgo tromboembólico intermedio</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6. Riesgo psicosocial bajo</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7. Riesgo de depresión postparto bajo</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8. Riesgo de hpp bajo</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9. Escala meows </a:t>
            </a:r>
            <a:r>
              <a:rPr lang="es-CO" sz="1500">
                <a:solidFill>
                  <a:schemeClr val="dk1"/>
                </a:solidFill>
                <a:latin typeface="Karla"/>
                <a:ea typeface="Karla"/>
                <a:cs typeface="Karla"/>
                <a:sym typeface="Karla"/>
              </a:rPr>
              <a:t>-</a:t>
            </a:r>
            <a:r>
              <a:rPr lang="es-CO" sz="1500">
                <a:solidFill>
                  <a:schemeClr val="dk1"/>
                </a:solidFill>
                <a:latin typeface="Karla"/>
                <a:ea typeface="Karla"/>
                <a:cs typeface="Karla"/>
                <a:sym typeface="Karla"/>
              </a:rPr>
              <a:t> bajo riesgo</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M</a:t>
            </a:r>
            <a:r>
              <a:rPr lang="es-CO" sz="1500">
                <a:solidFill>
                  <a:schemeClr val="dk1"/>
                </a:solidFill>
                <a:latin typeface="Karla"/>
                <a:ea typeface="Karla"/>
                <a:cs typeface="Karla"/>
                <a:sym typeface="Karla"/>
              </a:rPr>
              <a:t>anejo con asa no, carbonato de calcio si, pnf postparto: pomeroy</a:t>
            </a:r>
            <a:endParaRPr sz="1500">
              <a:solidFill>
                <a:schemeClr val="dk1"/>
              </a:solidFill>
              <a:latin typeface="Karla"/>
              <a:ea typeface="Karla"/>
              <a:cs typeface="Karla"/>
              <a:sym typeface="Karla"/>
            </a:endParaRPr>
          </a:p>
        </p:txBody>
      </p:sp>
      <p:sp>
        <p:nvSpPr>
          <p:cNvPr id="134" name="Google Shape;134;p6"/>
          <p:cNvSpPr txBox="1"/>
          <p:nvPr/>
        </p:nvSpPr>
        <p:spPr>
          <a:xfrm>
            <a:off x="6141600" y="2054625"/>
            <a:ext cx="39708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O" sz="1500">
                <a:solidFill>
                  <a:schemeClr val="dk1"/>
                </a:solidFill>
                <a:latin typeface="Karla"/>
                <a:ea typeface="Karla"/>
                <a:cs typeface="Karla"/>
                <a:sym typeface="Karla"/>
              </a:rPr>
              <a:t>T</a:t>
            </a:r>
            <a:r>
              <a:rPr lang="es-CO" sz="1500">
                <a:solidFill>
                  <a:schemeClr val="dk1"/>
                </a:solidFill>
                <a:latin typeface="Karla"/>
                <a:ea typeface="Karla"/>
                <a:cs typeface="Karla"/>
                <a:sym typeface="Karla"/>
              </a:rPr>
              <a:t>ratamiento</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-H</a:t>
            </a:r>
            <a:r>
              <a:rPr lang="es-CO" sz="1500">
                <a:solidFill>
                  <a:schemeClr val="dk1"/>
                </a:solidFill>
                <a:latin typeface="Karla"/>
                <a:ea typeface="Karla"/>
                <a:cs typeface="Karla"/>
                <a:sym typeface="Karla"/>
              </a:rPr>
              <a:t>ospitalizar ginecología</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-LR</a:t>
            </a:r>
            <a:r>
              <a:rPr lang="es-CO" sz="1500">
                <a:solidFill>
                  <a:schemeClr val="dk1"/>
                </a:solidFill>
                <a:latin typeface="Karla"/>
                <a:ea typeface="Karla"/>
                <a:cs typeface="Karla"/>
                <a:sym typeface="Karla"/>
              </a:rPr>
              <a:t> 80cc/hora</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-D</a:t>
            </a:r>
            <a:r>
              <a:rPr lang="es-CO" sz="1500">
                <a:solidFill>
                  <a:schemeClr val="dk1"/>
                </a:solidFill>
                <a:latin typeface="Karla"/>
                <a:ea typeface="Karla"/>
                <a:cs typeface="Karla"/>
                <a:sym typeface="Karla"/>
              </a:rPr>
              <a:t>ieta líquida</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-V</a:t>
            </a:r>
            <a:r>
              <a:rPr lang="es-CO" sz="1500">
                <a:solidFill>
                  <a:schemeClr val="dk1"/>
                </a:solidFill>
                <a:latin typeface="Karla"/>
                <a:ea typeface="Karla"/>
                <a:cs typeface="Karla"/>
                <a:sym typeface="Karla"/>
              </a:rPr>
              <a:t>igilancia estricta hasta expulsión de producto de gestación</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csv</a:t>
            </a:r>
            <a:r>
              <a:rPr lang="es-CO" sz="1500">
                <a:solidFill>
                  <a:schemeClr val="dk1"/>
                </a:solidFill>
                <a:latin typeface="Karla"/>
                <a:ea typeface="Karla"/>
                <a:cs typeface="Karla"/>
                <a:sym typeface="Karla"/>
              </a:rPr>
              <a:t>-</a:t>
            </a:r>
            <a:r>
              <a:rPr lang="es-CO" sz="1500">
                <a:solidFill>
                  <a:schemeClr val="dk1"/>
                </a:solidFill>
                <a:latin typeface="Karla"/>
                <a:ea typeface="Karla"/>
                <a:cs typeface="Karla"/>
                <a:sym typeface="Karla"/>
              </a:rPr>
              <a:t>ac</a:t>
            </a:r>
            <a:endParaRPr sz="1500">
              <a:solidFill>
                <a:schemeClr val="dk1"/>
              </a:solidFill>
              <a:latin typeface="Karla"/>
              <a:ea typeface="Karla"/>
              <a:cs typeface="Karla"/>
              <a:sym typeface="Karla"/>
            </a:endParaRPr>
          </a:p>
        </p:txBody>
      </p:sp>
      <p:pic>
        <p:nvPicPr>
          <p:cNvPr id="135" name="Google Shape;135;p6"/>
          <p:cNvPicPr preferRelativeResize="0"/>
          <p:nvPr/>
        </p:nvPicPr>
        <p:blipFill>
          <a:blip r:embed="rId4">
            <a:alphaModFix/>
          </a:blip>
          <a:stretch>
            <a:fillRect/>
          </a:stretch>
        </p:blipFill>
        <p:spPr>
          <a:xfrm>
            <a:off x="7406650" y="3855525"/>
            <a:ext cx="3596900" cy="2697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p7"/>
          <p:cNvSpPr txBox="1"/>
          <p:nvPr/>
        </p:nvSpPr>
        <p:spPr>
          <a:xfrm>
            <a:off x="765600" y="357500"/>
            <a:ext cx="10660800" cy="15147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CO" sz="4800">
                <a:solidFill>
                  <a:schemeClr val="accent2"/>
                </a:solidFill>
                <a:latin typeface="Roboto Serif"/>
                <a:ea typeface="Roboto Serif"/>
                <a:cs typeface="Roboto Serif"/>
                <a:sym typeface="Roboto Serif"/>
              </a:rPr>
              <a:t>RESPUESTA INTERCONSULTA PSICOLOGÍA  </a:t>
            </a:r>
            <a:endParaRPr b="1" sz="4800">
              <a:solidFill>
                <a:schemeClr val="accent2"/>
              </a:solidFill>
              <a:latin typeface="Roboto Serif"/>
              <a:ea typeface="Roboto Serif"/>
              <a:cs typeface="Roboto Serif"/>
              <a:sym typeface="Roboto Serif"/>
            </a:endParaRPr>
          </a:p>
        </p:txBody>
      </p:sp>
      <p:sp>
        <p:nvSpPr>
          <p:cNvPr id="141" name="Google Shape;141;p7"/>
          <p:cNvSpPr txBox="1"/>
          <p:nvPr/>
        </p:nvSpPr>
        <p:spPr>
          <a:xfrm>
            <a:off x="522350" y="2325900"/>
            <a:ext cx="6990600" cy="141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sz="2000">
                <a:solidFill>
                  <a:schemeClr val="dk1"/>
                </a:solidFill>
                <a:latin typeface="Karla"/>
                <a:ea typeface="Karla"/>
                <a:cs typeface="Karla"/>
                <a:sym typeface="Karla"/>
              </a:rPr>
              <a:t>S</a:t>
            </a:r>
            <a:r>
              <a:rPr lang="es-CO" sz="2000">
                <a:solidFill>
                  <a:schemeClr val="dk1"/>
                </a:solidFill>
                <a:latin typeface="Karla"/>
                <a:ea typeface="Karla"/>
                <a:cs typeface="Karla"/>
                <a:sym typeface="Karla"/>
              </a:rPr>
              <a:t>e deja canal abierto para seguimiento psicológico según evolución y necesidad a sugerencia del servicio o paciente.</a:t>
            </a:r>
            <a:endParaRPr sz="2000">
              <a:solidFill>
                <a:schemeClr val="dk1"/>
              </a:solidFill>
              <a:latin typeface="Karla"/>
              <a:ea typeface="Karla"/>
              <a:cs typeface="Karla"/>
              <a:sym typeface="Karla"/>
            </a:endParaRPr>
          </a:p>
          <a:p>
            <a:pPr indent="0" lvl="0" marL="0" rtl="0" algn="just">
              <a:spcBef>
                <a:spcPts val="0"/>
              </a:spcBef>
              <a:spcAft>
                <a:spcPts val="0"/>
              </a:spcAft>
              <a:buNone/>
            </a:pPr>
            <a:r>
              <a:t/>
            </a:r>
            <a:endParaRPr sz="2000">
              <a:solidFill>
                <a:schemeClr val="dk1"/>
              </a:solidFill>
              <a:latin typeface="Karla"/>
              <a:ea typeface="Karla"/>
              <a:cs typeface="Karla"/>
              <a:sym typeface="Karla"/>
            </a:endParaRPr>
          </a:p>
          <a:p>
            <a:pPr indent="0" lvl="0" marL="0" rtl="0" algn="just">
              <a:spcBef>
                <a:spcPts val="0"/>
              </a:spcBef>
              <a:spcAft>
                <a:spcPts val="0"/>
              </a:spcAft>
              <a:buNone/>
            </a:pPr>
            <a:r>
              <a:rPr lang="es-CO" sz="2000">
                <a:solidFill>
                  <a:schemeClr val="dk1"/>
                </a:solidFill>
                <a:latin typeface="Karla"/>
                <a:ea typeface="Karla"/>
                <a:cs typeface="Karla"/>
                <a:sym typeface="Karla"/>
              </a:rPr>
              <a:t>S</a:t>
            </a:r>
            <a:r>
              <a:rPr lang="es-CO" sz="2000">
                <a:solidFill>
                  <a:schemeClr val="dk1"/>
                </a:solidFill>
                <a:latin typeface="Karla"/>
                <a:ea typeface="Karla"/>
                <a:cs typeface="Karla"/>
                <a:sym typeface="Karla"/>
              </a:rPr>
              <a:t>e cierra interconsulta</a:t>
            </a:r>
            <a:endParaRPr sz="2000">
              <a:solidFill>
                <a:schemeClr val="dk1"/>
              </a:solidFill>
              <a:latin typeface="Karla"/>
              <a:ea typeface="Karla"/>
              <a:cs typeface="Karla"/>
              <a:sym typeface="Karla"/>
            </a:endParaRPr>
          </a:p>
        </p:txBody>
      </p:sp>
      <p:pic>
        <p:nvPicPr>
          <p:cNvPr id="142" name="Google Shape;142;p7"/>
          <p:cNvPicPr preferRelativeResize="0"/>
          <p:nvPr/>
        </p:nvPicPr>
        <p:blipFill>
          <a:blip r:embed="rId4">
            <a:alphaModFix/>
          </a:blip>
          <a:stretch>
            <a:fillRect/>
          </a:stretch>
        </p:blipFill>
        <p:spPr>
          <a:xfrm>
            <a:off x="4849800" y="3286200"/>
            <a:ext cx="5903401" cy="3074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6" name="Shape 146"/>
        <p:cNvGrpSpPr/>
        <p:nvPr/>
      </p:nvGrpSpPr>
      <p:grpSpPr>
        <a:xfrm>
          <a:off x="0" y="0"/>
          <a:ext cx="0" cy="0"/>
          <a:chOff x="0" y="0"/>
          <a:chExt cx="0" cy="0"/>
        </a:xfrm>
      </p:grpSpPr>
      <p:sp>
        <p:nvSpPr>
          <p:cNvPr id="147" name="Google Shape;147;p8"/>
          <p:cNvSpPr txBox="1"/>
          <p:nvPr/>
        </p:nvSpPr>
        <p:spPr>
          <a:xfrm>
            <a:off x="380025" y="1657000"/>
            <a:ext cx="5354100" cy="1847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sz="1800">
                <a:solidFill>
                  <a:schemeClr val="dk1"/>
                </a:solidFill>
              </a:rPr>
              <a:t>R</a:t>
            </a:r>
            <a:r>
              <a:rPr lang="es-CO" sz="1800">
                <a:solidFill>
                  <a:schemeClr val="dk1"/>
                </a:solidFill>
              </a:rPr>
              <a:t>eporte de paraclínicos: CH: leu 10.48 neu 79 lin 14.3 hb 12.2 htc 35.6 plt 162000</a:t>
            </a:r>
            <a:endParaRPr sz="1800">
              <a:solidFill>
                <a:schemeClr val="dk1"/>
              </a:solidFill>
            </a:endParaRPr>
          </a:p>
          <a:p>
            <a:pPr indent="0" lvl="0" marL="0" rtl="0" algn="just">
              <a:spcBef>
                <a:spcPts val="0"/>
              </a:spcBef>
              <a:spcAft>
                <a:spcPts val="0"/>
              </a:spcAft>
              <a:buNone/>
            </a:pPr>
            <a:r>
              <a:rPr lang="es-CO" sz="1800">
                <a:solidFill>
                  <a:schemeClr val="dk1"/>
                </a:solidFill>
              </a:rPr>
              <a:t>Uroanálisis:</a:t>
            </a:r>
            <a:r>
              <a:rPr lang="es-CO" sz="1800">
                <a:solidFill>
                  <a:schemeClr val="dk1"/>
                </a:solidFill>
              </a:rPr>
              <a:t> normal gram de orina normal </a:t>
            </a:r>
            <a:endParaRPr sz="1800">
              <a:solidFill>
                <a:schemeClr val="dk1"/>
              </a:solidFill>
            </a:endParaRPr>
          </a:p>
          <a:p>
            <a:pPr indent="0" lvl="0" marL="0" rtl="0" algn="just">
              <a:spcBef>
                <a:spcPts val="0"/>
              </a:spcBef>
              <a:spcAft>
                <a:spcPts val="0"/>
              </a:spcAft>
              <a:buNone/>
            </a:pPr>
            <a:r>
              <a:rPr lang="es-CO" sz="1800">
                <a:solidFill>
                  <a:schemeClr val="dk1"/>
                </a:solidFill>
              </a:rPr>
              <a:t>Frotis de flujo vaginal: vaginitis inespecífica</a:t>
            </a:r>
            <a:endParaRPr sz="1800">
              <a:solidFill>
                <a:schemeClr val="dk1"/>
              </a:solidFill>
            </a:endParaRPr>
          </a:p>
          <a:p>
            <a:pPr indent="0" lvl="0" marL="0" rtl="0" algn="just">
              <a:spcBef>
                <a:spcPts val="0"/>
              </a:spcBef>
              <a:spcAft>
                <a:spcPts val="0"/>
              </a:spcAft>
              <a:buNone/>
            </a:pPr>
            <a:r>
              <a:rPr lang="es-CO" sz="1800">
                <a:solidFill>
                  <a:schemeClr val="dk1"/>
                </a:solidFill>
              </a:rPr>
              <a:t>Treponema neg vih neg</a:t>
            </a:r>
            <a:endParaRPr sz="1800">
              <a:solidFill>
                <a:schemeClr val="dk1"/>
              </a:solidFill>
            </a:endParaRPr>
          </a:p>
          <a:p>
            <a:pPr indent="0" lvl="0" marL="0" rtl="0" algn="just">
              <a:spcBef>
                <a:spcPts val="0"/>
              </a:spcBef>
              <a:spcAft>
                <a:spcPts val="0"/>
              </a:spcAft>
              <a:buNone/>
            </a:pPr>
            <a:r>
              <a:rPr lang="es-CO" sz="1800">
                <a:solidFill>
                  <a:schemeClr val="dk1"/>
                </a:solidFill>
              </a:rPr>
              <a:t>pt 9.6 inr 0.881 ptt 28.3</a:t>
            </a:r>
            <a:endParaRPr sz="1800">
              <a:solidFill>
                <a:schemeClr val="dk1"/>
              </a:solidFill>
            </a:endParaRPr>
          </a:p>
        </p:txBody>
      </p:sp>
      <p:sp>
        <p:nvSpPr>
          <p:cNvPr id="148" name="Google Shape;148;p8"/>
          <p:cNvSpPr txBox="1"/>
          <p:nvPr/>
        </p:nvSpPr>
        <p:spPr>
          <a:xfrm>
            <a:off x="1489800" y="471275"/>
            <a:ext cx="9212400" cy="849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CO" sz="4800">
                <a:solidFill>
                  <a:schemeClr val="accent2"/>
                </a:solidFill>
                <a:latin typeface="Roboto Serif"/>
                <a:ea typeface="Roboto Serif"/>
                <a:cs typeface="Roboto Serif"/>
                <a:sym typeface="Roboto Serif"/>
              </a:rPr>
              <a:t>EVOLUCIÓN GINECOLOGÍA</a:t>
            </a:r>
            <a:endParaRPr/>
          </a:p>
        </p:txBody>
      </p:sp>
      <p:sp>
        <p:nvSpPr>
          <p:cNvPr id="149" name="Google Shape;149;p8"/>
          <p:cNvSpPr txBox="1"/>
          <p:nvPr/>
        </p:nvSpPr>
        <p:spPr>
          <a:xfrm>
            <a:off x="380025" y="3648475"/>
            <a:ext cx="58224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O" sz="1800">
                <a:solidFill>
                  <a:schemeClr val="dk1"/>
                </a:solidFill>
              </a:rPr>
              <a:t>Órdenes médicas:</a:t>
            </a:r>
            <a:endParaRPr sz="1800">
              <a:solidFill>
                <a:schemeClr val="dk1"/>
              </a:solidFill>
            </a:endParaRPr>
          </a:p>
          <a:p>
            <a:pPr indent="0" lvl="0" marL="0" rtl="0" algn="l">
              <a:spcBef>
                <a:spcPts val="0"/>
              </a:spcBef>
              <a:spcAft>
                <a:spcPts val="0"/>
              </a:spcAft>
              <a:buNone/>
            </a:pPr>
            <a:r>
              <a:rPr lang="es-CO" sz="1800">
                <a:solidFill>
                  <a:schemeClr val="dk1"/>
                </a:solidFill>
              </a:rPr>
              <a:t>-H</a:t>
            </a:r>
            <a:r>
              <a:rPr lang="es-CO" sz="1800">
                <a:solidFill>
                  <a:schemeClr val="dk1"/>
                </a:solidFill>
              </a:rPr>
              <a:t>ospitalizar ginecología</a:t>
            </a:r>
            <a:endParaRPr sz="1800">
              <a:solidFill>
                <a:schemeClr val="dk1"/>
              </a:solidFill>
            </a:endParaRPr>
          </a:p>
          <a:p>
            <a:pPr indent="0" lvl="0" marL="0" rtl="0" algn="l">
              <a:spcBef>
                <a:spcPts val="0"/>
              </a:spcBef>
              <a:spcAft>
                <a:spcPts val="0"/>
              </a:spcAft>
              <a:buNone/>
            </a:pPr>
            <a:r>
              <a:rPr lang="es-CO" sz="1800">
                <a:solidFill>
                  <a:schemeClr val="dk1"/>
                </a:solidFill>
              </a:rPr>
              <a:t>-LR </a:t>
            </a:r>
            <a:r>
              <a:rPr lang="es-CO" sz="1800">
                <a:solidFill>
                  <a:schemeClr val="dk1"/>
                </a:solidFill>
              </a:rPr>
              <a:t>80 cc/ h</a:t>
            </a:r>
            <a:endParaRPr sz="1800">
              <a:solidFill>
                <a:schemeClr val="dk1"/>
              </a:solidFill>
            </a:endParaRPr>
          </a:p>
          <a:p>
            <a:pPr indent="0" lvl="0" marL="0" rtl="0" algn="l">
              <a:spcBef>
                <a:spcPts val="0"/>
              </a:spcBef>
              <a:spcAft>
                <a:spcPts val="0"/>
              </a:spcAft>
              <a:buNone/>
            </a:pPr>
            <a:r>
              <a:rPr lang="es-CO" sz="1800">
                <a:solidFill>
                  <a:schemeClr val="dk1"/>
                </a:solidFill>
              </a:rPr>
              <a:t>-D</a:t>
            </a:r>
            <a:r>
              <a:rPr lang="es-CO" sz="1800">
                <a:solidFill>
                  <a:schemeClr val="dk1"/>
                </a:solidFill>
              </a:rPr>
              <a:t>ieta líquida</a:t>
            </a:r>
            <a:endParaRPr sz="1800">
              <a:solidFill>
                <a:schemeClr val="dk1"/>
              </a:solidFill>
            </a:endParaRPr>
          </a:p>
          <a:p>
            <a:pPr indent="0" lvl="0" marL="0" rtl="0" algn="l">
              <a:spcBef>
                <a:spcPts val="0"/>
              </a:spcBef>
              <a:spcAft>
                <a:spcPts val="0"/>
              </a:spcAft>
              <a:buNone/>
            </a:pPr>
            <a:r>
              <a:rPr lang="es-CO" sz="1800">
                <a:solidFill>
                  <a:schemeClr val="dk1"/>
                </a:solidFill>
              </a:rPr>
              <a:t>-H</a:t>
            </a:r>
            <a:r>
              <a:rPr lang="es-CO" sz="1800">
                <a:solidFill>
                  <a:schemeClr val="dk1"/>
                </a:solidFill>
              </a:rPr>
              <a:t>ioscina 20 mg iv cada 8 hrs</a:t>
            </a:r>
            <a:endParaRPr sz="1800">
              <a:solidFill>
                <a:schemeClr val="dk1"/>
              </a:solidFill>
            </a:endParaRPr>
          </a:p>
          <a:p>
            <a:pPr indent="0" lvl="0" marL="0" rtl="0" algn="l">
              <a:spcBef>
                <a:spcPts val="0"/>
              </a:spcBef>
              <a:spcAft>
                <a:spcPts val="0"/>
              </a:spcAft>
              <a:buNone/>
            </a:pPr>
            <a:r>
              <a:rPr lang="es-CO" sz="1800">
                <a:solidFill>
                  <a:schemeClr val="dk1"/>
                </a:solidFill>
              </a:rPr>
              <a:t>-D</a:t>
            </a:r>
            <a:r>
              <a:rPr lang="es-CO" sz="1800">
                <a:solidFill>
                  <a:schemeClr val="dk1"/>
                </a:solidFill>
              </a:rPr>
              <a:t>iclofenaco 75 mg im cada 12 hrs</a:t>
            </a:r>
            <a:endParaRPr sz="1800">
              <a:solidFill>
                <a:schemeClr val="dk1"/>
              </a:solidFill>
            </a:endParaRPr>
          </a:p>
          <a:p>
            <a:pPr indent="0" lvl="0" marL="0" rtl="0" algn="l">
              <a:spcBef>
                <a:spcPts val="0"/>
              </a:spcBef>
              <a:spcAft>
                <a:spcPts val="0"/>
              </a:spcAft>
              <a:buNone/>
            </a:pPr>
            <a:r>
              <a:rPr lang="es-CO" sz="1800">
                <a:solidFill>
                  <a:schemeClr val="dk1"/>
                </a:solidFill>
              </a:rPr>
              <a:t>-T</a:t>
            </a:r>
            <a:r>
              <a:rPr lang="es-CO" sz="1800">
                <a:solidFill>
                  <a:schemeClr val="dk1"/>
                </a:solidFill>
              </a:rPr>
              <a:t>ramadol 50 mg im si no modulación del dolor</a:t>
            </a:r>
            <a:endParaRPr sz="1800">
              <a:solidFill>
                <a:schemeClr val="dk1"/>
              </a:solidFill>
            </a:endParaRPr>
          </a:p>
          <a:p>
            <a:pPr indent="0" lvl="0" marL="0" rtl="0" algn="l">
              <a:spcBef>
                <a:spcPts val="0"/>
              </a:spcBef>
              <a:spcAft>
                <a:spcPts val="0"/>
              </a:spcAft>
              <a:buNone/>
            </a:pPr>
            <a:r>
              <a:rPr lang="es-CO" sz="1800">
                <a:solidFill>
                  <a:schemeClr val="dk1"/>
                </a:solidFill>
              </a:rPr>
              <a:t>-V</a:t>
            </a:r>
            <a:r>
              <a:rPr lang="es-CO" sz="1800">
                <a:solidFill>
                  <a:schemeClr val="dk1"/>
                </a:solidFill>
              </a:rPr>
              <a:t>igilar pérdidas vaginales</a:t>
            </a:r>
            <a:endParaRPr sz="1800">
              <a:solidFill>
                <a:schemeClr val="dk1"/>
              </a:solidFill>
            </a:endParaRPr>
          </a:p>
          <a:p>
            <a:pPr indent="0" lvl="0" marL="0" rtl="0" algn="l">
              <a:spcBef>
                <a:spcPts val="0"/>
              </a:spcBef>
              <a:spcAft>
                <a:spcPts val="0"/>
              </a:spcAft>
              <a:buNone/>
            </a:pPr>
            <a:r>
              <a:rPr lang="es-CO" sz="1800">
                <a:solidFill>
                  <a:schemeClr val="dk1"/>
                </a:solidFill>
              </a:rPr>
              <a:t>-A</a:t>
            </a:r>
            <a:r>
              <a:rPr lang="es-CO" sz="1800">
                <a:solidFill>
                  <a:schemeClr val="dk1"/>
                </a:solidFill>
              </a:rPr>
              <a:t>visar si expulsion de producto</a:t>
            </a:r>
            <a:endParaRPr sz="1800">
              <a:solidFill>
                <a:schemeClr val="dk1"/>
              </a:solidFill>
            </a:endParaRPr>
          </a:p>
          <a:p>
            <a:pPr indent="0" lvl="0" marL="0" rtl="0" algn="l">
              <a:spcBef>
                <a:spcPts val="0"/>
              </a:spcBef>
              <a:spcAft>
                <a:spcPts val="0"/>
              </a:spcAft>
              <a:buNone/>
            </a:pPr>
            <a:r>
              <a:rPr lang="es-CO" sz="1800">
                <a:solidFill>
                  <a:schemeClr val="dk1"/>
                </a:solidFill>
              </a:rPr>
              <a:t>-</a:t>
            </a:r>
            <a:r>
              <a:rPr lang="es-CO" sz="1800">
                <a:solidFill>
                  <a:schemeClr val="dk1"/>
                </a:solidFill>
              </a:rPr>
              <a:t>csv ac</a:t>
            </a:r>
            <a:endParaRPr sz="1800">
              <a:solidFill>
                <a:schemeClr val="dk1"/>
              </a:solidFill>
            </a:endParaRPr>
          </a:p>
        </p:txBody>
      </p:sp>
      <p:sp>
        <p:nvSpPr>
          <p:cNvPr id="150" name="Google Shape;150;p8"/>
          <p:cNvSpPr/>
          <p:nvPr/>
        </p:nvSpPr>
        <p:spPr>
          <a:xfrm>
            <a:off x="6175075" y="1748225"/>
            <a:ext cx="5016600" cy="942600"/>
          </a:xfrm>
          <a:prstGeom prst="homePlate">
            <a:avLst>
              <a:gd fmla="val 50000" name="adj"/>
            </a:avLst>
          </a:prstGeom>
          <a:solidFill>
            <a:srgbClr val="D9EAD3"/>
          </a:solid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lang="es-CO" sz="1500">
                <a:solidFill>
                  <a:schemeClr val="dk1"/>
                </a:solidFill>
                <a:latin typeface="Karla"/>
                <a:ea typeface="Karla"/>
                <a:cs typeface="Karla"/>
                <a:sym typeface="Karla"/>
              </a:rPr>
              <a:t>Hospitalizada hasta </a:t>
            </a:r>
            <a:r>
              <a:rPr lang="es-CO" sz="1500">
                <a:solidFill>
                  <a:schemeClr val="dk1"/>
                </a:solidFill>
                <a:latin typeface="Karla"/>
                <a:ea typeface="Karla"/>
                <a:cs typeface="Karla"/>
                <a:sym typeface="Karla"/>
              </a:rPr>
              <a:t>expulsión</a:t>
            </a:r>
            <a:r>
              <a:rPr lang="es-CO" sz="1500">
                <a:solidFill>
                  <a:schemeClr val="dk1"/>
                </a:solidFill>
                <a:latin typeface="Karla"/>
                <a:ea typeface="Karla"/>
                <a:cs typeface="Karla"/>
                <a:sym typeface="Karla"/>
              </a:rPr>
              <a:t> de producto de gestación y evaluar </a:t>
            </a:r>
            <a:r>
              <a:rPr lang="es-CO" sz="1500">
                <a:solidFill>
                  <a:schemeClr val="dk1"/>
                </a:solidFill>
                <a:latin typeface="Karla"/>
                <a:ea typeface="Karla"/>
                <a:cs typeface="Karla"/>
                <a:sym typeface="Karla"/>
              </a:rPr>
              <a:t>requerimiento</a:t>
            </a:r>
            <a:r>
              <a:rPr lang="es-CO" sz="1500">
                <a:solidFill>
                  <a:schemeClr val="dk1"/>
                </a:solidFill>
                <a:latin typeface="Karla"/>
                <a:ea typeface="Karla"/>
                <a:cs typeface="Karla"/>
                <a:sym typeface="Karla"/>
              </a:rPr>
              <a:t> de manejo adicional. </a:t>
            </a:r>
            <a:endParaRPr sz="1500">
              <a:solidFill>
                <a:schemeClr val="dk1"/>
              </a:solidFill>
              <a:latin typeface="Karla"/>
              <a:ea typeface="Karla"/>
              <a:cs typeface="Karla"/>
              <a:sym typeface="Karla"/>
            </a:endParaRPr>
          </a:p>
        </p:txBody>
      </p:sp>
      <p:pic>
        <p:nvPicPr>
          <p:cNvPr id="151" name="Google Shape;151;p8"/>
          <p:cNvPicPr preferRelativeResize="0"/>
          <p:nvPr/>
        </p:nvPicPr>
        <p:blipFill>
          <a:blip r:embed="rId4">
            <a:alphaModFix/>
          </a:blip>
          <a:stretch>
            <a:fillRect/>
          </a:stretch>
        </p:blipFill>
        <p:spPr>
          <a:xfrm>
            <a:off x="6006325" y="3648475"/>
            <a:ext cx="5354100" cy="247478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5" name="Shape 155"/>
        <p:cNvGrpSpPr/>
        <p:nvPr/>
      </p:nvGrpSpPr>
      <p:grpSpPr>
        <a:xfrm>
          <a:off x="0" y="0"/>
          <a:ext cx="0" cy="0"/>
          <a:chOff x="0" y="0"/>
          <a:chExt cx="0" cy="0"/>
        </a:xfrm>
      </p:grpSpPr>
      <p:sp>
        <p:nvSpPr>
          <p:cNvPr id="156" name="Google Shape;156;g38e745a2b29_0_56"/>
          <p:cNvSpPr txBox="1"/>
          <p:nvPr/>
        </p:nvSpPr>
        <p:spPr>
          <a:xfrm>
            <a:off x="1193125" y="1657000"/>
            <a:ext cx="4350900" cy="461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sz="1800">
                <a:solidFill>
                  <a:schemeClr val="dk1"/>
                </a:solidFill>
              </a:rPr>
              <a:t>Sospecha de corioamnionitis subclínica </a:t>
            </a:r>
            <a:endParaRPr sz="1800">
              <a:solidFill>
                <a:schemeClr val="dk1"/>
              </a:solidFill>
            </a:endParaRPr>
          </a:p>
        </p:txBody>
      </p:sp>
      <p:sp>
        <p:nvSpPr>
          <p:cNvPr id="157" name="Google Shape;157;g38e745a2b29_0_56"/>
          <p:cNvSpPr txBox="1"/>
          <p:nvPr/>
        </p:nvSpPr>
        <p:spPr>
          <a:xfrm>
            <a:off x="1489800" y="471275"/>
            <a:ext cx="9212400" cy="849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CO" sz="4800">
                <a:solidFill>
                  <a:schemeClr val="accent2"/>
                </a:solidFill>
                <a:latin typeface="Roboto Serif"/>
                <a:ea typeface="Roboto Serif"/>
                <a:cs typeface="Roboto Serif"/>
                <a:sym typeface="Roboto Serif"/>
              </a:rPr>
              <a:t>EVOLUCIÓN GINECOLOGÍA</a:t>
            </a:r>
            <a:endParaRPr/>
          </a:p>
        </p:txBody>
      </p:sp>
      <p:sp>
        <p:nvSpPr>
          <p:cNvPr id="158" name="Google Shape;158;g38e745a2b29_0_56"/>
          <p:cNvSpPr txBox="1"/>
          <p:nvPr/>
        </p:nvSpPr>
        <p:spPr>
          <a:xfrm>
            <a:off x="6240150" y="1657000"/>
            <a:ext cx="2067600" cy="461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sz="1800">
                <a:solidFill>
                  <a:schemeClr val="dk1"/>
                </a:solidFill>
              </a:rPr>
              <a:t>Pico febril de 38.2 </a:t>
            </a:r>
            <a:endParaRPr sz="1800">
              <a:solidFill>
                <a:schemeClr val="dk1"/>
              </a:solidFill>
            </a:endParaRPr>
          </a:p>
        </p:txBody>
      </p:sp>
      <p:cxnSp>
        <p:nvCxnSpPr>
          <p:cNvPr id="159" name="Google Shape;159;g38e745a2b29_0_56"/>
          <p:cNvCxnSpPr>
            <a:stCxn id="156" idx="3"/>
            <a:endCxn id="158" idx="1"/>
          </p:cNvCxnSpPr>
          <p:nvPr/>
        </p:nvCxnSpPr>
        <p:spPr>
          <a:xfrm>
            <a:off x="5544025" y="1887850"/>
            <a:ext cx="696000" cy="0"/>
          </a:xfrm>
          <a:prstGeom prst="straightConnector1">
            <a:avLst/>
          </a:prstGeom>
          <a:noFill/>
          <a:ln cap="flat" cmpd="sng" w="28575">
            <a:solidFill>
              <a:schemeClr val="accent1"/>
            </a:solidFill>
            <a:prstDash val="solid"/>
            <a:round/>
            <a:headEnd len="med" w="med" type="none"/>
            <a:tailEnd len="med" w="med" type="triangle"/>
          </a:ln>
        </p:spPr>
      </p:cxnSp>
      <p:sp>
        <p:nvSpPr>
          <p:cNvPr id="160" name="Google Shape;160;g38e745a2b29_0_56"/>
          <p:cNvSpPr txBox="1"/>
          <p:nvPr/>
        </p:nvSpPr>
        <p:spPr>
          <a:xfrm>
            <a:off x="2470125" y="2341850"/>
            <a:ext cx="5247600" cy="1015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s-CO" sz="1800">
                <a:solidFill>
                  <a:schemeClr val="dk1"/>
                </a:solidFill>
              </a:rPr>
              <a:t>-</a:t>
            </a:r>
            <a:r>
              <a:rPr lang="es-CO" sz="1800">
                <a:solidFill>
                  <a:schemeClr val="dk1"/>
                </a:solidFill>
              </a:rPr>
              <a:t>Clindamicina 600 mg iv cada 8 hrs FI: 30/8/2025</a:t>
            </a:r>
            <a:endParaRPr sz="1800">
              <a:solidFill>
                <a:schemeClr val="dk1"/>
              </a:solidFill>
            </a:endParaRPr>
          </a:p>
          <a:p>
            <a:pPr indent="0" lvl="0" marL="0" rtl="0" algn="just">
              <a:spcBef>
                <a:spcPts val="0"/>
              </a:spcBef>
              <a:spcAft>
                <a:spcPts val="0"/>
              </a:spcAft>
              <a:buClr>
                <a:schemeClr val="dk1"/>
              </a:buClr>
              <a:buSzPts val="1100"/>
              <a:buFont typeface="Arial"/>
              <a:buNone/>
            </a:pPr>
            <a:r>
              <a:rPr lang="es-CO" sz="1800">
                <a:solidFill>
                  <a:schemeClr val="dk1"/>
                </a:solidFill>
              </a:rPr>
              <a:t>-A</a:t>
            </a:r>
            <a:r>
              <a:rPr lang="es-CO" sz="1800">
                <a:solidFill>
                  <a:schemeClr val="dk1"/>
                </a:solidFill>
              </a:rPr>
              <a:t>mikacina 1 gr iv día FI 30/8/2025</a:t>
            </a:r>
            <a:endParaRPr sz="1800">
              <a:solidFill>
                <a:schemeClr val="dk1"/>
              </a:solidFill>
            </a:endParaRPr>
          </a:p>
          <a:p>
            <a:pPr indent="0" lvl="0" marL="0" rtl="0" algn="just">
              <a:spcBef>
                <a:spcPts val="0"/>
              </a:spcBef>
              <a:spcAft>
                <a:spcPts val="0"/>
              </a:spcAft>
              <a:buNone/>
            </a:pPr>
            <a:r>
              <a:rPr lang="es-CO" sz="1800">
                <a:solidFill>
                  <a:schemeClr val="dk1"/>
                </a:solidFill>
              </a:rPr>
              <a:t>-C</a:t>
            </a:r>
            <a:r>
              <a:rPr lang="es-CO" sz="1800">
                <a:solidFill>
                  <a:schemeClr val="dk1"/>
                </a:solidFill>
              </a:rPr>
              <a:t>urva térmica cada 4 hrs</a:t>
            </a:r>
            <a:endParaRPr sz="1800">
              <a:solidFill>
                <a:schemeClr val="dk1"/>
              </a:solidFill>
            </a:endParaRPr>
          </a:p>
        </p:txBody>
      </p:sp>
      <p:cxnSp>
        <p:nvCxnSpPr>
          <p:cNvPr id="161" name="Google Shape;161;g38e745a2b29_0_56"/>
          <p:cNvCxnSpPr>
            <a:stCxn id="156" idx="1"/>
            <a:endCxn id="160" idx="1"/>
          </p:cNvCxnSpPr>
          <p:nvPr/>
        </p:nvCxnSpPr>
        <p:spPr>
          <a:xfrm>
            <a:off x="1193125" y="1887850"/>
            <a:ext cx="1277100" cy="961800"/>
          </a:xfrm>
          <a:prstGeom prst="curvedConnector3">
            <a:avLst>
              <a:gd fmla="val -18646" name="adj1"/>
            </a:avLst>
          </a:prstGeom>
          <a:noFill/>
          <a:ln cap="flat" cmpd="sng" w="28575">
            <a:solidFill>
              <a:schemeClr val="accent1"/>
            </a:solidFill>
            <a:prstDash val="solid"/>
            <a:round/>
            <a:headEnd len="med" w="med" type="none"/>
            <a:tailEnd len="med" w="med" type="triangle"/>
          </a:ln>
        </p:spPr>
      </p:cxnSp>
      <p:pic>
        <p:nvPicPr>
          <p:cNvPr id="162" name="Google Shape;162;g38e745a2b29_0_56"/>
          <p:cNvPicPr preferRelativeResize="0"/>
          <p:nvPr/>
        </p:nvPicPr>
        <p:blipFill rotWithShape="1">
          <a:blip r:embed="rId4">
            <a:alphaModFix/>
          </a:blip>
          <a:srcRect b="0" l="10005" r="10077" t="0"/>
          <a:stretch/>
        </p:blipFill>
        <p:spPr>
          <a:xfrm>
            <a:off x="8371550" y="1746600"/>
            <a:ext cx="2913576" cy="1907950"/>
          </a:xfrm>
          <a:prstGeom prst="rect">
            <a:avLst/>
          </a:prstGeom>
          <a:noFill/>
          <a:ln>
            <a:noFill/>
          </a:ln>
        </p:spPr>
      </p:pic>
      <p:sp>
        <p:nvSpPr>
          <p:cNvPr id="163" name="Google Shape;163;g38e745a2b29_0_56"/>
          <p:cNvSpPr txBox="1"/>
          <p:nvPr/>
        </p:nvSpPr>
        <p:spPr>
          <a:xfrm>
            <a:off x="696325" y="3887650"/>
            <a:ext cx="10391400" cy="2724300"/>
          </a:xfrm>
          <a:prstGeom prst="rect">
            <a:avLst/>
          </a:prstGeom>
          <a:solidFill>
            <a:srgbClr val="FFF2CC"/>
          </a:solid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sz="1500">
                <a:solidFill>
                  <a:schemeClr val="dk1"/>
                </a:solidFill>
                <a:latin typeface="Karla"/>
                <a:ea typeface="Karla"/>
                <a:cs typeface="Karla"/>
                <a:sym typeface="Karla"/>
              </a:rPr>
              <a:t>S</a:t>
            </a:r>
            <a:r>
              <a:rPr lang="es-CO" sz="1500">
                <a:solidFill>
                  <a:schemeClr val="dk1"/>
                </a:solidFill>
                <a:latin typeface="Karla"/>
                <a:ea typeface="Karla"/>
                <a:cs typeface="Karla"/>
                <a:sym typeface="Karla"/>
              </a:rPr>
              <a:t>e recibe llamado:  paciente con alumbramiento duncan incompleto, se intenta realizar extracción de restos placentarios manual, previo analgesia, sin embargo paciente no colaboradora álgica con difícil extracción de la misma , se indica legrado obstétrico se explica a madre de paciente riesgos, complicaciones de realización y la no realización del mismo. paciente refiere entender y aceptar.</a:t>
            </a:r>
            <a:endParaRPr sz="1500">
              <a:solidFill>
                <a:schemeClr val="dk1"/>
              </a:solidFill>
              <a:latin typeface="Karla"/>
              <a:ea typeface="Karla"/>
              <a:cs typeface="Karla"/>
              <a:sym typeface="Karla"/>
            </a:endParaRPr>
          </a:p>
          <a:p>
            <a:pPr indent="0" lvl="0" marL="0" rtl="0" algn="l">
              <a:spcBef>
                <a:spcPts val="0"/>
              </a:spcBef>
              <a:spcAft>
                <a:spcPts val="0"/>
              </a:spcAft>
              <a:buNone/>
            </a:pPr>
            <a:r>
              <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P</a:t>
            </a:r>
            <a:r>
              <a:rPr lang="es-CO" sz="1500">
                <a:solidFill>
                  <a:schemeClr val="dk1"/>
                </a:solidFill>
                <a:latin typeface="Karla"/>
                <a:ea typeface="Karla"/>
                <a:cs typeface="Karla"/>
                <a:sym typeface="Karla"/>
              </a:rPr>
              <a:t>lan</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N</a:t>
            </a:r>
            <a:r>
              <a:rPr lang="es-CO" sz="1500">
                <a:solidFill>
                  <a:schemeClr val="dk1"/>
                </a:solidFill>
                <a:latin typeface="Karla"/>
                <a:ea typeface="Karla"/>
                <a:cs typeface="Karla"/>
                <a:sym typeface="Karla"/>
              </a:rPr>
              <a:t>vo</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S</a:t>
            </a:r>
            <a:r>
              <a:rPr lang="es-CO" sz="1500">
                <a:solidFill>
                  <a:schemeClr val="dk1"/>
                </a:solidFill>
                <a:latin typeface="Karla"/>
                <a:ea typeface="Karla"/>
                <a:cs typeface="Karla"/>
                <a:sym typeface="Karla"/>
              </a:rPr>
              <a:t>sn 0.9 % +10 ui de oxitocina a 125 cc/ h</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P</a:t>
            </a:r>
            <a:r>
              <a:rPr lang="es-CO" sz="1500">
                <a:solidFill>
                  <a:schemeClr val="dk1"/>
                </a:solidFill>
                <a:latin typeface="Karla"/>
                <a:ea typeface="Karla"/>
                <a:cs typeface="Karla"/>
                <a:sym typeface="Karla"/>
              </a:rPr>
              <a:t>reparar para legrado</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C</a:t>
            </a:r>
            <a:r>
              <a:rPr lang="es-CO" sz="1500">
                <a:solidFill>
                  <a:schemeClr val="dk1"/>
                </a:solidFill>
                <a:latin typeface="Karla"/>
                <a:ea typeface="Karla"/>
                <a:cs typeface="Karla"/>
                <a:sym typeface="Karla"/>
              </a:rPr>
              <a:t>ontinuar demás manejo médico</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V</a:t>
            </a:r>
            <a:r>
              <a:rPr lang="es-CO" sz="1500">
                <a:solidFill>
                  <a:schemeClr val="dk1"/>
                </a:solidFill>
                <a:latin typeface="Karla"/>
                <a:ea typeface="Karla"/>
                <a:cs typeface="Karla"/>
                <a:sym typeface="Karla"/>
              </a:rPr>
              <a:t>igilar sangrado vaginal</a:t>
            </a:r>
            <a:endParaRPr sz="1500">
              <a:solidFill>
                <a:schemeClr val="dk1"/>
              </a:solidFill>
              <a:latin typeface="Karla"/>
              <a:ea typeface="Karla"/>
              <a:cs typeface="Karla"/>
              <a:sym typeface="Karl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7" name="Shape 167"/>
        <p:cNvGrpSpPr/>
        <p:nvPr/>
      </p:nvGrpSpPr>
      <p:grpSpPr>
        <a:xfrm>
          <a:off x="0" y="0"/>
          <a:ext cx="0" cy="0"/>
          <a:chOff x="0" y="0"/>
          <a:chExt cx="0" cy="0"/>
        </a:xfrm>
      </p:grpSpPr>
      <p:sp>
        <p:nvSpPr>
          <p:cNvPr id="168" name="Google Shape;168;p9"/>
          <p:cNvSpPr txBox="1"/>
          <p:nvPr/>
        </p:nvSpPr>
        <p:spPr>
          <a:xfrm>
            <a:off x="1169100" y="471275"/>
            <a:ext cx="9853800" cy="15147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CO" sz="4800">
                <a:solidFill>
                  <a:schemeClr val="accent2"/>
                </a:solidFill>
                <a:latin typeface="Roboto Serif"/>
                <a:ea typeface="Roboto Serif"/>
                <a:cs typeface="Roboto Serif"/>
                <a:sym typeface="Roboto Serif"/>
              </a:rPr>
              <a:t>NOTA DE PARTO DE ADAPTACIÓN NEONATAL</a:t>
            </a:r>
            <a:endParaRPr/>
          </a:p>
        </p:txBody>
      </p:sp>
      <p:sp>
        <p:nvSpPr>
          <p:cNvPr id="169" name="Google Shape;169;p9"/>
          <p:cNvSpPr txBox="1"/>
          <p:nvPr/>
        </p:nvSpPr>
        <p:spPr>
          <a:xfrm>
            <a:off x="471300" y="2056225"/>
            <a:ext cx="11249400" cy="738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sz="1800">
                <a:solidFill>
                  <a:schemeClr val="dk1"/>
                </a:solidFill>
                <a:latin typeface="Karla"/>
                <a:ea typeface="Karla"/>
                <a:cs typeface="Karla"/>
                <a:sym typeface="Karla"/>
              </a:rPr>
              <a:t>Fecha del parto: 30/08/2025             Hora de parto: 4:30 p.m              Edad gestacional: 21 semanas             </a:t>
            </a:r>
            <a:r>
              <a:rPr lang="es-CO" sz="1800">
                <a:solidFill>
                  <a:schemeClr val="dk1"/>
                </a:solidFill>
                <a:latin typeface="Karla"/>
                <a:ea typeface="Karla"/>
                <a:cs typeface="Karla"/>
                <a:sym typeface="Karla"/>
              </a:rPr>
              <a:t>Pretérmino</a:t>
            </a:r>
            <a:r>
              <a:rPr lang="es-CO" sz="1800">
                <a:solidFill>
                  <a:schemeClr val="dk1"/>
                </a:solidFill>
                <a:latin typeface="Karla"/>
                <a:ea typeface="Karla"/>
                <a:cs typeface="Karla"/>
                <a:sym typeface="Karla"/>
              </a:rPr>
              <a:t>: si                                                             </a:t>
            </a:r>
            <a:endParaRPr>
              <a:latin typeface="Karla"/>
              <a:ea typeface="Karla"/>
              <a:cs typeface="Karla"/>
              <a:sym typeface="Karla"/>
            </a:endParaRPr>
          </a:p>
        </p:txBody>
      </p:sp>
      <p:sp>
        <p:nvSpPr>
          <p:cNvPr id="170" name="Google Shape;170;p9"/>
          <p:cNvSpPr txBox="1"/>
          <p:nvPr/>
        </p:nvSpPr>
        <p:spPr>
          <a:xfrm>
            <a:off x="471300" y="2795125"/>
            <a:ext cx="11249400" cy="738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sz="1800">
                <a:solidFill>
                  <a:schemeClr val="dk1"/>
                </a:solidFill>
                <a:latin typeface="Karla"/>
                <a:ea typeface="Karla"/>
                <a:cs typeface="Karla"/>
                <a:sym typeface="Karla"/>
              </a:rPr>
              <a:t>Tipo de parto: vaginal                              Presentación: </a:t>
            </a:r>
            <a:r>
              <a:rPr lang="es-CO" sz="1800">
                <a:solidFill>
                  <a:schemeClr val="dk1"/>
                </a:solidFill>
                <a:latin typeface="Karla"/>
                <a:ea typeface="Karla"/>
                <a:cs typeface="Karla"/>
                <a:sym typeface="Karla"/>
              </a:rPr>
              <a:t>podálico                       Sexo: masculino</a:t>
            </a:r>
            <a:endParaRPr sz="1800">
              <a:solidFill>
                <a:schemeClr val="dk1"/>
              </a:solidFill>
              <a:latin typeface="Karla"/>
              <a:ea typeface="Karla"/>
              <a:cs typeface="Karla"/>
              <a:sym typeface="Karla"/>
            </a:endParaRPr>
          </a:p>
          <a:p>
            <a:pPr indent="0" lvl="0" marL="0" rtl="0" algn="just">
              <a:spcBef>
                <a:spcPts val="0"/>
              </a:spcBef>
              <a:spcAft>
                <a:spcPts val="0"/>
              </a:spcAft>
              <a:buNone/>
            </a:pPr>
            <a:r>
              <a:rPr lang="es-CO" sz="1800">
                <a:solidFill>
                  <a:schemeClr val="dk1"/>
                </a:solidFill>
                <a:latin typeface="Karla"/>
                <a:ea typeface="Karla"/>
                <a:cs typeface="Karla"/>
                <a:sym typeface="Karla"/>
              </a:rPr>
              <a:t>Peso: 440 gr                                            Talla: 26 cm</a:t>
            </a:r>
            <a:r>
              <a:rPr lang="es-CO" sz="1800">
                <a:solidFill>
                  <a:schemeClr val="dk1"/>
                </a:solidFill>
                <a:latin typeface="Karla"/>
                <a:ea typeface="Karla"/>
                <a:cs typeface="Karla"/>
                <a:sym typeface="Karla"/>
              </a:rPr>
              <a:t>                 </a:t>
            </a:r>
            <a:r>
              <a:rPr lang="es-CO" sz="1800">
                <a:solidFill>
                  <a:schemeClr val="dk1"/>
                </a:solidFill>
                <a:latin typeface="Karla"/>
                <a:ea typeface="Karla"/>
                <a:cs typeface="Karla"/>
                <a:sym typeface="Karla"/>
              </a:rPr>
              <a:t>                                                           </a:t>
            </a:r>
            <a:endParaRPr>
              <a:latin typeface="Karla"/>
              <a:ea typeface="Karla"/>
              <a:cs typeface="Karla"/>
              <a:sym typeface="Karla"/>
            </a:endParaRPr>
          </a:p>
        </p:txBody>
      </p:sp>
      <p:sp>
        <p:nvSpPr>
          <p:cNvPr id="171" name="Google Shape;171;p9"/>
          <p:cNvSpPr txBox="1"/>
          <p:nvPr/>
        </p:nvSpPr>
        <p:spPr>
          <a:xfrm>
            <a:off x="1152200" y="3764450"/>
            <a:ext cx="48828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O" sz="1600">
                <a:solidFill>
                  <a:schemeClr val="dk1"/>
                </a:solidFill>
                <a:latin typeface="Karla"/>
                <a:ea typeface="Karla"/>
                <a:cs typeface="Karla"/>
                <a:sym typeface="Karla"/>
              </a:rPr>
              <a:t>Órdenes </a:t>
            </a:r>
            <a:r>
              <a:rPr lang="es-CO" sz="1600">
                <a:solidFill>
                  <a:schemeClr val="dk1"/>
                </a:solidFill>
                <a:latin typeface="Karla"/>
                <a:ea typeface="Karla"/>
                <a:cs typeface="Karla"/>
                <a:sym typeface="Karla"/>
              </a:rPr>
              <a:t>médicas</a:t>
            </a:r>
            <a:endParaRPr sz="1600">
              <a:solidFill>
                <a:schemeClr val="dk1"/>
              </a:solidFill>
              <a:latin typeface="Karla"/>
              <a:ea typeface="Karla"/>
              <a:cs typeface="Karla"/>
              <a:sym typeface="Karla"/>
            </a:endParaRPr>
          </a:p>
          <a:p>
            <a:pPr indent="0" lvl="0" marL="0" rtl="0" algn="l">
              <a:spcBef>
                <a:spcPts val="0"/>
              </a:spcBef>
              <a:spcAft>
                <a:spcPts val="0"/>
              </a:spcAft>
              <a:buNone/>
            </a:pPr>
            <a:r>
              <a:rPr lang="es-CO" sz="1600">
                <a:solidFill>
                  <a:schemeClr val="dk1"/>
                </a:solidFill>
                <a:latin typeface="Karla"/>
                <a:ea typeface="Karla"/>
                <a:cs typeface="Karla"/>
                <a:sym typeface="Karla"/>
              </a:rPr>
              <a:t>-</a:t>
            </a:r>
            <a:r>
              <a:rPr lang="es-CO" sz="1600">
                <a:solidFill>
                  <a:schemeClr val="dk1"/>
                </a:solidFill>
                <a:latin typeface="Karla"/>
                <a:ea typeface="Karla"/>
                <a:cs typeface="Karla"/>
                <a:sym typeface="Karla"/>
              </a:rPr>
              <a:t>T</a:t>
            </a:r>
            <a:r>
              <a:rPr lang="es-CO" sz="1600">
                <a:solidFill>
                  <a:schemeClr val="dk1"/>
                </a:solidFill>
                <a:latin typeface="Karla"/>
                <a:ea typeface="Karla"/>
                <a:cs typeface="Karla"/>
                <a:sym typeface="Karla"/>
              </a:rPr>
              <a:t>raslado a salas de cx</a:t>
            </a:r>
            <a:endParaRPr sz="1600">
              <a:solidFill>
                <a:schemeClr val="dk1"/>
              </a:solidFill>
              <a:latin typeface="Karla"/>
              <a:ea typeface="Karla"/>
              <a:cs typeface="Karla"/>
              <a:sym typeface="Karla"/>
            </a:endParaRPr>
          </a:p>
          <a:p>
            <a:pPr indent="0" lvl="0" marL="0" rtl="0" algn="l">
              <a:spcBef>
                <a:spcPts val="0"/>
              </a:spcBef>
              <a:spcAft>
                <a:spcPts val="0"/>
              </a:spcAft>
              <a:buNone/>
            </a:pPr>
            <a:r>
              <a:rPr lang="es-CO" sz="1600">
                <a:solidFill>
                  <a:schemeClr val="dk1"/>
                </a:solidFill>
                <a:latin typeface="Karla"/>
                <a:ea typeface="Karla"/>
                <a:cs typeface="Karla"/>
                <a:sym typeface="Karla"/>
              </a:rPr>
              <a:t>-M</a:t>
            </a:r>
            <a:r>
              <a:rPr lang="es-CO" sz="1600">
                <a:solidFill>
                  <a:schemeClr val="dk1"/>
                </a:solidFill>
                <a:latin typeface="Karla"/>
                <a:ea typeface="Karla"/>
                <a:cs typeface="Karla"/>
                <a:sym typeface="Karla"/>
              </a:rPr>
              <a:t>onitorización continua</a:t>
            </a:r>
            <a:endParaRPr sz="1600">
              <a:solidFill>
                <a:schemeClr val="dk1"/>
              </a:solidFill>
              <a:latin typeface="Karla"/>
              <a:ea typeface="Karla"/>
              <a:cs typeface="Karla"/>
              <a:sym typeface="Karla"/>
            </a:endParaRPr>
          </a:p>
          <a:p>
            <a:pPr indent="0" lvl="0" marL="0" rtl="0" algn="l">
              <a:spcBef>
                <a:spcPts val="0"/>
              </a:spcBef>
              <a:spcAft>
                <a:spcPts val="0"/>
              </a:spcAft>
              <a:buNone/>
            </a:pPr>
            <a:r>
              <a:rPr lang="es-CO" sz="1600">
                <a:solidFill>
                  <a:schemeClr val="dk1"/>
                </a:solidFill>
                <a:latin typeface="Karla"/>
                <a:ea typeface="Karla"/>
                <a:cs typeface="Karla"/>
                <a:sym typeface="Karla"/>
              </a:rPr>
              <a:t>-N</a:t>
            </a:r>
            <a:r>
              <a:rPr lang="es-CO" sz="1600">
                <a:solidFill>
                  <a:schemeClr val="dk1"/>
                </a:solidFill>
                <a:latin typeface="Karla"/>
                <a:ea typeface="Karla"/>
                <a:cs typeface="Karla"/>
                <a:sym typeface="Karla"/>
              </a:rPr>
              <a:t>vo</a:t>
            </a:r>
            <a:endParaRPr sz="1600">
              <a:solidFill>
                <a:schemeClr val="dk1"/>
              </a:solidFill>
              <a:latin typeface="Karla"/>
              <a:ea typeface="Karla"/>
              <a:cs typeface="Karla"/>
              <a:sym typeface="Karla"/>
            </a:endParaRPr>
          </a:p>
          <a:p>
            <a:pPr indent="0" lvl="0" marL="0" rtl="0" algn="l">
              <a:spcBef>
                <a:spcPts val="0"/>
              </a:spcBef>
              <a:spcAft>
                <a:spcPts val="0"/>
              </a:spcAft>
              <a:buNone/>
            </a:pPr>
            <a:r>
              <a:rPr lang="es-CO" sz="1600">
                <a:solidFill>
                  <a:schemeClr val="dk1"/>
                </a:solidFill>
                <a:latin typeface="Karla"/>
                <a:ea typeface="Karla"/>
                <a:cs typeface="Karla"/>
                <a:sym typeface="Karla"/>
              </a:rPr>
              <a:t>-S</a:t>
            </a:r>
            <a:r>
              <a:rPr lang="es-CO" sz="1600">
                <a:solidFill>
                  <a:schemeClr val="dk1"/>
                </a:solidFill>
                <a:latin typeface="Karla"/>
                <a:ea typeface="Karla"/>
                <a:cs typeface="Karla"/>
                <a:sym typeface="Karla"/>
              </a:rPr>
              <a:t>s0.9 % +10 ui de oxitocina a 125 cc/ h</a:t>
            </a:r>
            <a:endParaRPr sz="1600">
              <a:solidFill>
                <a:schemeClr val="dk1"/>
              </a:solidFill>
              <a:latin typeface="Karla"/>
              <a:ea typeface="Karla"/>
              <a:cs typeface="Karla"/>
              <a:sym typeface="Karla"/>
            </a:endParaRPr>
          </a:p>
          <a:p>
            <a:pPr indent="0" lvl="0" marL="0" rtl="0" algn="l">
              <a:spcBef>
                <a:spcPts val="0"/>
              </a:spcBef>
              <a:spcAft>
                <a:spcPts val="0"/>
              </a:spcAft>
              <a:buNone/>
            </a:pPr>
            <a:r>
              <a:rPr lang="es-CO" sz="1600">
                <a:solidFill>
                  <a:schemeClr val="dk1"/>
                </a:solidFill>
                <a:latin typeface="Karla"/>
                <a:ea typeface="Karla"/>
                <a:cs typeface="Karla"/>
                <a:sym typeface="Karla"/>
              </a:rPr>
              <a:t>-Á</a:t>
            </a:r>
            <a:r>
              <a:rPr lang="es-CO" sz="1600">
                <a:solidFill>
                  <a:schemeClr val="dk1"/>
                </a:solidFill>
                <a:latin typeface="Karla"/>
                <a:ea typeface="Karla"/>
                <a:cs typeface="Karla"/>
                <a:sym typeface="Karla"/>
              </a:rPr>
              <a:t>cido tranexámico 1 gr iv </a:t>
            </a:r>
            <a:r>
              <a:rPr lang="es-CO" sz="1600">
                <a:solidFill>
                  <a:schemeClr val="dk1"/>
                </a:solidFill>
                <a:latin typeface="Karla"/>
                <a:ea typeface="Karla"/>
                <a:cs typeface="Karla"/>
                <a:sym typeface="Karla"/>
              </a:rPr>
              <a:t>*</a:t>
            </a:r>
            <a:r>
              <a:rPr lang="es-CO" sz="1600">
                <a:solidFill>
                  <a:schemeClr val="dk1"/>
                </a:solidFill>
                <a:latin typeface="Karla"/>
                <a:ea typeface="Karla"/>
                <a:cs typeface="Karla"/>
                <a:sym typeface="Karla"/>
              </a:rPr>
              <a:t>* ya administrados</a:t>
            </a:r>
            <a:endParaRPr sz="1600">
              <a:solidFill>
                <a:schemeClr val="dk1"/>
              </a:solidFill>
              <a:latin typeface="Karla"/>
              <a:ea typeface="Karla"/>
              <a:cs typeface="Karla"/>
              <a:sym typeface="Karla"/>
            </a:endParaRPr>
          </a:p>
          <a:p>
            <a:pPr indent="0" lvl="0" marL="0" rtl="0" algn="l">
              <a:spcBef>
                <a:spcPts val="0"/>
              </a:spcBef>
              <a:spcAft>
                <a:spcPts val="0"/>
              </a:spcAft>
              <a:buNone/>
            </a:pPr>
            <a:r>
              <a:rPr lang="es-CO" sz="1600">
                <a:solidFill>
                  <a:schemeClr val="dk1"/>
                </a:solidFill>
                <a:latin typeface="Karla"/>
                <a:ea typeface="Karla"/>
                <a:cs typeface="Karla"/>
                <a:sym typeface="Karla"/>
              </a:rPr>
              <a:t>-D</a:t>
            </a:r>
            <a:r>
              <a:rPr lang="es-CO" sz="1600">
                <a:solidFill>
                  <a:schemeClr val="dk1"/>
                </a:solidFill>
                <a:latin typeface="Karla"/>
                <a:ea typeface="Karla"/>
                <a:cs typeface="Karla"/>
                <a:sym typeface="Karla"/>
              </a:rPr>
              <a:t>iclofenaco 75 mg im ya administrados </a:t>
            </a:r>
            <a:r>
              <a:rPr lang="es-CO" sz="1600">
                <a:solidFill>
                  <a:schemeClr val="dk1"/>
                </a:solidFill>
                <a:latin typeface="Karla"/>
                <a:ea typeface="Karla"/>
                <a:cs typeface="Karla"/>
                <a:sym typeface="Karla"/>
              </a:rPr>
              <a:t>**</a:t>
            </a:r>
            <a:endParaRPr sz="1600">
              <a:solidFill>
                <a:schemeClr val="dk1"/>
              </a:solidFill>
              <a:latin typeface="Karla"/>
              <a:ea typeface="Karla"/>
              <a:cs typeface="Karla"/>
              <a:sym typeface="Karla"/>
            </a:endParaRPr>
          </a:p>
          <a:p>
            <a:pPr indent="0" lvl="0" marL="0" rtl="0" algn="l">
              <a:spcBef>
                <a:spcPts val="0"/>
              </a:spcBef>
              <a:spcAft>
                <a:spcPts val="0"/>
              </a:spcAft>
              <a:buNone/>
            </a:pPr>
            <a:r>
              <a:rPr lang="es-CO" sz="1600">
                <a:solidFill>
                  <a:schemeClr val="dk1"/>
                </a:solidFill>
                <a:latin typeface="Karla"/>
                <a:ea typeface="Karla"/>
                <a:cs typeface="Karla"/>
                <a:sym typeface="Karla"/>
              </a:rPr>
              <a:t>-C</a:t>
            </a:r>
            <a:r>
              <a:rPr lang="es-CO" sz="1600">
                <a:solidFill>
                  <a:schemeClr val="dk1"/>
                </a:solidFill>
                <a:latin typeface="Karla"/>
                <a:ea typeface="Karla"/>
                <a:cs typeface="Karla"/>
                <a:sym typeface="Karla"/>
              </a:rPr>
              <a:t>ontinuar manejo antibiótico</a:t>
            </a:r>
            <a:endParaRPr sz="1600">
              <a:solidFill>
                <a:schemeClr val="dk1"/>
              </a:solidFill>
              <a:latin typeface="Karla"/>
              <a:ea typeface="Karla"/>
              <a:cs typeface="Karla"/>
              <a:sym typeface="Karla"/>
            </a:endParaRPr>
          </a:p>
          <a:p>
            <a:pPr indent="0" lvl="0" marL="0" rtl="0" algn="l">
              <a:spcBef>
                <a:spcPts val="0"/>
              </a:spcBef>
              <a:spcAft>
                <a:spcPts val="0"/>
              </a:spcAft>
              <a:buNone/>
            </a:pPr>
            <a:r>
              <a:rPr lang="es-CO" sz="1600">
                <a:solidFill>
                  <a:schemeClr val="dk1"/>
                </a:solidFill>
                <a:latin typeface="Karla"/>
                <a:ea typeface="Karla"/>
                <a:cs typeface="Karla"/>
                <a:sym typeface="Karla"/>
              </a:rPr>
              <a:t>-S</a:t>
            </a:r>
            <a:r>
              <a:rPr lang="es-CO" sz="1600">
                <a:solidFill>
                  <a:schemeClr val="dk1"/>
                </a:solidFill>
                <a:latin typeface="Karla"/>
                <a:ea typeface="Karla"/>
                <a:cs typeface="Karla"/>
                <a:sym typeface="Karla"/>
              </a:rPr>
              <a:t>s// patología fetal</a:t>
            </a:r>
            <a:endParaRPr sz="1600">
              <a:solidFill>
                <a:schemeClr val="dk1"/>
              </a:solidFill>
              <a:latin typeface="Karla"/>
              <a:ea typeface="Karla"/>
              <a:cs typeface="Karla"/>
              <a:sym typeface="Karla"/>
            </a:endParaRPr>
          </a:p>
          <a:p>
            <a:pPr indent="0" lvl="0" marL="0" rtl="0" algn="l">
              <a:spcBef>
                <a:spcPts val="0"/>
              </a:spcBef>
              <a:spcAft>
                <a:spcPts val="0"/>
              </a:spcAft>
              <a:buNone/>
            </a:pPr>
            <a:r>
              <a:rPr lang="es-CO" sz="1600">
                <a:solidFill>
                  <a:schemeClr val="dk1"/>
                </a:solidFill>
                <a:latin typeface="Karla"/>
                <a:ea typeface="Karla"/>
                <a:cs typeface="Karla"/>
                <a:sym typeface="Karla"/>
              </a:rPr>
              <a:t>-V</a:t>
            </a:r>
            <a:r>
              <a:rPr lang="es-CO" sz="1600">
                <a:solidFill>
                  <a:schemeClr val="dk1"/>
                </a:solidFill>
                <a:latin typeface="Karla"/>
                <a:ea typeface="Karla"/>
                <a:cs typeface="Karla"/>
                <a:sym typeface="Karla"/>
              </a:rPr>
              <a:t>igilancia de sangrado</a:t>
            </a:r>
            <a:endParaRPr sz="1600">
              <a:solidFill>
                <a:schemeClr val="dk1"/>
              </a:solidFill>
              <a:latin typeface="Karla"/>
              <a:ea typeface="Karla"/>
              <a:cs typeface="Karla"/>
              <a:sym typeface="Karla"/>
            </a:endParaRPr>
          </a:p>
          <a:p>
            <a:pPr indent="0" lvl="0" marL="0" rtl="0" algn="l">
              <a:spcBef>
                <a:spcPts val="0"/>
              </a:spcBef>
              <a:spcAft>
                <a:spcPts val="0"/>
              </a:spcAft>
              <a:buNone/>
            </a:pPr>
            <a:r>
              <a:rPr lang="es-CO" sz="1600">
                <a:solidFill>
                  <a:schemeClr val="dk1"/>
                </a:solidFill>
                <a:latin typeface="Karla"/>
                <a:ea typeface="Karla"/>
                <a:cs typeface="Karla"/>
                <a:sym typeface="Karla"/>
              </a:rPr>
              <a:t>-C</a:t>
            </a:r>
            <a:r>
              <a:rPr lang="es-CO" sz="1600">
                <a:solidFill>
                  <a:schemeClr val="dk1"/>
                </a:solidFill>
                <a:latin typeface="Karla"/>
                <a:ea typeface="Karla"/>
                <a:cs typeface="Karla"/>
                <a:sym typeface="Karla"/>
              </a:rPr>
              <a:t>sv </a:t>
            </a:r>
            <a:r>
              <a:rPr lang="es-CO" sz="1600">
                <a:solidFill>
                  <a:schemeClr val="dk1"/>
                </a:solidFill>
                <a:latin typeface="Karla"/>
                <a:ea typeface="Karla"/>
                <a:cs typeface="Karla"/>
                <a:sym typeface="Karla"/>
              </a:rPr>
              <a:t>-</a:t>
            </a:r>
            <a:r>
              <a:rPr lang="es-CO" sz="1600">
                <a:solidFill>
                  <a:schemeClr val="dk1"/>
                </a:solidFill>
                <a:latin typeface="Karla"/>
                <a:ea typeface="Karla"/>
                <a:cs typeface="Karla"/>
                <a:sym typeface="Karla"/>
              </a:rPr>
              <a:t>ac</a:t>
            </a:r>
            <a:endParaRPr sz="1600">
              <a:solidFill>
                <a:schemeClr val="dk1"/>
              </a:solidFill>
              <a:latin typeface="Karla"/>
              <a:ea typeface="Karla"/>
              <a:cs typeface="Karla"/>
              <a:sym typeface="Karla"/>
            </a:endParaRPr>
          </a:p>
        </p:txBody>
      </p:sp>
      <p:sp>
        <p:nvSpPr>
          <p:cNvPr id="172" name="Google Shape;172;p9"/>
          <p:cNvSpPr/>
          <p:nvPr/>
        </p:nvSpPr>
        <p:spPr>
          <a:xfrm>
            <a:off x="5670200" y="3721550"/>
            <a:ext cx="425700" cy="2979600"/>
          </a:xfrm>
          <a:prstGeom prst="rightBrace">
            <a:avLst>
              <a:gd fmla="val 50000" name="adj1"/>
              <a:gd fmla="val 50000" name="adj2"/>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3" name="Google Shape;173;p9"/>
          <p:cNvSpPr txBox="1"/>
          <p:nvPr/>
        </p:nvSpPr>
        <p:spPr>
          <a:xfrm>
            <a:off x="6354400" y="3964550"/>
            <a:ext cx="46854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O" sz="1500">
                <a:solidFill>
                  <a:schemeClr val="dk1"/>
                </a:solidFill>
                <a:latin typeface="Karla"/>
                <a:ea typeface="Karla"/>
                <a:cs typeface="Karla"/>
                <a:sym typeface="Karla"/>
              </a:rPr>
              <a:t>T</a:t>
            </a:r>
            <a:r>
              <a:rPr lang="es-CO" sz="1500">
                <a:solidFill>
                  <a:schemeClr val="dk1"/>
                </a:solidFill>
                <a:latin typeface="Karla"/>
                <a:ea typeface="Karla"/>
                <a:cs typeface="Karla"/>
                <a:sym typeface="Karla"/>
              </a:rPr>
              <a:t>acto vaginal útero aumentado de tamaño, se extrae placenta completa tipo duncan, hipotonÍa uterina que resuelve con manejo médico. utero tonico al finalizar, sangrado vaginal escaso</a:t>
            </a:r>
            <a:endParaRPr sz="1500">
              <a:solidFill>
                <a:schemeClr val="dk1"/>
              </a:solidFill>
              <a:latin typeface="Karla"/>
              <a:ea typeface="Karla"/>
              <a:cs typeface="Karla"/>
              <a:sym typeface="Karla"/>
            </a:endParaRPr>
          </a:p>
          <a:p>
            <a:pPr indent="0" lvl="0" marL="0" rtl="0" algn="l">
              <a:spcBef>
                <a:spcPts val="0"/>
              </a:spcBef>
              <a:spcAft>
                <a:spcPts val="0"/>
              </a:spcAft>
              <a:buNone/>
            </a:pPr>
            <a:r>
              <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P</a:t>
            </a:r>
            <a:r>
              <a:rPr lang="es-CO" sz="1500">
                <a:solidFill>
                  <a:schemeClr val="dk1"/>
                </a:solidFill>
                <a:latin typeface="Karla"/>
                <a:ea typeface="Karla"/>
                <a:cs typeface="Karla"/>
                <a:sym typeface="Karla"/>
              </a:rPr>
              <a:t>lan:</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T</a:t>
            </a:r>
            <a:r>
              <a:rPr lang="es-CO" sz="1500">
                <a:solidFill>
                  <a:schemeClr val="dk1"/>
                </a:solidFill>
                <a:latin typeface="Karla"/>
                <a:ea typeface="Karla"/>
                <a:cs typeface="Karla"/>
                <a:sym typeface="Karla"/>
              </a:rPr>
              <a:t>raslado a recuperación</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Clindamicina 600 mg iv cada 8 hrs fi 30/8/2025</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A</a:t>
            </a:r>
            <a:r>
              <a:rPr lang="es-CO" sz="1500">
                <a:solidFill>
                  <a:schemeClr val="dk1"/>
                </a:solidFill>
                <a:latin typeface="Karla"/>
                <a:ea typeface="Karla"/>
                <a:cs typeface="Karla"/>
                <a:sym typeface="Karla"/>
              </a:rPr>
              <a:t>mikacina 1 gr iv día fi 30/8/2025</a:t>
            </a:r>
            <a:endParaRPr sz="1500">
              <a:solidFill>
                <a:schemeClr val="dk1"/>
              </a:solidFill>
              <a:latin typeface="Karla"/>
              <a:ea typeface="Karla"/>
              <a:cs typeface="Karla"/>
              <a:sym typeface="Karla"/>
            </a:endParaRPr>
          </a:p>
          <a:p>
            <a:pPr indent="0" lvl="0" marL="0" rtl="0" algn="l">
              <a:spcBef>
                <a:spcPts val="0"/>
              </a:spcBef>
              <a:spcAft>
                <a:spcPts val="0"/>
              </a:spcAft>
              <a:buNone/>
            </a:pPr>
            <a:r>
              <a:rPr lang="es-CO" sz="1500">
                <a:solidFill>
                  <a:schemeClr val="dk1"/>
                </a:solidFill>
                <a:latin typeface="Karla"/>
                <a:ea typeface="Karla"/>
                <a:cs typeface="Karla"/>
                <a:sym typeface="Karla"/>
              </a:rPr>
              <a:t>acetaminofen 1gr vo cada 8 horas</a:t>
            </a:r>
            <a:endParaRPr sz="1500">
              <a:solidFill>
                <a:schemeClr val="dk1"/>
              </a:solidFill>
              <a:latin typeface="Karla"/>
              <a:ea typeface="Karla"/>
              <a:cs typeface="Karla"/>
              <a:sym typeface="Karl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7" name="Shape 177"/>
        <p:cNvGrpSpPr/>
        <p:nvPr/>
      </p:nvGrpSpPr>
      <p:grpSpPr>
        <a:xfrm>
          <a:off x="0" y="0"/>
          <a:ext cx="0" cy="0"/>
          <a:chOff x="0" y="0"/>
          <a:chExt cx="0" cy="0"/>
        </a:xfrm>
      </p:grpSpPr>
      <p:sp>
        <p:nvSpPr>
          <p:cNvPr id="178" name="Google Shape;178;g38e745a2b29_0_87"/>
          <p:cNvSpPr txBox="1"/>
          <p:nvPr/>
        </p:nvSpPr>
        <p:spPr>
          <a:xfrm>
            <a:off x="1169100" y="471275"/>
            <a:ext cx="9853800" cy="849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CO" sz="4800">
                <a:solidFill>
                  <a:schemeClr val="accent2"/>
                </a:solidFill>
                <a:latin typeface="Roboto Serif"/>
                <a:ea typeface="Roboto Serif"/>
                <a:cs typeface="Roboto Serif"/>
                <a:sym typeface="Roboto Serif"/>
              </a:rPr>
              <a:t>PLANIFICACIÓN FAMILIAR </a:t>
            </a:r>
            <a:endParaRPr/>
          </a:p>
        </p:txBody>
      </p:sp>
      <p:sp>
        <p:nvSpPr>
          <p:cNvPr id="179" name="Google Shape;179;g38e745a2b29_0_87"/>
          <p:cNvSpPr txBox="1"/>
          <p:nvPr/>
        </p:nvSpPr>
        <p:spPr>
          <a:xfrm>
            <a:off x="3319938" y="1486000"/>
            <a:ext cx="2526600" cy="461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sz="1800">
                <a:solidFill>
                  <a:schemeClr val="dk1"/>
                </a:solidFill>
                <a:latin typeface="Karla"/>
                <a:ea typeface="Karla"/>
                <a:cs typeface="Karla"/>
                <a:sym typeface="Karla"/>
              </a:rPr>
              <a:t>Implante </a:t>
            </a:r>
            <a:r>
              <a:rPr lang="es-CO" sz="1800">
                <a:solidFill>
                  <a:schemeClr val="dk1"/>
                </a:solidFill>
                <a:latin typeface="Karla"/>
                <a:ea typeface="Karla"/>
                <a:cs typeface="Karla"/>
                <a:sym typeface="Karla"/>
              </a:rPr>
              <a:t>subdérmico</a:t>
            </a:r>
            <a:r>
              <a:rPr lang="es-CO" sz="1800">
                <a:solidFill>
                  <a:schemeClr val="dk1"/>
                </a:solidFill>
                <a:latin typeface="Karla"/>
                <a:ea typeface="Karla"/>
                <a:cs typeface="Karla"/>
                <a:sym typeface="Karla"/>
              </a:rPr>
              <a:t> </a:t>
            </a:r>
            <a:r>
              <a:rPr lang="es-CO" sz="1800">
                <a:solidFill>
                  <a:schemeClr val="dk1"/>
                </a:solidFill>
                <a:latin typeface="Karla"/>
                <a:ea typeface="Karla"/>
                <a:cs typeface="Karla"/>
                <a:sym typeface="Karla"/>
              </a:rPr>
              <a:t>                                                        </a:t>
            </a:r>
            <a:endParaRPr>
              <a:latin typeface="Karla"/>
              <a:ea typeface="Karla"/>
              <a:cs typeface="Karla"/>
              <a:sym typeface="Karla"/>
            </a:endParaRPr>
          </a:p>
        </p:txBody>
      </p:sp>
      <p:pic>
        <p:nvPicPr>
          <p:cNvPr id="180" name="Google Shape;180;g38e745a2b29_0_87"/>
          <p:cNvPicPr preferRelativeResize="0"/>
          <p:nvPr/>
        </p:nvPicPr>
        <p:blipFill>
          <a:blip r:embed="rId4">
            <a:alphaModFix/>
          </a:blip>
          <a:stretch>
            <a:fillRect/>
          </a:stretch>
        </p:blipFill>
        <p:spPr>
          <a:xfrm>
            <a:off x="5846538" y="1320875"/>
            <a:ext cx="3025525" cy="2290950"/>
          </a:xfrm>
          <a:prstGeom prst="rect">
            <a:avLst/>
          </a:prstGeom>
          <a:noFill/>
          <a:ln>
            <a:noFill/>
          </a:ln>
        </p:spPr>
      </p:pic>
      <p:sp>
        <p:nvSpPr>
          <p:cNvPr id="181" name="Google Shape;181;g38e745a2b29_0_87"/>
          <p:cNvSpPr txBox="1"/>
          <p:nvPr/>
        </p:nvSpPr>
        <p:spPr>
          <a:xfrm>
            <a:off x="348200" y="3131625"/>
            <a:ext cx="50364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a:latin typeface="Karla"/>
                <a:ea typeface="Karla"/>
                <a:cs typeface="Karla"/>
                <a:sym typeface="Karla"/>
              </a:rPr>
              <a:t>P</a:t>
            </a:r>
            <a:r>
              <a:rPr lang="es-CO">
                <a:latin typeface="Karla"/>
                <a:ea typeface="Karla"/>
                <a:cs typeface="Karla"/>
                <a:sym typeface="Karla"/>
              </a:rPr>
              <a:t>aciente de 34 años g2c1v1a1 en pop de legrado obstétrico por retención placentaria del 30/8/2025, aborto completo del 30/8/2025 a las 16+30, en el momento paciente , alerta, afebril, hidratada, normotensa, adecuada involución uterina , sangrado escaso , se considera continuar manejo antibiotico , uso de medias antiembolicas , manejo farmacologico para inhibición de lactancia , se explica conducta, manifiesta entender y aceptar.</a:t>
            </a:r>
            <a:endParaRPr>
              <a:latin typeface="Karla"/>
              <a:ea typeface="Karla"/>
              <a:cs typeface="Karla"/>
              <a:sym typeface="Karla"/>
            </a:endParaRPr>
          </a:p>
        </p:txBody>
      </p:sp>
      <p:sp>
        <p:nvSpPr>
          <p:cNvPr id="182" name="Google Shape;182;g38e745a2b29_0_87"/>
          <p:cNvSpPr txBox="1"/>
          <p:nvPr/>
        </p:nvSpPr>
        <p:spPr>
          <a:xfrm>
            <a:off x="1176800" y="2639025"/>
            <a:ext cx="3379200" cy="492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s-CO" sz="2000">
                <a:solidFill>
                  <a:schemeClr val="accent6"/>
                </a:solidFill>
                <a:latin typeface="Karla"/>
                <a:ea typeface="Karla"/>
                <a:cs typeface="Karla"/>
                <a:sym typeface="Karla"/>
              </a:rPr>
              <a:t>EVOLUCIÓN GINECOLOGÍA</a:t>
            </a:r>
            <a:endParaRPr b="1" sz="1600">
              <a:solidFill>
                <a:schemeClr val="accent6"/>
              </a:solidFill>
            </a:endParaRPr>
          </a:p>
        </p:txBody>
      </p:sp>
      <p:sp>
        <p:nvSpPr>
          <p:cNvPr id="183" name="Google Shape;183;g38e745a2b29_0_87"/>
          <p:cNvSpPr txBox="1"/>
          <p:nvPr/>
        </p:nvSpPr>
        <p:spPr>
          <a:xfrm>
            <a:off x="6337500" y="4165350"/>
            <a:ext cx="4685400" cy="2493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sz="1500">
                <a:solidFill>
                  <a:schemeClr val="dk1"/>
                </a:solidFill>
                <a:latin typeface="Karla"/>
                <a:ea typeface="Karla"/>
                <a:cs typeface="Karla"/>
                <a:sym typeface="Karla"/>
              </a:rPr>
              <a:t>-H</a:t>
            </a:r>
            <a:r>
              <a:rPr lang="es-CO" sz="1500">
                <a:solidFill>
                  <a:schemeClr val="dk1"/>
                </a:solidFill>
                <a:latin typeface="Karla"/>
                <a:ea typeface="Karla"/>
                <a:cs typeface="Karla"/>
                <a:sym typeface="Karla"/>
              </a:rPr>
              <a:t>ospitalizacion ginecologia</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-D</a:t>
            </a:r>
            <a:r>
              <a:rPr lang="es-CO" sz="1500">
                <a:solidFill>
                  <a:schemeClr val="dk1"/>
                </a:solidFill>
                <a:latin typeface="Karla"/>
                <a:ea typeface="Karla"/>
                <a:cs typeface="Karla"/>
                <a:sym typeface="Karla"/>
              </a:rPr>
              <a:t>ieta normal</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-A</a:t>
            </a:r>
            <a:r>
              <a:rPr lang="es-CO" sz="1500">
                <a:solidFill>
                  <a:schemeClr val="dk1"/>
                </a:solidFill>
                <a:latin typeface="Karla"/>
                <a:ea typeface="Karla"/>
                <a:cs typeface="Karla"/>
                <a:sym typeface="Karla"/>
              </a:rPr>
              <a:t>dapter</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-C</a:t>
            </a:r>
            <a:r>
              <a:rPr lang="es-CO" sz="1500">
                <a:solidFill>
                  <a:schemeClr val="dk1"/>
                </a:solidFill>
                <a:latin typeface="Karla"/>
                <a:ea typeface="Karla"/>
                <a:cs typeface="Karla"/>
                <a:sym typeface="Karla"/>
              </a:rPr>
              <a:t>lindamicina 600 mg iv cada 8 hrs fi 30/8/2025</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-A</a:t>
            </a:r>
            <a:r>
              <a:rPr lang="es-CO" sz="1500">
                <a:solidFill>
                  <a:schemeClr val="dk1"/>
                </a:solidFill>
                <a:latin typeface="Karla"/>
                <a:ea typeface="Karla"/>
                <a:cs typeface="Karla"/>
                <a:sym typeface="Karla"/>
              </a:rPr>
              <a:t>mikacina 1 gr iv día fi 30/8/2025</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-A</a:t>
            </a:r>
            <a:r>
              <a:rPr lang="es-CO" sz="1500">
                <a:solidFill>
                  <a:schemeClr val="dk1"/>
                </a:solidFill>
                <a:latin typeface="Karla"/>
                <a:ea typeface="Karla"/>
                <a:cs typeface="Karla"/>
                <a:sym typeface="Karla"/>
              </a:rPr>
              <a:t>cetaminofen 1gr vo cada 8 horas</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-E</a:t>
            </a:r>
            <a:r>
              <a:rPr lang="es-CO" sz="1500">
                <a:solidFill>
                  <a:schemeClr val="dk1"/>
                </a:solidFill>
                <a:latin typeface="Karla"/>
                <a:ea typeface="Karla"/>
                <a:cs typeface="Karla"/>
                <a:sym typeface="Karla"/>
              </a:rPr>
              <a:t>noxaparina 40 mg sc día</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a:t>
            </a:r>
            <a:r>
              <a:rPr lang="es-CO" sz="1500">
                <a:solidFill>
                  <a:schemeClr val="dk1"/>
                </a:solidFill>
                <a:latin typeface="Karla"/>
                <a:ea typeface="Karla"/>
                <a:cs typeface="Karla"/>
                <a:sym typeface="Karla"/>
              </a:rPr>
              <a:t>Cabergolina 1 mg via oral dosis unica </a:t>
            </a:r>
            <a:r>
              <a:rPr lang="es-CO" sz="1500">
                <a:solidFill>
                  <a:schemeClr val="dk1"/>
                </a:solidFill>
                <a:latin typeface="Karla"/>
                <a:ea typeface="Karla"/>
                <a:cs typeface="Karla"/>
                <a:sym typeface="Karla"/>
              </a:rPr>
              <a:t>***</a:t>
            </a:r>
            <a:r>
              <a:rPr lang="es-CO" sz="1500">
                <a:solidFill>
                  <a:schemeClr val="dk1"/>
                </a:solidFill>
                <a:latin typeface="Karla"/>
                <a:ea typeface="Karla"/>
                <a:cs typeface="Karla"/>
                <a:sym typeface="Karla"/>
              </a:rPr>
              <a:t> nuevo </a:t>
            </a:r>
            <a:r>
              <a:rPr lang="es-CO" sz="1500">
                <a:solidFill>
                  <a:schemeClr val="dk1"/>
                </a:solidFill>
                <a:latin typeface="Karla"/>
                <a:ea typeface="Karla"/>
                <a:cs typeface="Karla"/>
                <a:sym typeface="Karla"/>
              </a:rPr>
              <a:t>**</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-V</a:t>
            </a:r>
            <a:r>
              <a:rPr lang="es-CO" sz="1500">
                <a:solidFill>
                  <a:schemeClr val="dk1"/>
                </a:solidFill>
                <a:latin typeface="Karla"/>
                <a:ea typeface="Karla"/>
                <a:cs typeface="Karla"/>
                <a:sym typeface="Karla"/>
              </a:rPr>
              <a:t>igilar sangrado</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-U</a:t>
            </a:r>
            <a:r>
              <a:rPr lang="es-CO" sz="1500">
                <a:solidFill>
                  <a:schemeClr val="dk1"/>
                </a:solidFill>
                <a:latin typeface="Karla"/>
                <a:ea typeface="Karla"/>
                <a:cs typeface="Karla"/>
                <a:sym typeface="Karla"/>
              </a:rPr>
              <a:t>so de medias antiembolicas</a:t>
            </a:r>
            <a:endParaRPr sz="1500">
              <a:solidFill>
                <a:schemeClr val="dk1"/>
              </a:solidFill>
              <a:latin typeface="Karla"/>
              <a:ea typeface="Karla"/>
              <a:cs typeface="Karla"/>
              <a:sym typeface="Karla"/>
            </a:endParaRPr>
          </a:p>
        </p:txBody>
      </p:sp>
      <p:cxnSp>
        <p:nvCxnSpPr>
          <p:cNvPr id="184" name="Google Shape;184;g38e745a2b29_0_87"/>
          <p:cNvCxnSpPr>
            <a:stCxn id="181" idx="2"/>
            <a:endCxn id="183" idx="1"/>
          </p:cNvCxnSpPr>
          <p:nvPr/>
        </p:nvCxnSpPr>
        <p:spPr>
          <a:xfrm flipH="1" rot="-5400000">
            <a:off x="4415900" y="3490725"/>
            <a:ext cx="372000" cy="3471000"/>
          </a:xfrm>
          <a:prstGeom prst="curvedConnector2">
            <a:avLst/>
          </a:prstGeom>
          <a:noFill/>
          <a:ln cap="flat" cmpd="sng" w="28575">
            <a:solidFill>
              <a:schemeClr val="accent1"/>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8" name="Shape 188"/>
        <p:cNvGrpSpPr/>
        <p:nvPr/>
      </p:nvGrpSpPr>
      <p:grpSpPr>
        <a:xfrm>
          <a:off x="0" y="0"/>
          <a:ext cx="0" cy="0"/>
          <a:chOff x="0" y="0"/>
          <a:chExt cx="0" cy="0"/>
        </a:xfrm>
      </p:grpSpPr>
      <p:sp>
        <p:nvSpPr>
          <p:cNvPr id="189" name="Google Shape;189;g38e745a2b29_0_106"/>
          <p:cNvSpPr txBox="1"/>
          <p:nvPr/>
        </p:nvSpPr>
        <p:spPr>
          <a:xfrm>
            <a:off x="1169100" y="471275"/>
            <a:ext cx="9853800" cy="849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CO" sz="4800">
                <a:solidFill>
                  <a:schemeClr val="accent2"/>
                </a:solidFill>
                <a:latin typeface="Roboto Serif"/>
                <a:ea typeface="Roboto Serif"/>
                <a:cs typeface="Roboto Serif"/>
                <a:sym typeface="Roboto Serif"/>
              </a:rPr>
              <a:t>EGRESO GINECOLOGÍA</a:t>
            </a:r>
            <a:r>
              <a:rPr b="1" lang="es-CO" sz="4800">
                <a:solidFill>
                  <a:schemeClr val="accent2"/>
                </a:solidFill>
                <a:latin typeface="Roboto Serif"/>
                <a:ea typeface="Roboto Serif"/>
                <a:cs typeface="Roboto Serif"/>
                <a:sym typeface="Roboto Serif"/>
              </a:rPr>
              <a:t> </a:t>
            </a:r>
            <a:endParaRPr/>
          </a:p>
        </p:txBody>
      </p:sp>
      <p:sp>
        <p:nvSpPr>
          <p:cNvPr id="190" name="Google Shape;190;g38e745a2b29_0_106"/>
          <p:cNvSpPr txBox="1"/>
          <p:nvPr/>
        </p:nvSpPr>
        <p:spPr>
          <a:xfrm>
            <a:off x="595925" y="1793825"/>
            <a:ext cx="60960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a:latin typeface="Karla"/>
                <a:ea typeface="Karla"/>
                <a:cs typeface="Karla"/>
                <a:sym typeface="Karla"/>
              </a:rPr>
              <a:t>P</a:t>
            </a:r>
            <a:r>
              <a:rPr lang="es-CO">
                <a:latin typeface="Karla"/>
                <a:ea typeface="Karla"/>
                <a:cs typeface="Karla"/>
                <a:sym typeface="Karla"/>
              </a:rPr>
              <a:t>aciente en manejo antibiótico hoy dia 3 de antibiótico por corioamnionitis , paciente quien durante estancia no ha presentado pico febril, ni sirs. EvoluciÓn clínica favorable, buena modulación del dolor, loquios escaso no fétidos, Se decide dar egreso con recomendaciones generales, signos de alarma, y control en 7 días por ginecología, se explica a paciente y esposo, quienes</a:t>
            </a:r>
            <a:endParaRPr>
              <a:latin typeface="Karla"/>
              <a:ea typeface="Karla"/>
              <a:cs typeface="Karla"/>
              <a:sym typeface="Karla"/>
            </a:endParaRPr>
          </a:p>
          <a:p>
            <a:pPr indent="0" lvl="0" marL="0" rtl="0" algn="just">
              <a:spcBef>
                <a:spcPts val="0"/>
              </a:spcBef>
              <a:spcAft>
                <a:spcPts val="0"/>
              </a:spcAft>
              <a:buNone/>
            </a:pPr>
            <a:r>
              <a:rPr lang="es-CO">
                <a:latin typeface="Karla"/>
                <a:ea typeface="Karla"/>
                <a:cs typeface="Karla"/>
                <a:sym typeface="Karla"/>
              </a:rPr>
              <a:t>refieren entender y aceptar.,</a:t>
            </a:r>
            <a:endParaRPr>
              <a:latin typeface="Karla"/>
              <a:ea typeface="Karla"/>
              <a:cs typeface="Karla"/>
              <a:sym typeface="Karla"/>
            </a:endParaRPr>
          </a:p>
        </p:txBody>
      </p:sp>
      <p:sp>
        <p:nvSpPr>
          <p:cNvPr id="191" name="Google Shape;191;g38e745a2b29_0_106"/>
          <p:cNvSpPr txBox="1"/>
          <p:nvPr/>
        </p:nvSpPr>
        <p:spPr>
          <a:xfrm>
            <a:off x="1764125" y="4317375"/>
            <a:ext cx="3759600" cy="1108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sz="1500">
                <a:solidFill>
                  <a:schemeClr val="dk1"/>
                </a:solidFill>
                <a:latin typeface="Karla"/>
                <a:ea typeface="Karla"/>
                <a:cs typeface="Karla"/>
                <a:sym typeface="Karla"/>
              </a:rPr>
              <a:t>-E</a:t>
            </a:r>
            <a:r>
              <a:rPr lang="es-CO" sz="1500">
                <a:solidFill>
                  <a:schemeClr val="dk1"/>
                </a:solidFill>
                <a:latin typeface="Karla"/>
                <a:ea typeface="Karla"/>
                <a:cs typeface="Karla"/>
                <a:sym typeface="Karla"/>
              </a:rPr>
              <a:t>greso</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a:t>
            </a:r>
            <a:r>
              <a:rPr lang="es-CO" sz="1500">
                <a:solidFill>
                  <a:schemeClr val="dk1"/>
                </a:solidFill>
                <a:latin typeface="Karla"/>
                <a:ea typeface="Karla"/>
                <a:cs typeface="Karla"/>
                <a:sym typeface="Karla"/>
              </a:rPr>
              <a:t>*Continuar manejo con antibiótico y enoxaparina ya explicado</a:t>
            </a:r>
            <a:endParaRPr sz="1500">
              <a:solidFill>
                <a:schemeClr val="dk1"/>
              </a:solidFill>
              <a:latin typeface="Karla"/>
              <a:ea typeface="Karla"/>
              <a:cs typeface="Karla"/>
              <a:sym typeface="Karla"/>
            </a:endParaRPr>
          </a:p>
          <a:p>
            <a:pPr indent="0" lvl="0" marL="0" rtl="0" algn="just">
              <a:spcBef>
                <a:spcPts val="0"/>
              </a:spcBef>
              <a:spcAft>
                <a:spcPts val="0"/>
              </a:spcAft>
              <a:buNone/>
            </a:pPr>
            <a:r>
              <a:rPr lang="es-CO" sz="1500">
                <a:solidFill>
                  <a:schemeClr val="dk1"/>
                </a:solidFill>
                <a:latin typeface="Karla"/>
                <a:ea typeface="Karla"/>
                <a:cs typeface="Karla"/>
                <a:sym typeface="Karla"/>
              </a:rPr>
              <a:t>S</a:t>
            </a:r>
            <a:r>
              <a:rPr lang="es-CO" sz="1500">
                <a:solidFill>
                  <a:schemeClr val="dk1"/>
                </a:solidFill>
                <a:latin typeface="Karla"/>
                <a:ea typeface="Karla"/>
                <a:cs typeface="Karla"/>
                <a:sym typeface="Karla"/>
              </a:rPr>
              <a:t>s// control con ginecologia en 1 semana</a:t>
            </a:r>
            <a:endParaRPr sz="1500">
              <a:solidFill>
                <a:schemeClr val="dk1"/>
              </a:solidFill>
              <a:latin typeface="Karla"/>
              <a:ea typeface="Karla"/>
              <a:cs typeface="Karla"/>
              <a:sym typeface="Karla"/>
            </a:endParaRPr>
          </a:p>
        </p:txBody>
      </p:sp>
      <p:cxnSp>
        <p:nvCxnSpPr>
          <p:cNvPr id="192" name="Google Shape;192;g38e745a2b29_0_106"/>
          <p:cNvCxnSpPr>
            <a:stCxn id="190" idx="2"/>
            <a:endCxn id="191" idx="1"/>
          </p:cNvCxnSpPr>
          <p:nvPr/>
        </p:nvCxnSpPr>
        <p:spPr>
          <a:xfrm rot="5400000">
            <a:off x="2011775" y="3239375"/>
            <a:ext cx="1384500" cy="1879800"/>
          </a:xfrm>
          <a:prstGeom prst="curvedConnector4">
            <a:avLst>
              <a:gd fmla="val 29987" name="adj1"/>
              <a:gd fmla="val 112668" name="adj2"/>
            </a:avLst>
          </a:prstGeom>
          <a:noFill/>
          <a:ln cap="flat" cmpd="sng" w="28575">
            <a:solidFill>
              <a:schemeClr val="accent1"/>
            </a:solidFill>
            <a:prstDash val="solid"/>
            <a:round/>
            <a:headEnd len="med" w="med" type="none"/>
            <a:tailEnd len="med" w="med" type="triangle"/>
          </a:ln>
        </p:spPr>
      </p:cxnSp>
      <p:pic>
        <p:nvPicPr>
          <p:cNvPr id="193" name="Google Shape;193;g38e745a2b29_0_106"/>
          <p:cNvPicPr preferRelativeResize="0"/>
          <p:nvPr/>
        </p:nvPicPr>
        <p:blipFill>
          <a:blip r:embed="rId4">
            <a:alphaModFix/>
          </a:blip>
          <a:stretch>
            <a:fillRect/>
          </a:stretch>
        </p:blipFill>
        <p:spPr>
          <a:xfrm>
            <a:off x="6995975" y="2364975"/>
            <a:ext cx="4602400" cy="3060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7" name="Shape 197"/>
        <p:cNvGrpSpPr/>
        <p:nvPr/>
      </p:nvGrpSpPr>
      <p:grpSpPr>
        <a:xfrm>
          <a:off x="0" y="0"/>
          <a:ext cx="0" cy="0"/>
          <a:chOff x="0" y="0"/>
          <a:chExt cx="0" cy="0"/>
        </a:xfrm>
      </p:grpSpPr>
      <p:sp>
        <p:nvSpPr>
          <p:cNvPr id="198" name="Google Shape;198;g38e745a2b29_0_119"/>
          <p:cNvSpPr txBox="1"/>
          <p:nvPr/>
        </p:nvSpPr>
        <p:spPr>
          <a:xfrm>
            <a:off x="1169100" y="471275"/>
            <a:ext cx="9853800" cy="15147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CO" sz="4800">
                <a:solidFill>
                  <a:schemeClr val="accent2"/>
                </a:solidFill>
                <a:latin typeface="Roboto Serif"/>
                <a:ea typeface="Roboto Serif"/>
                <a:cs typeface="Roboto Serif"/>
                <a:sym typeface="Roboto Serif"/>
              </a:rPr>
              <a:t>CONSULTA EXTERNA GINECOLOGÍA</a:t>
            </a:r>
            <a:endParaRPr/>
          </a:p>
        </p:txBody>
      </p:sp>
      <p:sp>
        <p:nvSpPr>
          <p:cNvPr id="199" name="Google Shape;199;g38e745a2b29_0_119"/>
          <p:cNvSpPr txBox="1"/>
          <p:nvPr/>
        </p:nvSpPr>
        <p:spPr>
          <a:xfrm>
            <a:off x="979050" y="2318600"/>
            <a:ext cx="60960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O">
                <a:latin typeface="Karla"/>
                <a:ea typeface="Karla"/>
                <a:cs typeface="Karla"/>
                <a:sym typeface="Karla"/>
              </a:rPr>
              <a:t>Paciente con </a:t>
            </a:r>
            <a:r>
              <a:rPr lang="es-CO">
                <a:latin typeface="Karla"/>
                <a:ea typeface="Karla"/>
                <a:cs typeface="Karla"/>
                <a:sym typeface="Karla"/>
              </a:rPr>
              <a:t>evolución clínica con examen ginecológico normal sin sangrado , cérvix cerrado , ya finalizó tto con clindamicina y amikacina hasta completar 10 días + enoxaparina , se decide citar con resultado de patología y ss val por psicología dado el evento obstétrico , se explica</a:t>
            </a:r>
            <a:endParaRPr>
              <a:latin typeface="Karla"/>
              <a:ea typeface="Karla"/>
              <a:cs typeface="Karla"/>
              <a:sym typeface="Karla"/>
            </a:endParaRPr>
          </a:p>
          <a:p>
            <a:pPr indent="0" lvl="0" marL="0" rtl="0" algn="just">
              <a:spcBef>
                <a:spcPts val="0"/>
              </a:spcBef>
              <a:spcAft>
                <a:spcPts val="0"/>
              </a:spcAft>
              <a:buNone/>
            </a:pPr>
            <a:r>
              <a:rPr lang="es-CO">
                <a:latin typeface="Karla"/>
                <a:ea typeface="Karla"/>
                <a:cs typeface="Karla"/>
                <a:sym typeface="Karla"/>
              </a:rPr>
              <a:t>a la paciente manejo a seguir refiere entender y aceptar</a:t>
            </a:r>
            <a:endParaRPr>
              <a:latin typeface="Karla"/>
              <a:ea typeface="Karla"/>
              <a:cs typeface="Karla"/>
              <a:sym typeface="Karla"/>
            </a:endParaRPr>
          </a:p>
        </p:txBody>
      </p:sp>
      <p:pic>
        <p:nvPicPr>
          <p:cNvPr id="200" name="Google Shape;200;g38e745a2b29_0_119"/>
          <p:cNvPicPr preferRelativeResize="0"/>
          <p:nvPr/>
        </p:nvPicPr>
        <p:blipFill rotWithShape="1">
          <a:blip r:embed="rId4">
            <a:alphaModFix/>
          </a:blip>
          <a:srcRect b="18540" l="0" r="0" t="0"/>
          <a:stretch/>
        </p:blipFill>
        <p:spPr>
          <a:xfrm>
            <a:off x="5393050" y="3682875"/>
            <a:ext cx="5451050" cy="2338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4" name="Shape 20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2024-08-26T14:52:25Z</dcterms:created>
  <dc:creator>user</dc:creator>
</cp:coreProperties>
</file>