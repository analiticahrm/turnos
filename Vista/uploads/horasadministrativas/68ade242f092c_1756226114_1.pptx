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168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CC3B0-A418-0240-B244-1CE44DCD3097}" type="datetimeFigureOut">
              <a:rPr lang="es-CO" smtClean="0"/>
              <a:t>20/08/25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A0E74-0CBC-0341-B45A-254B4CC977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294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Mantener un tono empático: la priorización no es excusa para demoras injustificadas en población mayor.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Ajustar los intervalos de reevaluación a la realidad local si ya existen políticas internas.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Ajustar ponderaciones a lo ya acordado con liderazgo clínico.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Adaptar a protocolos locales y red de referencia. Considerar notificación a neurocirugía según disponibilidad.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Imprimir y usar como checklist. Puede digitalizarse en el HIS para macro-campos.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Añadir fechas reales y responsables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EQUIPO PRIMARIO URGENCIAS </a:t>
            </a:r>
            <a:br>
              <a:rPr lang="es-ES" dirty="0"/>
            </a:br>
            <a:r>
              <a:rPr lang="es-ES" sz="1600" dirty="0"/>
              <a:t>21 DE AGOSTO DE 2025 </a:t>
            </a:r>
            <a:br>
              <a:rPr lang="es-ES" sz="1600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CO" dirty="0"/>
              <a:t>Priorización de Pacientes TRIAGE III ≥ 75 años</a:t>
            </a:r>
            <a:endParaRPr lang="es-ES" dirty="0"/>
          </a:p>
          <a:p>
            <a:r>
              <a:rPr dirty="0" err="1"/>
              <a:t>Estrategias</a:t>
            </a:r>
            <a:r>
              <a:rPr dirty="0"/>
              <a:t> de </a:t>
            </a:r>
            <a:r>
              <a:rPr dirty="0" err="1"/>
              <a:t>mejora</a:t>
            </a:r>
            <a:r>
              <a:rPr dirty="0"/>
              <a:t>,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desempeño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y </a:t>
            </a:r>
            <a:r>
              <a:rPr dirty="0" err="1"/>
              <a:t>activación</a:t>
            </a:r>
            <a:r>
              <a:rPr dirty="0"/>
              <a:t> de Código Trauma</a:t>
            </a:r>
          </a:p>
          <a:p>
            <a:r>
              <a:rPr dirty="0"/>
              <a:t>Hospital Regional de </a:t>
            </a:r>
            <a:r>
              <a:rPr dirty="0" err="1"/>
              <a:t>Moniquirá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38BD4D-594C-0B38-BA16-6B18E6442790}"/>
              </a:ext>
            </a:extLst>
          </p:cNvPr>
          <p:cNvSpPr txBox="1">
            <a:spLocks/>
          </p:cNvSpPr>
          <p:nvPr/>
        </p:nvSpPr>
        <p:spPr>
          <a:xfrm>
            <a:off x="1034969" y="552373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800" dirty="0"/>
              <a:t>IVAN ORTIZ LIDER SERVICIO DE URGENCIAS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Alinear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priorización</a:t>
            </a:r>
            <a:r>
              <a:rPr dirty="0"/>
              <a:t> para </a:t>
            </a:r>
            <a:r>
              <a:rPr dirty="0" err="1"/>
              <a:t>pacientes</a:t>
            </a:r>
            <a:r>
              <a:rPr dirty="0"/>
              <a:t> TRIAGE III de 75 </a:t>
            </a:r>
            <a:r>
              <a:rPr dirty="0" err="1"/>
              <a:t>años</a:t>
            </a:r>
            <a:r>
              <a:rPr dirty="0"/>
              <a:t> o </a:t>
            </a:r>
            <a:r>
              <a:rPr dirty="0" err="1"/>
              <a:t>más</a:t>
            </a:r>
            <a:r>
              <a:rPr dirty="0"/>
              <a:t>.</a:t>
            </a:r>
          </a:p>
          <a:p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estrategias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atención</a:t>
            </a:r>
            <a:r>
              <a:rPr dirty="0"/>
              <a:t> y </a:t>
            </a:r>
            <a:r>
              <a:rPr dirty="0" err="1"/>
              <a:t>reevaluación</a:t>
            </a:r>
            <a:r>
              <a:rPr dirty="0"/>
              <a:t>.</a:t>
            </a:r>
          </a:p>
          <a:p>
            <a:r>
              <a:rPr dirty="0" err="1"/>
              <a:t>Socializar</a:t>
            </a:r>
            <a:r>
              <a:rPr dirty="0"/>
              <a:t> la </a:t>
            </a:r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del </a:t>
            </a:r>
            <a:r>
              <a:rPr dirty="0" err="1"/>
              <a:t>desempeño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urgencias</a:t>
            </a:r>
            <a:r>
              <a:rPr dirty="0"/>
              <a:t>.</a:t>
            </a:r>
          </a:p>
          <a:p>
            <a:r>
              <a:rPr dirty="0" err="1"/>
              <a:t>Estandarizar</a:t>
            </a:r>
            <a:r>
              <a:rPr dirty="0"/>
              <a:t> la </a:t>
            </a:r>
            <a:r>
              <a:rPr dirty="0" err="1"/>
              <a:t>activación</a:t>
            </a:r>
            <a:r>
              <a:rPr dirty="0"/>
              <a:t> del Código Trauma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registro</a:t>
            </a:r>
            <a:r>
              <a:rPr dirty="0"/>
              <a:t>.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808" y="137160"/>
            <a:ext cx="963592" cy="963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¿Por qué enfocarnos en ≥75 años en TRIAGE III?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5960"/>
            <a:ext cx="8229600" cy="4525963"/>
          </a:xfrm>
        </p:spPr>
        <p:txBody>
          <a:bodyPr>
            <a:noAutofit/>
          </a:bodyPr>
          <a:lstStyle/>
          <a:p>
            <a:r>
              <a:rPr sz="2400" dirty="0"/>
              <a:t>Mayor </a:t>
            </a:r>
            <a:r>
              <a:rPr sz="2400" dirty="0" err="1"/>
              <a:t>riesgo</a:t>
            </a:r>
            <a:r>
              <a:rPr sz="2400" dirty="0"/>
              <a:t> de </a:t>
            </a:r>
            <a:r>
              <a:rPr sz="2400" dirty="0" err="1"/>
              <a:t>descompensación</a:t>
            </a:r>
            <a:r>
              <a:rPr sz="2400" dirty="0"/>
              <a:t> </a:t>
            </a:r>
            <a:r>
              <a:rPr sz="2400" dirty="0" err="1"/>
              <a:t>rápida</a:t>
            </a:r>
            <a:r>
              <a:rPr sz="2400" dirty="0"/>
              <a:t> y </a:t>
            </a:r>
            <a:r>
              <a:rPr sz="2400" dirty="0" err="1"/>
              <a:t>presentaciones</a:t>
            </a:r>
            <a:r>
              <a:rPr sz="2400" dirty="0"/>
              <a:t> </a:t>
            </a:r>
            <a:r>
              <a:rPr sz="2400" dirty="0" err="1"/>
              <a:t>atípicas</a:t>
            </a:r>
            <a:r>
              <a:rPr sz="2400" dirty="0"/>
              <a:t>.</a:t>
            </a:r>
          </a:p>
          <a:p>
            <a:r>
              <a:rPr sz="2400" dirty="0" err="1"/>
              <a:t>Signos</a:t>
            </a:r>
            <a:r>
              <a:rPr sz="2400" dirty="0"/>
              <a:t> de </a:t>
            </a:r>
            <a:r>
              <a:rPr sz="2400" dirty="0" err="1"/>
              <a:t>alarma</a:t>
            </a:r>
            <a:r>
              <a:rPr sz="2400" dirty="0"/>
              <a:t> </a:t>
            </a:r>
            <a:r>
              <a:rPr sz="2400" dirty="0" err="1"/>
              <a:t>frecuentes</a:t>
            </a:r>
            <a:endParaRPr sz="2400" dirty="0"/>
          </a:p>
          <a:p>
            <a:pPr lvl="1"/>
            <a:r>
              <a:rPr sz="2000" dirty="0" err="1"/>
              <a:t>Hipotensión</a:t>
            </a:r>
            <a:r>
              <a:rPr sz="2000" dirty="0"/>
              <a:t> </a:t>
            </a:r>
            <a:r>
              <a:rPr sz="2000" dirty="0" err="1"/>
              <a:t>relativa</a:t>
            </a:r>
            <a:endParaRPr sz="2000" dirty="0"/>
          </a:p>
          <a:p>
            <a:pPr lvl="1"/>
            <a:r>
              <a:rPr sz="2000" dirty="0" err="1"/>
              <a:t>SatO</a:t>
            </a:r>
            <a:r>
              <a:rPr sz="2000" dirty="0"/>
              <a:t>₂ &lt; 92%</a:t>
            </a:r>
          </a:p>
          <a:p>
            <a:pPr lvl="1"/>
            <a:r>
              <a:rPr sz="2000" dirty="0" err="1"/>
              <a:t>Taquipnea</a:t>
            </a:r>
            <a:r>
              <a:rPr sz="2000" dirty="0"/>
              <a:t> ≥ 22/min</a:t>
            </a:r>
          </a:p>
          <a:p>
            <a:pPr lvl="1"/>
            <a:r>
              <a:rPr sz="2000" dirty="0" err="1"/>
              <a:t>Alteración</a:t>
            </a:r>
            <a:r>
              <a:rPr sz="2000" dirty="0"/>
              <a:t> </a:t>
            </a:r>
            <a:r>
              <a:rPr sz="2000" dirty="0" err="1"/>
              <a:t>aguda</a:t>
            </a:r>
            <a:r>
              <a:rPr sz="2000" dirty="0"/>
              <a:t> del </a:t>
            </a:r>
            <a:r>
              <a:rPr sz="2000" dirty="0" err="1"/>
              <a:t>estado</a:t>
            </a:r>
            <a:r>
              <a:rPr sz="2000" dirty="0"/>
              <a:t> mental</a:t>
            </a:r>
          </a:p>
          <a:p>
            <a:r>
              <a:rPr sz="2400" dirty="0" err="1"/>
              <a:t>Fragilidad</a:t>
            </a:r>
            <a:r>
              <a:rPr sz="2400" dirty="0"/>
              <a:t> y </a:t>
            </a:r>
            <a:r>
              <a:rPr sz="2400" dirty="0" err="1"/>
              <a:t>comorbilidades</a:t>
            </a:r>
            <a:r>
              <a:rPr sz="2400" dirty="0"/>
              <a:t> </a:t>
            </a:r>
            <a:r>
              <a:rPr sz="2400" dirty="0" err="1"/>
              <a:t>elevan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riesgo</a:t>
            </a:r>
            <a:r>
              <a:rPr sz="2400" dirty="0"/>
              <a:t> de </a:t>
            </a:r>
            <a:r>
              <a:rPr sz="2400" dirty="0" err="1"/>
              <a:t>eventos</a:t>
            </a:r>
            <a:r>
              <a:rPr sz="2400" dirty="0"/>
              <a:t> </a:t>
            </a:r>
            <a:r>
              <a:rPr sz="2400" dirty="0" err="1"/>
              <a:t>adversos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espera</a:t>
            </a:r>
            <a:r>
              <a:rPr sz="2400" dirty="0"/>
              <a:t>.</a:t>
            </a:r>
          </a:p>
          <a:p>
            <a:r>
              <a:rPr sz="2400" dirty="0" err="1"/>
              <a:t>Objetivo</a:t>
            </a:r>
            <a:r>
              <a:rPr sz="2400" dirty="0"/>
              <a:t>: </a:t>
            </a:r>
            <a:r>
              <a:rPr sz="2400" dirty="0" err="1"/>
              <a:t>reducir</a:t>
            </a:r>
            <a:r>
              <a:rPr sz="2400" dirty="0"/>
              <a:t> </a:t>
            </a:r>
            <a:r>
              <a:rPr sz="2400" dirty="0" err="1"/>
              <a:t>tiempos</a:t>
            </a:r>
            <a:r>
              <a:rPr sz="2400" dirty="0"/>
              <a:t> a </a:t>
            </a:r>
            <a:r>
              <a:rPr sz="2400" dirty="0" err="1"/>
              <a:t>evaluación</a:t>
            </a:r>
            <a:r>
              <a:rPr sz="2400" dirty="0"/>
              <a:t>, analgesia, </a:t>
            </a:r>
            <a:r>
              <a:rPr sz="2400" dirty="0" err="1"/>
              <a:t>laboratorios</a:t>
            </a:r>
            <a:r>
              <a:rPr sz="2400" dirty="0"/>
              <a:t> y </a:t>
            </a:r>
            <a:r>
              <a:rPr sz="2400" dirty="0" err="1"/>
              <a:t>decisiones</a:t>
            </a:r>
            <a:r>
              <a:rPr sz="2400" dirty="0"/>
              <a:t> (</a:t>
            </a:r>
            <a:r>
              <a:rPr sz="2400" dirty="0" err="1"/>
              <a:t>ingreso</a:t>
            </a:r>
            <a:r>
              <a:rPr sz="2400" dirty="0"/>
              <a:t>/</a:t>
            </a:r>
            <a:r>
              <a:rPr sz="2400" dirty="0" err="1"/>
              <a:t>alta</a:t>
            </a:r>
            <a:r>
              <a:rPr sz="2400" dirty="0"/>
              <a:t>).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612" y="846138"/>
            <a:ext cx="1056189" cy="1056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9878" y="36591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priorización</a:t>
            </a:r>
            <a:r>
              <a:rPr dirty="0"/>
              <a:t> </a:t>
            </a:r>
            <a:r>
              <a:rPr dirty="0" err="1"/>
              <a:t>propuestas</a:t>
            </a:r>
            <a:r>
              <a:rPr dirty="0"/>
              <a:t> (TRIAGE III ≥75)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8246"/>
            <a:ext cx="8229600" cy="4525963"/>
          </a:xfrm>
        </p:spPr>
        <p:txBody>
          <a:bodyPr>
            <a:normAutofit/>
          </a:bodyPr>
          <a:lstStyle/>
          <a:p>
            <a:r>
              <a:rPr dirty="0" err="1"/>
              <a:t>Reevaluación</a:t>
            </a:r>
            <a:r>
              <a:rPr dirty="0"/>
              <a:t> </a:t>
            </a:r>
            <a:r>
              <a:rPr dirty="0" err="1"/>
              <a:t>obligatoria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30–45 </a:t>
            </a:r>
            <a:r>
              <a:rPr dirty="0" err="1"/>
              <a:t>minutos</a:t>
            </a:r>
            <a:r>
              <a:rPr dirty="0"/>
              <a:t> </a:t>
            </a:r>
            <a:endParaRPr lang="es-ES" dirty="0"/>
          </a:p>
          <a:p>
            <a:r>
              <a:rPr dirty="0"/>
              <a:t>‘</a:t>
            </a:r>
            <a:r>
              <a:rPr dirty="0" err="1"/>
              <a:t>Alerta</a:t>
            </a:r>
            <a:r>
              <a:rPr dirty="0"/>
              <a:t> Dorada 75+’: </a:t>
            </a:r>
            <a:r>
              <a:rPr dirty="0" err="1"/>
              <a:t>bandera</a:t>
            </a:r>
            <a:r>
              <a:rPr dirty="0"/>
              <a:t> visible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tablero</a:t>
            </a:r>
            <a:r>
              <a:rPr dirty="0"/>
              <a:t> para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y </a:t>
            </a:r>
            <a:r>
              <a:rPr dirty="0" err="1"/>
              <a:t>exámenes</a:t>
            </a:r>
            <a:r>
              <a:rPr dirty="0"/>
              <a:t>.</a:t>
            </a:r>
          </a:p>
          <a:p>
            <a:r>
              <a:rPr dirty="0" err="1"/>
              <a:t>Circuito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para analgesia, EKG y </a:t>
            </a:r>
            <a:r>
              <a:rPr dirty="0" err="1"/>
              <a:t>laboratorios</a:t>
            </a:r>
            <a:r>
              <a:rPr dirty="0"/>
              <a:t> </a:t>
            </a:r>
            <a:r>
              <a:rPr dirty="0" err="1"/>
              <a:t>básicos</a:t>
            </a:r>
            <a:r>
              <a:rPr dirty="0"/>
              <a:t> </a:t>
            </a:r>
            <a:endParaRPr lang="es-ES" dirty="0"/>
          </a:p>
          <a:p>
            <a:r>
              <a:rPr dirty="0" err="1"/>
              <a:t>Escalamiento</a:t>
            </a:r>
            <a:r>
              <a:rPr dirty="0"/>
              <a:t> </a:t>
            </a:r>
            <a:r>
              <a:rPr dirty="0" err="1"/>
              <a:t>inmediato</a:t>
            </a:r>
            <a:r>
              <a:rPr dirty="0"/>
              <a:t> a TRIAGE II </a:t>
            </a:r>
            <a:r>
              <a:rPr dirty="0" err="1"/>
              <a:t>si</a:t>
            </a:r>
            <a:r>
              <a:rPr dirty="0"/>
              <a:t> hay </a:t>
            </a:r>
            <a:r>
              <a:rPr dirty="0" err="1"/>
              <a:t>deterioro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signos</a:t>
            </a:r>
            <a:r>
              <a:rPr dirty="0"/>
              <a:t> </a:t>
            </a:r>
            <a:r>
              <a:rPr dirty="0" err="1"/>
              <a:t>vitales</a:t>
            </a:r>
            <a:r>
              <a:rPr dirty="0"/>
              <a:t> o dolor </a:t>
            </a:r>
            <a:r>
              <a:rPr dirty="0" err="1"/>
              <a:t>refractario</a:t>
            </a:r>
            <a:r>
              <a:rPr dirty="0"/>
              <a:t>.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673" y="274638"/>
            <a:ext cx="1542327" cy="15423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00268" y="388619"/>
            <a:ext cx="8229600" cy="1143000"/>
          </a:xfrm>
        </p:spPr>
        <p:txBody>
          <a:bodyPr/>
          <a:lstStyle/>
          <a:p>
            <a:r>
              <a:t>Flujo operativo sugerido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Pre-triage: </a:t>
            </a:r>
            <a:r>
              <a:rPr dirty="0" err="1"/>
              <a:t>identificación</a:t>
            </a:r>
            <a:r>
              <a:rPr dirty="0"/>
              <a:t> de ≥75 </a:t>
            </a:r>
            <a:r>
              <a:rPr dirty="0" err="1"/>
              <a:t>años</a:t>
            </a:r>
            <a:r>
              <a:rPr dirty="0"/>
              <a:t> y </a:t>
            </a:r>
            <a:r>
              <a:rPr dirty="0" err="1"/>
              <a:t>banderización</a:t>
            </a:r>
            <a:r>
              <a:rPr dirty="0"/>
              <a:t> ‘75+’.</a:t>
            </a:r>
          </a:p>
          <a:p>
            <a:r>
              <a:rPr dirty="0"/>
              <a:t>Triage con SV </a:t>
            </a:r>
            <a:r>
              <a:rPr dirty="0" err="1"/>
              <a:t>completos</a:t>
            </a:r>
            <a:r>
              <a:rPr dirty="0"/>
              <a:t> y </a:t>
            </a:r>
            <a:r>
              <a:rPr dirty="0" err="1"/>
              <a:t>escala</a:t>
            </a:r>
            <a:r>
              <a:rPr dirty="0"/>
              <a:t> de dolor; </a:t>
            </a:r>
            <a:r>
              <a:rPr dirty="0" err="1"/>
              <a:t>registro</a:t>
            </a:r>
            <a:r>
              <a:rPr dirty="0"/>
              <a:t> de </a:t>
            </a:r>
            <a:r>
              <a:rPr dirty="0" err="1"/>
              <a:t>comorbilidades</a:t>
            </a:r>
            <a:r>
              <a:rPr dirty="0"/>
              <a:t> clave.</a:t>
            </a:r>
          </a:p>
          <a:p>
            <a:r>
              <a:rPr dirty="0" err="1"/>
              <a:t>Derivación</a:t>
            </a:r>
            <a:r>
              <a:rPr dirty="0"/>
              <a:t> a zona </a:t>
            </a:r>
            <a:r>
              <a:rPr dirty="0" err="1"/>
              <a:t>prioritaria</a:t>
            </a:r>
            <a:r>
              <a:rPr dirty="0"/>
              <a:t> </a:t>
            </a:r>
            <a:endParaRPr lang="es-ES" dirty="0"/>
          </a:p>
          <a:p>
            <a:r>
              <a:rPr dirty="0" err="1"/>
              <a:t>Reevaluación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enfermería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con </a:t>
            </a:r>
            <a:r>
              <a:rPr dirty="0" err="1"/>
              <a:t>tiempos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definidos</a:t>
            </a:r>
            <a:r>
              <a:rPr dirty="0"/>
              <a:t>.</a:t>
            </a:r>
          </a:p>
          <a:p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alta</a:t>
            </a:r>
            <a:r>
              <a:rPr dirty="0"/>
              <a:t>/</a:t>
            </a:r>
            <a:r>
              <a:rPr dirty="0" err="1"/>
              <a:t>ingreso</a:t>
            </a:r>
            <a:r>
              <a:rPr dirty="0"/>
              <a:t> claros y </a:t>
            </a:r>
            <a:r>
              <a:rPr dirty="0" err="1"/>
              <a:t>comunicación</a:t>
            </a:r>
            <a:r>
              <a:rPr dirty="0"/>
              <a:t> a </a:t>
            </a:r>
            <a:r>
              <a:rPr dirty="0" err="1"/>
              <a:t>familia</a:t>
            </a:r>
            <a:r>
              <a:rPr dirty="0"/>
              <a:t>/</a:t>
            </a:r>
            <a:r>
              <a:rPr dirty="0" err="1"/>
              <a:t>cuidadores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720" y="169610"/>
            <a:ext cx="7315200" cy="1124453"/>
          </a:xfrm>
        </p:spPr>
        <p:txBody>
          <a:bodyPr/>
          <a:lstStyle/>
          <a:p>
            <a:r>
              <a:rPr dirty="0" err="1"/>
              <a:t>Indicadores</a:t>
            </a:r>
            <a:r>
              <a:rPr dirty="0"/>
              <a:t> y </a:t>
            </a:r>
            <a:r>
              <a:rPr dirty="0" err="1"/>
              <a:t>metas</a:t>
            </a:r>
            <a:r>
              <a:rPr dirty="0"/>
              <a:t> (</a:t>
            </a:r>
            <a:r>
              <a:rPr dirty="0" err="1"/>
              <a:t>ejemplo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Tiempos</a:t>
            </a:r>
            <a:r>
              <a:rPr dirty="0"/>
              <a:t> </a:t>
            </a:r>
            <a:r>
              <a:rPr dirty="0" err="1"/>
              <a:t>objetivo</a:t>
            </a:r>
            <a:endParaRPr dirty="0"/>
          </a:p>
          <a:p>
            <a:pPr lvl="1"/>
            <a:r>
              <a:rPr dirty="0"/>
              <a:t>Puerta →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≤ 30–45 min</a:t>
            </a:r>
          </a:p>
          <a:p>
            <a:pPr lvl="1"/>
            <a:r>
              <a:rPr dirty="0"/>
              <a:t>Puerta → analgesia (</a:t>
            </a:r>
            <a:r>
              <a:rPr dirty="0" err="1"/>
              <a:t>si</a:t>
            </a:r>
            <a:r>
              <a:rPr dirty="0"/>
              <a:t> dolor ≥4) ≤ 30 min</a:t>
            </a:r>
          </a:p>
          <a:p>
            <a:pPr lvl="1"/>
            <a:r>
              <a:rPr dirty="0"/>
              <a:t>Puerta → EKG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sospecha</a:t>
            </a:r>
            <a:r>
              <a:rPr dirty="0"/>
              <a:t> </a:t>
            </a:r>
            <a:r>
              <a:rPr dirty="0" err="1"/>
              <a:t>cardiaca</a:t>
            </a:r>
            <a:r>
              <a:rPr dirty="0"/>
              <a:t> ≤ 10 min</a:t>
            </a:r>
          </a:p>
          <a:p>
            <a:r>
              <a:rPr dirty="0"/>
              <a:t>Calidad y </a:t>
            </a:r>
            <a:r>
              <a:rPr dirty="0" err="1"/>
              <a:t>seguridad</a:t>
            </a:r>
            <a:endParaRPr dirty="0"/>
          </a:p>
          <a:p>
            <a:pPr lvl="1"/>
            <a:r>
              <a:rPr dirty="0" err="1"/>
              <a:t>Reevaluaciones</a:t>
            </a:r>
            <a:r>
              <a:rPr dirty="0"/>
              <a:t> </a:t>
            </a:r>
            <a:r>
              <a:rPr dirty="0" err="1"/>
              <a:t>documentadas</a:t>
            </a:r>
            <a:r>
              <a:rPr dirty="0"/>
              <a:t> ≥ 90%</a:t>
            </a:r>
          </a:p>
          <a:p>
            <a:pPr lvl="1"/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adversos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sala</a:t>
            </a:r>
            <a:r>
              <a:rPr dirty="0"/>
              <a:t> de </a:t>
            </a:r>
            <a:r>
              <a:rPr dirty="0" err="1"/>
              <a:t>espera</a:t>
            </a:r>
            <a:r>
              <a:rPr dirty="0"/>
              <a:t> = 0</a:t>
            </a:r>
          </a:p>
          <a:p>
            <a:pPr lvl="1"/>
            <a:r>
              <a:rPr dirty="0" err="1"/>
              <a:t>Satisfacción</a:t>
            </a:r>
            <a:r>
              <a:rPr dirty="0"/>
              <a:t> del </a:t>
            </a:r>
            <a:r>
              <a:rPr dirty="0" err="1"/>
              <a:t>usuario</a:t>
            </a:r>
            <a:r>
              <a:rPr dirty="0"/>
              <a:t> ≥ 85%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3499" y="27432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del </a:t>
            </a:r>
            <a:r>
              <a:rPr dirty="0" err="1"/>
              <a:t>desempeño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(</a:t>
            </a:r>
            <a:r>
              <a:rPr dirty="0" err="1"/>
              <a:t>urgencias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717"/>
            <a:ext cx="8229600" cy="4525963"/>
          </a:xfrm>
        </p:spPr>
        <p:txBody>
          <a:bodyPr>
            <a:normAutofit/>
          </a:bodyPr>
          <a:lstStyle/>
          <a:p>
            <a:r>
              <a:rPr lang="es-CO" dirty="0"/>
              <a:t>Documentación clínica</a:t>
            </a:r>
          </a:p>
          <a:p>
            <a:r>
              <a:rPr lang="es-CO" dirty="0" err="1"/>
              <a:t>Feedback</a:t>
            </a:r>
            <a:r>
              <a:rPr lang="es-CO" dirty="0"/>
              <a:t> 360°</a:t>
            </a:r>
          </a:p>
          <a:p>
            <a:r>
              <a:rPr lang="es-CO" dirty="0"/>
              <a:t>Observación directa</a:t>
            </a:r>
          </a:p>
          <a:p>
            <a:r>
              <a:rPr lang="es-CO" dirty="0"/>
              <a:t>Productividad (general y pacientes/hora – promedio 5 días)</a:t>
            </a:r>
          </a:p>
          <a:p>
            <a:r>
              <a:rPr lang="es-CO" dirty="0"/>
              <a:t>Otros indicadores definición de conducta menor de 6 horas tasa de reingresos quejas. </a:t>
            </a: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t>Estrategias para mejorar tiempos de atención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Ajuste</a:t>
            </a:r>
            <a:r>
              <a:rPr dirty="0"/>
              <a:t> de </a:t>
            </a:r>
            <a:r>
              <a:rPr dirty="0" err="1"/>
              <a:t>turnos</a:t>
            </a:r>
            <a:r>
              <a:rPr dirty="0"/>
              <a:t> y roles </a:t>
            </a:r>
            <a:r>
              <a:rPr dirty="0" err="1"/>
              <a:t>en</a:t>
            </a:r>
            <a:r>
              <a:rPr dirty="0"/>
              <a:t> horas </a:t>
            </a:r>
            <a:r>
              <a:rPr dirty="0" err="1"/>
              <a:t>pico</a:t>
            </a:r>
            <a:r>
              <a:rPr dirty="0"/>
              <a:t> (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y de </a:t>
            </a:r>
            <a:r>
              <a:rPr dirty="0" err="1"/>
              <a:t>enfermería</a:t>
            </a:r>
            <a:r>
              <a:rPr dirty="0"/>
              <a:t>).</a:t>
            </a:r>
          </a:p>
          <a:p>
            <a:r>
              <a:rPr dirty="0" err="1"/>
              <a:t>Protocolos</a:t>
            </a:r>
            <a:r>
              <a:rPr dirty="0"/>
              <a:t> </a:t>
            </a:r>
            <a:r>
              <a:rPr dirty="0" err="1"/>
              <a:t>rápidos</a:t>
            </a:r>
            <a:r>
              <a:rPr dirty="0"/>
              <a:t> </a:t>
            </a:r>
            <a:r>
              <a:rPr lang="es-ES" dirty="0"/>
              <a:t>en proceso de construcción </a:t>
            </a:r>
            <a:endParaRPr dirty="0"/>
          </a:p>
          <a:p>
            <a:r>
              <a:rPr dirty="0" err="1"/>
              <a:t>Uso</a:t>
            </a:r>
            <a:r>
              <a:rPr dirty="0"/>
              <a:t> de ‘</a:t>
            </a:r>
            <a:r>
              <a:rPr dirty="0" err="1"/>
              <a:t>órdenes</a:t>
            </a:r>
            <a:r>
              <a:rPr dirty="0"/>
              <a:t> </a:t>
            </a:r>
            <a:r>
              <a:rPr dirty="0" err="1"/>
              <a:t>preautorizadas</a:t>
            </a:r>
            <a:r>
              <a:rPr dirty="0"/>
              <a:t>’ para </a:t>
            </a:r>
            <a:r>
              <a:rPr dirty="0" err="1"/>
              <a:t>exámenes</a:t>
            </a:r>
            <a:r>
              <a:rPr dirty="0"/>
              <a:t> </a:t>
            </a:r>
            <a:r>
              <a:rPr dirty="0" err="1"/>
              <a:t>frecuentes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≥75 </a:t>
            </a:r>
            <a:r>
              <a:rPr dirty="0" err="1"/>
              <a:t>años</a:t>
            </a:r>
            <a:r>
              <a:rPr dirty="0"/>
              <a:t>.</a:t>
            </a:r>
          </a:p>
          <a:p>
            <a:r>
              <a:rPr dirty="0" err="1"/>
              <a:t>Tablero</a:t>
            </a:r>
            <a:r>
              <a:rPr dirty="0"/>
              <a:t> visible con </a:t>
            </a:r>
            <a:r>
              <a:rPr dirty="0" err="1"/>
              <a:t>alertas</a:t>
            </a:r>
            <a:r>
              <a:rPr dirty="0"/>
              <a:t> y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real.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084" y="10287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61372" y="29718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Código Trauma: ¿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activar</a:t>
            </a:r>
            <a:r>
              <a:rPr dirty="0"/>
              <a:t>? (</a:t>
            </a:r>
            <a:r>
              <a:rPr dirty="0" err="1"/>
              <a:t>criterios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 err="1"/>
              <a:t>Mecanismo</a:t>
            </a:r>
            <a:r>
              <a:rPr dirty="0"/>
              <a:t>/</a:t>
            </a:r>
            <a:r>
              <a:rPr dirty="0" err="1"/>
              <a:t>lesión</a:t>
            </a:r>
            <a:endParaRPr dirty="0"/>
          </a:p>
          <a:p>
            <a:pPr lvl="1"/>
            <a:r>
              <a:rPr dirty="0"/>
              <a:t>Trauma de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energía</a:t>
            </a:r>
            <a:r>
              <a:rPr dirty="0"/>
              <a:t> (AT, </a:t>
            </a:r>
            <a:r>
              <a:rPr dirty="0" err="1"/>
              <a:t>caída</a:t>
            </a:r>
            <a:r>
              <a:rPr dirty="0"/>
              <a:t> &gt;2 m, </a:t>
            </a:r>
            <a:r>
              <a:rPr dirty="0" err="1"/>
              <a:t>aplastamiento</a:t>
            </a:r>
            <a:r>
              <a:rPr dirty="0"/>
              <a:t>)</a:t>
            </a:r>
          </a:p>
          <a:p>
            <a:pPr lvl="1"/>
            <a:r>
              <a:rPr dirty="0" err="1"/>
              <a:t>Tórax</a:t>
            </a:r>
            <a:r>
              <a:rPr dirty="0"/>
              <a:t> </a:t>
            </a:r>
            <a:r>
              <a:rPr dirty="0" err="1"/>
              <a:t>inestable</a:t>
            </a:r>
            <a:r>
              <a:rPr dirty="0"/>
              <a:t> (</a:t>
            </a:r>
            <a:r>
              <a:rPr dirty="0" err="1"/>
              <a:t>tórax</a:t>
            </a:r>
            <a:r>
              <a:rPr dirty="0"/>
              <a:t> </a:t>
            </a:r>
            <a:r>
              <a:rPr dirty="0" err="1"/>
              <a:t>basculante</a:t>
            </a:r>
            <a:r>
              <a:rPr dirty="0"/>
              <a:t>)</a:t>
            </a:r>
          </a:p>
          <a:p>
            <a:pPr lvl="1"/>
            <a:r>
              <a:rPr dirty="0" err="1"/>
              <a:t>Amputación</a:t>
            </a:r>
            <a:r>
              <a:rPr dirty="0"/>
              <a:t> proximal a </a:t>
            </a:r>
            <a:r>
              <a:rPr dirty="0" err="1"/>
              <a:t>muñeca</a:t>
            </a:r>
            <a:r>
              <a:rPr dirty="0"/>
              <a:t>/</a:t>
            </a:r>
            <a:r>
              <a:rPr dirty="0" err="1"/>
              <a:t>tobillo</a:t>
            </a:r>
            <a:endParaRPr dirty="0"/>
          </a:p>
          <a:p>
            <a:pPr lvl="1"/>
            <a:r>
              <a:rPr dirty="0"/>
              <a:t>≥2 </a:t>
            </a:r>
            <a:r>
              <a:rPr dirty="0" err="1"/>
              <a:t>fracturas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húmero</a:t>
            </a:r>
            <a:r>
              <a:rPr dirty="0"/>
              <a:t> y/o </a:t>
            </a:r>
            <a:r>
              <a:rPr dirty="0" err="1"/>
              <a:t>fémur</a:t>
            </a:r>
            <a:endParaRPr dirty="0"/>
          </a:p>
          <a:p>
            <a:pPr lvl="1"/>
            <a:r>
              <a:rPr dirty="0" err="1"/>
              <a:t>Fractura</a:t>
            </a:r>
            <a:r>
              <a:rPr dirty="0"/>
              <a:t> de pelvis</a:t>
            </a:r>
          </a:p>
          <a:p>
            <a:pPr lvl="1"/>
            <a:r>
              <a:rPr dirty="0" err="1"/>
              <a:t>Sospecha</a:t>
            </a:r>
            <a:r>
              <a:rPr dirty="0"/>
              <a:t> de </a:t>
            </a:r>
            <a:r>
              <a:rPr dirty="0" err="1"/>
              <a:t>lesión</a:t>
            </a:r>
            <a:r>
              <a:rPr dirty="0"/>
              <a:t> vascular</a:t>
            </a:r>
          </a:p>
          <a:p>
            <a:pPr lvl="1"/>
            <a:r>
              <a:rPr dirty="0" err="1"/>
              <a:t>Fracturas</a:t>
            </a:r>
            <a:r>
              <a:rPr dirty="0"/>
              <a:t> </a:t>
            </a:r>
            <a:r>
              <a:rPr dirty="0" err="1"/>
              <a:t>abiertas</a:t>
            </a:r>
            <a:r>
              <a:rPr dirty="0"/>
              <a:t> o </a:t>
            </a:r>
            <a:r>
              <a:rPr dirty="0" err="1"/>
              <a:t>deprimidas</a:t>
            </a:r>
            <a:r>
              <a:rPr dirty="0"/>
              <a:t> de </a:t>
            </a:r>
            <a:r>
              <a:rPr dirty="0" err="1"/>
              <a:t>bóveda</a:t>
            </a:r>
            <a:r>
              <a:rPr dirty="0"/>
              <a:t> </a:t>
            </a:r>
            <a:r>
              <a:rPr dirty="0" err="1"/>
              <a:t>craneal</a:t>
            </a:r>
            <a:endParaRPr dirty="0"/>
          </a:p>
          <a:p>
            <a:pPr lvl="1"/>
            <a:r>
              <a:rPr dirty="0" err="1"/>
              <a:t>Lesiones</a:t>
            </a:r>
            <a:r>
              <a:rPr dirty="0"/>
              <a:t> </a:t>
            </a:r>
            <a:r>
              <a:rPr dirty="0" err="1"/>
              <a:t>penetrantes</a:t>
            </a:r>
            <a:r>
              <a:rPr dirty="0"/>
              <a:t> de </a:t>
            </a:r>
            <a:r>
              <a:rPr dirty="0" err="1"/>
              <a:t>cuello</a:t>
            </a:r>
            <a:r>
              <a:rPr dirty="0"/>
              <a:t>, </a:t>
            </a:r>
            <a:r>
              <a:rPr dirty="0" err="1"/>
              <a:t>tronco</a:t>
            </a:r>
            <a:r>
              <a:rPr dirty="0"/>
              <a:t> y </a:t>
            </a:r>
            <a:r>
              <a:rPr dirty="0" err="1"/>
              <a:t>parte</a:t>
            </a:r>
            <a:r>
              <a:rPr dirty="0"/>
              <a:t> proximal de </a:t>
            </a:r>
            <a:r>
              <a:rPr dirty="0" err="1"/>
              <a:t>miembros</a:t>
            </a:r>
            <a:endParaRPr dirty="0"/>
          </a:p>
          <a:p>
            <a:r>
              <a:rPr dirty="0" err="1"/>
              <a:t>Fisiología</a:t>
            </a:r>
            <a:endParaRPr dirty="0"/>
          </a:p>
          <a:p>
            <a:pPr lvl="1"/>
            <a:r>
              <a:rPr dirty="0"/>
              <a:t>PAS &lt; 90 mmHg (o </a:t>
            </a:r>
            <a:r>
              <a:rPr dirty="0" err="1"/>
              <a:t>caída</a:t>
            </a:r>
            <a:r>
              <a:rPr dirty="0"/>
              <a:t> &gt;40 mmHg </a:t>
            </a:r>
            <a:r>
              <a:rPr dirty="0" err="1"/>
              <a:t>desde</a:t>
            </a:r>
            <a:r>
              <a:rPr dirty="0"/>
              <a:t> basal)</a:t>
            </a:r>
          </a:p>
          <a:p>
            <a:pPr lvl="1"/>
            <a:r>
              <a:rPr dirty="0"/>
              <a:t>FR &lt;10 o &gt;29/min; </a:t>
            </a:r>
            <a:r>
              <a:rPr dirty="0" err="1"/>
              <a:t>SatO</a:t>
            </a:r>
            <a:r>
              <a:rPr dirty="0"/>
              <a:t>₂ &lt; 90%</a:t>
            </a:r>
          </a:p>
          <a:p>
            <a:pPr lvl="1"/>
            <a:r>
              <a:rPr dirty="0"/>
              <a:t>Glasgow ≤13, </a:t>
            </a:r>
            <a:r>
              <a:rPr dirty="0" err="1"/>
              <a:t>déficit</a:t>
            </a:r>
            <a:r>
              <a:rPr dirty="0"/>
              <a:t> </a:t>
            </a:r>
            <a:r>
              <a:rPr dirty="0" err="1"/>
              <a:t>neurológico</a:t>
            </a:r>
            <a:r>
              <a:rPr dirty="0"/>
              <a:t> focal</a:t>
            </a:r>
          </a:p>
          <a:p>
            <a:pPr lvl="1"/>
            <a:r>
              <a:rPr dirty="0" err="1"/>
              <a:t>Quemaduras</a:t>
            </a:r>
            <a:r>
              <a:rPr dirty="0"/>
              <a:t> &gt;10% SCQ 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inhalación</a:t>
            </a:r>
            <a:r>
              <a:rPr dirty="0"/>
              <a:t>/</a:t>
            </a:r>
            <a:r>
              <a:rPr dirty="0" err="1"/>
              <a:t>inmersión</a:t>
            </a:r>
            <a:endParaRPr dirty="0"/>
          </a:p>
          <a:p>
            <a:r>
              <a:rPr lang="es-ES" dirty="0"/>
              <a:t>Criterio </a:t>
            </a:r>
            <a:r>
              <a:rPr dirty="0"/>
              <a:t> </a:t>
            </a:r>
            <a:r>
              <a:rPr dirty="0" err="1"/>
              <a:t>clínico</a:t>
            </a:r>
            <a:r>
              <a:rPr dirty="0"/>
              <a:t> del </a:t>
            </a:r>
            <a:r>
              <a:rPr dirty="0" err="1"/>
              <a:t>médico</a:t>
            </a:r>
            <a:r>
              <a:rPr dirty="0"/>
              <a:t> </a:t>
            </a:r>
            <a:r>
              <a:rPr dirty="0" err="1"/>
              <a:t>tratante</a:t>
            </a:r>
            <a:r>
              <a:rPr dirty="0"/>
              <a:t> ante </a:t>
            </a:r>
            <a:r>
              <a:rPr dirty="0" err="1"/>
              <a:t>deterioro</a:t>
            </a:r>
            <a:r>
              <a:rPr dirty="0"/>
              <a:t> o </a:t>
            </a:r>
            <a:r>
              <a:rPr dirty="0" err="1"/>
              <a:t>politrauma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7160" y="137160"/>
            <a:ext cx="7406640" cy="1008734"/>
          </a:xfrm>
        </p:spPr>
        <p:txBody>
          <a:bodyPr/>
          <a:lstStyle/>
          <a:p>
            <a:r>
              <a:rPr dirty="0"/>
              <a:t>Código Trauma: </a:t>
            </a:r>
            <a:r>
              <a:rPr dirty="0" err="1"/>
              <a:t>equipo</a:t>
            </a:r>
            <a:r>
              <a:rPr dirty="0"/>
              <a:t> y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 err="1"/>
              <a:t>Liderazgo</a:t>
            </a:r>
            <a:endParaRPr dirty="0"/>
          </a:p>
          <a:p>
            <a:pPr lvl="1"/>
            <a:r>
              <a:rPr dirty="0"/>
              <a:t>Médico </a:t>
            </a:r>
            <a:r>
              <a:rPr dirty="0" err="1"/>
              <a:t>líder</a:t>
            </a:r>
            <a:r>
              <a:rPr dirty="0"/>
              <a:t> </a:t>
            </a:r>
            <a:r>
              <a:rPr dirty="0" err="1"/>
              <a:t>coordina</a:t>
            </a:r>
            <a:r>
              <a:rPr dirty="0"/>
              <a:t> ABCDE, </a:t>
            </a:r>
            <a:r>
              <a:rPr dirty="0" err="1"/>
              <a:t>decisiones</a:t>
            </a:r>
            <a:r>
              <a:rPr dirty="0"/>
              <a:t> y </a:t>
            </a:r>
            <a:r>
              <a:rPr dirty="0" err="1"/>
              <a:t>comunicación</a:t>
            </a:r>
            <a:r>
              <a:rPr dirty="0"/>
              <a:t>.</a:t>
            </a:r>
          </a:p>
          <a:p>
            <a:r>
              <a:rPr dirty="0"/>
              <a:t>Vía </a:t>
            </a:r>
            <a:r>
              <a:rPr dirty="0" err="1"/>
              <a:t>aérea</a:t>
            </a:r>
            <a:r>
              <a:rPr dirty="0"/>
              <a:t>/</a:t>
            </a:r>
            <a:r>
              <a:rPr dirty="0" err="1"/>
              <a:t>respiración</a:t>
            </a:r>
            <a:endParaRPr dirty="0"/>
          </a:p>
          <a:p>
            <a:pPr lvl="1"/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aérea</a:t>
            </a:r>
            <a:r>
              <a:rPr dirty="0"/>
              <a:t> y </a:t>
            </a:r>
            <a:r>
              <a:rPr dirty="0" err="1"/>
              <a:t>ventilación</a:t>
            </a:r>
            <a:r>
              <a:rPr dirty="0"/>
              <a:t>, </a:t>
            </a:r>
            <a:r>
              <a:rPr dirty="0" err="1"/>
              <a:t>oxígeno</a:t>
            </a:r>
            <a:r>
              <a:rPr dirty="0"/>
              <a:t>, </a:t>
            </a:r>
            <a:r>
              <a:rPr dirty="0" err="1"/>
              <a:t>monitorización</a:t>
            </a:r>
            <a:r>
              <a:rPr dirty="0"/>
              <a:t>.</a:t>
            </a:r>
          </a:p>
          <a:p>
            <a:r>
              <a:rPr dirty="0" err="1"/>
              <a:t>Circulación</a:t>
            </a:r>
            <a:r>
              <a:rPr dirty="0"/>
              <a:t>/</a:t>
            </a:r>
            <a:r>
              <a:rPr dirty="0" err="1"/>
              <a:t>hemorragia</a:t>
            </a:r>
            <a:endParaRPr dirty="0"/>
          </a:p>
          <a:p>
            <a:pPr lvl="1"/>
            <a:r>
              <a:rPr dirty="0" err="1"/>
              <a:t>Accesos</a:t>
            </a:r>
            <a:r>
              <a:rPr dirty="0"/>
              <a:t>, </a:t>
            </a:r>
            <a:r>
              <a:rPr dirty="0" err="1"/>
              <a:t>fluidos</a:t>
            </a:r>
            <a:r>
              <a:rPr dirty="0"/>
              <a:t>, control de </a:t>
            </a:r>
            <a:r>
              <a:rPr dirty="0" err="1"/>
              <a:t>hemorragia</a:t>
            </a:r>
            <a:r>
              <a:rPr dirty="0"/>
              <a:t>, </a:t>
            </a:r>
            <a:r>
              <a:rPr dirty="0" err="1"/>
              <a:t>hemoderivados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protocolo</a:t>
            </a:r>
            <a:r>
              <a:rPr dirty="0"/>
              <a:t>.</a:t>
            </a:r>
          </a:p>
          <a:p>
            <a:r>
              <a:rPr dirty="0" err="1"/>
              <a:t>Diagnóstico</a:t>
            </a:r>
            <a:endParaRPr dirty="0"/>
          </a:p>
          <a:p>
            <a:pPr lvl="1"/>
            <a:r>
              <a:rPr dirty="0" err="1"/>
              <a:t>Ecografía</a:t>
            </a:r>
            <a:r>
              <a:rPr dirty="0"/>
              <a:t> FAST, Rx, </a:t>
            </a:r>
            <a:r>
              <a:rPr dirty="0" err="1"/>
              <a:t>laboratorios</a:t>
            </a:r>
            <a:r>
              <a:rPr dirty="0"/>
              <a:t>;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traslado</a:t>
            </a:r>
            <a:r>
              <a:rPr dirty="0"/>
              <a:t> a TC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estable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5200"/>
            <a:ext cx="8814122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Formato</a:t>
            </a:r>
            <a:r>
              <a:rPr dirty="0"/>
              <a:t> de </a:t>
            </a:r>
            <a:r>
              <a:rPr dirty="0" err="1"/>
              <a:t>Activación</a:t>
            </a:r>
            <a:r>
              <a:rPr dirty="0"/>
              <a:t> de Código Trauma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2D687B5-5413-BDBD-E635-4507FADA6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384950"/>
              </p:ext>
            </p:extLst>
          </p:nvPr>
        </p:nvGraphicFramePr>
        <p:xfrm>
          <a:off x="111118" y="792480"/>
          <a:ext cx="6903720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8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Género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Edad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Fecha y hora del 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Mecanismo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lesión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Accidente de tránsito: peatón / ciclista / motociclista / conductor de vehículo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Mecanismo de trauma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Caída / Contusión / Herida penetrante / Alta energía / Cizallamiento / Explosión / Quemadura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Lesiones sospechadas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Signos vitales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TA: ___/___ | FC: ___ | FR: ___ | SatO₂: ___% | T°: ___°C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Escala de Glasgow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A: _  V: _  M: _   Total: _/15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Intervenciones realizadas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Oxígeno / IA / Collar cervical / Férulas / Control de hemorragia / Analgesia / Líquidos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Activación de Código Trauma por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Trauma de alta energía / Compromiso severo de órgano o extremidad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Hora de primera intervención médica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Traslado (área/destino)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Responsable que activa (nombre y cargo)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2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Equipo notificado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Cirugía / Ortopedia / Anestesia / Imágenes / Banco de sangre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23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7873" y="137160"/>
            <a:ext cx="6898511" cy="1331089"/>
          </a:xfrm>
        </p:spPr>
        <p:txBody>
          <a:bodyPr>
            <a:normAutofit fontScale="90000"/>
          </a:bodyPr>
          <a:lstStyle/>
          <a:p>
            <a:r>
              <a:rPr dirty="0" err="1"/>
              <a:t>Próximos</a:t>
            </a:r>
            <a:r>
              <a:rPr dirty="0"/>
              <a:t> pasos y </a:t>
            </a:r>
            <a:r>
              <a:rPr dirty="0" err="1"/>
              <a:t>compromisos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53" y="2057399"/>
            <a:ext cx="8229600" cy="4525963"/>
          </a:xfrm>
        </p:spPr>
        <p:txBody>
          <a:bodyPr/>
          <a:lstStyle/>
          <a:p>
            <a:r>
              <a:rPr dirty="0" err="1"/>
              <a:t>Piloto</a:t>
            </a:r>
            <a:r>
              <a:rPr dirty="0"/>
              <a:t> ‘</a:t>
            </a:r>
            <a:r>
              <a:rPr dirty="0" err="1"/>
              <a:t>Alerta</a:t>
            </a:r>
            <a:r>
              <a:rPr dirty="0"/>
              <a:t> Dorada 75+’ </a:t>
            </a:r>
            <a:r>
              <a:rPr dirty="0" err="1"/>
              <a:t>durante</a:t>
            </a:r>
            <a:r>
              <a:rPr dirty="0"/>
              <a:t> 4 </a:t>
            </a:r>
            <a:r>
              <a:rPr dirty="0" err="1"/>
              <a:t>semanas</a:t>
            </a:r>
            <a:r>
              <a:rPr dirty="0"/>
              <a:t> con </a:t>
            </a:r>
            <a:r>
              <a:rPr dirty="0" err="1"/>
              <a:t>medición</a:t>
            </a:r>
            <a:r>
              <a:rPr dirty="0"/>
              <a:t> de </a:t>
            </a:r>
            <a:r>
              <a:rPr dirty="0" err="1"/>
              <a:t>tiempos</a:t>
            </a:r>
            <a:r>
              <a:rPr dirty="0"/>
              <a:t>.</a:t>
            </a:r>
          </a:p>
          <a:p>
            <a:r>
              <a:rPr dirty="0" err="1"/>
              <a:t>Aplicación</a:t>
            </a:r>
            <a:r>
              <a:rPr dirty="0"/>
              <a:t> de la </a:t>
            </a:r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y </a:t>
            </a:r>
            <a:r>
              <a:rPr dirty="0" err="1"/>
              <a:t>retroalimentación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.</a:t>
            </a:r>
          </a:p>
          <a:p>
            <a:r>
              <a:rPr dirty="0" err="1"/>
              <a:t>Simulacros</a:t>
            </a:r>
            <a:r>
              <a:rPr dirty="0"/>
              <a:t> de Código Trauma (2/</a:t>
            </a:r>
            <a:r>
              <a:rPr dirty="0" err="1"/>
              <a:t>mes</a:t>
            </a:r>
            <a:r>
              <a:rPr dirty="0"/>
              <a:t>) y </a:t>
            </a:r>
            <a:r>
              <a:rPr dirty="0" err="1"/>
              <a:t>auditoría</a:t>
            </a:r>
            <a:r>
              <a:rPr dirty="0"/>
              <a:t> del </a:t>
            </a:r>
            <a:r>
              <a:rPr dirty="0" err="1"/>
              <a:t>formato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7671" y="297180"/>
            <a:ext cx="8229600" cy="1143000"/>
          </a:xfrm>
        </p:spPr>
        <p:txBody>
          <a:bodyPr/>
          <a:lstStyle/>
          <a:p>
            <a:r>
              <a:rPr dirty="0" err="1"/>
              <a:t>Nuestro</a:t>
            </a:r>
            <a:r>
              <a:rPr dirty="0"/>
              <a:t> </a:t>
            </a:r>
            <a:r>
              <a:rPr dirty="0" err="1"/>
              <a:t>compromiso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58" y="2332037"/>
            <a:ext cx="8229600" cy="4525963"/>
          </a:xfrm>
        </p:spPr>
        <p:txBody>
          <a:bodyPr/>
          <a:lstStyle/>
          <a:p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Hospital Regional de </a:t>
            </a:r>
            <a:r>
              <a:rPr dirty="0" err="1"/>
              <a:t>Moniquirá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esforzamos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día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brindar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 </a:t>
            </a:r>
            <a:r>
              <a:rPr dirty="0" err="1"/>
              <a:t>humana</a:t>
            </a:r>
            <a:r>
              <a:rPr dirty="0"/>
              <a:t>, </a:t>
            </a:r>
            <a:r>
              <a:rPr dirty="0" err="1"/>
              <a:t>segura</a:t>
            </a:r>
            <a:r>
              <a:rPr dirty="0"/>
              <a:t> y </a:t>
            </a:r>
            <a:r>
              <a:rPr dirty="0" err="1"/>
              <a:t>oportuna</a:t>
            </a:r>
            <a:r>
              <a:rPr dirty="0"/>
              <a:t>.</a:t>
            </a:r>
          </a:p>
          <a:p>
            <a:r>
              <a:rPr dirty="0" err="1"/>
              <a:t>Agradecemos</a:t>
            </a:r>
            <a:r>
              <a:rPr dirty="0"/>
              <a:t> sus </a:t>
            </a:r>
            <a:r>
              <a:rPr dirty="0" err="1"/>
              <a:t>aportes</a:t>
            </a:r>
            <a:r>
              <a:rPr dirty="0"/>
              <a:t> para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continuamente</a:t>
            </a:r>
            <a:r>
              <a:rPr dirty="0"/>
              <a:t> </a:t>
            </a:r>
            <a:r>
              <a:rPr dirty="0" err="1"/>
              <a:t>nuestros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y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clínicos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7160"/>
            <a:ext cx="1645920" cy="731520"/>
          </a:xfrm>
          <a:prstGeom prst="roundRect">
            <a:avLst/>
          </a:prstGeom>
          <a:solidFill>
            <a:srgbClr val="0066C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Regional</a:t>
            </a:r>
            <a:br/>
            <a:r>
              <a:t>de Moniquirá</a:t>
            </a:r>
          </a:p>
        </p:txBody>
      </p:sp>
      <p:pic>
        <p:nvPicPr>
          <p:cNvPr id="5" name="Picture 4" descr="Logo hospital de moniqui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7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965</Words>
  <Application>Microsoft Macintosh PowerPoint</Application>
  <PresentationFormat>Presentación en pantalla (4:3)</PresentationFormat>
  <Paragraphs>119</Paragraphs>
  <Slides>13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EQUIPO PRIMARIO URGENCIAS  21 DE AGOSTO DE 2025  </vt:lpstr>
      <vt:lpstr>Objetivos de la sesión</vt:lpstr>
      <vt:lpstr>¿Por qué enfocarnos en ≥75 años en TRIAGE III?</vt:lpstr>
      <vt:lpstr>Políticas de priorización propuestas (TRIAGE III ≥75)</vt:lpstr>
      <vt:lpstr>Flujo operativo sugerido</vt:lpstr>
      <vt:lpstr>Indicadores y metas (ejemplo)</vt:lpstr>
      <vt:lpstr>Herramienta de evaluación del desempeño médico (urgencias)</vt:lpstr>
      <vt:lpstr>Estrategias para mejorar tiempos de atención</vt:lpstr>
      <vt:lpstr>Código Trauma: ¿cuándo activar? (criterios)</vt:lpstr>
      <vt:lpstr>Código Trauma: equipo y roles</vt:lpstr>
      <vt:lpstr>Formato de Activación de Código Trauma</vt:lpstr>
      <vt:lpstr>Próximos pasos y compromisos</vt:lpstr>
      <vt:lpstr>Nuestro compromiso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 PRIMARIO URGENCIAS  21 DE AGOSTO DE 2025  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2025-08-21T03:25:12Z</dcterms:modified>
  <cp:category/>
</cp:coreProperties>
</file>